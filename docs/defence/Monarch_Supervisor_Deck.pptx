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Dr. Songa, and thank you for the time. I'll take you through the dissertation as it stands after your review: what I set out to do, the tools and steps, what we found, where the proposal turned out wrong, what the work cannot claim, and the three papers. About fifteen minutes, and I'll end with what I need from you.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idea in one picture. Physicists model a group forming an opinion the same way they model tiny magnets lining up. Each arrow is a person, and people tend to copy those around them. Media is an outside push on everyone at once. In every study I read, the size of that push is simply chosen by the researcher. My question was: can we measure it from the content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I want to be upfront about what changed from the proposal. Five assumptions turned out differently once we tested the tools. The biggest: we planned to measure the amygdala, the brain's alarm centre, but the model only predicts the brain's outer surface. So we used emotion-linked and reasoning-linked areas on the surface instead. All of this is in the amendment you approved.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The main one is TRIBE v2, published by Meta's research lab. It learned from brain scans of adult volunteers watching TV and films, and it predicts how a typical brain would respond to new content. Because it was built on people listening, we read each article aloud first. Nobody was scanned in this project. Every brain value you'll see is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process for one article. It's turned into speech, the timing of each word is marked, and the model predicts activity at 20,484 points across the brain's surface. We average 1,030 points in areas linked to emotion and 851 in areas linked to careful reasoning. The score is emotion minus reasoning. Above zero, emotion leads. Below zero, reasoning leads.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scored 400 articles from four public collections, 100 each: fear-driven fake news, outrage-style partisan news, clickbait, and neutral writing. We matched their lengths so no group wins by being longer, and we worked out before scanning that 400 was enough to see a small effect. Then we ran every article twice.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 the four groups really do differ. The number is eta squared, 0.107. In plain terms, about 11 percent of the differences between articles line up with their group. The rest is article-to-article variation, because the groups overlap a lot. The chance of this being luck is about one in a billion, and the second run gave 0.089, so it held.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group drives it? Fear. Compared with neutral articles, fear-driven ones differ by 0.94, which counts as large. Clickbait is small. Outrage barely moves, which surprised us, because the proposal expected it to be strongest. Looking closer, outrage raises both the emotion and the reasoning areas by about the same amount, so the gap between them stays flat.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we trust the score? We ran all 400 articles twice. Agreement between runs is 0.87, where 1 means identical, so it's high. It isn't perfect because the speech voice and the computer's arithmetic vary slightly. 51 articles flipped sign. Noise alone predicts about 55, and those articles all sit near zero. So we only make claims about groups, never one article.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most important honest check. Simple word counting sorted manipulative from neutral articles far better than our score: 0.98 against 0.63, where 0.5 is a coin toss. The reason is that each group came from a different source, and the words give the source away. So we can't say the differences come from writing style alone. Our score is a measurement for the physics, not a manipulation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brain model match real brains at all? A company audit claimed it was the opposite of real brain data, so we tested it on public scans of people watching the show Friends. Real people's brains agree with each other at 0.152, the best any model can reach. On a two-minute clip the model scored 0.028, against a best possible of 0.096 on that clip. Weak, but positive. We also found and fixed three hidden bugs. This is Paper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physics result. Media's push equals our score times a strength called alpha. We couldn't measure alpha from the data, so we don't quote one. Instead we asked: how big must alpha be for media alone to flip a majority? With our scores spread over 0.124, the answer is at least 4.29 when people copy each other strongly. Any future claim that content like this flips opinion has to clear that 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my first presentation I was asked whether this could analyse any content, even what children watch. Technically, yes: the pipeline takes video and audio, so it could score a cartoon or an advert. But the model learned from adult brains, and children's brains are still developing, so it can't say how a child reacts. We also only tested news text. For children, we'd need child brain data and ethics approval first.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the limits: every brain value is a prediction, not a scan. Group and source are mixed together in this dataset. The model can't see deep areas like the amygdala. We couldn't measure alpha. And the check against real brains used only two minutes of video. Each is stated in the thesis, and each points to the next piece of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papers come out of this. Paper 1 is pure physics: the minimum-push rule, no brain data needed. Paper 2 is the measuring tool and the 400 articles, including the word-counting comparison. Paper 3 is the check against real brains. The dissertation comes first. I'd like any corrections you need, your signature on the declaration page, and clearance for the library by Thursday. And I'd like to ask about co-authorship on the papers.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SUPERVISOR MEETING</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on opinion. Nobody measures how big that push is</a:t>
            </a:r>
          </a:p>
        </p:txBody>
      </p:sp>
      <p:sp>
        <p:nvSpPr>
          <p:cNvPr id="7" name="Up Arrow 6"/>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own Arrow 28"/>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wn Arrow 32"/>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own Arrow 34"/>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own Arrow 37"/>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1384280" y="2103120"/>
            <a:ext cx="32004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0" y="4709160"/>
            <a:ext cx="3931920" cy="731520"/>
          </a:xfrm>
          <a:prstGeom prst="rect">
            <a:avLst/>
          </a:prstGeom>
          <a:noFill/>
        </p:spPr>
        <p:txBody>
          <a:bodyPr wrap="square" anchor="t">
            <a:spAutoFit/>
          </a:bodyPr>
          <a:lstStyle/>
          <a:p>
            <a:pPr algn="ctr">
              <a:spcAft>
                <a:spcPts val="0"/>
              </a:spcAft>
            </a:pPr>
            <a:r>
              <a:rPr sz="1300" b="0" i="0">
                <a:solidFill>
                  <a:srgbClr val="9AABC4"/>
                </a:solidFill>
                <a:latin typeface="Calibri"/>
              </a:rPr>
              <a:t>Arrows are people. Gold arrow is media, pushing everyone the same way.</a:t>
            </a:r>
          </a:p>
        </p:txBody>
      </p:sp>
      <p:sp>
        <p:nvSpPr>
          <p:cNvPr id="45" name="TextBox 44"/>
          <p:cNvSpPr txBox="1"/>
          <p:nvPr/>
        </p:nvSpPr>
        <p:spPr>
          <a:xfrm>
            <a:off x="685800" y="1508760"/>
            <a:ext cx="6766560" cy="2194560"/>
          </a:xfrm>
          <a:prstGeom prst="rect">
            <a:avLst/>
          </a:prstGeom>
          <a:noFill/>
        </p:spPr>
        <p:txBody>
          <a:bodyPr wrap="square" anchor="t">
            <a:spAutoFit/>
          </a:bodyPr>
          <a:lstStyle/>
          <a:p>
            <a:pPr algn="l">
              <a:spcAft>
                <a:spcPts val="1200"/>
              </a:spcAft>
            </a:pPr>
            <a:r>
              <a:rPr sz="1700" b="1">
                <a:solidFill>
                  <a:srgbClr val="FF7A59"/>
                </a:solidFill>
                <a:latin typeface="Calibri"/>
              </a:rPr>
              <a:t>1   </a:t>
            </a:r>
            <a:r>
              <a:rPr sz="1700" b="1">
                <a:solidFill>
                  <a:srgbClr val="EEF3FA"/>
                </a:solidFill>
                <a:latin typeface="Calibri"/>
              </a:rPr>
              <a:t>Each person holds one of two opinions. </a:t>
            </a:r>
            <a:r>
              <a:rPr sz="1700" b="0">
                <a:solidFill>
                  <a:srgbClr val="9AABC4"/>
                </a:solidFill>
                <a:latin typeface="Calibri"/>
              </a:rPr>
              <a:t>Like a magnet pointing up or down.</a:t>
            </a:r>
          </a:p>
          <a:p>
            <a:pPr algn="l">
              <a:spcAft>
                <a:spcPts val="1200"/>
              </a:spcAft>
            </a:pPr>
            <a:r>
              <a:rPr sz="1700" b="1">
                <a:solidFill>
                  <a:srgbClr val="FF7A59"/>
                </a:solidFill>
                <a:latin typeface="Calibri"/>
              </a:rPr>
              <a:t>2   </a:t>
            </a:r>
            <a:r>
              <a:rPr sz="1700" b="1">
                <a:solidFill>
                  <a:srgbClr val="EEF3FA"/>
                </a:solidFill>
                <a:latin typeface="Calibri"/>
              </a:rPr>
              <a:t>People copy those around them. </a:t>
            </a:r>
            <a:r>
              <a:rPr sz="1700" b="0">
                <a:solidFill>
                  <a:srgbClr val="9AABC4"/>
                </a:solidFill>
                <a:latin typeface="Calibri"/>
              </a:rPr>
              <a:t>Physicists call this the coupling, J.</a:t>
            </a:r>
          </a:p>
          <a:p>
            <a:pPr algn="l">
              <a:spcAft>
                <a:spcPts val="1200"/>
              </a:spcAft>
            </a:pPr>
            <a:r>
              <a:rPr sz="1700" b="1">
                <a:solidFill>
                  <a:srgbClr val="FF7A59"/>
                </a:solidFill>
                <a:latin typeface="Calibri"/>
              </a:rPr>
              <a:t>3   </a:t>
            </a:r>
            <a:r>
              <a:rPr sz="1700" b="1">
                <a:solidFill>
                  <a:srgbClr val="EEF3FA"/>
                </a:solidFill>
                <a:latin typeface="Calibri"/>
              </a:rPr>
              <a:t>Media pushes everyone the same way. </a:t>
            </a:r>
            <a:r>
              <a:rPr sz="1700" b="0">
                <a:solidFill>
                  <a:srgbClr val="9AABC4"/>
                </a:solidFill>
                <a:latin typeface="Calibri"/>
              </a:rPr>
              <a:t>This is the field, h. Same maths as magnets lining up.</a:t>
            </a:r>
          </a:p>
        </p:txBody>
      </p:sp>
      <p:sp>
        <p:nvSpPr>
          <p:cNvPr id="46" name="Rounded Rectangle 45"/>
          <p:cNvSpPr/>
          <p:nvPr/>
        </p:nvSpPr>
        <p:spPr>
          <a:xfrm>
            <a:off x="685800" y="3794760"/>
            <a:ext cx="6766560" cy="7772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700" b="0" i="0">
                <a:solidFill>
                  <a:srgbClr val="EEF3FA"/>
                </a:solidFill>
                <a:latin typeface="Calibri"/>
              </a:rPr>
              <a:t>Every study we found picks the size of h by hand.</a:t>
            </a:r>
          </a:p>
        </p:txBody>
      </p:sp>
      <p:sp>
        <p:nvSpPr>
          <p:cNvPr id="47" name="Rounded Rectangle 46"/>
          <p:cNvSpPr/>
          <p:nvPr/>
        </p:nvSpPr>
        <p:spPr>
          <a:xfrm>
            <a:off x="685800" y="4754880"/>
            <a:ext cx="6766560" cy="8686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900" b="1">
                <a:solidFill>
                  <a:srgbClr val="FF7A59"/>
                </a:solidFill>
                <a:latin typeface="Calibri"/>
              </a:rPr>
              <a:t>Our question: </a:t>
            </a:r>
            <a:r>
              <a:rPr sz="1900" b="1">
                <a:solidFill>
                  <a:srgbClr val="EEF3FA"/>
                </a:solidFill>
                <a:latin typeface="Calibri"/>
              </a:rPr>
              <a:t>can h be measured from the content itself?</a:t>
            </a:r>
          </a:p>
        </p:txBody>
      </p:sp>
      <p:sp>
        <p:nvSpPr>
          <p:cNvPr id="48" name="TextBox 4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49" name="Rectangle 48"/>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What the proposal assumed, and what testing the tools showed</a:t>
            </a:r>
          </a:p>
        </p:txBody>
      </p:sp>
      <p:sp>
        <p:nvSpPr>
          <p:cNvPr id="7" name="TextBox 6"/>
          <p:cNvSpPr txBox="1"/>
          <p:nvPr/>
        </p:nvSpPr>
        <p:spPr>
          <a:xfrm>
            <a:off x="685800" y="1325880"/>
            <a:ext cx="3429000" cy="320040"/>
          </a:xfrm>
          <a:prstGeom prst="rect">
            <a:avLst/>
          </a:prstGeom>
          <a:noFill/>
        </p:spPr>
        <p:txBody>
          <a:bodyPr wrap="square" anchor="t">
            <a:spAutoFit/>
          </a:bodyPr>
          <a:lstStyle/>
          <a:p>
            <a:pPr algn="l">
              <a:spcAft>
                <a:spcPts val="0"/>
              </a:spcAft>
            </a:pPr>
            <a:r>
              <a:rPr sz="1100" b="1" i="0">
                <a:solidFill>
                  <a:srgbClr val="9AABC4"/>
                </a:solidFill>
                <a:latin typeface="Calibri"/>
              </a:rPr>
              <a:t>THE PROPOSAL ASSUMED</a:t>
            </a:r>
          </a:p>
        </p:txBody>
      </p:sp>
      <p:sp>
        <p:nvSpPr>
          <p:cNvPr id="8" name="TextBox 7"/>
          <p:cNvSpPr txBox="1"/>
          <p:nvPr/>
        </p:nvSpPr>
        <p:spPr>
          <a:xfrm>
            <a:off x="4251960" y="1325880"/>
            <a:ext cx="3703320" cy="320040"/>
          </a:xfrm>
          <a:prstGeom prst="rect">
            <a:avLst/>
          </a:prstGeom>
          <a:noFill/>
        </p:spPr>
        <p:txBody>
          <a:bodyPr wrap="square" anchor="t">
            <a:spAutoFit/>
          </a:bodyPr>
          <a:lstStyle/>
          <a:p>
            <a:pPr algn="l">
              <a:spcAft>
                <a:spcPts val="0"/>
              </a:spcAft>
            </a:pPr>
            <a:r>
              <a:rPr sz="1100" b="1" i="0">
                <a:solidFill>
                  <a:srgbClr val="FF7A59"/>
                </a:solidFill>
                <a:latin typeface="Calibri"/>
              </a:rPr>
              <a:t>WHAT WE FOUND</a:t>
            </a:r>
          </a:p>
        </p:txBody>
      </p:sp>
      <p:sp>
        <p:nvSpPr>
          <p:cNvPr id="9" name="TextBox 8"/>
          <p:cNvSpPr txBox="1"/>
          <p:nvPr/>
        </p:nvSpPr>
        <p:spPr>
          <a:xfrm>
            <a:off x="8092440" y="1325880"/>
            <a:ext cx="3410712" cy="320040"/>
          </a:xfrm>
          <a:prstGeom prst="rect">
            <a:avLst/>
          </a:prstGeom>
          <a:noFill/>
        </p:spPr>
        <p:txBody>
          <a:bodyPr wrap="square" anchor="t">
            <a:spAutoFit/>
          </a:bodyPr>
          <a:lstStyle/>
          <a:p>
            <a:pPr algn="l">
              <a:spcAft>
                <a:spcPts val="0"/>
              </a:spcAft>
            </a:pPr>
            <a:r>
              <a:rPr sz="1100" b="1" i="0">
                <a:solidFill>
                  <a:srgbClr val="7CC4FF"/>
                </a:solidFill>
                <a:latin typeface="Calibri"/>
              </a:rPr>
              <a:t>WHAT WE DID</a:t>
            </a:r>
          </a:p>
        </p:txBody>
      </p:sp>
      <p:sp>
        <p:nvSpPr>
          <p:cNvPr id="10" name="Rounded Rectangle 9"/>
          <p:cNvSpPr/>
          <p:nvPr/>
        </p:nvSpPr>
        <p:spPr>
          <a:xfrm>
            <a:off x="685800" y="169164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We would measure the amygdala, the brain's alarm centre.</a:t>
            </a:r>
          </a:p>
        </p:txBody>
      </p:sp>
      <p:sp>
        <p:nvSpPr>
          <p:cNvPr id="11" name="Rounded Rectangle 10"/>
          <p:cNvSpPr/>
          <p:nvPr/>
        </p:nvSpPr>
        <p:spPr>
          <a:xfrm>
            <a:off x="4251960" y="169164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The model only predicts the brain's outer surface.</a:t>
            </a:r>
          </a:p>
        </p:txBody>
      </p:sp>
      <p:sp>
        <p:nvSpPr>
          <p:cNvPr id="12" name="Rounded Rectangle 11"/>
          <p:cNvSpPr/>
          <p:nvPr/>
        </p:nvSpPr>
        <p:spPr>
          <a:xfrm>
            <a:off x="8092440" y="169164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Used emotion-linked and reasoning-linked surface areas.</a:t>
            </a:r>
          </a:p>
        </p:txBody>
      </p:sp>
      <p:sp>
        <p:nvSpPr>
          <p:cNvPr id="13" name="Rounded Rectangle 12"/>
          <p:cNvSpPr/>
          <p:nvPr/>
        </p:nvSpPr>
        <p:spPr>
          <a:xfrm>
            <a:off x="685800" y="242316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The score would be a ratio of the two areas.</a:t>
            </a:r>
          </a:p>
        </p:txBody>
      </p:sp>
      <p:sp>
        <p:nvSpPr>
          <p:cNvPr id="14" name="Rounded Rectangle 13"/>
          <p:cNvSpPr/>
          <p:nvPr/>
        </p:nvSpPr>
        <p:spPr>
          <a:xfrm>
            <a:off x="4251960" y="242316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Averages sit near zero, so the ratio broke for 69 of 400 articles.</a:t>
            </a:r>
          </a:p>
        </p:txBody>
      </p:sp>
      <p:sp>
        <p:nvSpPr>
          <p:cNvPr id="15" name="Rounded Rectangle 14"/>
          <p:cNvSpPr/>
          <p:nvPr/>
        </p:nvSpPr>
        <p:spPr>
          <a:xfrm>
            <a:off x="8092440" y="242316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Used a simple difference: emotion minus reasoning.</a:t>
            </a:r>
          </a:p>
        </p:txBody>
      </p:sp>
      <p:sp>
        <p:nvSpPr>
          <p:cNvPr id="16" name="Rounded Rectangle 15"/>
          <p:cNvSpPr/>
          <p:nvPr/>
        </p:nvSpPr>
        <p:spPr>
          <a:xfrm>
            <a:off x="685800" y="315468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Outrage articles would stand out the most.</a:t>
            </a:r>
          </a:p>
        </p:txBody>
      </p:sp>
      <p:sp>
        <p:nvSpPr>
          <p:cNvPr id="17" name="Rounded Rectangle 16"/>
          <p:cNvSpPr/>
          <p:nvPr/>
        </p:nvSpPr>
        <p:spPr>
          <a:xfrm>
            <a:off x="4251960" y="315468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Outrage raised both areas by the same amount.</a:t>
            </a:r>
          </a:p>
        </p:txBody>
      </p:sp>
      <p:sp>
        <p:nvSpPr>
          <p:cNvPr id="18" name="Rounded Rectangle 17"/>
          <p:cNvSpPr/>
          <p:nvPr/>
        </p:nvSpPr>
        <p:spPr>
          <a:xfrm>
            <a:off x="8092440" y="315468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Reported it; fear is what stands out.</a:t>
            </a:r>
          </a:p>
        </p:txBody>
      </p:sp>
      <p:sp>
        <p:nvSpPr>
          <p:cNvPr id="19" name="Rounded Rectangle 18"/>
          <p:cNvSpPr/>
          <p:nvPr/>
        </p:nvSpPr>
        <p:spPr>
          <a:xfrm>
            <a:off x="685800" y="388620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We would measure alpha, the strength of media's push.</a:t>
            </a:r>
          </a:p>
        </p:txBody>
      </p:sp>
      <p:sp>
        <p:nvSpPr>
          <p:cNvPr id="20" name="Rounded Rectangle 19"/>
          <p:cNvSpPr/>
          <p:nvPr/>
        </p:nvSpPr>
        <p:spPr>
          <a:xfrm>
            <a:off x="4251960" y="388620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The data could not pin it down.</a:t>
            </a:r>
          </a:p>
        </p:txBody>
      </p:sp>
      <p:sp>
        <p:nvSpPr>
          <p:cNvPr id="21" name="Rounded Rectangle 20"/>
          <p:cNvSpPr/>
          <p:nvPr/>
        </p:nvSpPr>
        <p:spPr>
          <a:xfrm>
            <a:off x="8092440" y="388620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Worked out the minimum alpha instead.</a:t>
            </a:r>
          </a:p>
        </p:txBody>
      </p:sp>
      <p:sp>
        <p:nvSpPr>
          <p:cNvPr id="22" name="Rounded Rectangle 21"/>
          <p:cNvSpPr/>
          <p:nvPr/>
        </p:nvSpPr>
        <p:spPr>
          <a:xfrm>
            <a:off x="685800" y="461772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The score would detect manipulative articles.</a:t>
            </a:r>
          </a:p>
        </p:txBody>
      </p:sp>
      <p:sp>
        <p:nvSpPr>
          <p:cNvPr id="23" name="Rounded Rectangle 22"/>
          <p:cNvSpPr/>
          <p:nvPr/>
        </p:nvSpPr>
        <p:spPr>
          <a:xfrm>
            <a:off x="4251960" y="461772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Simple word counting did better.</a:t>
            </a:r>
          </a:p>
        </p:txBody>
      </p:sp>
      <p:sp>
        <p:nvSpPr>
          <p:cNvPr id="24" name="Rounded Rectangle 23"/>
          <p:cNvSpPr/>
          <p:nvPr/>
        </p:nvSpPr>
        <p:spPr>
          <a:xfrm>
            <a:off x="8092440" y="461772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Presented it as a measurement, not a detector.</a:t>
            </a:r>
          </a:p>
        </p:txBody>
      </p:sp>
      <p:sp>
        <p:nvSpPr>
          <p:cNvPr id="25" name="TextBox 24"/>
          <p:cNvSpPr txBox="1"/>
          <p:nvPr/>
        </p:nvSpPr>
        <p:spPr>
          <a:xfrm>
            <a:off x="685800" y="5440680"/>
            <a:ext cx="10820095" cy="365760"/>
          </a:xfrm>
          <a:prstGeom prst="rect">
            <a:avLst/>
          </a:prstGeom>
          <a:noFill/>
        </p:spPr>
        <p:txBody>
          <a:bodyPr wrap="square" anchor="t">
            <a:spAutoFit/>
          </a:bodyPr>
          <a:lstStyle/>
          <a:p>
            <a:pPr algn="l">
              <a:spcAft>
                <a:spcPts val="0"/>
              </a:spcAft>
            </a:pPr>
            <a:r>
              <a:rPr sz="1300" b="0" i="0">
                <a:solidFill>
                  <a:srgbClr val="9AABC4"/>
                </a:solidFill>
                <a:latin typeface="Calibri"/>
              </a:rPr>
              <a:t>We also corrected two coefficients in the proposal's physics equation. All changes are in the approved amendment.</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27" name="Rectangle 26"/>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tools we used, and why each one</a:t>
            </a:r>
          </a:p>
        </p:txBody>
      </p:sp>
      <p:sp>
        <p:nvSpPr>
          <p:cNvPr id="7" name="Rounded Rectangle 6"/>
          <p:cNvSpPr/>
          <p:nvPr/>
        </p:nvSpPr>
        <p:spPr>
          <a:xfrm>
            <a:off x="685800" y="1417320"/>
            <a:ext cx="3429000"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TRIBE v2</a:t>
            </a:r>
          </a:p>
          <a:p>
            <a:pPr algn="l">
              <a:spcAft>
                <a:spcPts val="600"/>
              </a:spcAft>
            </a:pPr>
            <a:r>
              <a:rPr sz="1200" b="0" i="0">
                <a:solidFill>
                  <a:srgbClr val="9AABC4"/>
                </a:solidFill>
                <a:latin typeface="Calibri"/>
              </a:rPr>
              <a:t>Meta research, 2025</a:t>
            </a:r>
          </a:p>
          <a:p>
            <a:pPr algn="l">
              <a:spcAft>
                <a:spcPts val="0"/>
              </a:spcAft>
            </a:pPr>
            <a:r>
              <a:rPr sz="1300" b="0" i="0">
                <a:solidFill>
                  <a:srgbClr val="EEF3FA"/>
                </a:solidFill>
                <a:latin typeface="Calibri"/>
              </a:rPr>
              <a:t>An AI model that predicts brain activity from text, sound and video. It learned from brain scans of adult volunteers watching TV and films.</a:t>
            </a:r>
          </a:p>
        </p:txBody>
      </p:sp>
      <p:sp>
        <p:nvSpPr>
          <p:cNvPr id="8" name="Rounded Rectangle 7"/>
          <p:cNvSpPr/>
          <p:nvPr/>
        </p:nvSpPr>
        <p:spPr>
          <a:xfrm>
            <a:off x="4379976" y="141732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Text-to-speech</a:t>
            </a:r>
          </a:p>
          <a:p>
            <a:pPr algn="l">
              <a:spcAft>
                <a:spcPts val="600"/>
              </a:spcAft>
            </a:pPr>
            <a:r>
              <a:rPr sz="1200" b="0" i="0">
                <a:solidFill>
                  <a:srgbClr val="9AABC4"/>
                </a:solidFill>
                <a:latin typeface="Calibri"/>
              </a:rPr>
              <a:t>reads each article aloud</a:t>
            </a:r>
          </a:p>
          <a:p>
            <a:pPr algn="l">
              <a:spcAft>
                <a:spcPts val="0"/>
              </a:spcAft>
            </a:pPr>
            <a:r>
              <a:rPr sz="1300" b="0" i="0">
                <a:solidFill>
                  <a:srgbClr val="EEF3FA"/>
                </a:solidFill>
                <a:latin typeface="Calibri"/>
              </a:rPr>
              <a:t>The model was built on people listening, not reading, so every article is spoken first.</a:t>
            </a:r>
          </a:p>
        </p:txBody>
      </p:sp>
      <p:sp>
        <p:nvSpPr>
          <p:cNvPr id="9" name="Rounded Rectangle 8"/>
          <p:cNvSpPr/>
          <p:nvPr/>
        </p:nvSpPr>
        <p:spPr>
          <a:xfrm>
            <a:off x="8074152" y="141732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Word timing tool</a:t>
            </a:r>
          </a:p>
          <a:p>
            <a:pPr algn="l">
              <a:spcAft>
                <a:spcPts val="600"/>
              </a:spcAft>
            </a:pPr>
            <a:r>
              <a:rPr sz="1200" b="0" i="0">
                <a:solidFill>
                  <a:srgbClr val="9AABC4"/>
                </a:solidFill>
                <a:latin typeface="Calibri"/>
              </a:rPr>
              <a:t>forced alignment</a:t>
            </a:r>
          </a:p>
          <a:p>
            <a:pPr algn="l">
              <a:spcAft>
                <a:spcPts val="0"/>
              </a:spcAft>
            </a:pPr>
            <a:r>
              <a:rPr sz="1300" b="0" i="0">
                <a:solidFill>
                  <a:srgbClr val="EEF3FA"/>
                </a:solidFill>
                <a:latin typeface="Calibri"/>
              </a:rPr>
              <a:t>Marks the moment each word is spoken, so the words and the sound line up for the model.</a:t>
            </a:r>
          </a:p>
        </p:txBody>
      </p:sp>
      <p:sp>
        <p:nvSpPr>
          <p:cNvPr id="10" name="Rounded Rectangle 9"/>
          <p:cNvSpPr/>
          <p:nvPr/>
        </p:nvSpPr>
        <p:spPr>
          <a:xfrm>
            <a:off x="685800"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Brain area map</a:t>
            </a:r>
          </a:p>
          <a:p>
            <a:pPr algn="l">
              <a:spcAft>
                <a:spcPts val="600"/>
              </a:spcAft>
            </a:pPr>
            <a:r>
              <a:rPr sz="1200" b="0" i="0">
                <a:solidFill>
                  <a:srgbClr val="9AABC4"/>
                </a:solidFill>
                <a:latin typeface="Calibri"/>
              </a:rPr>
              <a:t>Glasser et al., 2016</a:t>
            </a:r>
          </a:p>
          <a:p>
            <a:pPr algn="l">
              <a:spcAft>
                <a:spcPts val="0"/>
              </a:spcAft>
            </a:pPr>
            <a:r>
              <a:rPr sz="1300" b="0" i="0">
                <a:solidFill>
                  <a:srgbClr val="EEF3FA"/>
                </a:solidFill>
                <a:latin typeface="Calibri"/>
              </a:rPr>
              <a:t>A standard map that names areas of the brain's surface. We used it to pick emotion and reasoning areas.</a:t>
            </a:r>
          </a:p>
        </p:txBody>
      </p:sp>
      <p:sp>
        <p:nvSpPr>
          <p:cNvPr id="11" name="Rounded Rectangle 10"/>
          <p:cNvSpPr/>
          <p:nvPr/>
        </p:nvSpPr>
        <p:spPr>
          <a:xfrm>
            <a:off x="4379976"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400 public articles</a:t>
            </a:r>
          </a:p>
          <a:p>
            <a:pPr algn="l">
              <a:spcAft>
                <a:spcPts val="600"/>
              </a:spcAft>
            </a:pPr>
            <a:r>
              <a:rPr sz="1200" b="0" i="0">
                <a:solidFill>
                  <a:srgbClr val="9AABC4"/>
                </a:solidFill>
                <a:latin typeface="Calibri"/>
              </a:rPr>
              <a:t>four published collections</a:t>
            </a:r>
          </a:p>
          <a:p>
            <a:pPr algn="l">
              <a:spcAft>
                <a:spcPts val="0"/>
              </a:spcAft>
            </a:pPr>
            <a:r>
              <a:rPr sz="1300" b="0" i="0">
                <a:solidFill>
                  <a:srgbClr val="EEF3FA"/>
                </a:solidFill>
                <a:latin typeface="Calibri"/>
              </a:rPr>
              <a:t>Anyone can download the same articles and check every number.</a:t>
            </a:r>
          </a:p>
        </p:txBody>
      </p:sp>
      <p:sp>
        <p:nvSpPr>
          <p:cNvPr id="12" name="Rounded Rectangle 11"/>
          <p:cNvSpPr/>
          <p:nvPr/>
        </p:nvSpPr>
        <p:spPr>
          <a:xfrm>
            <a:off x="8074152"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Cloud GPU + Python</a:t>
            </a:r>
          </a:p>
          <a:p>
            <a:pPr algn="l">
              <a:spcAft>
                <a:spcPts val="600"/>
              </a:spcAft>
            </a:pPr>
            <a:r>
              <a:rPr sz="1200" b="0" i="0">
                <a:solidFill>
                  <a:srgbClr val="9AABC4"/>
                </a:solidFill>
                <a:latin typeface="Calibri"/>
              </a:rPr>
              <a:t>free Kaggle Tesla P100</a:t>
            </a:r>
          </a:p>
          <a:p>
            <a:pPr algn="l">
              <a:spcAft>
                <a:spcPts val="0"/>
              </a:spcAft>
            </a:pPr>
            <a:r>
              <a:rPr sz="1300" b="0" i="0">
                <a:solidFill>
                  <a:srgbClr val="EEF3FA"/>
                </a:solidFill>
                <a:latin typeface="Calibri"/>
              </a:rPr>
              <a:t>About 70 seconds per article. All code and results are public on GitHub.</a:t>
            </a:r>
          </a:p>
        </p:txBody>
      </p:sp>
      <p:sp>
        <p:nvSpPr>
          <p:cNvPr id="13" name="Rounded Rectangle 12"/>
          <p:cNvSpPr/>
          <p:nvPr/>
        </p:nvSpPr>
        <p:spPr>
          <a:xfrm>
            <a:off x="685800" y="5166360"/>
            <a:ext cx="10820095" cy="548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No person was scanned. </a:t>
            </a:r>
            <a:r>
              <a:rPr sz="1600" b="0">
                <a:solidFill>
                  <a:srgbClr val="EEF3FA"/>
                </a:solidFill>
                <a:latin typeface="Calibri"/>
              </a:rPr>
              <a:t>Every brain value in this work is a prediction from the model.</a:t>
            </a:r>
          </a:p>
        </p:txBody>
      </p:sp>
      <p:sp>
        <p:nvSpPr>
          <p:cNvPr id="14" name="TextBox 1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15" name="Rectangle 1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1  </a:t>
            </a:r>
            <a:r>
              <a:rPr sz="1500" b="1">
                <a:solidFill>
                  <a:srgbClr val="EEF3FA"/>
                </a:solidFill>
                <a:latin typeface="Calibri"/>
              </a:rPr>
              <a:t>Article</a:t>
            </a:r>
          </a:p>
          <a:p>
            <a:pPr algn="ctr">
              <a:spcAft>
                <a:spcPts val="0"/>
              </a:spcAft>
            </a:pPr>
            <a:r>
              <a:rPr sz="1200" b="0" i="0">
                <a:solidFill>
                  <a:srgbClr val="9AABC4"/>
                </a:solidFill>
                <a:latin typeface="Calibri"/>
              </a:rPr>
              <a:t>about 164 words</a:t>
            </a:r>
          </a:p>
        </p:txBody>
      </p:sp>
      <p:sp>
        <p:nvSpPr>
          <p:cNvPr id="8" name="Right Arrow 7"/>
          <p:cNvSpPr/>
          <p:nvPr/>
        </p:nvSpPr>
        <p:spPr>
          <a:xfrm>
            <a:off x="2670048"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907792"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2  </a:t>
            </a:r>
            <a:r>
              <a:rPr sz="1500" b="1">
                <a:solidFill>
                  <a:srgbClr val="EEF3FA"/>
                </a:solidFill>
                <a:latin typeface="Calibri"/>
              </a:rPr>
              <a:t>Spoken aloud</a:t>
            </a:r>
          </a:p>
          <a:p>
            <a:pPr algn="ctr">
              <a:spcAft>
                <a:spcPts val="0"/>
              </a:spcAft>
            </a:pPr>
            <a:r>
              <a:rPr sz="1200" b="0" i="0">
                <a:solidFill>
                  <a:srgbClr val="9AABC4"/>
                </a:solidFill>
                <a:latin typeface="Calibri"/>
              </a:rPr>
              <a:t>text-to-speech</a:t>
            </a:r>
          </a:p>
        </p:txBody>
      </p:sp>
      <p:sp>
        <p:nvSpPr>
          <p:cNvPr id="10" name="Right Arrow 9"/>
          <p:cNvSpPr/>
          <p:nvPr/>
        </p:nvSpPr>
        <p:spPr>
          <a:xfrm>
            <a:off x="4892040"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29784"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3  </a:t>
            </a:r>
            <a:r>
              <a:rPr sz="1500" b="1">
                <a:solidFill>
                  <a:srgbClr val="EEF3FA"/>
                </a:solidFill>
                <a:latin typeface="Calibri"/>
              </a:rPr>
              <a:t>Word timings</a:t>
            </a:r>
          </a:p>
          <a:p>
            <a:pPr algn="ctr">
              <a:spcAft>
                <a:spcPts val="0"/>
              </a:spcAft>
            </a:pPr>
            <a:r>
              <a:rPr sz="1200" b="0" i="0">
                <a:solidFill>
                  <a:srgbClr val="9AABC4"/>
                </a:solidFill>
                <a:latin typeface="Calibri"/>
              </a:rPr>
              <a:t>when each word is said</a:t>
            </a:r>
          </a:p>
        </p:txBody>
      </p:sp>
      <p:sp>
        <p:nvSpPr>
          <p:cNvPr id="12" name="Right Arrow 11"/>
          <p:cNvSpPr/>
          <p:nvPr/>
        </p:nvSpPr>
        <p:spPr>
          <a:xfrm>
            <a:off x="7114032"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51776" y="1371600"/>
            <a:ext cx="1938528" cy="9601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4  </a:t>
            </a:r>
            <a:r>
              <a:rPr sz="1500" b="1">
                <a:solidFill>
                  <a:srgbClr val="EEF3FA"/>
                </a:solidFill>
                <a:latin typeface="Calibri"/>
              </a:rPr>
              <a:t>Brain prediction</a:t>
            </a:r>
          </a:p>
          <a:p>
            <a:pPr algn="ctr">
              <a:spcAft>
                <a:spcPts val="0"/>
              </a:spcAft>
            </a:pPr>
            <a:r>
              <a:rPr sz="1200" b="0" i="0">
                <a:solidFill>
                  <a:srgbClr val="9AABC4"/>
                </a:solidFill>
                <a:latin typeface="Calibri"/>
              </a:rPr>
              <a:t>20,484 points</a:t>
            </a:r>
          </a:p>
        </p:txBody>
      </p:sp>
      <p:sp>
        <p:nvSpPr>
          <p:cNvPr id="14" name="Right Arrow 13"/>
          <p:cNvSpPr/>
          <p:nvPr/>
        </p:nvSpPr>
        <p:spPr>
          <a:xfrm>
            <a:off x="9336024"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73768"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5  </a:t>
            </a:r>
            <a:r>
              <a:rPr sz="1500" b="1">
                <a:solidFill>
                  <a:srgbClr val="EEF3FA"/>
                </a:solidFill>
                <a:latin typeface="Calibri"/>
              </a:rPr>
              <a:t>Two averages</a:t>
            </a:r>
          </a:p>
          <a:p>
            <a:pPr algn="ctr">
              <a:spcAft>
                <a:spcPts val="0"/>
              </a:spcAft>
            </a:pPr>
            <a:r>
              <a:rPr sz="1200" b="0" i="0">
                <a:solidFill>
                  <a:srgbClr val="9AABC4"/>
                </a:solidFill>
                <a:latin typeface="Calibri"/>
              </a:rPr>
              <a:t>emotion and reasoning</a:t>
            </a:r>
          </a:p>
        </p:txBody>
      </p:sp>
      <p:sp>
        <p:nvSpPr>
          <p:cNvPr id="16" name="Rounded Rectangle 15"/>
          <p:cNvSpPr/>
          <p:nvPr/>
        </p:nvSpPr>
        <p:spPr>
          <a:xfrm>
            <a:off x="685800" y="2633472"/>
            <a:ext cx="5614416" cy="2647187"/>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1_roi_definition.png"/>
          <p:cNvPicPr>
            <a:picLocks noChangeAspect="1"/>
          </p:cNvPicPr>
          <p:nvPr/>
        </p:nvPicPr>
        <p:blipFill>
          <a:blip r:embed="rId4"/>
          <a:stretch>
            <a:fillRect/>
          </a:stretch>
        </p:blipFill>
        <p:spPr>
          <a:xfrm>
            <a:off x="795528" y="2743200"/>
            <a:ext cx="5394960" cy="2427732"/>
          </a:xfrm>
          <a:prstGeom prst="rect">
            <a:avLst/>
          </a:prstGeom>
        </p:spPr>
      </p:pic>
      <p:sp>
        <p:nvSpPr>
          <p:cNvPr id="18" name="TextBox 17"/>
          <p:cNvSpPr txBox="1"/>
          <p:nvPr/>
        </p:nvSpPr>
        <p:spPr>
          <a:xfrm>
            <a:off x="685800" y="5303520"/>
            <a:ext cx="5669280" cy="457200"/>
          </a:xfrm>
          <a:prstGeom prst="rect">
            <a:avLst/>
          </a:prstGeom>
          <a:noFill/>
        </p:spPr>
        <p:txBody>
          <a:bodyPr wrap="square" anchor="t">
            <a:spAutoFit/>
          </a:bodyPr>
          <a:lstStyle/>
          <a:p>
            <a:pPr algn="l">
              <a:spcAft>
                <a:spcPts val="0"/>
              </a:spcAft>
            </a:pPr>
            <a:r>
              <a:rPr sz="1300" b="0" i="0">
                <a:solidFill>
                  <a:srgbClr val="9AABC4"/>
                </a:solidFill>
                <a:latin typeface="Calibri"/>
              </a:rPr>
              <a:t>Orange: 1,030 emotion-linked points. Blue: 851 reasoning-linked points.</a:t>
            </a:r>
          </a:p>
        </p:txBody>
      </p:sp>
      <p:sp>
        <p:nvSpPr>
          <p:cNvPr id="19" name="Rounded Rectangle 18"/>
          <p:cNvSpPr/>
          <p:nvPr/>
        </p:nvSpPr>
        <p:spPr>
          <a:xfrm>
            <a:off x="6720840" y="2697480"/>
            <a:ext cx="4782312" cy="2926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200" b="1" i="0">
                <a:solidFill>
                  <a:srgbClr val="9AABC4"/>
                </a:solidFill>
                <a:latin typeface="Calibri"/>
              </a:rPr>
              <a:t>THE SCORE, X</a:t>
            </a:r>
          </a:p>
          <a:p>
            <a:pPr algn="l">
              <a:spcAft>
                <a:spcPts val="1000"/>
              </a:spcAft>
            </a:pPr>
            <a:r>
              <a:rPr sz="2800" b="1">
                <a:solidFill>
                  <a:srgbClr val="EEF3FA"/>
                </a:solidFill>
                <a:latin typeface="Calibri"/>
              </a:rPr>
              <a:t>X = </a:t>
            </a:r>
            <a:r>
              <a:rPr sz="2800" b="1">
                <a:solidFill>
                  <a:srgbClr val="FF7A59"/>
                </a:solidFill>
                <a:latin typeface="Calibri"/>
              </a:rPr>
              <a:t>emotion</a:t>
            </a:r>
            <a:r>
              <a:rPr sz="2800" b="1">
                <a:solidFill>
                  <a:srgbClr val="EEF3FA"/>
                </a:solidFill>
                <a:latin typeface="Calibri"/>
              </a:rPr>
              <a:t> − </a:t>
            </a:r>
            <a:r>
              <a:rPr sz="2800" b="1">
                <a:solidFill>
                  <a:srgbClr val="7CC4FF"/>
                </a:solidFill>
                <a:latin typeface="Calibri"/>
              </a:rPr>
              <a:t>reasoning</a:t>
            </a:r>
          </a:p>
          <a:p>
            <a:pPr algn="l">
              <a:spcAft>
                <a:spcPts val="400"/>
              </a:spcAft>
            </a:pPr>
            <a:r>
              <a:rPr sz="1500" b="1">
                <a:solidFill>
                  <a:srgbClr val="FF7A59"/>
                </a:solidFill>
                <a:latin typeface="Calibri"/>
              </a:rPr>
              <a:t>Above 0: </a:t>
            </a:r>
            <a:r>
              <a:rPr sz="1500" b="0">
                <a:solidFill>
                  <a:srgbClr val="EEF3FA"/>
                </a:solidFill>
                <a:latin typeface="Calibri"/>
              </a:rPr>
              <a:t>emotion areas predicted more active.</a:t>
            </a:r>
          </a:p>
          <a:p>
            <a:pPr algn="l">
              <a:spcAft>
                <a:spcPts val="1000"/>
              </a:spcAft>
            </a:pPr>
            <a:r>
              <a:rPr sz="1500" b="1">
                <a:solidFill>
                  <a:srgbClr val="7CC4FF"/>
                </a:solidFill>
                <a:latin typeface="Calibri"/>
              </a:rPr>
              <a:t>Below 0: </a:t>
            </a:r>
            <a:r>
              <a:rPr sz="1500" b="0">
                <a:solidFill>
                  <a:srgbClr val="EEF3FA"/>
                </a:solidFill>
                <a:latin typeface="Calibri"/>
              </a:rPr>
              <a:t>reasoning areas predicted more active.</a:t>
            </a:r>
          </a:p>
          <a:p>
            <a:pPr algn="l">
              <a:spcAft>
                <a:spcPts val="0"/>
              </a:spcAft>
            </a:pPr>
            <a:r>
              <a:rPr sz="1300" b="1">
                <a:solidFill>
                  <a:srgbClr val="7CC4FF"/>
                </a:solidFill>
                <a:latin typeface="Calibri"/>
              </a:rPr>
              <a:t>20,484 </a:t>
            </a:r>
            <a:r>
              <a:rPr sz="1300" b="0">
                <a:solidFill>
                  <a:srgbClr val="9AABC4"/>
                </a:solidFill>
                <a:latin typeface="Calibri"/>
              </a:rPr>
              <a:t>= points on a standard model of the brain's surface, where the prediction is made.</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in four groups, matched in length</a:t>
            </a:r>
          </a:p>
        </p:txBody>
      </p:sp>
      <p:sp>
        <p:nvSpPr>
          <p:cNvPr id="7" name="Rounded Rectangle 6"/>
          <p:cNvSpPr/>
          <p:nvPr/>
        </p:nvSpPr>
        <p:spPr>
          <a:xfrm>
            <a:off x="685800"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FF7A59"/>
                </a:solidFill>
                <a:latin typeface="Calibri"/>
              </a:rPr>
              <a:t>100</a:t>
            </a:r>
          </a:p>
          <a:p>
            <a:pPr algn="ctr">
              <a:spcAft>
                <a:spcPts val="200"/>
              </a:spcAft>
            </a:pPr>
            <a:r>
              <a:rPr sz="1600" b="1" i="0">
                <a:solidFill>
                  <a:srgbClr val="EEF3FA"/>
                </a:solidFill>
                <a:latin typeface="Calibri"/>
              </a:rPr>
              <a:t>Fear-driven</a:t>
            </a:r>
          </a:p>
          <a:p>
            <a:pPr algn="ctr">
              <a:spcAft>
                <a:spcPts val="0"/>
              </a:spcAft>
            </a:pPr>
            <a:r>
              <a:rPr sz="1100" b="0" i="0">
                <a:solidFill>
                  <a:srgbClr val="9AABC4"/>
                </a:solidFill>
                <a:latin typeface="Calibri"/>
              </a:rPr>
              <a:t>fake news collection (ISOT)</a:t>
            </a:r>
          </a:p>
        </p:txBody>
      </p:sp>
      <p:sp>
        <p:nvSpPr>
          <p:cNvPr id="8" name="Rectangle 7"/>
          <p:cNvSpPr/>
          <p:nvPr/>
        </p:nvSpPr>
        <p:spPr>
          <a:xfrm>
            <a:off x="685800" y="1417320"/>
            <a:ext cx="54864" cy="1417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62832"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F5B83D"/>
                </a:solidFill>
                <a:latin typeface="Calibri"/>
              </a:rPr>
              <a:t>100</a:t>
            </a:r>
          </a:p>
          <a:p>
            <a:pPr algn="ctr">
              <a:spcAft>
                <a:spcPts val="200"/>
              </a:spcAft>
            </a:pPr>
            <a:r>
              <a:rPr sz="1600" b="1" i="0">
                <a:solidFill>
                  <a:srgbClr val="EEF3FA"/>
                </a:solidFill>
                <a:latin typeface="Calibri"/>
              </a:rPr>
              <a:t>Outrage</a:t>
            </a:r>
          </a:p>
          <a:p>
            <a:pPr algn="ctr">
              <a:spcAft>
                <a:spcPts val="0"/>
              </a:spcAft>
            </a:pPr>
            <a:r>
              <a:rPr sz="1100" b="0" i="0">
                <a:solidFill>
                  <a:srgbClr val="9AABC4"/>
                </a:solidFill>
                <a:latin typeface="Calibri"/>
              </a:rPr>
              <a:t>hyperpartisan news (SemEval-2019)</a:t>
            </a:r>
          </a:p>
        </p:txBody>
      </p:sp>
      <p:sp>
        <p:nvSpPr>
          <p:cNvPr id="10" name="Rectangle 9"/>
          <p:cNvSpPr/>
          <p:nvPr/>
        </p:nvSpPr>
        <p:spPr>
          <a:xfrm>
            <a:off x="3462832" y="1417320"/>
            <a:ext cx="54864" cy="1417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39865"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3E8EDE"/>
                </a:solidFill>
                <a:latin typeface="Calibri"/>
              </a:rPr>
              <a:t>100</a:t>
            </a:r>
          </a:p>
          <a:p>
            <a:pPr algn="ctr">
              <a:spcAft>
                <a:spcPts val="200"/>
              </a:spcAft>
            </a:pPr>
            <a:r>
              <a:rPr sz="1600" b="1" i="0">
                <a:solidFill>
                  <a:srgbClr val="EEF3FA"/>
                </a:solidFill>
                <a:latin typeface="Calibri"/>
              </a:rPr>
              <a:t>Clickbait</a:t>
            </a:r>
          </a:p>
          <a:p>
            <a:pPr algn="ctr">
              <a:spcAft>
                <a:spcPts val="0"/>
              </a:spcAft>
            </a:pPr>
            <a:r>
              <a:rPr sz="1100" b="0" i="0">
                <a:solidFill>
                  <a:srgbClr val="9AABC4"/>
                </a:solidFill>
                <a:latin typeface="Calibri"/>
              </a:rPr>
              <a:t>clickbait headlines (Webis-17)</a:t>
            </a:r>
          </a:p>
        </p:txBody>
      </p:sp>
      <p:sp>
        <p:nvSpPr>
          <p:cNvPr id="12" name="Rectangle 11"/>
          <p:cNvSpPr/>
          <p:nvPr/>
        </p:nvSpPr>
        <p:spPr>
          <a:xfrm>
            <a:off x="6239865" y="1417320"/>
            <a:ext cx="54864" cy="1417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16898"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9AABC4"/>
                </a:solidFill>
                <a:latin typeface="Calibri"/>
              </a:rPr>
              <a:t>100</a:t>
            </a:r>
          </a:p>
          <a:p>
            <a:pPr algn="ctr">
              <a:spcAft>
                <a:spcPts val="200"/>
              </a:spcAft>
            </a:pPr>
            <a:r>
              <a:rPr sz="1600" b="1" i="0">
                <a:solidFill>
                  <a:srgbClr val="EEF3FA"/>
                </a:solidFill>
                <a:latin typeface="Calibri"/>
              </a:rPr>
              <a:t>Neutral</a:t>
            </a:r>
          </a:p>
          <a:p>
            <a:pPr algn="ctr">
              <a:spcAft>
                <a:spcPts val="0"/>
              </a:spcAft>
            </a:pPr>
            <a:r>
              <a:rPr sz="1100" b="0" i="0">
                <a:solidFill>
                  <a:srgbClr val="9AABC4"/>
                </a:solidFill>
                <a:latin typeface="Calibri"/>
              </a:rPr>
              <a:t>medical abstracts + real news</a:t>
            </a:r>
          </a:p>
        </p:txBody>
      </p:sp>
      <p:sp>
        <p:nvSpPr>
          <p:cNvPr id="14" name="Rectangle 13"/>
          <p:cNvSpPr/>
          <p:nvPr/>
        </p:nvSpPr>
        <p:spPr>
          <a:xfrm>
            <a:off x="9016898" y="1417320"/>
            <a:ext cx="54864" cy="1417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164</a:t>
            </a:r>
          </a:p>
          <a:p>
            <a:pPr algn="l">
              <a:spcAft>
                <a:spcPts val="600"/>
              </a:spcAft>
            </a:pPr>
            <a:r>
              <a:rPr sz="1400" b="1" i="0">
                <a:solidFill>
                  <a:srgbClr val="EEF3FA"/>
                </a:solidFill>
                <a:latin typeface="Calibri"/>
              </a:rPr>
              <a:t>words per article, on average</a:t>
            </a:r>
          </a:p>
          <a:p>
            <a:pPr algn="l">
              <a:spcAft>
                <a:spcPts val="400"/>
              </a:spcAft>
            </a:pPr>
            <a:r>
              <a:rPr sz="1300" b="1">
                <a:solidFill>
                  <a:srgbClr val="9AABC4"/>
                </a:solidFill>
                <a:latin typeface="Calibri"/>
              </a:rPr>
              <a:t>What it means: </a:t>
            </a:r>
            <a:r>
              <a:rPr sz="1300" b="0">
                <a:solidFill>
                  <a:srgbClr val="EEF3FA"/>
                </a:solidFill>
                <a:latin typeface="Calibri"/>
              </a:rPr>
              <a:t>All four groups are within 5 words of each other.</a:t>
            </a:r>
          </a:p>
          <a:p>
            <a:pPr algn="l">
              <a:spcAft>
                <a:spcPts val="0"/>
              </a:spcAft>
            </a:pPr>
            <a:r>
              <a:rPr sz="1300" b="1">
                <a:solidFill>
                  <a:srgbClr val="9AABC4"/>
                </a:solidFill>
                <a:latin typeface="Calibri"/>
              </a:rPr>
              <a:t>Why this value: </a:t>
            </a:r>
            <a:r>
              <a:rPr sz="1300" b="0">
                <a:solidFill>
                  <a:srgbClr val="EEF3FA"/>
                </a:solidFill>
                <a:latin typeface="Calibri"/>
              </a:rPr>
              <a:t>So a longer article can't score differently just by being longer.</a:t>
            </a:r>
          </a:p>
        </p:txBody>
      </p:sp>
      <p:sp>
        <p:nvSpPr>
          <p:cNvPr id="16" name="Rounded Rectangle 15"/>
          <p:cNvSpPr/>
          <p:nvPr/>
        </p:nvSpPr>
        <p:spPr>
          <a:xfrm>
            <a:off x="4379976"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0.027</a:t>
            </a:r>
          </a:p>
          <a:p>
            <a:pPr algn="l">
              <a:spcAft>
                <a:spcPts val="600"/>
              </a:spcAft>
            </a:pPr>
            <a:r>
              <a:rPr sz="1400" b="1" i="0">
                <a:solidFill>
                  <a:srgbClr val="EEF3FA"/>
                </a:solidFill>
                <a:latin typeface="Calibri"/>
              </a:rPr>
              <a:t>smallest effect the study could see</a:t>
            </a:r>
          </a:p>
          <a:p>
            <a:pPr algn="l">
              <a:spcAft>
                <a:spcPts val="400"/>
              </a:spcAft>
            </a:pPr>
            <a:r>
              <a:rPr sz="1300" b="1">
                <a:solidFill>
                  <a:srgbClr val="9AABC4"/>
                </a:solidFill>
                <a:latin typeface="Calibri"/>
              </a:rPr>
              <a:t>What it means: </a:t>
            </a:r>
            <a:r>
              <a:rPr sz="1300" b="0">
                <a:solidFill>
                  <a:srgbClr val="EEF3FA"/>
                </a:solidFill>
                <a:latin typeface="Calibri"/>
              </a:rPr>
              <a:t>We sized the study before scanning a single article.</a:t>
            </a:r>
          </a:p>
          <a:p>
            <a:pPr algn="l">
              <a:spcAft>
                <a:spcPts val="0"/>
              </a:spcAft>
            </a:pPr>
            <a:r>
              <a:rPr sz="1300" b="1">
                <a:solidFill>
                  <a:srgbClr val="9AABC4"/>
                </a:solidFill>
                <a:latin typeface="Calibri"/>
              </a:rPr>
              <a:t>Why this value: </a:t>
            </a:r>
            <a:r>
              <a:rPr sz="1300" b="0">
                <a:solidFill>
                  <a:srgbClr val="EEF3FA"/>
                </a:solidFill>
                <a:latin typeface="Calibri"/>
              </a:rPr>
              <a:t>400 articles is enough to catch a difference as small as 2.7%.</a:t>
            </a:r>
          </a:p>
        </p:txBody>
      </p:sp>
      <p:sp>
        <p:nvSpPr>
          <p:cNvPr id="17" name="Rounded Rectangle 16"/>
          <p:cNvSpPr/>
          <p:nvPr/>
        </p:nvSpPr>
        <p:spPr>
          <a:xfrm>
            <a:off x="8074152"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2</a:t>
            </a:r>
          </a:p>
          <a:p>
            <a:pPr algn="l">
              <a:spcAft>
                <a:spcPts val="600"/>
              </a:spcAft>
            </a:pPr>
            <a:r>
              <a:rPr sz="1400" b="1" i="0">
                <a:solidFill>
                  <a:srgbClr val="EEF3FA"/>
                </a:solidFill>
                <a:latin typeface="Calibri"/>
              </a:rPr>
              <a:t>every article scanned twice</a:t>
            </a:r>
          </a:p>
          <a:p>
            <a:pPr algn="l">
              <a:spcAft>
                <a:spcPts val="400"/>
              </a:spcAft>
            </a:pPr>
            <a:r>
              <a:rPr sz="1300" b="1">
                <a:solidFill>
                  <a:srgbClr val="9AABC4"/>
                </a:solidFill>
                <a:latin typeface="Calibri"/>
              </a:rPr>
              <a:t>What it means: </a:t>
            </a:r>
            <a:r>
              <a:rPr sz="1300" b="0">
                <a:solidFill>
                  <a:srgbClr val="EEF3FA"/>
                </a:solidFill>
                <a:latin typeface="Calibri"/>
              </a:rPr>
              <a:t>Two separate runs on the GPU.</a:t>
            </a:r>
          </a:p>
          <a:p>
            <a:pPr algn="l">
              <a:spcAft>
                <a:spcPts val="0"/>
              </a:spcAft>
            </a:pPr>
            <a:r>
              <a:rPr sz="1300" b="1">
                <a:solidFill>
                  <a:srgbClr val="9AABC4"/>
                </a:solidFill>
                <a:latin typeface="Calibri"/>
              </a:rPr>
              <a:t>Why this value: </a:t>
            </a:r>
            <a:r>
              <a:rPr sz="1300" b="0">
                <a:solidFill>
                  <a:srgbClr val="EEF3FA"/>
                </a:solidFill>
                <a:latin typeface="Calibri"/>
              </a:rPr>
              <a:t>Lets us measure how repeatable the score is.</a:t>
            </a:r>
          </a:p>
        </p:txBody>
      </p:sp>
      <p:sp>
        <p:nvSpPr>
          <p:cNvPr id="18" name="TextBox 1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19" name="Rectangle 1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really do differ</a:t>
            </a:r>
          </a:p>
        </p:txBody>
      </p:sp>
      <p:sp>
        <p:nvSpPr>
          <p:cNvPr id="7" name="Oval 6"/>
          <p:cNvSpPr/>
          <p:nvPr/>
        </p:nvSpPr>
        <p:spPr>
          <a:xfrm>
            <a:off x="1051560" y="228600"/>
            <a:ext cx="4114800" cy="4114800"/>
          </a:xfrm>
          <a:prstGeom prst="ellipse">
            <a:avLst/>
          </a:prstGeom>
          <a:gradFill rotWithShape="1">
            <a:gsLst>
              <a:gs pos="0">
                <a:srgbClr val="3E8EDE">
                  <a:alpha val="30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5303520" cy="320040"/>
          </a:xfrm>
          <a:prstGeom prst="rect">
            <a:avLst/>
          </a:prstGeom>
          <a:noFill/>
        </p:spPr>
        <p:txBody>
          <a:bodyPr wrap="square" anchor="t">
            <a:spAutoFit/>
          </a:bodyPr>
          <a:lstStyle/>
          <a:p>
            <a:pPr algn="l">
              <a:spcAft>
                <a:spcPts val="0"/>
              </a:spcAft>
            </a:pPr>
            <a:r>
              <a:rPr sz="1200" b="1" i="0">
                <a:solidFill>
                  <a:srgbClr val="9AABC4"/>
                </a:solidFill>
                <a:latin typeface="Calibri"/>
              </a:rPr>
              <a:t>HOW MUCH THE GROUPS DIFFER (η²)</a:t>
            </a:r>
          </a:p>
        </p:txBody>
      </p:sp>
      <p:sp>
        <p:nvSpPr>
          <p:cNvPr id="9" name="TextBox 8"/>
          <p:cNvSpPr txBox="1"/>
          <p:nvPr/>
        </p:nvSpPr>
        <p:spPr>
          <a:xfrm>
            <a:off x="685800" y="1691640"/>
            <a:ext cx="5303520" cy="1280160"/>
          </a:xfrm>
          <a:prstGeom prst="rect">
            <a:avLst/>
          </a:prstGeom>
          <a:noFill/>
        </p:spPr>
        <p:txBody>
          <a:bodyPr wrap="square" anchor="t">
            <a:spAutoFit/>
          </a:bodyPr>
          <a:lstStyle/>
          <a:p>
            <a:pPr algn="l">
              <a:spcAft>
                <a:spcPts val="0"/>
              </a:spcAft>
            </a:pPr>
            <a:r>
              <a:rPr sz="8000" b="1" i="0">
                <a:solidFill>
                  <a:srgbClr val="EEF3FA"/>
                </a:solidFill>
                <a:latin typeface="Calibri"/>
              </a:rPr>
              <a:t>0.107</a:t>
            </a:r>
          </a:p>
        </p:txBody>
      </p:sp>
      <p:sp>
        <p:nvSpPr>
          <p:cNvPr id="10" name="TextBox 9"/>
          <p:cNvSpPr txBox="1"/>
          <p:nvPr/>
        </p:nvSpPr>
        <p:spPr>
          <a:xfrm>
            <a:off x="548640" y="3364992"/>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1" name="Rectangle 10"/>
          <p:cNvSpPr/>
          <p:nvPr/>
        </p:nvSpPr>
        <p:spPr>
          <a:xfrm>
            <a:off x="2606040" y="3429000"/>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06040" y="3429000"/>
            <a:ext cx="2360066"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0" y="33649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4" name="TextBox 13"/>
          <p:cNvSpPr txBox="1"/>
          <p:nvPr/>
        </p:nvSpPr>
        <p:spPr>
          <a:xfrm>
            <a:off x="548640" y="3913631"/>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5" name="Rectangle 14"/>
          <p:cNvSpPr/>
          <p:nvPr/>
        </p:nvSpPr>
        <p:spPr>
          <a:xfrm>
            <a:off x="2606040" y="3977639"/>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06040" y="3977639"/>
            <a:ext cx="1962302"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0" y="3913631"/>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18" name="TextBox 17"/>
          <p:cNvSpPr txBox="1"/>
          <p:nvPr/>
        </p:nvSpPr>
        <p:spPr>
          <a:xfrm>
            <a:off x="548640" y="4462272"/>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smallest we could see</a:t>
            </a:r>
          </a:p>
        </p:txBody>
      </p:sp>
      <p:sp>
        <p:nvSpPr>
          <p:cNvPr id="19" name="Rectangle 18"/>
          <p:cNvSpPr/>
          <p:nvPr/>
        </p:nvSpPr>
        <p:spPr>
          <a:xfrm>
            <a:off x="2606040" y="4526280"/>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606040" y="4526280"/>
            <a:ext cx="592226"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0" y="446227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2" name="TextBox 21"/>
          <p:cNvSpPr txBox="1"/>
          <p:nvPr/>
        </p:nvSpPr>
        <p:spPr>
          <a:xfrm>
            <a:off x="685800" y="5166360"/>
            <a:ext cx="5486400" cy="457200"/>
          </a:xfrm>
          <a:prstGeom prst="rect">
            <a:avLst/>
          </a:prstGeom>
          <a:noFill/>
        </p:spPr>
        <p:txBody>
          <a:bodyPr wrap="square" anchor="t">
            <a:spAutoFit/>
          </a:bodyPr>
          <a:lstStyle/>
          <a:p>
            <a:pPr algn="l">
              <a:spcAft>
                <a:spcPts val="0"/>
              </a:spcAft>
            </a:pPr>
            <a:r>
              <a:rPr sz="1300" b="0" i="0">
                <a:solidFill>
                  <a:srgbClr val="9AABC4"/>
                </a:solidFill>
                <a:latin typeface="Calibri"/>
              </a:rPr>
              <a:t>The second run repeats the result. Both are far above what we could detect.</a:t>
            </a:r>
          </a:p>
        </p:txBody>
      </p:sp>
      <p:sp>
        <p:nvSpPr>
          <p:cNvPr id="23" name="Rounded Rectangle 22"/>
          <p:cNvSpPr/>
          <p:nvPr/>
        </p:nvSpPr>
        <p:spPr>
          <a:xfrm>
            <a:off x="6400800" y="1371600"/>
            <a:ext cx="5102352" cy="20116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11%</a:t>
            </a:r>
          </a:p>
          <a:p>
            <a:pPr algn="l">
              <a:spcAft>
                <a:spcPts val="600"/>
              </a:spcAft>
            </a:pPr>
            <a:r>
              <a:rPr sz="1400" b="1" i="0">
                <a:solidFill>
                  <a:srgbClr val="EEF3FA"/>
                </a:solidFill>
                <a:latin typeface="Calibri"/>
              </a:rPr>
              <a:t>η² = 0.107: share of the differences explained by group</a:t>
            </a:r>
          </a:p>
          <a:p>
            <a:pPr algn="l">
              <a:spcAft>
                <a:spcPts val="400"/>
              </a:spcAft>
            </a:pPr>
            <a:r>
              <a:rPr sz="1300" b="1">
                <a:solidFill>
                  <a:srgbClr val="9AABC4"/>
                </a:solidFill>
                <a:latin typeface="Calibri"/>
              </a:rPr>
              <a:t>What it means: </a:t>
            </a:r>
            <a:r>
              <a:rPr sz="1300" b="0">
                <a:solidFill>
                  <a:srgbClr val="EEF3FA"/>
                </a:solidFill>
                <a:latin typeface="Calibri"/>
              </a:rPr>
              <a:t>Knowing an article's group explains about 11% of why its score differs from the others.</a:t>
            </a:r>
          </a:p>
          <a:p>
            <a:pPr algn="l">
              <a:spcAft>
                <a:spcPts val="0"/>
              </a:spcAft>
            </a:pPr>
            <a:r>
              <a:rPr sz="1300" b="1">
                <a:solidFill>
                  <a:srgbClr val="9AABC4"/>
                </a:solidFill>
                <a:latin typeface="Calibri"/>
              </a:rPr>
              <a:t>Why this value: </a:t>
            </a:r>
            <a:r>
              <a:rPr sz="1300" b="0">
                <a:solidFill>
                  <a:srgbClr val="EEF3FA"/>
                </a:solidFill>
                <a:latin typeface="Calibri"/>
              </a:rPr>
              <a:t>The groups overlap a lot; most variation is from one article to the next.</a:t>
            </a:r>
          </a:p>
        </p:txBody>
      </p:sp>
      <p:sp>
        <p:nvSpPr>
          <p:cNvPr id="24" name="Rounded Rectangle 23"/>
          <p:cNvSpPr/>
          <p:nvPr/>
        </p:nvSpPr>
        <p:spPr>
          <a:xfrm>
            <a:off x="6400800" y="3611880"/>
            <a:ext cx="5102352" cy="201168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5FD09A"/>
                </a:solidFill>
                <a:latin typeface="Calibri"/>
              </a:rPr>
              <a:t>1 in a billion</a:t>
            </a:r>
          </a:p>
          <a:p>
            <a:pPr algn="l">
              <a:spcAft>
                <a:spcPts val="600"/>
              </a:spcAft>
            </a:pPr>
            <a:r>
              <a:rPr sz="1400" b="1" i="0">
                <a:solidFill>
                  <a:srgbClr val="EEF3FA"/>
                </a:solidFill>
                <a:latin typeface="Calibri"/>
              </a:rPr>
              <a:t>p = 1.0 × 10⁻⁹: the chance this is luck</a:t>
            </a:r>
          </a:p>
          <a:p>
            <a:pPr algn="l">
              <a:spcAft>
                <a:spcPts val="400"/>
              </a:spcAft>
            </a:pPr>
            <a:r>
              <a:rPr sz="1300" b="1">
                <a:solidFill>
                  <a:srgbClr val="9AABC4"/>
                </a:solidFill>
                <a:latin typeface="Calibri"/>
              </a:rPr>
              <a:t>What it means: </a:t>
            </a:r>
            <a:r>
              <a:rPr sz="1300" b="0">
                <a:solidFill>
                  <a:srgbClr val="EEF3FA"/>
                </a:solidFill>
                <a:latin typeface="Calibri"/>
              </a:rPr>
              <a:t>If the groups were truly the same, a pattern this strong would appear by chance about once in a billion tries.</a:t>
            </a:r>
          </a:p>
          <a:p>
            <a:pPr algn="l">
              <a:spcAft>
                <a:spcPts val="0"/>
              </a:spcAft>
            </a:pPr>
            <a:r>
              <a:rPr sz="1300" b="1">
                <a:solidFill>
                  <a:srgbClr val="9AABC4"/>
                </a:solidFill>
                <a:latin typeface="Calibri"/>
              </a:rPr>
              <a:t>Why this value: </a:t>
            </a:r>
            <a:r>
              <a:rPr sz="1300" b="0">
                <a:solidFill>
                  <a:srgbClr val="EEF3FA"/>
                </a:solidFill>
                <a:latin typeface="Calibri"/>
              </a:rPr>
              <a:t>400 articles and a consistent difference between groups.</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Fear drives the difference; outrage barely moves the score</a:t>
            </a:r>
          </a:p>
        </p:txBody>
      </p:sp>
      <p:sp>
        <p:nvSpPr>
          <p:cNvPr id="7" name="TextBox 6"/>
          <p:cNvSpPr txBox="1"/>
          <p:nvPr/>
        </p:nvSpPr>
        <p:spPr>
          <a:xfrm>
            <a:off x="685800" y="1371600"/>
            <a:ext cx="7315200" cy="320040"/>
          </a:xfrm>
          <a:prstGeom prst="rect">
            <a:avLst/>
          </a:prstGeom>
          <a:noFill/>
        </p:spPr>
        <p:txBody>
          <a:bodyPr wrap="square" anchor="t">
            <a:spAutoFit/>
          </a:bodyPr>
          <a:lstStyle/>
          <a:p>
            <a:pPr algn="l">
              <a:spcAft>
                <a:spcPts val="0"/>
              </a:spcAft>
            </a:pPr>
            <a:r>
              <a:rPr sz="1200" b="1" i="0">
                <a:solidFill>
                  <a:srgbClr val="9AABC4"/>
                </a:solidFill>
                <a:latin typeface="Calibri"/>
              </a:rPr>
              <a:t>DIFFERENCE FROM NEUTRAL ARTICLES (COHEN'S d)</a:t>
            </a:r>
          </a:p>
        </p:txBody>
      </p:sp>
      <p:sp>
        <p:nvSpPr>
          <p:cNvPr id="8" name="Rectangle 7"/>
          <p:cNvSpPr/>
          <p:nvPr/>
        </p:nvSpPr>
        <p:spPr>
          <a:xfrm>
            <a:off x="4151376"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small 0.2</a:t>
            </a:r>
          </a:p>
        </p:txBody>
      </p:sp>
      <p:sp>
        <p:nvSpPr>
          <p:cNvPr id="10" name="Rectangle 9"/>
          <p:cNvSpPr/>
          <p:nvPr/>
        </p:nvSpPr>
        <p:spPr>
          <a:xfrm>
            <a:off x="5852160"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medium 0.5</a:t>
            </a:r>
          </a:p>
        </p:txBody>
      </p:sp>
      <p:sp>
        <p:nvSpPr>
          <p:cNvPr id="12" name="Rectangle 11"/>
          <p:cNvSpPr/>
          <p:nvPr/>
        </p:nvSpPr>
        <p:spPr>
          <a:xfrm>
            <a:off x="7552944"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04304"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large 0.8</a:t>
            </a:r>
          </a:p>
        </p:txBody>
      </p:sp>
      <p:sp>
        <p:nvSpPr>
          <p:cNvPr id="14" name="TextBox 13"/>
          <p:cNvSpPr txBox="1"/>
          <p:nvPr/>
        </p:nvSpPr>
        <p:spPr>
          <a:xfrm>
            <a:off x="777240" y="1947672"/>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fear-driven</a:t>
            </a:r>
          </a:p>
        </p:txBody>
      </p:sp>
      <p:sp>
        <p:nvSpPr>
          <p:cNvPr id="15" name="Rectangle 14"/>
          <p:cNvSpPr/>
          <p:nvPr/>
        </p:nvSpPr>
        <p:spPr>
          <a:xfrm>
            <a:off x="3017520" y="2011680"/>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20" y="2011680"/>
            <a:ext cx="5323453"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19476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  large</a:t>
            </a:r>
          </a:p>
        </p:txBody>
      </p:sp>
      <p:sp>
        <p:nvSpPr>
          <p:cNvPr id="18" name="TextBox 17"/>
          <p:cNvSpPr txBox="1"/>
          <p:nvPr/>
        </p:nvSpPr>
        <p:spPr>
          <a:xfrm>
            <a:off x="777240" y="2514600"/>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clickbait</a:t>
            </a:r>
          </a:p>
        </p:txBody>
      </p:sp>
      <p:sp>
        <p:nvSpPr>
          <p:cNvPr id="19" name="Rectangle 18"/>
          <p:cNvSpPr/>
          <p:nvPr/>
        </p:nvSpPr>
        <p:spPr>
          <a:xfrm>
            <a:off x="3017520" y="2578608"/>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17520" y="2578608"/>
            <a:ext cx="1808500"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2514600"/>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  small</a:t>
            </a:r>
          </a:p>
        </p:txBody>
      </p:sp>
      <p:sp>
        <p:nvSpPr>
          <p:cNvPr id="22" name="TextBox 21"/>
          <p:cNvSpPr txBox="1"/>
          <p:nvPr/>
        </p:nvSpPr>
        <p:spPr>
          <a:xfrm>
            <a:off x="777240" y="3081528"/>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outrage</a:t>
            </a:r>
          </a:p>
        </p:txBody>
      </p:sp>
      <p:sp>
        <p:nvSpPr>
          <p:cNvPr id="23" name="Rectangle 22"/>
          <p:cNvSpPr/>
          <p:nvPr/>
        </p:nvSpPr>
        <p:spPr>
          <a:xfrm>
            <a:off x="3017520" y="3145536"/>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7520" y="3145536"/>
            <a:ext cx="170078"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081528"/>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  none</a:t>
            </a:r>
          </a:p>
        </p:txBody>
      </p:sp>
      <p:sp>
        <p:nvSpPr>
          <p:cNvPr id="26" name="Rounded Rectangle 25"/>
          <p:cNvSpPr/>
          <p:nvPr/>
        </p:nvSpPr>
        <p:spPr>
          <a:xfrm>
            <a:off x="685800" y="3840480"/>
            <a:ext cx="5257800" cy="1783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2400" b="1" i="0">
                <a:solidFill>
                  <a:srgbClr val="7CC4FF"/>
                </a:solidFill>
                <a:latin typeface="Calibri"/>
              </a:rPr>
              <a:t>d</a:t>
            </a:r>
          </a:p>
          <a:p>
            <a:pPr algn="l">
              <a:spcAft>
                <a:spcPts val="600"/>
              </a:spcAft>
            </a:pPr>
            <a:r>
              <a:rPr sz="1400" b="1" i="0">
                <a:solidFill>
                  <a:srgbClr val="EEF3FA"/>
                </a:solidFill>
                <a:latin typeface="Calibri"/>
              </a:rPr>
              <a:t>Cohen's d: how big a difference is</a:t>
            </a:r>
          </a:p>
          <a:p>
            <a:pPr algn="l">
              <a:spcAft>
                <a:spcPts val="400"/>
              </a:spcAft>
            </a:pPr>
            <a:r>
              <a:rPr sz="1300" b="1">
                <a:solidFill>
                  <a:srgbClr val="9AABC4"/>
                </a:solidFill>
                <a:latin typeface="Calibri"/>
              </a:rPr>
              <a:t>What it means: </a:t>
            </a:r>
            <a:r>
              <a:rPr sz="1300" b="0">
                <a:solidFill>
                  <a:srgbClr val="EEF3FA"/>
                </a:solidFill>
                <a:latin typeface="Calibri"/>
              </a:rPr>
              <a:t>Measured in units of the normal spread of scores. 0.2 is small, 0.5 medium, 0.8 large.</a:t>
            </a:r>
          </a:p>
          <a:p>
            <a:pPr algn="l">
              <a:spcAft>
                <a:spcPts val="0"/>
              </a:spcAft>
            </a:pPr>
            <a:r>
              <a:rPr sz="1300" b="1">
                <a:solidFill>
                  <a:srgbClr val="9AABC4"/>
                </a:solidFill>
                <a:latin typeface="Calibri"/>
              </a:rPr>
              <a:t>Why this value: </a:t>
            </a:r>
            <a:r>
              <a:rPr sz="1300" b="0">
                <a:solidFill>
                  <a:srgbClr val="EEF3FA"/>
                </a:solidFill>
                <a:latin typeface="Calibri"/>
              </a:rPr>
              <a:t>Fear articles sit almost one full spread away from neutral.</a:t>
            </a:r>
          </a:p>
        </p:txBody>
      </p:sp>
      <p:sp>
        <p:nvSpPr>
          <p:cNvPr id="27" name="Rounded Rectangle 26"/>
          <p:cNvSpPr/>
          <p:nvPr/>
        </p:nvSpPr>
        <p:spPr>
          <a:xfrm>
            <a:off x="6245352" y="3840480"/>
            <a:ext cx="5257800" cy="17830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5B83D"/>
                </a:solidFill>
                <a:latin typeface="Calibri"/>
              </a:rPr>
              <a:t>WHY OUTRAGE STAYS FLAT</a:t>
            </a:r>
          </a:p>
          <a:p>
            <a:pPr algn="l">
              <a:spcAft>
                <a:spcPts val="0"/>
              </a:spcAft>
            </a:pPr>
            <a:r>
              <a:rPr sz="1400" b="1">
                <a:solidFill>
                  <a:srgbClr val="EEF3FA"/>
                </a:solidFill>
                <a:latin typeface="Calibri"/>
              </a:rPr>
              <a:t>Outrage raised emotion areas by 0.51 and reasoning areas by 0.49. </a:t>
            </a:r>
            <a:r>
              <a:rPr sz="1400" b="0">
                <a:solidFill>
                  <a:srgbClr val="EEF3FA"/>
                </a:solidFill>
                <a:latin typeface="Calibri"/>
              </a:rPr>
              <a:t>The score is the gap between them, so it barely moves. Fear raised emotion areas only (0.61 vs −0.10).</a:t>
            </a:r>
          </a:p>
        </p:txBody>
      </p:sp>
      <p:sp>
        <p:nvSpPr>
          <p:cNvPr id="28" name="TextBox 2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9" name="Rectangle 2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score repeats well for groups, not for single articles</a:t>
            </a:r>
          </a:p>
        </p:txBody>
      </p:sp>
      <p:sp>
        <p:nvSpPr>
          <p:cNvPr id="7" name="Rounded Rectangle 6"/>
          <p:cNvSpPr/>
          <p:nvPr/>
        </p:nvSpPr>
        <p:spPr>
          <a:xfrm>
            <a:off x="685800" y="1371600"/>
            <a:ext cx="5257800" cy="21488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7CC4FF"/>
                </a:solidFill>
                <a:latin typeface="Calibri"/>
              </a:rPr>
              <a:t>0.87</a:t>
            </a:r>
          </a:p>
          <a:p>
            <a:pPr algn="l">
              <a:spcAft>
                <a:spcPts val="600"/>
              </a:spcAft>
            </a:pPr>
            <a:r>
              <a:rPr sz="1400" b="1" i="0">
                <a:solidFill>
                  <a:srgbClr val="EEF3FA"/>
                </a:solidFill>
                <a:latin typeface="Calibri"/>
              </a:rPr>
              <a:t>Agreement between the two runs (ICC = 0.8725)</a:t>
            </a:r>
          </a:p>
          <a:p>
            <a:pPr algn="l">
              <a:spcAft>
                <a:spcPts val="400"/>
              </a:spcAft>
            </a:pPr>
            <a:r>
              <a:rPr sz="1300" b="1">
                <a:solidFill>
                  <a:srgbClr val="9AABC4"/>
                </a:solidFill>
                <a:latin typeface="Calibri"/>
              </a:rPr>
              <a:t>What it means: </a:t>
            </a:r>
            <a:r>
              <a:rPr sz="1300" b="0">
                <a:solidFill>
                  <a:srgbClr val="EEF3FA"/>
                </a:solidFill>
                <a:latin typeface="Calibri"/>
              </a:rPr>
              <a:t>1 means identical, 0 means no agreement. 0.87 is high.</a:t>
            </a:r>
          </a:p>
          <a:p>
            <a:pPr algn="l">
              <a:spcAft>
                <a:spcPts val="0"/>
              </a:spcAft>
            </a:pPr>
            <a:r>
              <a:rPr sz="1300" b="1">
                <a:solidFill>
                  <a:srgbClr val="9AABC4"/>
                </a:solidFill>
                <a:latin typeface="Calibri"/>
              </a:rPr>
              <a:t>Why this value: </a:t>
            </a:r>
            <a:r>
              <a:rPr sz="1300" b="0">
                <a:solidFill>
                  <a:srgbClr val="EEF3FA"/>
                </a:solidFill>
                <a:latin typeface="Calibri"/>
              </a:rPr>
              <a:t>The speech voice and the computer's arithmetic vary a little between runs.</a:t>
            </a:r>
          </a:p>
        </p:txBody>
      </p:sp>
      <p:sp>
        <p:nvSpPr>
          <p:cNvPr id="8" name="Rounded Rectangle 7"/>
          <p:cNvSpPr/>
          <p:nvPr/>
        </p:nvSpPr>
        <p:spPr>
          <a:xfrm>
            <a:off x="6245352" y="1371600"/>
            <a:ext cx="5257800" cy="21488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FF7A59"/>
                </a:solidFill>
                <a:latin typeface="Calibri"/>
              </a:rPr>
              <a:t>51 of 400</a:t>
            </a:r>
          </a:p>
          <a:p>
            <a:pPr algn="l">
              <a:spcAft>
                <a:spcPts val="600"/>
              </a:spcAft>
            </a:pPr>
            <a:r>
              <a:rPr sz="1400" b="1" i="0">
                <a:solidFill>
                  <a:srgbClr val="EEF3FA"/>
                </a:solidFill>
                <a:latin typeface="Calibri"/>
              </a:rPr>
              <a:t>Articles whose score flipped sign (12.8%)</a:t>
            </a:r>
          </a:p>
          <a:p>
            <a:pPr algn="l">
              <a:spcAft>
                <a:spcPts val="400"/>
              </a:spcAft>
            </a:pPr>
            <a:r>
              <a:rPr sz="1300" b="1">
                <a:solidFill>
                  <a:srgbClr val="9AABC4"/>
                </a:solidFill>
                <a:latin typeface="Calibri"/>
              </a:rPr>
              <a:t>What it means: </a:t>
            </a:r>
            <a:r>
              <a:rPr sz="1300" b="0">
                <a:solidFill>
                  <a:srgbClr val="EEF3FA"/>
                </a:solidFill>
                <a:latin typeface="Calibri"/>
              </a:rPr>
              <a:t>Noise alone predicts about 55. The ones that flipped all sit near zero.</a:t>
            </a:r>
          </a:p>
          <a:p>
            <a:pPr algn="l">
              <a:spcAft>
                <a:spcPts val="0"/>
              </a:spcAft>
            </a:pPr>
            <a:r>
              <a:rPr sz="1300" b="1">
                <a:solidFill>
                  <a:srgbClr val="9AABC4"/>
                </a:solidFill>
                <a:latin typeface="Calibri"/>
              </a:rPr>
              <a:t>Why this value: </a:t>
            </a:r>
            <a:r>
              <a:rPr sz="1300" b="0">
                <a:solidFill>
                  <a:srgbClr val="EEF3FA"/>
                </a:solidFill>
                <a:latin typeface="Calibri"/>
              </a:rPr>
              <a:t>A score near zero tips either way with a tiny wobble, so we never judge one article.</a:t>
            </a:r>
          </a:p>
        </p:txBody>
      </p:sp>
      <p:sp>
        <p:nvSpPr>
          <p:cNvPr id="9" name="TextBox 8"/>
          <p:cNvSpPr txBox="1"/>
          <p:nvPr/>
        </p:nvSpPr>
        <p:spPr>
          <a:xfrm>
            <a:off x="685800" y="3794760"/>
            <a:ext cx="10820095" cy="320040"/>
          </a:xfrm>
          <a:prstGeom prst="rect">
            <a:avLst/>
          </a:prstGeom>
          <a:noFill/>
        </p:spPr>
        <p:txBody>
          <a:bodyPr wrap="square" anchor="t">
            <a:spAutoFit/>
          </a:bodyPr>
          <a:lstStyle/>
          <a:p>
            <a:pPr algn="l">
              <a:spcAft>
                <a:spcPts val="0"/>
              </a:spcAft>
            </a:pPr>
            <a:r>
              <a:rPr sz="1200" b="1" i="0">
                <a:solidFill>
                  <a:srgbClr val="9AABC4"/>
                </a:solidFill>
                <a:latin typeface="Calibri"/>
              </a:rPr>
              <a:t>FLIPPED ARTICLES: WHAT WE SAW AGAINST WHAT NOISE ALONE PREDICTS</a:t>
            </a:r>
          </a:p>
        </p:txBody>
      </p:sp>
      <p:sp>
        <p:nvSpPr>
          <p:cNvPr id="10" name="Rectangle 9"/>
          <p:cNvSpPr/>
          <p:nvPr/>
        </p:nvSpPr>
        <p:spPr>
          <a:xfrm>
            <a:off x="2011680" y="4754880"/>
            <a:ext cx="8138160"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96768" y="4608576"/>
            <a:ext cx="6239256" cy="310896"/>
          </a:xfrm>
          <a:prstGeom prst="rect">
            <a:avLst/>
          </a:prstGeom>
          <a:solidFill>
            <a:srgbClr val="3E8EDE">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43853" y="4480560"/>
            <a:ext cx="36576" cy="56692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76800" y="4645152"/>
            <a:ext cx="237744" cy="237744"/>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40</a:t>
            </a:r>
          </a:p>
        </p:txBody>
      </p:sp>
      <p:sp>
        <p:nvSpPr>
          <p:cNvPr id="15" name="TextBox 14"/>
          <p:cNvSpPr txBox="1"/>
          <p:nvPr/>
        </p:nvSpPr>
        <p:spPr>
          <a:xfrm>
            <a:off x="435864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50</a:t>
            </a:r>
          </a:p>
        </p:txBody>
      </p:sp>
      <p:sp>
        <p:nvSpPr>
          <p:cNvPr id="16" name="TextBox 15"/>
          <p:cNvSpPr txBox="1"/>
          <p:nvPr/>
        </p:nvSpPr>
        <p:spPr>
          <a:xfrm>
            <a:off x="7071359"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60</a:t>
            </a:r>
          </a:p>
        </p:txBody>
      </p:sp>
      <p:sp>
        <p:nvSpPr>
          <p:cNvPr id="17" name="TextBox 16"/>
          <p:cNvSpPr txBox="1"/>
          <p:nvPr/>
        </p:nvSpPr>
        <p:spPr>
          <a:xfrm>
            <a:off x="978408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70</a:t>
            </a:r>
          </a:p>
        </p:txBody>
      </p:sp>
      <p:sp>
        <p:nvSpPr>
          <p:cNvPr id="18" name="TextBox 17"/>
          <p:cNvSpPr txBox="1"/>
          <p:nvPr/>
        </p:nvSpPr>
        <p:spPr>
          <a:xfrm>
            <a:off x="4333341" y="4096512"/>
            <a:ext cx="3657600" cy="365760"/>
          </a:xfrm>
          <a:prstGeom prst="rect">
            <a:avLst/>
          </a:prstGeom>
          <a:noFill/>
        </p:spPr>
        <p:txBody>
          <a:bodyPr wrap="square" anchor="t">
            <a:spAutoFit/>
          </a:bodyPr>
          <a:lstStyle/>
          <a:p>
            <a:pPr algn="ctr">
              <a:spcAft>
                <a:spcPts val="0"/>
              </a:spcAft>
            </a:pPr>
            <a:r>
              <a:rPr sz="1300" b="1" i="0">
                <a:solidFill>
                  <a:srgbClr val="7CC4FF"/>
                </a:solidFill>
                <a:latin typeface="Calibri"/>
              </a:rPr>
              <a:t>noise predicts about 55 (shaded: 44 to 67)</a:t>
            </a:r>
          </a:p>
        </p:txBody>
      </p:sp>
      <p:sp>
        <p:nvSpPr>
          <p:cNvPr id="19" name="TextBox 18"/>
          <p:cNvSpPr txBox="1"/>
          <p:nvPr/>
        </p:nvSpPr>
        <p:spPr>
          <a:xfrm>
            <a:off x="3898391" y="5257800"/>
            <a:ext cx="2194560" cy="365760"/>
          </a:xfrm>
          <a:prstGeom prst="rect">
            <a:avLst/>
          </a:prstGeom>
          <a:noFill/>
        </p:spPr>
        <p:txBody>
          <a:bodyPr wrap="square" anchor="t">
            <a:spAutoFit/>
          </a:bodyPr>
          <a:lstStyle/>
          <a:p>
            <a:pPr algn="ctr">
              <a:spcAft>
                <a:spcPts val="0"/>
              </a:spcAft>
            </a:pPr>
            <a:r>
              <a:rPr sz="1300" b="1" i="0">
                <a:solidFill>
                  <a:srgbClr val="FF7A59"/>
                </a:solidFill>
                <a:latin typeface="Calibri"/>
              </a:rPr>
              <a:t>we saw 51</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simple word counting sorts articles better than our score</a:t>
            </a:r>
          </a:p>
        </p:txBody>
      </p:sp>
      <p:sp>
        <p:nvSpPr>
          <p:cNvPr id="7" name="TextBox 6"/>
          <p:cNvSpPr txBox="1"/>
          <p:nvPr/>
        </p:nvSpPr>
        <p:spPr>
          <a:xfrm>
            <a:off x="685800" y="1325880"/>
            <a:ext cx="10820095" cy="457200"/>
          </a:xfrm>
          <a:prstGeom prst="rect">
            <a:avLst/>
          </a:prstGeom>
          <a:noFill/>
        </p:spPr>
        <p:txBody>
          <a:bodyPr wrap="square" anchor="t">
            <a:spAutoFit/>
          </a:bodyPr>
          <a:lstStyle/>
          <a:p>
            <a:pPr algn="l">
              <a:spcAft>
                <a:spcPts val="0"/>
              </a:spcAft>
            </a:pPr>
            <a:r>
              <a:rPr sz="1500" b="1">
                <a:solidFill>
                  <a:srgbClr val="7CC4FF"/>
                </a:solidFill>
                <a:latin typeface="Calibri"/>
              </a:rPr>
              <a:t>AUC </a:t>
            </a:r>
            <a:r>
              <a:rPr sz="1500" b="0">
                <a:solidFill>
                  <a:srgbClr val="EEF3FA"/>
                </a:solidFill>
                <a:latin typeface="Calibri"/>
              </a:rPr>
              <a:t>= how well a score sorts manipulative from neutral articles. 0.5 is a coin toss, 1.0 is perfect.</a:t>
            </a:r>
          </a:p>
        </p:txBody>
      </p:sp>
      <p:sp>
        <p:nvSpPr>
          <p:cNvPr id="8" name="Rectangle 7"/>
          <p:cNvSpPr/>
          <p:nvPr/>
        </p:nvSpPr>
        <p:spPr>
          <a:xfrm>
            <a:off x="1280160" y="2743200"/>
            <a:ext cx="960120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0.5 coin toss</a:t>
            </a:r>
          </a:p>
        </p:txBody>
      </p:sp>
      <p:sp>
        <p:nvSpPr>
          <p:cNvPr id="10" name="TextBox 9"/>
          <p:cNvSpPr txBox="1"/>
          <p:nvPr/>
        </p:nvSpPr>
        <p:spPr>
          <a:xfrm>
            <a:off x="5257800"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0.75</a:t>
            </a:r>
          </a:p>
        </p:txBody>
      </p:sp>
      <p:sp>
        <p:nvSpPr>
          <p:cNvPr id="11" name="TextBox 10"/>
          <p:cNvSpPr txBox="1"/>
          <p:nvPr/>
        </p:nvSpPr>
        <p:spPr>
          <a:xfrm>
            <a:off x="10058400"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1.0 perfect</a:t>
            </a:r>
          </a:p>
        </p:txBody>
      </p:sp>
      <p:sp>
        <p:nvSpPr>
          <p:cNvPr id="12" name="Oval 11"/>
          <p:cNvSpPr/>
          <p:nvPr/>
        </p:nvSpPr>
        <p:spPr>
          <a:xfrm>
            <a:off x="1895734" y="2633472"/>
            <a:ext cx="274320" cy="274320"/>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4174" y="3200400"/>
            <a:ext cx="2377440" cy="365760"/>
          </a:xfrm>
          <a:prstGeom prst="rect">
            <a:avLst/>
          </a:prstGeom>
          <a:noFill/>
        </p:spPr>
        <p:txBody>
          <a:bodyPr wrap="square" anchor="t">
            <a:spAutoFit/>
          </a:bodyPr>
          <a:lstStyle/>
          <a:p>
            <a:pPr algn="ctr">
              <a:spcAft>
                <a:spcPts val="0"/>
              </a:spcAft>
            </a:pPr>
            <a:r>
              <a:rPr sz="1500" b="1" i="0">
                <a:solidFill>
                  <a:srgbClr val="9AABC4"/>
                </a:solidFill>
                <a:latin typeface="Calibri"/>
              </a:rPr>
              <a:t>sentiment tool 0.54</a:t>
            </a:r>
          </a:p>
        </p:txBody>
      </p:sp>
      <p:sp>
        <p:nvSpPr>
          <p:cNvPr id="14" name="Oval 13"/>
          <p:cNvSpPr/>
          <p:nvPr/>
        </p:nvSpPr>
        <p:spPr>
          <a:xfrm>
            <a:off x="3589385" y="2633472"/>
            <a:ext cx="274320" cy="274320"/>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37825" y="2176272"/>
            <a:ext cx="2377440" cy="365760"/>
          </a:xfrm>
          <a:prstGeom prst="rect">
            <a:avLst/>
          </a:prstGeom>
          <a:noFill/>
        </p:spPr>
        <p:txBody>
          <a:bodyPr wrap="square" anchor="t">
            <a:spAutoFit/>
          </a:bodyPr>
          <a:lstStyle/>
          <a:p>
            <a:pPr algn="ctr">
              <a:spcAft>
                <a:spcPts val="0"/>
              </a:spcAft>
            </a:pPr>
            <a:r>
              <a:rPr sz="1500" b="1" i="0">
                <a:solidFill>
                  <a:srgbClr val="7CC4FF"/>
                </a:solidFill>
                <a:latin typeface="Calibri"/>
              </a:rPr>
              <a:t>our score 0.63</a:t>
            </a:r>
          </a:p>
        </p:txBody>
      </p:sp>
      <p:sp>
        <p:nvSpPr>
          <p:cNvPr id="16" name="Oval 15"/>
          <p:cNvSpPr/>
          <p:nvPr/>
        </p:nvSpPr>
        <p:spPr>
          <a:xfrm>
            <a:off x="10279501" y="2633472"/>
            <a:ext cx="274320" cy="274320"/>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7941" y="2176272"/>
            <a:ext cx="2377440" cy="365760"/>
          </a:xfrm>
          <a:prstGeom prst="rect">
            <a:avLst/>
          </a:prstGeom>
          <a:noFill/>
        </p:spPr>
        <p:txBody>
          <a:bodyPr wrap="square" anchor="t">
            <a:spAutoFit/>
          </a:bodyPr>
          <a:lstStyle/>
          <a:p>
            <a:pPr algn="ctr">
              <a:spcAft>
                <a:spcPts val="0"/>
              </a:spcAft>
            </a:pPr>
            <a:r>
              <a:rPr sz="1500" b="1" i="0">
                <a:solidFill>
                  <a:srgbClr val="FF7A59"/>
                </a:solidFill>
                <a:latin typeface="Calibri"/>
              </a:rPr>
              <a:t>word counting 0.98</a:t>
            </a:r>
          </a:p>
        </p:txBody>
      </p:sp>
      <p:sp>
        <p:nvSpPr>
          <p:cNvPr id="18" name="Rounded Rectangle 17"/>
          <p:cNvSpPr/>
          <p:nvPr/>
        </p:nvSpPr>
        <p:spPr>
          <a:xfrm>
            <a:off x="685800" y="3749039"/>
            <a:ext cx="5257800" cy="1874519"/>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F7A59"/>
                </a:solidFill>
                <a:latin typeface="Calibri"/>
              </a:rPr>
              <a:t>WHY WORD COUNTING WINS</a:t>
            </a:r>
          </a:p>
          <a:p>
            <a:pPr algn="l">
              <a:spcAft>
                <a:spcPts val="0"/>
              </a:spcAft>
            </a:pPr>
            <a:r>
              <a:rPr sz="1500" b="0" i="0">
                <a:solidFill>
                  <a:srgbClr val="EEF3FA"/>
                </a:solidFill>
                <a:latin typeface="Calibri"/>
              </a:rPr>
              <a:t>Each group came from a different source. From the words alone, a computer guesses the source 66% of the time, against 25% by chance. So it is partly spotting the source, not the style.</a:t>
            </a:r>
          </a:p>
        </p:txBody>
      </p:sp>
      <p:sp>
        <p:nvSpPr>
          <p:cNvPr id="19" name="Rounded Rectangle 18"/>
          <p:cNvSpPr/>
          <p:nvPr/>
        </p:nvSpPr>
        <p:spPr>
          <a:xfrm>
            <a:off x="6245352" y="3749039"/>
            <a:ext cx="5257800" cy="187451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7CC4FF"/>
                </a:solidFill>
                <a:latin typeface="Calibri"/>
              </a:rPr>
              <a:t>WHAT THIS MEANS FOR US</a:t>
            </a:r>
          </a:p>
          <a:p>
            <a:pPr algn="l">
              <a:spcAft>
                <a:spcPts val="0"/>
              </a:spcAft>
            </a:pPr>
            <a:r>
              <a:rPr sz="1500" b="0" i="0">
                <a:solidFill>
                  <a:srgbClr val="EEF3FA"/>
                </a:solidFill>
                <a:latin typeface="Calibri"/>
              </a:rPr>
              <a:t>We cannot say the group differences come from writing style alone. Our score is offered as a measurement for the physics model, not as a manipulation detector.</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Weakly, but yes</a:t>
            </a:r>
          </a:p>
        </p:txBody>
      </p:sp>
      <p:sp>
        <p:nvSpPr>
          <p:cNvPr id="7" name="TextBox 6"/>
          <p:cNvSpPr txBox="1"/>
          <p:nvPr/>
        </p:nvSpPr>
        <p:spPr>
          <a:xfrm>
            <a:off x="685800" y="1325880"/>
            <a:ext cx="10820095" cy="457200"/>
          </a:xfrm>
          <a:prstGeom prst="rect">
            <a:avLst/>
          </a:prstGeom>
          <a:noFill/>
        </p:spPr>
        <p:txBody>
          <a:bodyPr wrap="square" anchor="t">
            <a:spAutoFit/>
          </a:bodyPr>
          <a:lstStyle/>
          <a:p>
            <a:pPr algn="l">
              <a:spcAft>
                <a:spcPts val="0"/>
              </a:spcAft>
            </a:pPr>
            <a:r>
              <a:rPr sz="1500" b="0" i="0">
                <a:solidFill>
                  <a:srgbClr val="9AABC4"/>
                </a:solidFill>
                <a:latin typeface="Calibri"/>
              </a:rPr>
              <a:t>A company audit claimed this model is the opposite of real brains. We tested it on public brain scans of people watching the TV show Friends.</a:t>
            </a:r>
          </a:p>
        </p:txBody>
      </p:sp>
      <p:sp>
        <p:nvSpPr>
          <p:cNvPr id="8" name="Rounded Rectangle 7"/>
          <p:cNvSpPr/>
          <p:nvPr/>
        </p:nvSpPr>
        <p:spPr>
          <a:xfrm>
            <a:off x="685800" y="1965960"/>
            <a:ext cx="3429000" cy="27889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0.152</a:t>
            </a:r>
          </a:p>
          <a:p>
            <a:pPr algn="l">
              <a:spcAft>
                <a:spcPts val="600"/>
              </a:spcAft>
            </a:pPr>
            <a:r>
              <a:rPr sz="1400" b="1" i="0">
                <a:solidFill>
                  <a:srgbClr val="EEF3FA"/>
                </a:solidFill>
                <a:latin typeface="Calibri"/>
              </a:rPr>
              <a:t>Best possible score (noise ceiling)</a:t>
            </a:r>
          </a:p>
          <a:p>
            <a:pPr algn="l">
              <a:spcAft>
                <a:spcPts val="400"/>
              </a:spcAft>
            </a:pPr>
            <a:r>
              <a:rPr sz="1300" b="1">
                <a:solidFill>
                  <a:srgbClr val="9AABC4"/>
                </a:solidFill>
                <a:latin typeface="Calibri"/>
              </a:rPr>
              <a:t>What it means: </a:t>
            </a:r>
            <a:r>
              <a:rPr sz="1300" b="0">
                <a:solidFill>
                  <a:srgbClr val="EEF3FA"/>
                </a:solidFill>
                <a:latin typeface="Calibri"/>
              </a:rPr>
              <a:t>How closely real people's brains agree with each other watching the same episode.</a:t>
            </a:r>
          </a:p>
          <a:p>
            <a:pPr algn="l">
              <a:spcAft>
                <a:spcPts val="0"/>
              </a:spcAft>
            </a:pPr>
            <a:r>
              <a:rPr sz="1300" b="1">
                <a:solidFill>
                  <a:srgbClr val="9AABC4"/>
                </a:solidFill>
                <a:latin typeface="Calibri"/>
              </a:rPr>
              <a:t>Why this value: </a:t>
            </a:r>
            <a:r>
              <a:rPr sz="1300" b="0">
                <a:solidFill>
                  <a:srgbClr val="EEF3FA"/>
                </a:solidFill>
                <a:latin typeface="Calibri"/>
              </a:rPr>
              <a:t>Brains differ and scanners are noisy, so even a perfect model can't score higher.</a:t>
            </a:r>
          </a:p>
        </p:txBody>
      </p:sp>
      <p:sp>
        <p:nvSpPr>
          <p:cNvPr id="9" name="Rounded Rectangle 8"/>
          <p:cNvSpPr/>
          <p:nvPr/>
        </p:nvSpPr>
        <p:spPr>
          <a:xfrm>
            <a:off x="4379976" y="1965960"/>
            <a:ext cx="3429000" cy="27889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5FD09A"/>
                </a:solidFill>
                <a:latin typeface="Calibri"/>
              </a:rPr>
              <a:t>0.028</a:t>
            </a:r>
          </a:p>
          <a:p>
            <a:pPr algn="l">
              <a:spcAft>
                <a:spcPts val="600"/>
              </a:spcAft>
            </a:pPr>
            <a:r>
              <a:rPr sz="1400" b="1" i="0">
                <a:solidFill>
                  <a:srgbClr val="EEF3FA"/>
                </a:solidFill>
                <a:latin typeface="Calibri"/>
              </a:rPr>
              <a:t>Model vs real brains (r), 2-minute clip</a:t>
            </a:r>
          </a:p>
          <a:p>
            <a:pPr algn="l">
              <a:spcAft>
                <a:spcPts val="400"/>
              </a:spcAft>
            </a:pPr>
            <a:r>
              <a:rPr sz="1300" b="1">
                <a:solidFill>
                  <a:srgbClr val="9AABC4"/>
                </a:solidFill>
                <a:latin typeface="Calibri"/>
              </a:rPr>
              <a:t>What it means: </a:t>
            </a:r>
            <a:r>
              <a:rPr sz="1300" b="0">
                <a:solidFill>
                  <a:srgbClr val="EEF3FA"/>
                </a:solidFill>
                <a:latin typeface="Calibri"/>
              </a:rPr>
              <a:t>The model's predictions rise and fall with real brain activity, weakly.</a:t>
            </a:r>
          </a:p>
          <a:p>
            <a:pPr algn="l">
              <a:spcAft>
                <a:spcPts val="0"/>
              </a:spcAft>
            </a:pPr>
            <a:r>
              <a:rPr sz="1300" b="1">
                <a:solidFill>
                  <a:srgbClr val="9AABC4"/>
                </a:solidFill>
                <a:latin typeface="Calibri"/>
              </a:rPr>
              <a:t>Why this value: </a:t>
            </a:r>
            <a:r>
              <a:rPr sz="1300" b="0">
                <a:solidFill>
                  <a:srgbClr val="EEF3FA"/>
                </a:solidFill>
                <a:latin typeface="Calibri"/>
              </a:rPr>
              <a:t>The best possible on that same clip is 0.096, so the model gets under a third of the way.</a:t>
            </a:r>
          </a:p>
        </p:txBody>
      </p:sp>
      <p:sp>
        <p:nvSpPr>
          <p:cNvPr id="10" name="Rounded Rectangle 9"/>
          <p:cNvSpPr/>
          <p:nvPr/>
        </p:nvSpPr>
        <p:spPr>
          <a:xfrm>
            <a:off x="8074152" y="1965960"/>
            <a:ext cx="3429000" cy="27889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F5B83D"/>
                </a:solidFill>
                <a:latin typeface="Calibri"/>
              </a:rPr>
              <a:t>p = 0.048</a:t>
            </a:r>
          </a:p>
          <a:p>
            <a:pPr algn="l">
              <a:spcAft>
                <a:spcPts val="600"/>
              </a:spcAft>
            </a:pPr>
            <a:r>
              <a:rPr sz="1400" b="1" i="0">
                <a:solidFill>
                  <a:srgbClr val="EEF3FA"/>
                </a:solidFill>
                <a:latin typeface="Calibri"/>
              </a:rPr>
              <a:t>Chance the match is luck</a:t>
            </a:r>
          </a:p>
          <a:p>
            <a:pPr algn="l">
              <a:spcAft>
                <a:spcPts val="400"/>
              </a:spcAft>
            </a:pPr>
            <a:r>
              <a:rPr sz="1300" b="1">
                <a:solidFill>
                  <a:srgbClr val="9AABC4"/>
                </a:solidFill>
                <a:latin typeface="Calibri"/>
              </a:rPr>
              <a:t>What it means: </a:t>
            </a:r>
            <a:r>
              <a:rPr sz="1300" b="0">
                <a:solidFill>
                  <a:srgbClr val="EEF3FA"/>
                </a:solidFill>
                <a:latin typeface="Calibri"/>
              </a:rPr>
              <a:t>Just under the usual 5% cut-off.</a:t>
            </a:r>
          </a:p>
          <a:p>
            <a:pPr algn="l">
              <a:spcAft>
                <a:spcPts val="0"/>
              </a:spcAft>
            </a:pPr>
            <a:r>
              <a:rPr sz="1300" b="1">
                <a:solidFill>
                  <a:srgbClr val="9AABC4"/>
                </a:solidFill>
                <a:latin typeface="Calibri"/>
              </a:rPr>
              <a:t>Why this value: </a:t>
            </a:r>
            <a:r>
              <a:rPr sz="1300" b="0">
                <a:solidFill>
                  <a:srgbClr val="EEF3FA"/>
                </a:solidFill>
                <a:latin typeface="Calibri"/>
              </a:rPr>
              <a:t>Two minutes of video is short. A longer run is needed to settle it.</a:t>
            </a:r>
          </a:p>
        </p:txBody>
      </p:sp>
      <p:sp>
        <p:nvSpPr>
          <p:cNvPr id="11" name="Rounded Rectangle 10"/>
          <p:cNvSpPr/>
          <p:nvPr/>
        </p:nvSpPr>
        <p:spPr>
          <a:xfrm>
            <a:off x="685800" y="4983480"/>
            <a:ext cx="10820095" cy="6400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F7A59"/>
                </a:solidFill>
                <a:latin typeface="Calibri"/>
              </a:rPr>
              <a:t>Along the way we found and fixed three hidden bugs: </a:t>
            </a:r>
            <a:r>
              <a:rPr sz="1500" b="0">
                <a:solidFill>
                  <a:srgbClr val="EEF3FA"/>
                </a:solidFill>
                <a:latin typeface="Calibri"/>
              </a:rPr>
              <a:t>the wrong episode loaded, a table read sideways, and two clocks out of step.</a:t>
            </a:r>
          </a:p>
        </p:txBody>
      </p:sp>
      <p:sp>
        <p:nvSpPr>
          <p:cNvPr id="12" name="TextBox 1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13" name="Rectangle 1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physics result: the minimum push media would need</a:t>
            </a:r>
          </a:p>
        </p:txBody>
      </p:sp>
      <p:sp>
        <p:nvSpPr>
          <p:cNvPr id="7" name="TextBox 6"/>
          <p:cNvSpPr txBox="1"/>
          <p:nvPr/>
        </p:nvSpPr>
        <p:spPr>
          <a:xfrm>
            <a:off x="685800" y="1371600"/>
            <a:ext cx="5486400" cy="1463040"/>
          </a:xfrm>
          <a:prstGeom prst="rect">
            <a:avLst/>
          </a:prstGeom>
          <a:noFill/>
        </p:spPr>
        <p:txBody>
          <a:bodyPr wrap="square" anchor="t">
            <a:spAutoFit/>
          </a:bodyPr>
          <a:lstStyle/>
          <a:p>
            <a:pPr algn="l">
              <a:spcAft>
                <a:spcPts val="800"/>
              </a:spcAft>
            </a:pPr>
            <a:r>
              <a:rPr sz="1600" b="1">
                <a:solidFill>
                  <a:srgbClr val="FF7A59"/>
                </a:solidFill>
                <a:latin typeface="Calibri"/>
              </a:rPr>
              <a:t>1   </a:t>
            </a:r>
            <a:r>
              <a:rPr sz="1600" b="0">
                <a:solidFill>
                  <a:srgbClr val="EEF3FA"/>
                </a:solidFill>
                <a:latin typeface="Calibri"/>
              </a:rPr>
              <a:t>Media's push  =  α  ×  our score.</a:t>
            </a:r>
          </a:p>
          <a:p>
            <a:pPr algn="l">
              <a:spcAft>
                <a:spcPts val="800"/>
              </a:spcAft>
            </a:pPr>
            <a:r>
              <a:rPr sz="1600" b="1">
                <a:solidFill>
                  <a:srgbClr val="FF7A59"/>
                </a:solidFill>
                <a:latin typeface="Calibri"/>
              </a:rPr>
              <a:t>2   </a:t>
            </a:r>
            <a:r>
              <a:rPr sz="1600" b="0">
                <a:solidFill>
                  <a:srgbClr val="EEF3FA"/>
                </a:solidFill>
                <a:latin typeface="Calibri"/>
              </a:rPr>
              <a:t>The data can't pin down α, so no value is quoted.</a:t>
            </a:r>
          </a:p>
          <a:p>
            <a:pPr algn="l">
              <a:spcAft>
                <a:spcPts val="800"/>
              </a:spcAft>
            </a:pPr>
            <a:r>
              <a:rPr sz="1600" b="1">
                <a:solidFill>
                  <a:srgbClr val="FF7A59"/>
                </a:solidFill>
                <a:latin typeface="Calibri"/>
              </a:rPr>
              <a:t>3   </a:t>
            </a:r>
            <a:r>
              <a:rPr sz="1600" b="0">
                <a:solidFill>
                  <a:srgbClr val="EEF3FA"/>
                </a:solidFill>
                <a:latin typeface="Calibri"/>
              </a:rPr>
              <a:t>So we asked: how big must α be for media alone to flip a majority?</a:t>
            </a:r>
          </a:p>
        </p:txBody>
      </p:sp>
      <p:sp>
        <p:nvSpPr>
          <p:cNvPr id="8" name="Rounded Rectangle 7"/>
          <p:cNvSpPr/>
          <p:nvPr/>
        </p:nvSpPr>
        <p:spPr>
          <a:xfrm>
            <a:off x="685800" y="2971800"/>
            <a:ext cx="5486400" cy="26517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ctr">
              <a:spcAft>
                <a:spcPts val="1000"/>
              </a:spcAft>
            </a:pPr>
            <a:r>
              <a:rPr sz="3000" b="1">
                <a:solidFill>
                  <a:srgbClr val="EEF3FA"/>
                </a:solidFill>
                <a:latin typeface="Calibri"/>
              </a:rPr>
              <a:t>α  ≥  h</a:t>
            </a:r>
            <a:r>
              <a:rPr sz="3000" b="1" baseline="-25000">
                <a:solidFill>
                  <a:srgbClr val="EEF3FA"/>
                </a:solidFill>
                <a:latin typeface="Calibri"/>
              </a:rPr>
              <a:t>c</a:t>
            </a:r>
            <a:r>
              <a:rPr sz="3000" b="1">
                <a:solidFill>
                  <a:srgbClr val="EEF3FA"/>
                </a:solidFill>
                <a:latin typeface="Calibri"/>
              </a:rPr>
              <a:t>  ÷  ΔX</a:t>
            </a:r>
          </a:p>
          <a:p>
            <a:pPr algn="ctr">
              <a:spcAft>
                <a:spcPts val="600"/>
              </a:spcAft>
            </a:pPr>
            <a:r>
              <a:rPr sz="1300" b="1">
                <a:solidFill>
                  <a:srgbClr val="7CC4FF"/>
                </a:solidFill>
                <a:latin typeface="Calibri"/>
              </a:rPr>
              <a:t>h, small c   </a:t>
            </a:r>
            <a:r>
              <a:rPr sz="1300" b="0">
                <a:solidFill>
                  <a:srgbClr val="EEF3FA"/>
                </a:solidFill>
                <a:latin typeface="Calibri"/>
              </a:rPr>
              <a:t>the push needed to flip a majority, from the physics model</a:t>
            </a:r>
          </a:p>
          <a:p>
            <a:pPr algn="ctr">
              <a:spcAft>
                <a:spcPts val="600"/>
              </a:spcAft>
            </a:pPr>
            <a:r>
              <a:rPr sz="1300" b="1">
                <a:solidFill>
                  <a:srgbClr val="7CC4FF"/>
                </a:solidFill>
                <a:latin typeface="Calibri"/>
              </a:rPr>
              <a:t>ΔX = 0.124   </a:t>
            </a:r>
            <a:r>
              <a:rPr sz="1300" b="0">
                <a:solidFill>
                  <a:srgbClr val="EEF3FA"/>
                </a:solidFill>
                <a:latin typeface="Calibri"/>
              </a:rPr>
              <a:t>spread of our scores, from −0.070 to +0.054</a:t>
            </a:r>
          </a:p>
          <a:p>
            <a:pPr algn="ctr">
              <a:spcAft>
                <a:spcPts val="600"/>
              </a:spcAft>
            </a:pPr>
            <a:r>
              <a:rPr sz="1300" b="1">
                <a:solidFill>
                  <a:srgbClr val="7CC4FF"/>
                </a:solidFill>
                <a:latin typeface="Calibri"/>
              </a:rPr>
              <a:t>βJ   </a:t>
            </a:r>
            <a:r>
              <a:rPr sz="1300" b="0">
                <a:solidFill>
                  <a:srgbClr val="EEF3FA"/>
                </a:solidFill>
                <a:latin typeface="Calibri"/>
              </a:rPr>
              <a:t>how strongly people copy each other. Above 1, a group settles on a majority by itself; 2 is strongly connected</a:t>
            </a:r>
          </a:p>
        </p:txBody>
      </p:sp>
      <p:sp>
        <p:nvSpPr>
          <p:cNvPr id="9" name="Rounded Rectangle 8"/>
          <p:cNvSpPr/>
          <p:nvPr/>
        </p:nvSpPr>
        <p:spPr>
          <a:xfrm>
            <a:off x="6400800" y="1371600"/>
            <a:ext cx="5102352" cy="233172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FF7A59"/>
                </a:solidFill>
                <a:latin typeface="Calibri"/>
              </a:rPr>
              <a:t>α ≥ 4.29</a:t>
            </a:r>
          </a:p>
          <a:p>
            <a:pPr algn="l">
              <a:spcAft>
                <a:spcPts val="600"/>
              </a:spcAft>
            </a:pPr>
            <a:r>
              <a:rPr sz="1400" b="1" i="0">
                <a:solidFill>
                  <a:srgbClr val="EEF3FA"/>
                </a:solidFill>
                <a:latin typeface="Calibri"/>
              </a:rPr>
              <a:t>Minimum strength when copying is strong (βJ = 2)</a:t>
            </a:r>
          </a:p>
          <a:p>
            <a:pPr algn="l">
              <a:spcAft>
                <a:spcPts val="400"/>
              </a:spcAft>
            </a:pPr>
            <a:r>
              <a:rPr sz="1300" b="1">
                <a:solidFill>
                  <a:srgbClr val="9AABC4"/>
                </a:solidFill>
                <a:latin typeface="Calibri"/>
              </a:rPr>
              <a:t>What it means: </a:t>
            </a:r>
            <a:r>
              <a:rPr sz="1300" b="0">
                <a:solidFill>
                  <a:srgbClr val="EEF3FA"/>
                </a:solidFill>
                <a:latin typeface="Calibri"/>
              </a:rPr>
              <a:t>Any study saying content like this flips opinion must use an α of at least 4.29, or the maths says it can't happen.</a:t>
            </a:r>
          </a:p>
          <a:p>
            <a:pPr algn="l">
              <a:spcAft>
                <a:spcPts val="0"/>
              </a:spcAft>
            </a:pPr>
            <a:r>
              <a:rPr sz="1300" b="1">
                <a:solidFill>
                  <a:srgbClr val="9AABC4"/>
                </a:solidFill>
                <a:latin typeface="Calibri"/>
              </a:rPr>
              <a:t>Why this value: </a:t>
            </a:r>
            <a:r>
              <a:rPr sz="1300" b="0">
                <a:solidFill>
                  <a:srgbClr val="EEF3FA"/>
                </a:solidFill>
                <a:latin typeface="Calibri"/>
              </a:rPr>
              <a:t>Our scores cover a narrow range (0.124), so each unit of score must push hard.</a:t>
            </a:r>
          </a:p>
        </p:txBody>
      </p:sp>
      <p:sp>
        <p:nvSpPr>
          <p:cNvPr id="10" name="Rounded Rectangle 9"/>
          <p:cNvSpPr/>
          <p:nvPr/>
        </p:nvSpPr>
        <p:spPr>
          <a:xfrm>
            <a:off x="6400800" y="3931920"/>
            <a:ext cx="5102352" cy="1691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5B83D"/>
                </a:solidFill>
                <a:latin typeface="Calibri"/>
              </a:rPr>
              <a:t>WHAT IT DOES NOT SAY</a:t>
            </a:r>
          </a:p>
          <a:p>
            <a:pPr algn="l">
              <a:spcAft>
                <a:spcPts val="0"/>
              </a:spcAft>
            </a:pPr>
            <a:r>
              <a:rPr sz="1400" b="0" i="0">
                <a:solidFill>
                  <a:srgbClr val="EEF3FA"/>
                </a:solidFill>
                <a:latin typeface="Calibri"/>
              </a:rPr>
              <a:t>It does not claim that media flips opinion. It is a bar any such claim has to clear. The more strongly people copy each other, the higher the bar.</a:t>
            </a:r>
          </a:p>
        </p:txBody>
      </p:sp>
      <p:sp>
        <p:nvSpPr>
          <p:cNvPr id="11" name="TextBox 1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12" name="Rectangle 1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417320"/>
            <a:ext cx="3429000" cy="384048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886968" y="1572768"/>
            <a:ext cx="310896" cy="310896"/>
          </a:xfrm>
          <a:prstGeom prst="rect">
            <a:avLst/>
          </a:prstGeom>
        </p:spPr>
      </p:pic>
      <p:sp>
        <p:nvSpPr>
          <p:cNvPr id="9" name="TextBox 8"/>
          <p:cNvSpPr txBox="1"/>
          <p:nvPr/>
        </p:nvSpPr>
        <p:spPr>
          <a:xfrm>
            <a:off x="1280160" y="1554480"/>
            <a:ext cx="2697480" cy="365760"/>
          </a:xfrm>
          <a:prstGeom prst="rect">
            <a:avLst/>
          </a:prstGeom>
          <a:noFill/>
        </p:spPr>
        <p:txBody>
          <a:bodyPr wrap="square" anchor="t">
            <a:spAutoFit/>
          </a:bodyPr>
          <a:lstStyle/>
          <a:p>
            <a:pPr algn="l">
              <a:spcAft>
                <a:spcPts val="0"/>
              </a:spcAft>
            </a:pPr>
            <a:r>
              <a:rPr sz="1300" b="1" i="0">
                <a:solidFill>
                  <a:srgbClr val="5FD09A"/>
                </a:solidFill>
                <a:latin typeface="Calibri"/>
              </a:rPr>
              <a:t>WHAT IT CAN DO</a:t>
            </a:r>
          </a:p>
        </p:txBody>
      </p:sp>
      <p:sp>
        <p:nvSpPr>
          <p:cNvPr id="10" name="TextBox 9"/>
          <p:cNvSpPr txBox="1"/>
          <p:nvPr/>
        </p:nvSpPr>
        <p:spPr>
          <a:xfrm>
            <a:off x="886968"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Take video and sound as well as text, so a cartoon or an advert can be scored.</a:t>
            </a:r>
          </a:p>
          <a:p>
            <a:pPr algn="l">
              <a:spcAft>
                <a:spcPts val="1000"/>
              </a:spcAft>
            </a:pPr>
            <a:r>
              <a:rPr sz="1400" b="0" i="0">
                <a:solidFill>
                  <a:srgbClr val="EEF3FA"/>
                </a:solidFill>
                <a:latin typeface="Calibri"/>
              </a:rPr>
              <a:t>•  Compare groups of content, like two channels or two kinds of programme.</a:t>
            </a:r>
          </a:p>
          <a:p>
            <a:pPr algn="l">
              <a:spcAft>
                <a:spcPts val="1000"/>
              </a:spcAft>
            </a:pPr>
            <a:r>
              <a:rPr sz="1400" b="0" i="0">
                <a:solidFill>
                  <a:srgbClr val="EEF3FA"/>
                </a:solidFill>
                <a:latin typeface="Calibri"/>
              </a:rPr>
              <a:t>•  Score the content, never the viewer. Nobody is scanned.</a:t>
            </a:r>
          </a:p>
        </p:txBody>
      </p:sp>
      <p:sp>
        <p:nvSpPr>
          <p:cNvPr id="11" name="Rounded Rectangle 10"/>
          <p:cNvSpPr/>
          <p:nvPr/>
        </p:nvSpPr>
        <p:spPr>
          <a:xfrm>
            <a:off x="4379976" y="1417320"/>
            <a:ext cx="3429000" cy="3840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x-circle.png"/>
          <p:cNvPicPr>
            <a:picLocks noChangeAspect="1"/>
          </p:cNvPicPr>
          <p:nvPr/>
        </p:nvPicPr>
        <p:blipFill>
          <a:blip r:embed="rId5"/>
          <a:stretch>
            <a:fillRect/>
          </a:stretch>
        </p:blipFill>
        <p:spPr>
          <a:xfrm>
            <a:off x="4581144" y="1572768"/>
            <a:ext cx="310896" cy="310896"/>
          </a:xfrm>
          <a:prstGeom prst="rect">
            <a:avLst/>
          </a:prstGeom>
        </p:spPr>
      </p:pic>
      <p:sp>
        <p:nvSpPr>
          <p:cNvPr id="13" name="TextBox 12"/>
          <p:cNvSpPr txBox="1"/>
          <p:nvPr/>
        </p:nvSpPr>
        <p:spPr>
          <a:xfrm>
            <a:off x="4974336" y="1554480"/>
            <a:ext cx="2697480" cy="365760"/>
          </a:xfrm>
          <a:prstGeom prst="rect">
            <a:avLst/>
          </a:prstGeom>
          <a:noFill/>
        </p:spPr>
        <p:txBody>
          <a:bodyPr wrap="square" anchor="t">
            <a:spAutoFit/>
          </a:bodyPr>
          <a:lstStyle/>
          <a:p>
            <a:pPr algn="l">
              <a:spcAft>
                <a:spcPts val="0"/>
              </a:spcAft>
            </a:pPr>
            <a:r>
              <a:rPr sz="1300" b="1" i="0">
                <a:solidFill>
                  <a:srgbClr val="FF7A59"/>
                </a:solidFill>
                <a:latin typeface="Calibri"/>
              </a:rPr>
              <a:t>WHAT IT CANNOT DO YET</a:t>
            </a:r>
          </a:p>
        </p:txBody>
      </p:sp>
      <p:sp>
        <p:nvSpPr>
          <p:cNvPr id="14" name="TextBox 13"/>
          <p:cNvSpPr txBox="1"/>
          <p:nvPr/>
        </p:nvSpPr>
        <p:spPr>
          <a:xfrm>
            <a:off x="4581144"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Say how a child reacts. The model learned from adult brains, and children's brains are still developing.</a:t>
            </a:r>
          </a:p>
          <a:p>
            <a:pPr algn="l">
              <a:spcAft>
                <a:spcPts val="1000"/>
              </a:spcAft>
            </a:pPr>
            <a:r>
              <a:rPr sz="1400" b="0" i="0">
                <a:solidFill>
                  <a:srgbClr val="EEF3FA"/>
                </a:solidFill>
                <a:latin typeface="Calibri"/>
              </a:rPr>
              <a:t>•  Speak for video: only news text read aloud was tested here.</a:t>
            </a:r>
          </a:p>
          <a:p>
            <a:pPr algn="l">
              <a:spcAft>
                <a:spcPts val="1000"/>
              </a:spcAft>
            </a:pPr>
            <a:r>
              <a:rPr sz="1400" b="0" i="0">
                <a:solidFill>
                  <a:srgbClr val="EEF3FA"/>
                </a:solidFill>
                <a:latin typeface="Calibri"/>
              </a:rPr>
              <a:t>•  Rate one show: about 1 in 8 items flip between runs.</a:t>
            </a:r>
          </a:p>
        </p:txBody>
      </p:sp>
      <p:sp>
        <p:nvSpPr>
          <p:cNvPr id="15" name="Rounded Rectangle 14"/>
          <p:cNvSpPr/>
          <p:nvPr/>
        </p:nvSpPr>
        <p:spPr>
          <a:xfrm>
            <a:off x="8074152" y="1417320"/>
            <a:ext cx="3429000" cy="3840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flag-banner.png"/>
          <p:cNvPicPr>
            <a:picLocks noChangeAspect="1"/>
          </p:cNvPicPr>
          <p:nvPr/>
        </p:nvPicPr>
        <p:blipFill>
          <a:blip r:embed="rId6"/>
          <a:stretch>
            <a:fillRect/>
          </a:stretch>
        </p:blipFill>
        <p:spPr>
          <a:xfrm>
            <a:off x="8275320" y="1572768"/>
            <a:ext cx="310896" cy="310896"/>
          </a:xfrm>
          <a:prstGeom prst="rect">
            <a:avLst/>
          </a:prstGeom>
        </p:spPr>
      </p:pic>
      <p:sp>
        <p:nvSpPr>
          <p:cNvPr id="17" name="TextBox 16"/>
          <p:cNvSpPr txBox="1"/>
          <p:nvPr/>
        </p:nvSpPr>
        <p:spPr>
          <a:xfrm>
            <a:off x="8668512" y="1554480"/>
            <a:ext cx="2697480" cy="365760"/>
          </a:xfrm>
          <a:prstGeom prst="rect">
            <a:avLst/>
          </a:prstGeom>
          <a:noFill/>
        </p:spPr>
        <p:txBody>
          <a:bodyPr wrap="square" anchor="t">
            <a:spAutoFit/>
          </a:bodyPr>
          <a:lstStyle/>
          <a:p>
            <a:pPr algn="l">
              <a:spcAft>
                <a:spcPts val="0"/>
              </a:spcAft>
            </a:pPr>
            <a:r>
              <a:rPr sz="1300" b="1" i="0">
                <a:solidFill>
                  <a:srgbClr val="7CC4FF"/>
                </a:solidFill>
                <a:latin typeface="Calibri"/>
              </a:rPr>
              <a:t>WHAT IT WOULD TAKE</a:t>
            </a:r>
          </a:p>
        </p:txBody>
      </p:sp>
      <p:sp>
        <p:nvSpPr>
          <p:cNvPr id="18" name="TextBox 17"/>
          <p:cNvSpPr txBox="1"/>
          <p:nvPr/>
        </p:nvSpPr>
        <p:spPr>
          <a:xfrm>
            <a:off x="8275320"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Brain scans from children, collected with ethics approval and consent.</a:t>
            </a:r>
          </a:p>
          <a:p>
            <a:pPr algn="l">
              <a:spcAft>
                <a:spcPts val="1000"/>
              </a:spcAft>
            </a:pPr>
            <a:r>
              <a:rPr sz="1400" b="0" i="0">
                <a:solidFill>
                  <a:srgbClr val="EEF3FA"/>
                </a:solidFill>
                <a:latin typeface="Calibri"/>
              </a:rPr>
              <a:t>•  A test set of children's videos.</a:t>
            </a:r>
          </a:p>
          <a:p>
            <a:pPr algn="l">
              <a:spcAft>
                <a:spcPts val="1000"/>
              </a:spcAft>
            </a:pPr>
            <a:r>
              <a:rPr sz="1400" b="0" i="0">
                <a:solidFill>
                  <a:srgbClr val="EEF3FA"/>
                </a:solidFill>
                <a:latin typeface="Calibri"/>
              </a:rPr>
              <a:t>•  Content where source and type are mixed.</a:t>
            </a:r>
          </a:p>
          <a:p>
            <a:pPr algn="l">
              <a:spcAft>
                <a:spcPts val="1000"/>
              </a:spcAft>
            </a:pPr>
            <a:r>
              <a:rPr sz="1400" b="0" i="0">
                <a:solidFill>
                  <a:srgbClr val="EEF3FA"/>
                </a:solidFill>
                <a:latin typeface="Calibri"/>
              </a:rPr>
              <a:t>•  Safeguards so it is never used to target children.</a:t>
            </a:r>
          </a:p>
        </p:txBody>
      </p:sp>
      <p:sp>
        <p:nvSpPr>
          <p:cNvPr id="19" name="Rounded Rectangle 18"/>
          <p:cNvSpPr/>
          <p:nvPr/>
        </p:nvSpPr>
        <p:spPr>
          <a:xfrm>
            <a:off x="685800" y="539496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Short answer: </a:t>
            </a:r>
            <a:r>
              <a:rPr sz="1500" b="0">
                <a:solidFill>
                  <a:srgbClr val="EEF3FA"/>
                </a:solidFill>
                <a:latin typeface="Calibri"/>
              </a:rPr>
              <a:t>technically possible, but not yet valid for children.</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What this work cannot claim yet</a:t>
            </a:r>
          </a:p>
        </p:txBody>
      </p:sp>
      <p:sp>
        <p:nvSpPr>
          <p:cNvPr id="7" name="TextBox 6"/>
          <p:cNvSpPr txBox="1"/>
          <p:nvPr/>
        </p:nvSpPr>
        <p:spPr>
          <a:xfrm>
            <a:off x="685800" y="1325880"/>
            <a:ext cx="3749039" cy="32004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4572000" y="1325880"/>
            <a:ext cx="3657600" cy="320040"/>
          </a:xfrm>
          <a:prstGeom prst="rect">
            <a:avLst/>
          </a:prstGeom>
          <a:noFill/>
        </p:spPr>
        <p:txBody>
          <a:bodyPr wrap="square" anchor="t">
            <a:spAutoFit/>
          </a:bodyPr>
          <a:lstStyle/>
          <a:p>
            <a:pPr algn="l">
              <a:spcAft>
                <a:spcPts val="0"/>
              </a:spcAft>
            </a:pPr>
            <a:r>
              <a:rPr sz="1100" b="1" i="0">
                <a:solidFill>
                  <a:srgbClr val="9AABC4"/>
                </a:solidFill>
                <a:latin typeface="Calibri"/>
              </a:rPr>
              <a:t>WHY IT MATTERS</a:t>
            </a:r>
          </a:p>
        </p:txBody>
      </p:sp>
      <p:sp>
        <p:nvSpPr>
          <p:cNvPr id="9" name="TextBox 8"/>
          <p:cNvSpPr txBox="1"/>
          <p:nvPr/>
        </p:nvSpPr>
        <p:spPr>
          <a:xfrm>
            <a:off x="8366760" y="1325880"/>
            <a:ext cx="3136392" cy="320040"/>
          </a:xfrm>
          <a:prstGeom prst="rect">
            <a:avLst/>
          </a:prstGeom>
          <a:noFill/>
        </p:spPr>
        <p:txBody>
          <a:bodyPr wrap="square" anchor="t">
            <a:spAutoFit/>
          </a:bodyPr>
          <a:lstStyle/>
          <a:p>
            <a:pPr algn="l">
              <a:spcAft>
                <a:spcPts val="0"/>
              </a:spcAft>
            </a:pPr>
            <a:r>
              <a:rPr sz="1100" b="1" i="0">
                <a:solidFill>
                  <a:srgbClr val="7CC4FF"/>
                </a:solidFill>
                <a:latin typeface="Calibri"/>
              </a:rPr>
              <a:t>NEXT STEP</a:t>
            </a:r>
          </a:p>
        </p:txBody>
      </p:sp>
      <p:sp>
        <p:nvSpPr>
          <p:cNvPr id="10" name="Rounded Rectangle 9"/>
          <p:cNvSpPr/>
          <p:nvPr/>
        </p:nvSpPr>
        <p:spPr>
          <a:xfrm>
            <a:off x="685800" y="169164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Predictions, not brain scans</a:t>
            </a:r>
          </a:p>
        </p:txBody>
      </p:sp>
      <p:sp>
        <p:nvSpPr>
          <p:cNvPr id="11" name="Rounded Rectangle 10"/>
          <p:cNvSpPr/>
          <p:nvPr/>
        </p:nvSpPr>
        <p:spPr>
          <a:xfrm>
            <a:off x="4572000" y="1691640"/>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Nobody was scanned; the model could be wrong.</a:t>
            </a:r>
          </a:p>
        </p:txBody>
      </p:sp>
      <p:sp>
        <p:nvSpPr>
          <p:cNvPr id="12" name="Rounded Rectangle 11"/>
          <p:cNvSpPr/>
          <p:nvPr/>
        </p:nvSpPr>
        <p:spPr>
          <a:xfrm>
            <a:off x="8366760" y="1691640"/>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The real-brain check (Paper 3).</a:t>
            </a:r>
          </a:p>
        </p:txBody>
      </p:sp>
      <p:sp>
        <p:nvSpPr>
          <p:cNvPr id="13" name="Rounded Rectangle 12"/>
          <p:cNvSpPr/>
          <p:nvPr/>
        </p:nvSpPr>
        <p:spPr>
          <a:xfrm>
            <a:off x="685800" y="245059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Group is mixed up with source</a:t>
            </a:r>
          </a:p>
        </p:txBody>
      </p:sp>
      <p:sp>
        <p:nvSpPr>
          <p:cNvPr id="14" name="Rounded Rectangle 13"/>
          <p:cNvSpPr/>
          <p:nvPr/>
        </p:nvSpPr>
        <p:spPr>
          <a:xfrm>
            <a:off x="4572000" y="2450592"/>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Each group came from one collection.</a:t>
            </a:r>
          </a:p>
        </p:txBody>
      </p:sp>
      <p:sp>
        <p:nvSpPr>
          <p:cNvPr id="15" name="Rounded Rectangle 14"/>
          <p:cNvSpPr/>
          <p:nvPr/>
        </p:nvSpPr>
        <p:spPr>
          <a:xfrm>
            <a:off x="8366760" y="2450592"/>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A new set where every source has every type.</a:t>
            </a:r>
          </a:p>
        </p:txBody>
      </p:sp>
      <p:sp>
        <p:nvSpPr>
          <p:cNvPr id="16" name="Rounded Rectangle 15"/>
          <p:cNvSpPr/>
          <p:nvPr/>
        </p:nvSpPr>
        <p:spPr>
          <a:xfrm>
            <a:off x="685800" y="320954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Brain surface only</a:t>
            </a:r>
          </a:p>
        </p:txBody>
      </p:sp>
      <p:sp>
        <p:nvSpPr>
          <p:cNvPr id="17" name="Rounded Rectangle 16"/>
          <p:cNvSpPr/>
          <p:nvPr/>
        </p:nvSpPr>
        <p:spPr>
          <a:xfrm>
            <a:off x="4572000" y="3209544"/>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No amygdala or other deep areas.</a:t>
            </a:r>
          </a:p>
        </p:txBody>
      </p:sp>
      <p:sp>
        <p:nvSpPr>
          <p:cNvPr id="18" name="Rounded Rectangle 17"/>
          <p:cNvSpPr/>
          <p:nvPr/>
        </p:nvSpPr>
        <p:spPr>
          <a:xfrm>
            <a:off x="8366760" y="3209544"/>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A model that predicts deep areas.</a:t>
            </a:r>
          </a:p>
        </p:txBody>
      </p:sp>
      <p:sp>
        <p:nvSpPr>
          <p:cNvPr id="19" name="Rounded Rectangle 18"/>
          <p:cNvSpPr/>
          <p:nvPr/>
        </p:nvSpPr>
        <p:spPr>
          <a:xfrm>
            <a:off x="685800" y="396849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Strength of the push (α) unknown</a:t>
            </a:r>
          </a:p>
        </p:txBody>
      </p:sp>
      <p:sp>
        <p:nvSpPr>
          <p:cNvPr id="20" name="Rounded Rectangle 19"/>
          <p:cNvSpPr/>
          <p:nvPr/>
        </p:nvSpPr>
        <p:spPr>
          <a:xfrm>
            <a:off x="4572000" y="3968496"/>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The data can't pin it down.</a:t>
            </a:r>
          </a:p>
        </p:txBody>
      </p:sp>
      <p:sp>
        <p:nvSpPr>
          <p:cNvPr id="21" name="Rounded Rectangle 20"/>
          <p:cNvSpPr/>
          <p:nvPr/>
        </p:nvSpPr>
        <p:spPr>
          <a:xfrm>
            <a:off x="8366760" y="3968496"/>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Use the minimum rule instead.</a:t>
            </a:r>
          </a:p>
        </p:txBody>
      </p:sp>
      <p:sp>
        <p:nvSpPr>
          <p:cNvPr id="22" name="Rounded Rectangle 21"/>
          <p:cNvSpPr/>
          <p:nvPr/>
        </p:nvSpPr>
        <p:spPr>
          <a:xfrm>
            <a:off x="685800" y="472744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The real-brain check is short</a:t>
            </a:r>
          </a:p>
        </p:txBody>
      </p:sp>
      <p:sp>
        <p:nvSpPr>
          <p:cNvPr id="23" name="Rounded Rectangle 22"/>
          <p:cNvSpPr/>
          <p:nvPr/>
        </p:nvSpPr>
        <p:spPr>
          <a:xfrm>
            <a:off x="4572000" y="4727448"/>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Only 2 minutes of video so far.</a:t>
            </a:r>
          </a:p>
        </p:txBody>
      </p:sp>
      <p:sp>
        <p:nvSpPr>
          <p:cNvPr id="24" name="Rounded Rectangle 23"/>
          <p:cNvSpPr/>
          <p:nvPr/>
        </p:nvSpPr>
        <p:spPr>
          <a:xfrm>
            <a:off x="8366760" y="4727448"/>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Longer clips, run one at a time.</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Three papers, and what I need from you today</a:t>
            </a:r>
          </a:p>
        </p:txBody>
      </p:sp>
      <p:sp>
        <p:nvSpPr>
          <p:cNvPr id="7" name="Rounded Rectangle 6"/>
          <p:cNvSpPr/>
          <p:nvPr/>
        </p:nvSpPr>
        <p:spPr>
          <a:xfrm>
            <a:off x="685800" y="1371600"/>
            <a:ext cx="3429000" cy="22402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7CC4FF"/>
                </a:solidFill>
                <a:latin typeface="Calibri"/>
              </a:rPr>
              <a:t>PAPER 1 · Physica A</a:t>
            </a:r>
          </a:p>
          <a:p>
            <a:pPr algn="l">
              <a:spcAft>
                <a:spcPts val="600"/>
              </a:spcAft>
            </a:pPr>
            <a:r>
              <a:rPr sz="1800" b="1" i="0">
                <a:solidFill>
                  <a:srgbClr val="EEF3FA"/>
                </a:solidFill>
                <a:latin typeface="Calibri"/>
              </a:rPr>
              <a:t>The minimum push</a:t>
            </a:r>
          </a:p>
          <a:p>
            <a:pPr algn="l">
              <a:spcAft>
                <a:spcPts val="600"/>
              </a:spcAft>
            </a:pPr>
            <a:r>
              <a:rPr sz="1300" b="0" i="0">
                <a:solidFill>
                  <a:srgbClr val="9AABC4"/>
                </a:solidFill>
                <a:latin typeface="Calibri"/>
              </a:rPr>
              <a:t>How strong media would have to be to flip a majority. Pure physics; needs no brain data.</a:t>
            </a:r>
          </a:p>
          <a:p>
            <a:pPr algn="l">
              <a:spcAft>
                <a:spcPts val="0"/>
              </a:spcAft>
            </a:pPr>
            <a:r>
              <a:rPr sz="1300" b="1" i="0">
                <a:solidFill>
                  <a:srgbClr val="7CC4FF"/>
                </a:solidFill>
                <a:latin typeface="Calibri"/>
              </a:rPr>
              <a:t>12 pages, ready</a:t>
            </a:r>
          </a:p>
        </p:txBody>
      </p:sp>
      <p:sp>
        <p:nvSpPr>
          <p:cNvPr id="8" name="Rounded Rectangle 7"/>
          <p:cNvSpPr/>
          <p:nvPr/>
        </p:nvSpPr>
        <p:spPr>
          <a:xfrm>
            <a:off x="4379976" y="1371600"/>
            <a:ext cx="3429000" cy="22402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7CC4FF"/>
                </a:solidFill>
                <a:latin typeface="Calibri"/>
              </a:rPr>
              <a:t>PAPER 2 · Physica A</a:t>
            </a:r>
          </a:p>
          <a:p>
            <a:pPr algn="l">
              <a:spcAft>
                <a:spcPts val="600"/>
              </a:spcAft>
            </a:pPr>
            <a:r>
              <a:rPr sz="1800" b="1" i="0">
                <a:solidFill>
                  <a:srgbClr val="EEF3FA"/>
                </a:solidFill>
                <a:latin typeface="Calibri"/>
              </a:rPr>
              <a:t>The measuring tool</a:t>
            </a:r>
          </a:p>
          <a:p>
            <a:pPr algn="l">
              <a:spcAft>
                <a:spcPts val="600"/>
              </a:spcAft>
            </a:pPr>
            <a:r>
              <a:rPr sz="1300" b="0" i="0">
                <a:solidFill>
                  <a:srgbClr val="9AABC4"/>
                </a:solidFill>
                <a:latin typeface="Calibri"/>
              </a:rPr>
              <a:t>The process, the 400 articles, the results, and the word-counting comparison.</a:t>
            </a:r>
          </a:p>
          <a:p>
            <a:pPr algn="l">
              <a:spcAft>
                <a:spcPts val="0"/>
              </a:spcAft>
            </a:pPr>
            <a:r>
              <a:rPr sz="1300" b="1" i="0">
                <a:solidFill>
                  <a:srgbClr val="7CC4FF"/>
                </a:solidFill>
                <a:latin typeface="Calibri"/>
              </a:rPr>
              <a:t>16 pages, ready</a:t>
            </a:r>
          </a:p>
        </p:txBody>
      </p:sp>
      <p:sp>
        <p:nvSpPr>
          <p:cNvPr id="9" name="Rounded Rectangle 8"/>
          <p:cNvSpPr/>
          <p:nvPr/>
        </p:nvSpPr>
        <p:spPr>
          <a:xfrm>
            <a:off x="8074152" y="1371600"/>
            <a:ext cx="3429000" cy="22402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F5B83D"/>
                </a:solidFill>
                <a:latin typeface="Calibri"/>
              </a:rPr>
              <a:t>PAPER 3 · Imaging Neuroscience</a:t>
            </a:r>
          </a:p>
          <a:p>
            <a:pPr algn="l">
              <a:spcAft>
                <a:spcPts val="600"/>
              </a:spcAft>
            </a:pPr>
            <a:r>
              <a:rPr sz="1800" b="1" i="0">
                <a:solidFill>
                  <a:srgbClr val="EEF3FA"/>
                </a:solidFill>
                <a:latin typeface="Calibri"/>
              </a:rPr>
              <a:t>Does the model match real brains?</a:t>
            </a:r>
          </a:p>
          <a:p>
            <a:pPr algn="l">
              <a:spcAft>
                <a:spcPts val="600"/>
              </a:spcAft>
            </a:pPr>
            <a:r>
              <a:rPr sz="1300" b="0" i="0">
                <a:solidFill>
                  <a:srgbClr val="9AABC4"/>
                </a:solidFill>
                <a:latin typeface="Calibri"/>
              </a:rPr>
              <a:t>The best-possible score, the three bugs, and the first check.</a:t>
            </a:r>
          </a:p>
          <a:p>
            <a:pPr algn="l">
              <a:spcAft>
                <a:spcPts val="0"/>
              </a:spcAft>
            </a:pPr>
            <a:r>
              <a:rPr sz="1300" b="1" i="0">
                <a:solidFill>
                  <a:srgbClr val="F5B83D"/>
                </a:solidFill>
                <a:latin typeface="Calibri"/>
              </a:rPr>
              <a:t>8 pages, one longer run to go</a:t>
            </a:r>
          </a:p>
        </p:txBody>
      </p:sp>
      <p:sp>
        <p:nvSpPr>
          <p:cNvPr id="10" name="Rounded Rectangle 9"/>
          <p:cNvSpPr/>
          <p:nvPr/>
        </p:nvSpPr>
        <p:spPr>
          <a:xfrm>
            <a:off x="685800" y="3840480"/>
            <a:ext cx="10820095" cy="17830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800"/>
              </a:spcAft>
            </a:pPr>
            <a:r>
              <a:rPr sz="1200" b="1" i="0">
                <a:solidFill>
                  <a:srgbClr val="FF7A59"/>
                </a:solidFill>
                <a:latin typeface="Calibri"/>
              </a:rPr>
              <a:t>TODAY I AM ASKING FOR</a:t>
            </a:r>
          </a:p>
          <a:p>
            <a:pPr algn="l">
              <a:spcAft>
                <a:spcPts val="300"/>
              </a:spcAft>
            </a:pPr>
            <a:r>
              <a:rPr sz="1500" b="1">
                <a:solidFill>
                  <a:srgbClr val="FF7A59"/>
                </a:solidFill>
                <a:latin typeface="Calibri"/>
              </a:rPr>
              <a:t>1   </a:t>
            </a:r>
            <a:r>
              <a:rPr sz="1500" b="0">
                <a:solidFill>
                  <a:srgbClr val="EEF3FA"/>
                </a:solidFill>
                <a:latin typeface="Calibri"/>
              </a:rPr>
              <a:t>Any corrections you need before the thesis is final.</a:t>
            </a:r>
          </a:p>
          <a:p>
            <a:pPr algn="l">
              <a:spcAft>
                <a:spcPts val="300"/>
              </a:spcAft>
            </a:pPr>
            <a:r>
              <a:rPr sz="1500" b="1">
                <a:solidFill>
                  <a:srgbClr val="FF7A59"/>
                </a:solidFill>
                <a:latin typeface="Calibri"/>
              </a:rPr>
              <a:t>2   </a:t>
            </a:r>
            <a:r>
              <a:rPr sz="1500" b="0">
                <a:solidFill>
                  <a:srgbClr val="EEF3FA"/>
                </a:solidFill>
                <a:latin typeface="Calibri"/>
              </a:rPr>
              <a:t>Your signature on the declaration page (page iii).</a:t>
            </a:r>
          </a:p>
          <a:p>
            <a:pPr algn="l">
              <a:spcAft>
                <a:spcPts val="300"/>
              </a:spcAft>
            </a:pPr>
            <a:r>
              <a:rPr sz="1500" b="1">
                <a:solidFill>
                  <a:srgbClr val="FF7A59"/>
                </a:solidFill>
                <a:latin typeface="Calibri"/>
              </a:rPr>
              <a:t>3   </a:t>
            </a:r>
            <a:r>
              <a:rPr sz="1500" b="0">
                <a:solidFill>
                  <a:srgbClr val="EEF3FA"/>
                </a:solidFill>
                <a:latin typeface="Calibri"/>
              </a:rPr>
              <a:t>Clearance to deposit with the library (bound copy by Thursday 24 September).</a:t>
            </a:r>
          </a:p>
          <a:p>
            <a:pPr algn="l">
              <a:spcAft>
                <a:spcPts val="300"/>
              </a:spcAft>
            </a:pPr>
            <a:r>
              <a:rPr sz="1500" b="1">
                <a:solidFill>
                  <a:srgbClr val="FF7A59"/>
                </a:solidFill>
                <a:latin typeface="Calibri"/>
              </a:rPr>
              <a:t>4   </a:t>
            </a:r>
            <a:r>
              <a:rPr sz="1500" b="0">
                <a:solidFill>
                  <a:srgbClr val="EEF3FA"/>
                </a:solidFill>
                <a:latin typeface="Calibri"/>
              </a:rPr>
              <a:t>Your view on co-authorship of the three papers.</a:t>
            </a:r>
          </a:p>
        </p:txBody>
      </p:sp>
      <p:sp>
        <p:nvSpPr>
          <p:cNvPr id="11" name="TextBox 1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12" name="Rectangle 1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