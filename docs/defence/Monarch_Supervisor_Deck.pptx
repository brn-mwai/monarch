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7CC4FF"/>
              </a:solidFill>
              <a:ln>
                <a:noFill/>
              </a:ln>
            </c:spPr>
          </c:dPt>
          <c:dPt>
            <c:idx val="1"/>
            <c:spPr>
              <a:solidFill>
                <a:srgbClr val="2A3D5E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group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0.1068</c:v>
                </c:pt>
                <c:pt idx="1">
                  <c:v>0.8932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 required</c:v>
                </c:pt>
              </c:strCache>
            </c:strRef>
          </c:tx>
          <c:spPr>
            <a:ln w="38100">
              <a:solidFill>
                <a:srgbClr val="7CC4FF"/>
              </a:solidFill>
            </a:ln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1.0</c:v>
                </c:pt>
                <c:pt idx="1">
                  <c:v>1.05</c:v>
                </c:pt>
                <c:pt idx="2">
                  <c:v>1.1</c:v>
                </c:pt>
                <c:pt idx="3">
                  <c:v>1.15</c:v>
                </c:pt>
                <c:pt idx="4">
                  <c:v>1.2</c:v>
                </c:pt>
                <c:pt idx="5">
                  <c:v>1.25</c:v>
                </c:pt>
                <c:pt idx="6">
                  <c:v>1.3</c:v>
                </c:pt>
                <c:pt idx="7">
                  <c:v>1.35</c:v>
                </c:pt>
                <c:pt idx="8">
                  <c:v>1.4</c:v>
                </c:pt>
                <c:pt idx="9">
                  <c:v>1.45</c:v>
                </c:pt>
                <c:pt idx="10">
                  <c:v>1.5</c:v>
                </c:pt>
                <c:pt idx="11">
                  <c:v>1.55</c:v>
                </c:pt>
                <c:pt idx="12">
                  <c:v>1.6</c:v>
                </c:pt>
                <c:pt idx="13">
                  <c:v>1.65</c:v>
                </c:pt>
                <c:pt idx="14">
                  <c:v>1.7</c:v>
                </c:pt>
                <c:pt idx="15">
                  <c:v>1.75</c:v>
                </c:pt>
                <c:pt idx="16">
                  <c:v>1.8</c:v>
                </c:pt>
                <c:pt idx="17">
                  <c:v>1.85</c:v>
                </c:pt>
                <c:pt idx="18">
                  <c:v>1.9</c:v>
                </c:pt>
                <c:pt idx="19">
                  <c:v>1.95</c:v>
                </c:pt>
                <c:pt idx="20">
                  <c:v>2.0</c:v>
                </c:pt>
                <c:pt idx="21">
                  <c:v>2.05</c:v>
                </c:pt>
                <c:pt idx="22">
                  <c:v>2.1</c:v>
                </c:pt>
                <c:pt idx="23">
                  <c:v>2.15</c:v>
                </c:pt>
                <c:pt idx="24">
                  <c:v>2.2</c:v>
                </c:pt>
                <c:pt idx="25">
                  <c:v>2.25</c:v>
                </c:pt>
                <c:pt idx="26">
                  <c:v>2.3</c:v>
                </c:pt>
                <c:pt idx="27">
                  <c:v>2.35</c:v>
                </c:pt>
                <c:pt idx="28">
                  <c:v>2.4</c:v>
                </c:pt>
                <c:pt idx="29">
                  <c:v>2.45</c:v>
                </c:pt>
                <c:pt idx="30">
                  <c:v>2.5</c:v>
                </c:pt>
              </c:numCache>
            </c:numRef>
          </c:xVal>
          <c:yVal>
            <c:numRef>
              <c:f>Sheet1!$B$2:$B$32</c:f>
              <c:numCache>
                <c:formatCode>General</c:formatCode>
                <c:ptCount val="31"/>
                <c:pt idx="0">
                  <c:v>0.0</c:v>
                </c:pt>
                <c:pt idx="1">
                  <c:v>0.05918338078351689</c:v>
                </c:pt>
                <c:pt idx="2">
                  <c:v>0.1650380916853392</c:v>
                </c:pt>
                <c:pt idx="3">
                  <c:v>0.2990712144836746</c:v>
                </c:pt>
                <c:pt idx="4">
                  <c:v>0.4543963361108232</c:v>
                </c:pt>
                <c:pt idx="5">
                  <c:v>0.6269554336449967</c:v>
                </c:pt>
                <c:pt idx="6">
                  <c:v>0.81398744833397</c:v>
                </c:pt>
                <c:pt idx="7">
                  <c:v>1.0134638432693657</c:v>
                </c:pt>
                <c:pt idx="8">
                  <c:v>1.2238204017587742</c:v>
                </c:pt>
                <c:pt idx="9">
                  <c:v>1.4438098933923091</c:v>
                </c:pt>
                <c:pt idx="10">
                  <c:v>1.6724130162935578</c:v>
                </c:pt>
                <c:pt idx="11">
                  <c:v>1.9087807696186925</c:v>
                </c:pt>
                <c:pt idx="12">
                  <c:v>2.1521952101367066</c:v>
                </c:pt>
                <c:pt idx="13">
                  <c:v>2.402041645767016</c:v>
                </c:pt>
                <c:pt idx="14">
                  <c:v>2.657788297596657</c:v>
                </c:pt>
                <c:pt idx="15">
                  <c:v>2.9189710334629715</c:v>
                </c:pt>
                <c:pt idx="16">
                  <c:v>3.1851816582026613</c:v>
                </c:pt>
                <c:pt idx="17">
                  <c:v>3.456058766387657</c:v>
                </c:pt>
                <c:pt idx="18">
                  <c:v>3.7312804840616804</c:v>
                </c:pt>
                <c:pt idx="19">
                  <c:v>4.0105586307024526</c:v>
                </c:pt>
                <c:pt idx="20">
                  <c:v>4.2936339673936565</c:v>
                </c:pt>
                <c:pt idx="21">
                  <c:v>4.580272288302001</c:v>
                </c:pt>
                <c:pt idx="22">
                  <c:v>4.870261175613264</c:v>
                </c:pt>
                <c:pt idx="23">
                  <c:v>5.163407282634284</c:v>
                </c:pt>
                <c:pt idx="24">
                  <c:v>5.45953404182952</c:v>
                </c:pt>
                <c:pt idx="25">
                  <c:v>5.758479718014789</c:v>
                </c:pt>
                <c:pt idx="26">
                  <c:v>6.060095744343501</c:v>
                </c:pt>
                <c:pt idx="27">
                  <c:v>6.364245291821802</c:v>
                </c:pt>
                <c:pt idx="28">
                  <c:v>6.670802033066661</c:v>
                </c:pt>
                <c:pt idx="29">
                  <c:v>6.979649068704033</c:v>
                </c:pt>
                <c:pt idx="30">
                  <c:v>7.290677990781043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Sheet1!$B$34</c:f>
              <c:strCache>
                <c:ptCount val="1"/>
                <c:pt idx="0">
                  <c:v>our case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2"/>
            <c:spPr>
              <a:solidFill>
                <a:srgbClr val="FF7A59"/>
              </a:solidFill>
              <a:ln>
                <a:noFill/>
              </a:ln>
            </c:spPr>
          </c:marker>
          <c:xVal>
            <c:numRef>
              <c:f>Sheet1!$A$35:$A$35</c:f>
              <c:numCache>
                <c:formatCode>General</c:formatCode>
                <c:ptCount val="1"/>
                <c:pt idx="0">
                  <c:v>2.0</c:v>
                </c:pt>
              </c:numCache>
            </c:numRef>
          </c:xVal>
          <c:yVal>
            <c:numRef>
              <c:f>Sheet1!$B$35:$B$35</c:f>
              <c:numCache>
                <c:formatCode>General</c:formatCode>
                <c:ptCount val="1"/>
                <c:pt idx="0">
                  <c:v>4.29363396739365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.5"/>
          <c:min val="1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2A3D5E"/>
            </a:solidFill>
          </a:ln>
        </c:spPr>
        <c:crossAx val="-2129643912"/>
        <c:crosses val="autoZero"/>
        <c:crossBetween val="midCat"/>
        <c:majorUnit val="0.5"/>
      </c:valAx>
      <c:valAx>
        <c:axId val="-2129643912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2A3D5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2A3D5E"/>
            </a:solidFill>
          </a:ln>
        </c:spPr>
        <c:crossAx val="-2128940872"/>
        <c:crosses val="autoZero"/>
        <c:crossBetween val="midCat"/>
        <c:majorUnit val="2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9AAB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chart" Target="../charts/chart1.xml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170939" y="1179941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8646427" y="1179941"/>
            <a:ext cx="135609" cy="218724"/>
          </a:xfrm>
          <a:prstGeom prst="upArrow">
            <a:avLst/>
          </a:prstGeom>
          <a:solidFill>
            <a:srgbClr val="7CC4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9121915" y="1179941"/>
            <a:ext cx="135609" cy="218724"/>
          </a:xfrm>
          <a:prstGeom prst="downArrow">
            <a:avLst/>
          </a:prstGeom>
          <a:solidFill>
            <a:srgbClr val="FF7A59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9597403" y="1179941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p Arrow 7"/>
          <p:cNvSpPr/>
          <p:nvPr/>
        </p:nvSpPr>
        <p:spPr>
          <a:xfrm>
            <a:off x="10072891" y="1179941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10548379" y="1179941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 Arrow 9"/>
          <p:cNvSpPr/>
          <p:nvPr/>
        </p:nvSpPr>
        <p:spPr>
          <a:xfrm>
            <a:off x="11023867" y="1179941"/>
            <a:ext cx="135609" cy="218724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Up Arrow 10"/>
          <p:cNvSpPr/>
          <p:nvPr/>
        </p:nvSpPr>
        <p:spPr>
          <a:xfrm>
            <a:off x="8170939" y="1655429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Up Arrow 11"/>
          <p:cNvSpPr/>
          <p:nvPr/>
        </p:nvSpPr>
        <p:spPr>
          <a:xfrm>
            <a:off x="8646427" y="1655429"/>
            <a:ext cx="135609" cy="218724"/>
          </a:xfrm>
          <a:prstGeom prst="upArrow">
            <a:avLst/>
          </a:prstGeom>
          <a:solidFill>
            <a:srgbClr val="7CC4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Up Arrow 12"/>
          <p:cNvSpPr/>
          <p:nvPr/>
        </p:nvSpPr>
        <p:spPr>
          <a:xfrm>
            <a:off x="9121915" y="1655429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9597403" y="1655429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>
            <a:off x="10072891" y="1655429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 Arrow 15"/>
          <p:cNvSpPr/>
          <p:nvPr/>
        </p:nvSpPr>
        <p:spPr>
          <a:xfrm>
            <a:off x="10548379" y="1655429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1023867" y="1655429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8170939" y="2130917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Up Arrow 18"/>
          <p:cNvSpPr/>
          <p:nvPr/>
        </p:nvSpPr>
        <p:spPr>
          <a:xfrm>
            <a:off x="8646427" y="2130917"/>
            <a:ext cx="135609" cy="218724"/>
          </a:xfrm>
          <a:prstGeom prst="upArrow">
            <a:avLst/>
          </a:prstGeom>
          <a:solidFill>
            <a:srgbClr val="7CC4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9121915" y="2130917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9597403" y="2130917"/>
            <a:ext cx="135609" cy="218724"/>
          </a:xfrm>
          <a:prstGeom prst="downArrow">
            <a:avLst/>
          </a:prstGeom>
          <a:solidFill>
            <a:srgbClr val="FF7A59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p Arrow 21"/>
          <p:cNvSpPr/>
          <p:nvPr/>
        </p:nvSpPr>
        <p:spPr>
          <a:xfrm>
            <a:off x="10072891" y="2130917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 Arrow 22"/>
          <p:cNvSpPr/>
          <p:nvPr/>
        </p:nvSpPr>
        <p:spPr>
          <a:xfrm>
            <a:off x="10548379" y="2130917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11023867" y="2130917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p Arrow 24"/>
          <p:cNvSpPr/>
          <p:nvPr/>
        </p:nvSpPr>
        <p:spPr>
          <a:xfrm>
            <a:off x="8170939" y="2606405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8646427" y="2606405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Up Arrow 26"/>
          <p:cNvSpPr/>
          <p:nvPr/>
        </p:nvSpPr>
        <p:spPr>
          <a:xfrm>
            <a:off x="9121915" y="2606405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p Arrow 27"/>
          <p:cNvSpPr/>
          <p:nvPr/>
        </p:nvSpPr>
        <p:spPr>
          <a:xfrm>
            <a:off x="9597403" y="2606405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Up Arrow 28"/>
          <p:cNvSpPr/>
          <p:nvPr/>
        </p:nvSpPr>
        <p:spPr>
          <a:xfrm>
            <a:off x="10072891" y="2606405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Up Arrow 29"/>
          <p:cNvSpPr/>
          <p:nvPr/>
        </p:nvSpPr>
        <p:spPr>
          <a:xfrm>
            <a:off x="10548379" y="2606405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11023867" y="2606405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Up Arrow 31"/>
          <p:cNvSpPr/>
          <p:nvPr/>
        </p:nvSpPr>
        <p:spPr>
          <a:xfrm>
            <a:off x="8170939" y="3081893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Up Arrow 32"/>
          <p:cNvSpPr/>
          <p:nvPr/>
        </p:nvSpPr>
        <p:spPr>
          <a:xfrm>
            <a:off x="8646427" y="3081893"/>
            <a:ext cx="135609" cy="218724"/>
          </a:xfrm>
          <a:prstGeom prst="upArrow">
            <a:avLst/>
          </a:prstGeom>
          <a:solidFill>
            <a:srgbClr val="7CC4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Up Arrow 33"/>
          <p:cNvSpPr/>
          <p:nvPr/>
        </p:nvSpPr>
        <p:spPr>
          <a:xfrm>
            <a:off x="9121915" y="3081893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Up Arrow 34"/>
          <p:cNvSpPr/>
          <p:nvPr/>
        </p:nvSpPr>
        <p:spPr>
          <a:xfrm>
            <a:off x="9597403" y="3081893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Up Arrow 35"/>
          <p:cNvSpPr/>
          <p:nvPr/>
        </p:nvSpPr>
        <p:spPr>
          <a:xfrm>
            <a:off x="10072891" y="3081893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Up Arrow 36"/>
          <p:cNvSpPr/>
          <p:nvPr/>
        </p:nvSpPr>
        <p:spPr>
          <a:xfrm>
            <a:off x="10548379" y="3081893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Up Arrow 37"/>
          <p:cNvSpPr/>
          <p:nvPr/>
        </p:nvSpPr>
        <p:spPr>
          <a:xfrm>
            <a:off x="11023867" y="3081893"/>
            <a:ext cx="135609" cy="218724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Up Arrow 38"/>
          <p:cNvSpPr/>
          <p:nvPr/>
        </p:nvSpPr>
        <p:spPr>
          <a:xfrm>
            <a:off x="8170939" y="3557381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8646427" y="3557381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Up Arrow 40"/>
          <p:cNvSpPr/>
          <p:nvPr/>
        </p:nvSpPr>
        <p:spPr>
          <a:xfrm>
            <a:off x="9121915" y="3557381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Up Arrow 41"/>
          <p:cNvSpPr/>
          <p:nvPr/>
        </p:nvSpPr>
        <p:spPr>
          <a:xfrm>
            <a:off x="9597403" y="3557381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Up Arrow 42"/>
          <p:cNvSpPr/>
          <p:nvPr/>
        </p:nvSpPr>
        <p:spPr>
          <a:xfrm>
            <a:off x="10072891" y="3557381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p Arrow 43"/>
          <p:cNvSpPr/>
          <p:nvPr/>
        </p:nvSpPr>
        <p:spPr>
          <a:xfrm>
            <a:off x="10548379" y="3557381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p Arrow 44"/>
          <p:cNvSpPr/>
          <p:nvPr/>
        </p:nvSpPr>
        <p:spPr>
          <a:xfrm>
            <a:off x="11023867" y="3557381"/>
            <a:ext cx="135609" cy="218724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8170939" y="4032869"/>
            <a:ext cx="135609" cy="218724"/>
          </a:xfrm>
          <a:prstGeom prst="downArrow">
            <a:avLst/>
          </a:prstGeom>
          <a:solidFill>
            <a:srgbClr val="FF7A5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own Arrow 46"/>
          <p:cNvSpPr/>
          <p:nvPr/>
        </p:nvSpPr>
        <p:spPr>
          <a:xfrm>
            <a:off x="8646427" y="4032869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Up Arrow 47"/>
          <p:cNvSpPr/>
          <p:nvPr/>
        </p:nvSpPr>
        <p:spPr>
          <a:xfrm>
            <a:off x="9121915" y="4032869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Up Arrow 48"/>
          <p:cNvSpPr/>
          <p:nvPr/>
        </p:nvSpPr>
        <p:spPr>
          <a:xfrm>
            <a:off x="9597403" y="4032869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Up Arrow 49"/>
          <p:cNvSpPr/>
          <p:nvPr/>
        </p:nvSpPr>
        <p:spPr>
          <a:xfrm>
            <a:off x="10072891" y="4032869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10548379" y="4032869"/>
            <a:ext cx="135609" cy="218724"/>
          </a:xfrm>
          <a:prstGeom prst="downArrow">
            <a:avLst/>
          </a:prstGeom>
          <a:solidFill>
            <a:srgbClr val="FF7A59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11023867" y="4032869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Up Arrow 52"/>
          <p:cNvSpPr/>
          <p:nvPr/>
        </p:nvSpPr>
        <p:spPr>
          <a:xfrm>
            <a:off x="8170939" y="4508357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8646427" y="4508357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Up Arrow 54"/>
          <p:cNvSpPr/>
          <p:nvPr/>
        </p:nvSpPr>
        <p:spPr>
          <a:xfrm>
            <a:off x="9121915" y="4508357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Up Arrow 55"/>
          <p:cNvSpPr/>
          <p:nvPr/>
        </p:nvSpPr>
        <p:spPr>
          <a:xfrm>
            <a:off x="9597403" y="4508357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own Arrow 56"/>
          <p:cNvSpPr/>
          <p:nvPr/>
        </p:nvSpPr>
        <p:spPr>
          <a:xfrm>
            <a:off x="10072891" y="4508357"/>
            <a:ext cx="135609" cy="218724"/>
          </a:xfrm>
          <a:prstGeom prst="downArrow">
            <a:avLst/>
          </a:prstGeom>
          <a:solidFill>
            <a:srgbClr val="FF7A59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Up Arrow 57"/>
          <p:cNvSpPr/>
          <p:nvPr/>
        </p:nvSpPr>
        <p:spPr>
          <a:xfrm>
            <a:off x="10548379" y="4508357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Up Arrow 58"/>
          <p:cNvSpPr/>
          <p:nvPr/>
        </p:nvSpPr>
        <p:spPr>
          <a:xfrm>
            <a:off x="11023867" y="4508357"/>
            <a:ext cx="135609" cy="218724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Up Arrow 59"/>
          <p:cNvSpPr/>
          <p:nvPr/>
        </p:nvSpPr>
        <p:spPr>
          <a:xfrm>
            <a:off x="8170939" y="4983845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own Arrow 60"/>
          <p:cNvSpPr/>
          <p:nvPr/>
        </p:nvSpPr>
        <p:spPr>
          <a:xfrm>
            <a:off x="8646427" y="4983845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own Arrow 61"/>
          <p:cNvSpPr/>
          <p:nvPr/>
        </p:nvSpPr>
        <p:spPr>
          <a:xfrm>
            <a:off x="9121915" y="4983845"/>
            <a:ext cx="135609" cy="218724"/>
          </a:xfrm>
          <a:prstGeom prst="downArrow">
            <a:avLst/>
          </a:prstGeom>
          <a:solidFill>
            <a:srgbClr val="FF7A59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Up Arrow 62"/>
          <p:cNvSpPr/>
          <p:nvPr/>
        </p:nvSpPr>
        <p:spPr>
          <a:xfrm>
            <a:off x="9597403" y="4983845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own Arrow 63"/>
          <p:cNvSpPr/>
          <p:nvPr/>
        </p:nvSpPr>
        <p:spPr>
          <a:xfrm>
            <a:off x="10072891" y="4983845"/>
            <a:ext cx="135609" cy="218724"/>
          </a:xfrm>
          <a:prstGeom prst="downArrow">
            <a:avLst/>
          </a:prstGeom>
          <a:solidFill>
            <a:srgbClr val="FF7A59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Up Arrow 64"/>
          <p:cNvSpPr/>
          <p:nvPr/>
        </p:nvSpPr>
        <p:spPr>
          <a:xfrm>
            <a:off x="10548379" y="4983845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own Arrow 65"/>
          <p:cNvSpPr/>
          <p:nvPr/>
        </p:nvSpPr>
        <p:spPr>
          <a:xfrm>
            <a:off x="11023867" y="4983845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5440680"/>
            <a:ext cx="33284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each arrow is one person's opinion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105156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CC4FF"/>
                </a:solidFill>
                <a:latin typeface="Calibri"/>
              </a:rPr>
              <a:t>B.Sc. PHYSICS   ·   CUEA   ·   SUPERVISOR MEETING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1508760"/>
            <a:ext cx="6949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EEF3FA"/>
                </a:solidFill>
                <a:latin typeface="Calibri"/>
              </a:rPr>
              <a:t>Measuring the</a:t>
            </a:r>
          </a:p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7CC4FF"/>
                </a:solidFill>
                <a:latin typeface="Calibri"/>
              </a:rPr>
              <a:t>External Field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3246120"/>
            <a:ext cx="6766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9AABC4"/>
                </a:solidFill>
                <a:latin typeface="Calibri"/>
              </a:rPr>
              <a:t>Can we measure how hard a news article pushes on what people think?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4343400"/>
            <a:ext cx="1280160" cy="4572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4572000"/>
            <a:ext cx="6766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EF3FA"/>
                </a:solidFill>
                <a:latin typeface="Calibri"/>
              </a:rPr>
              <a:t>Brian Mwai</a:t>
            </a:r>
            <a:r>
              <a:rPr sz="2000" b="0">
                <a:solidFill>
                  <a:srgbClr val="9AABC4"/>
                </a:solidFill>
                <a:latin typeface="Calibri"/>
              </a:rPr>
              <a:t>   1050555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Supervisor: Dr. Songa Mutambi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21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Physics treats media as a push, h, on opinion. Nobody measures h</a:t>
            </a:r>
          </a:p>
        </p:txBody>
      </p:sp>
      <p:pic>
        <p:nvPicPr>
          <p:cNvPr id="7" name="Picture 6" descr="45f02749de550d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3937863" cy="5102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2514600"/>
            <a:ext cx="3383280" cy="896112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9" name="Picture 8" descr="2e3b70b3f2255e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2697480"/>
            <a:ext cx="356616" cy="3909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2624328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average opinion
−1 all against · +1 all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514600"/>
            <a:ext cx="3383280" cy="896112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2" name="Picture 11" descr="14e8a1e87ada8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79" y="2697480"/>
            <a:ext cx="274320" cy="3909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74920" y="2624328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pull toward
the people around you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38728"/>
            <a:ext cx="3383280" cy="896112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5" name="Picture 14" descr="9255c6a4144431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412" y="3721608"/>
            <a:ext cx="257175" cy="3943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4480" y="3648456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how firmly people
follow that pull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538728"/>
            <a:ext cx="3383280" cy="896112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8" name="Picture 17" descr="20c93cf97540e4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4" y="3721608"/>
            <a:ext cx="240030" cy="39090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4920" y="3648456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media's push,
the same on everyone</a:t>
            </a:r>
          </a:p>
        </p:txBody>
      </p:sp>
      <p:sp>
        <p:nvSpPr>
          <p:cNvPr id="20" name="Up Arrow 19"/>
          <p:cNvSpPr/>
          <p:nvPr/>
        </p:nvSpPr>
        <p:spPr>
          <a:xfrm>
            <a:off x="8317903" y="1735988"/>
            <a:ext cx="143432" cy="231343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Arrow 20"/>
          <p:cNvSpPr/>
          <p:nvPr/>
        </p:nvSpPr>
        <p:spPr>
          <a:xfrm>
            <a:off x="8820823" y="1735988"/>
            <a:ext cx="143432" cy="231343"/>
          </a:xfrm>
          <a:prstGeom prst="upArrow">
            <a:avLst/>
          </a:prstGeom>
          <a:solidFill>
            <a:srgbClr val="7CC4FF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p Arrow 21"/>
          <p:cNvSpPr/>
          <p:nvPr/>
        </p:nvSpPr>
        <p:spPr>
          <a:xfrm>
            <a:off x="9323743" y="1735988"/>
            <a:ext cx="143432" cy="231343"/>
          </a:xfrm>
          <a:prstGeom prst="upArrow">
            <a:avLst/>
          </a:prstGeom>
          <a:solidFill>
            <a:srgbClr val="7CC4FF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 Arrow 22"/>
          <p:cNvSpPr/>
          <p:nvPr/>
        </p:nvSpPr>
        <p:spPr>
          <a:xfrm>
            <a:off x="9826663" y="173598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p Arrow 23"/>
          <p:cNvSpPr/>
          <p:nvPr/>
        </p:nvSpPr>
        <p:spPr>
          <a:xfrm>
            <a:off x="10329583" y="1735988"/>
            <a:ext cx="143432" cy="231343"/>
          </a:xfrm>
          <a:prstGeom prst="upArrow">
            <a:avLst/>
          </a:prstGeom>
          <a:solidFill>
            <a:srgbClr val="7CC4FF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p Arrow 24"/>
          <p:cNvSpPr/>
          <p:nvPr/>
        </p:nvSpPr>
        <p:spPr>
          <a:xfrm>
            <a:off x="10832503" y="1735988"/>
            <a:ext cx="143432" cy="231343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8317903" y="2238908"/>
            <a:ext cx="143432" cy="231343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820823" y="2238908"/>
            <a:ext cx="143432" cy="231343"/>
          </a:xfrm>
          <a:prstGeom prst="downArrow">
            <a:avLst/>
          </a:prstGeom>
          <a:solidFill>
            <a:srgbClr val="FF7A59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p Arrow 27"/>
          <p:cNvSpPr/>
          <p:nvPr/>
        </p:nvSpPr>
        <p:spPr>
          <a:xfrm>
            <a:off x="9323743" y="2238908"/>
            <a:ext cx="143432" cy="231343"/>
          </a:xfrm>
          <a:prstGeom prst="upArrow">
            <a:avLst/>
          </a:prstGeom>
          <a:solidFill>
            <a:srgbClr val="7CC4FF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Up Arrow 28"/>
          <p:cNvSpPr/>
          <p:nvPr/>
        </p:nvSpPr>
        <p:spPr>
          <a:xfrm>
            <a:off x="9826663" y="223890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10329583" y="2238908"/>
            <a:ext cx="143432" cy="231343"/>
          </a:xfrm>
          <a:prstGeom prst="downArrow">
            <a:avLst/>
          </a:prstGeom>
          <a:solidFill>
            <a:srgbClr val="FF7A59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Up Arrow 30"/>
          <p:cNvSpPr/>
          <p:nvPr/>
        </p:nvSpPr>
        <p:spPr>
          <a:xfrm>
            <a:off x="10832503" y="2238908"/>
            <a:ext cx="143432" cy="231343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8317903" y="2741828"/>
            <a:ext cx="143432" cy="231343"/>
          </a:xfrm>
          <a:prstGeom prst="downArrow">
            <a:avLst/>
          </a:prstGeom>
          <a:solidFill>
            <a:srgbClr val="FF7A5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Up Arrow 32"/>
          <p:cNvSpPr/>
          <p:nvPr/>
        </p:nvSpPr>
        <p:spPr>
          <a:xfrm>
            <a:off x="8820823" y="2741828"/>
            <a:ext cx="143432" cy="231343"/>
          </a:xfrm>
          <a:prstGeom prst="upArrow">
            <a:avLst/>
          </a:prstGeom>
          <a:solidFill>
            <a:srgbClr val="7CC4FF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Up Arrow 33"/>
          <p:cNvSpPr/>
          <p:nvPr/>
        </p:nvSpPr>
        <p:spPr>
          <a:xfrm>
            <a:off x="9323743" y="2741828"/>
            <a:ext cx="143432" cy="231343"/>
          </a:xfrm>
          <a:prstGeom prst="upArrow">
            <a:avLst/>
          </a:prstGeom>
          <a:solidFill>
            <a:srgbClr val="7CC4FF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Up Arrow 34"/>
          <p:cNvSpPr/>
          <p:nvPr/>
        </p:nvSpPr>
        <p:spPr>
          <a:xfrm>
            <a:off x="9826663" y="274182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Up Arrow 35"/>
          <p:cNvSpPr/>
          <p:nvPr/>
        </p:nvSpPr>
        <p:spPr>
          <a:xfrm>
            <a:off x="10329583" y="2741828"/>
            <a:ext cx="143432" cy="231343"/>
          </a:xfrm>
          <a:prstGeom prst="upArrow">
            <a:avLst/>
          </a:prstGeom>
          <a:solidFill>
            <a:srgbClr val="7CC4FF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wn Arrow 36"/>
          <p:cNvSpPr/>
          <p:nvPr/>
        </p:nvSpPr>
        <p:spPr>
          <a:xfrm>
            <a:off x="10832503" y="2741828"/>
            <a:ext cx="143432" cy="231343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Up Arrow 37"/>
          <p:cNvSpPr/>
          <p:nvPr/>
        </p:nvSpPr>
        <p:spPr>
          <a:xfrm>
            <a:off x="8317903" y="3244748"/>
            <a:ext cx="143432" cy="231343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8820823" y="3244748"/>
            <a:ext cx="143432" cy="231343"/>
          </a:xfrm>
          <a:prstGeom prst="downArrow">
            <a:avLst/>
          </a:prstGeom>
          <a:solidFill>
            <a:srgbClr val="FF7A59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9323743" y="3244748"/>
            <a:ext cx="143432" cy="231343"/>
          </a:xfrm>
          <a:prstGeom prst="downArrow">
            <a:avLst/>
          </a:prstGeom>
          <a:solidFill>
            <a:srgbClr val="FF7A59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Up Arrow 40"/>
          <p:cNvSpPr/>
          <p:nvPr/>
        </p:nvSpPr>
        <p:spPr>
          <a:xfrm>
            <a:off x="9826663" y="324474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10329583" y="3244748"/>
            <a:ext cx="143432" cy="231343"/>
          </a:xfrm>
          <a:prstGeom prst="downArrow">
            <a:avLst/>
          </a:prstGeom>
          <a:solidFill>
            <a:srgbClr val="FF7A59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Up Arrow 42"/>
          <p:cNvSpPr/>
          <p:nvPr/>
        </p:nvSpPr>
        <p:spPr>
          <a:xfrm>
            <a:off x="10832503" y="3244748"/>
            <a:ext cx="143432" cy="231343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p Arrow 43"/>
          <p:cNvSpPr/>
          <p:nvPr/>
        </p:nvSpPr>
        <p:spPr>
          <a:xfrm>
            <a:off x="8317903" y="3747668"/>
            <a:ext cx="143432" cy="231343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p Arrow 44"/>
          <p:cNvSpPr/>
          <p:nvPr/>
        </p:nvSpPr>
        <p:spPr>
          <a:xfrm>
            <a:off x="8820823" y="3747668"/>
            <a:ext cx="143432" cy="231343"/>
          </a:xfrm>
          <a:prstGeom prst="upArrow">
            <a:avLst/>
          </a:prstGeom>
          <a:solidFill>
            <a:srgbClr val="7CC4FF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9323743" y="3747668"/>
            <a:ext cx="143432" cy="231343"/>
          </a:xfrm>
          <a:prstGeom prst="downArrow">
            <a:avLst/>
          </a:prstGeom>
          <a:solidFill>
            <a:srgbClr val="FF7A59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Up Arrow 46"/>
          <p:cNvSpPr/>
          <p:nvPr/>
        </p:nvSpPr>
        <p:spPr>
          <a:xfrm>
            <a:off x="9826663" y="374766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own Arrow 47"/>
          <p:cNvSpPr/>
          <p:nvPr/>
        </p:nvSpPr>
        <p:spPr>
          <a:xfrm>
            <a:off x="10329583" y="3747668"/>
            <a:ext cx="143432" cy="231343"/>
          </a:xfrm>
          <a:prstGeom prst="downArrow">
            <a:avLst/>
          </a:prstGeom>
          <a:solidFill>
            <a:srgbClr val="FF7A59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own Arrow 48"/>
          <p:cNvSpPr/>
          <p:nvPr/>
        </p:nvSpPr>
        <p:spPr>
          <a:xfrm>
            <a:off x="10832503" y="3747668"/>
            <a:ext cx="143432" cy="231343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own Arrow 49"/>
          <p:cNvSpPr/>
          <p:nvPr/>
        </p:nvSpPr>
        <p:spPr>
          <a:xfrm>
            <a:off x="8317903" y="4250588"/>
            <a:ext cx="143432" cy="231343"/>
          </a:xfrm>
          <a:prstGeom prst="downArrow">
            <a:avLst/>
          </a:prstGeom>
          <a:solidFill>
            <a:srgbClr val="FF7A5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8820823" y="4250588"/>
            <a:ext cx="143432" cy="231343"/>
          </a:xfrm>
          <a:prstGeom prst="downArrow">
            <a:avLst/>
          </a:prstGeom>
          <a:solidFill>
            <a:srgbClr val="FF7A59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Up Arrow 51"/>
          <p:cNvSpPr/>
          <p:nvPr/>
        </p:nvSpPr>
        <p:spPr>
          <a:xfrm>
            <a:off x="9323743" y="4250588"/>
            <a:ext cx="143432" cy="231343"/>
          </a:xfrm>
          <a:prstGeom prst="upArrow">
            <a:avLst/>
          </a:prstGeom>
          <a:solidFill>
            <a:srgbClr val="7CC4FF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9826663" y="4250588"/>
            <a:ext cx="143432" cy="231343"/>
          </a:xfrm>
          <a:prstGeom prst="downArrow">
            <a:avLst/>
          </a:prstGeom>
          <a:solidFill>
            <a:srgbClr val="FF7A59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Up Arrow 53"/>
          <p:cNvSpPr/>
          <p:nvPr/>
        </p:nvSpPr>
        <p:spPr>
          <a:xfrm>
            <a:off x="10329583" y="4250588"/>
            <a:ext cx="143432" cy="231343"/>
          </a:xfrm>
          <a:prstGeom prst="upArrow">
            <a:avLst/>
          </a:prstGeom>
          <a:solidFill>
            <a:srgbClr val="7CC4FF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10832503" y="4250588"/>
            <a:ext cx="143432" cy="231343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Up Arrow 55"/>
          <p:cNvSpPr/>
          <p:nvPr/>
        </p:nvSpPr>
        <p:spPr>
          <a:xfrm>
            <a:off x="11338560" y="2103120"/>
            <a:ext cx="365760" cy="2011680"/>
          </a:xfrm>
          <a:prstGeom prst="upArrow">
            <a:avLst/>
          </a:prstGeom>
          <a:solidFill>
            <a:srgbClr val="F5B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20c93cf97540e4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9426" y="4206240"/>
            <a:ext cx="224027" cy="364845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85800" y="4754880"/>
            <a:ext cx="10820095" cy="6858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7A59"/>
                </a:solidFill>
                <a:latin typeface="Calibri"/>
              </a:rPr>
              <a:t>Question:  </a:t>
            </a:r>
            <a:r>
              <a:rPr sz="1600" b="0">
                <a:solidFill>
                  <a:srgbClr val="EEF3FA"/>
                </a:solidFill>
                <a:latin typeface="Calibri"/>
              </a:rPr>
              <a:t>can h be measured from the content itself?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IDEA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gnifying-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Testing the tools changed five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WE PLANNED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CC4FF"/>
                </a:solidFill>
                <a:latin typeface="Calibri"/>
              </a:rPr>
              <a:t>WE FOUND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Measure the amygdala</a:t>
            </a:r>
          </a:p>
        </p:txBody>
      </p:sp>
      <p:pic>
        <p:nvPicPr>
          <p:cNvPr id="10" name="Picture 9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37944"/>
            <a:ext cx="274320" cy="274320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4526280" y="1911095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4920" y="1645920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Model sees brain surface only, so we used surface areas</a:t>
            </a:r>
          </a:p>
        </p:txBody>
      </p:sp>
      <p:pic>
        <p:nvPicPr>
          <p:cNvPr id="13" name="Picture 12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1837944"/>
            <a:ext cx="274320" cy="274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5800" y="2432304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Score as a ratio</a:t>
            </a:r>
          </a:p>
        </p:txBody>
      </p:sp>
      <p:pic>
        <p:nvPicPr>
          <p:cNvPr id="15" name="Picture 14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624328"/>
            <a:ext cx="274320" cy="274320"/>
          </a:xfrm>
          <a:prstGeom prst="rect">
            <a:avLst/>
          </a:prstGeom>
        </p:spPr>
      </p:pic>
      <p:sp>
        <p:nvSpPr>
          <p:cNvPr id="16" name="Right Arrow 15"/>
          <p:cNvSpPr/>
          <p:nvPr/>
        </p:nvSpPr>
        <p:spPr>
          <a:xfrm>
            <a:off x="4526280" y="2697480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74920" y="2432304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Ratio broke on 69 of 400, so we used a difference</a:t>
            </a:r>
          </a:p>
        </p:txBody>
      </p:sp>
      <p:pic>
        <p:nvPicPr>
          <p:cNvPr id="18" name="Picture 17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2624328"/>
            <a:ext cx="274320" cy="274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85800" y="3218688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Outrage stands out most</a:t>
            </a:r>
          </a:p>
        </p:txBody>
      </p:sp>
      <p:pic>
        <p:nvPicPr>
          <p:cNvPr id="20" name="Picture 19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10712"/>
            <a:ext cx="274320" cy="274320"/>
          </a:xfrm>
          <a:prstGeom prst="rect">
            <a:avLst/>
          </a:prstGeom>
        </p:spPr>
      </p:pic>
      <p:sp>
        <p:nvSpPr>
          <p:cNvPr id="21" name="Right Arrow 20"/>
          <p:cNvSpPr/>
          <p:nvPr/>
        </p:nvSpPr>
        <p:spPr>
          <a:xfrm>
            <a:off x="4526280" y="3483864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74920" y="3218688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Fear stands out; outrage lifts both areas equally</a:t>
            </a:r>
          </a:p>
        </p:txBody>
      </p:sp>
      <p:pic>
        <p:nvPicPr>
          <p:cNvPr id="23" name="Picture 22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3410712"/>
            <a:ext cx="274320" cy="27432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85800" y="4005072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Measure α, media's strength</a:t>
            </a:r>
          </a:p>
        </p:txBody>
      </p:sp>
      <p:pic>
        <p:nvPicPr>
          <p:cNvPr id="25" name="Picture 24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197096"/>
            <a:ext cx="274320" cy="274320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>
            <a:off x="4526280" y="4270248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74920" y="4005072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Data can't pin α, so we derived its minimum</a:t>
            </a:r>
          </a:p>
        </p:txBody>
      </p:sp>
      <p:pic>
        <p:nvPicPr>
          <p:cNvPr id="28" name="Picture 27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4197096"/>
            <a:ext cx="274320" cy="27432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85800" y="4791456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A manipulation detector</a:t>
            </a:r>
          </a:p>
        </p:txBody>
      </p:sp>
      <p:pic>
        <p:nvPicPr>
          <p:cNvPr id="30" name="Picture 29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983480"/>
            <a:ext cx="274320" cy="274320"/>
          </a:xfrm>
          <a:prstGeom prst="rect">
            <a:avLst/>
          </a:prstGeom>
        </p:spPr>
      </p:pic>
      <p:sp>
        <p:nvSpPr>
          <p:cNvPr id="31" name="Right Arrow 30"/>
          <p:cNvSpPr/>
          <p:nvPr/>
        </p:nvSpPr>
        <p:spPr>
          <a:xfrm>
            <a:off x="4526280" y="5056632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74920" y="4791456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Word counting wins, so it's a measurement</a:t>
            </a:r>
          </a:p>
        </p:txBody>
      </p:sp>
      <p:pic>
        <p:nvPicPr>
          <p:cNvPr id="33" name="Picture 32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4983480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800" y="562356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All five are in the approved amendment.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IDEA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How one article becomes one 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8" name="Picture 7" descr="news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1463040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920240"/>
            <a:ext cx="193852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Article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400 news texts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0048" y="1938528"/>
            <a:ext cx="192024" cy="146304"/>
          </a:xfrm>
          <a:prstGeom prst="rightArrow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325880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2" name="Picture 11" descr="wave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463040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07792" y="1920240"/>
            <a:ext cx="193852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Read aloud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text-to-speech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92040" y="1938528"/>
            <a:ext cx="192024" cy="146304"/>
          </a:xfrm>
          <a:prstGeom prst="rightArrow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9784" y="1325880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6" name="Picture 15" descr="text-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463040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29784" y="1920240"/>
            <a:ext cx="193852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Word timings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timing tool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4032" y="1938528"/>
            <a:ext cx="192024" cy="146304"/>
          </a:xfrm>
          <a:prstGeom prst="rightArrow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1325880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0" name="Picture 19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1463040"/>
            <a:ext cx="402336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51776" y="1920240"/>
            <a:ext cx="193852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TRIBE v2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Meta, 2025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36024" y="1938528"/>
            <a:ext cx="192024" cy="146304"/>
          </a:xfrm>
          <a:prstGeom prst="rightArrow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73768" y="1325880"/>
            <a:ext cx="1938528" cy="13716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4" name="Picture 23" descr="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1864" y="1463040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73768" y="1920240"/>
            <a:ext cx="193852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Brain map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Glasser, 2016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953512"/>
            <a:ext cx="5340096" cy="25237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1_roi_defini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3063240"/>
            <a:ext cx="5120640" cy="230428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54406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A59"/>
                </a:solidFill>
                <a:latin typeface="Calibri"/>
              </a:rPr>
              <a:t>orange </a:t>
            </a:r>
            <a:r>
              <a:rPr sz="1300" b="0">
                <a:solidFill>
                  <a:srgbClr val="EEF3FA"/>
                </a:solidFill>
                <a:latin typeface="Calibri"/>
              </a:rPr>
              <a:t>1,030 emotion points   </a:t>
            </a:r>
            <a:r>
              <a:rPr sz="1300" b="1">
                <a:solidFill>
                  <a:srgbClr val="7CC4FF"/>
                </a:solidFill>
                <a:latin typeface="Calibri"/>
              </a:rPr>
              <a:t>blue </a:t>
            </a:r>
            <a:r>
              <a:rPr sz="1300" b="0">
                <a:solidFill>
                  <a:srgbClr val="EEF3FA"/>
                </a:solidFill>
                <a:latin typeface="Calibri"/>
              </a:rPr>
              <a:t>851 reasoning points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971800"/>
            <a:ext cx="5056632" cy="1874519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30" name="TextBox 29"/>
          <p:cNvSpPr txBox="1"/>
          <p:nvPr/>
        </p:nvSpPr>
        <p:spPr>
          <a:xfrm>
            <a:off x="6629400" y="30632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THE SCORE</a:t>
            </a:r>
          </a:p>
        </p:txBody>
      </p:sp>
      <p:pic>
        <p:nvPicPr>
          <p:cNvPr id="31" name="Picture 30" descr="1a1708a62b82e2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042" y="3383280"/>
            <a:ext cx="3091586" cy="3950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720840" y="4343400"/>
            <a:ext cx="224028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88552" y="4343400"/>
            <a:ext cx="2240280" cy="9144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0" y="4224528"/>
            <a:ext cx="27432" cy="32918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4805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CC4FF"/>
                </a:solidFill>
                <a:latin typeface="Calibri"/>
              </a:rPr>
              <a:t>reasoning leads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44805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emotion leads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48056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EF3FA"/>
                </a:solidFill>
                <a:latin typeface="Calibri"/>
              </a:rPr>
              <a:t>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5029200"/>
            <a:ext cx="5056632" cy="56692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7A59"/>
                </a:solidFill>
                <a:latin typeface="Calibri"/>
              </a:rPr>
              <a:t>Nobody scanned: every value is predicted</a:t>
            </a:r>
          </a:p>
        </p:txBody>
      </p:sp>
      <p:pic>
        <p:nvPicPr>
          <p:cNvPr id="39" name="Picture 38" descr="w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5175504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METHOD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ws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400 articles, four groups, matched in length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87168" cy="17373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2487168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24871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F7A59"/>
                </a:solidFill>
                <a:latin typeface="Calibri"/>
              </a:rPr>
              <a:t>100</a:t>
            </a:r>
          </a:p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EF3FA"/>
                </a:solidFill>
                <a:latin typeface="Calibri"/>
              </a:rPr>
              <a:t>Fear-driven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fake news (ISOT)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2832" y="1417320"/>
            <a:ext cx="2487168" cy="17373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462832" y="1417320"/>
            <a:ext cx="2487168" cy="64008"/>
          </a:xfrm>
          <a:prstGeom prst="rect">
            <a:avLst/>
          </a:prstGeom>
          <a:solidFill>
            <a:srgbClr val="F5B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2832" y="1600200"/>
            <a:ext cx="24871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5B83D"/>
                </a:solidFill>
                <a:latin typeface="Calibri"/>
              </a:rPr>
              <a:t>100</a:t>
            </a:r>
          </a:p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EF3FA"/>
                </a:solidFill>
                <a:latin typeface="Calibri"/>
              </a:rPr>
              <a:t>Outrage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partisan news (SemEval)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9865" y="1417320"/>
            <a:ext cx="2487168" cy="17373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6239865" y="1417320"/>
            <a:ext cx="2487168" cy="64008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9865" y="1600200"/>
            <a:ext cx="24871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3E8EDE"/>
                </a:solidFill>
                <a:latin typeface="Calibri"/>
              </a:rPr>
              <a:t>100</a:t>
            </a:r>
          </a:p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EF3FA"/>
                </a:solidFill>
                <a:latin typeface="Calibri"/>
              </a:rPr>
              <a:t>Clickbait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headlines (Webis)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6898" y="1417320"/>
            <a:ext cx="2487168" cy="17373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7" name="Rectangle 16"/>
          <p:cNvSpPr/>
          <p:nvPr/>
        </p:nvSpPr>
        <p:spPr>
          <a:xfrm>
            <a:off x="9016898" y="1417320"/>
            <a:ext cx="2487168" cy="64008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6898" y="1600200"/>
            <a:ext cx="24871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9AABC4"/>
                </a:solidFill>
                <a:latin typeface="Calibri"/>
              </a:rPr>
              <a:t>100</a:t>
            </a:r>
          </a:p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EF3FA"/>
                </a:solidFill>
                <a:latin typeface="Calibri"/>
              </a:rPr>
              <a:t>Neutral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medical + real news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7CC4FF"/>
                </a:solidFill>
                <a:latin typeface="Calibri"/>
              </a:rPr>
              <a:t>≈ 164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words per article,
all groups within 5 words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347472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5FD09A"/>
                </a:solidFill>
                <a:latin typeface="Calibri"/>
              </a:rPr>
              <a:t>0.027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smallest effect we
could detect, set in advance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347472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5B83D"/>
                </a:solidFill>
                <a:latin typeface="Calibri"/>
              </a:rPr>
              <a:t>× 2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every article
scanned twice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METHOD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Result 1: the four groups really differ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338328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256032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EEF3FA"/>
                </a:solidFill>
                <a:latin typeface="Calibri"/>
              </a:rPr>
              <a:t>11%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7CC4FF"/>
                </a:solidFill>
                <a:latin typeface="Calibri"/>
              </a:rPr>
              <a:t>11% </a:t>
            </a:r>
            <a:r>
              <a:rPr sz="1400" b="0">
                <a:solidFill>
                  <a:srgbClr val="EEF3FA"/>
                </a:solidFill>
                <a:latin typeface="Calibri"/>
              </a:rPr>
              <a:t>of the differences between articles comes from their group</a:t>
            </a:r>
          </a:p>
        </p:txBody>
      </p:sp>
      <p:pic>
        <p:nvPicPr>
          <p:cNvPr id="10" name="Picture 9" descr="6ddc7e1fd2e5a9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463040"/>
            <a:ext cx="2911906" cy="435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0" y="2331720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η² ON EACH RUN, AGAINST THE SMALLEST WE COULD 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2679192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first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2743200"/>
            <a:ext cx="42062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2743200"/>
            <a:ext cx="3743553" cy="27432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267919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CC4FF"/>
                </a:solidFill>
                <a:latin typeface="Calibri"/>
              </a:rPr>
              <a:t>0.107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3182112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second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3246120"/>
            <a:ext cx="42062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3246120"/>
            <a:ext cx="3112617" cy="274320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318211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E8EDE"/>
                </a:solidFill>
                <a:latin typeface="Calibri"/>
              </a:rPr>
              <a:t>0.089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3685031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detectable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3749039"/>
            <a:ext cx="42062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3749039"/>
            <a:ext cx="939393" cy="274320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3685031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9AABC4"/>
                </a:solidFill>
                <a:latin typeface="Calibri"/>
              </a:rPr>
              <a:t>0.027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34340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5FD09A"/>
                </a:solidFill>
                <a:latin typeface="Calibri"/>
              </a:rPr>
              <a:t>1 in a billion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chance it is luck (p = 1×10⁻⁹)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434340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3E8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3E8EDE"/>
                </a:solidFill>
                <a:latin typeface="Calibri"/>
              </a:rPr>
              <a:t>Repeats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second run agrees (0.089)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715000"/>
            <a:ext cx="10820095" cy="4572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B83D"/>
                </a:solidFill>
                <a:latin typeface="Calibri"/>
              </a:rPr>
              <a:t>Meaning:  </a:t>
            </a:r>
            <a:r>
              <a:rPr sz="1600" b="0">
                <a:solidFill>
                  <a:srgbClr val="EEF3FA"/>
                </a:solidFill>
                <a:latin typeface="Calibri"/>
              </a:rPr>
              <a:t>the groups differ for real, but most variation is from one article to the next.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Result 2: fear drives it; outrage lifts both sides equally</a:t>
            </a:r>
          </a:p>
        </p:txBody>
      </p:sp>
      <p:pic>
        <p:nvPicPr>
          <p:cNvPr id="7" name="Picture 6" descr="75fb8530cacd19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1673352" cy="393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66160" y="1417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distance from neutral, in spreads 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8768" y="2103120"/>
            <a:ext cx="13716" cy="1554480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7" y="19019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2103120"/>
            <a:ext cx="13716" cy="1554480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9019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medium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103120"/>
            <a:ext cx="13716" cy="1554480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19019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99" y="217627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fear-driven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240280"/>
            <a:ext cx="60350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2240280"/>
            <a:ext cx="5666902" cy="27432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217627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7A59"/>
                </a:solidFill>
                <a:latin typeface="Calibri"/>
              </a:rPr>
              <a:t>0.94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" y="267919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clickbait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743200"/>
            <a:ext cx="60350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51760" y="2743200"/>
            <a:ext cx="1925177" cy="274320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267919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E8EDE"/>
                </a:solidFill>
                <a:latin typeface="Calibri"/>
              </a:rPr>
              <a:t>0.32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" y="318211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outrage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246120"/>
            <a:ext cx="60350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3246120"/>
            <a:ext cx="181051" cy="274320"/>
          </a:xfrm>
          <a:prstGeom prst="rect">
            <a:avLst/>
          </a:prstGeom>
          <a:solidFill>
            <a:srgbClr val="F5B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318211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B83D"/>
                </a:solidFill>
                <a:latin typeface="Calibri"/>
              </a:rPr>
              <a:t>0.03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404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28" name="TextBox 27"/>
          <p:cNvSpPr txBox="1"/>
          <p:nvPr/>
        </p:nvSpPr>
        <p:spPr>
          <a:xfrm>
            <a:off x="3429000" y="40690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7A59"/>
                </a:solidFill>
                <a:latin typeface="Calibri"/>
              </a:rPr>
              <a:t>FEAR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5074920"/>
            <a:ext cx="2194560" cy="18288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4178076"/>
            <a:ext cx="640080" cy="89684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903756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+0.61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578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emotion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5074920"/>
            <a:ext cx="640080" cy="143377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39" y="48006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CC4FF"/>
                </a:solidFill>
                <a:latin typeface="Calibri"/>
              </a:rPr>
              <a:t>-0.10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39" y="52578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reasoning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434840"/>
            <a:ext cx="2377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7A59"/>
                </a:solidFill>
                <a:latin typeface="Calibri"/>
              </a:rPr>
              <a:t>big gap: score moves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38404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38" name="TextBox 37"/>
          <p:cNvSpPr txBox="1"/>
          <p:nvPr/>
        </p:nvSpPr>
        <p:spPr>
          <a:xfrm>
            <a:off x="8988552" y="40690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B83D"/>
                </a:solidFill>
                <a:latin typeface="Calibri"/>
              </a:rPr>
              <a:t>OUTRAGE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9672" y="5074920"/>
            <a:ext cx="2194560" cy="18288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02552" y="4333158"/>
            <a:ext cx="640080" cy="741761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405883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+0.51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52578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emotion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62672" y="4356567"/>
            <a:ext cx="640080" cy="71835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9792" y="4082247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CC4FF"/>
                </a:solidFill>
                <a:latin typeface="Calibri"/>
              </a:rPr>
              <a:t>+0.49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792" y="52578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reasoning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88552" y="4434840"/>
            <a:ext cx="2377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B83D"/>
                </a:solidFill>
                <a:latin typeface="Calibri"/>
              </a:rPr>
              <a:t>no gap: score stays flat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rows-clockw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Result 3: scores repeat for groups, not single articles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257800" cy="31089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257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7CC4FF"/>
                </a:solidFill>
                <a:latin typeface="Calibri"/>
              </a:rPr>
              <a:t>0.87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agreement between two runs (ICC)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200400"/>
            <a:ext cx="4526280" cy="274320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200400"/>
            <a:ext cx="3949179" cy="27432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5661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0 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35661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1 identical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71600"/>
            <a:ext cx="5257800" cy="31089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6245352" y="1508760"/>
            <a:ext cx="5257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FF7A59"/>
                </a:solidFill>
                <a:latin typeface="Calibri"/>
              </a:rPr>
              <a:t>51 of 400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flipped sign between runs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337560"/>
            <a:ext cx="4572000" cy="18288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93280" y="3200400"/>
            <a:ext cx="3505199" cy="292608"/>
          </a:xfrm>
          <a:prstGeom prst="rect">
            <a:avLst/>
          </a:prstGeom>
          <a:solidFill>
            <a:srgbClr val="3E8ED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97112" y="3108960"/>
            <a:ext cx="36576" cy="475488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50352" y="3236976"/>
            <a:ext cx="219456" cy="219456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3749039"/>
            <a:ext cx="5257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7A59"/>
                </a:solidFill>
                <a:latin typeface="Calibri"/>
              </a:rPr>
              <a:t>● saw 51   </a:t>
            </a:r>
            <a:r>
              <a:rPr sz="1200" b="1">
                <a:solidFill>
                  <a:srgbClr val="7CC4FF"/>
                </a:solidFill>
                <a:latin typeface="Calibri"/>
              </a:rPr>
              <a:t>▌noise predicts 55 (shaded 44 to 67)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B83D"/>
                </a:solidFill>
                <a:latin typeface="Calibri"/>
              </a:rPr>
              <a:t>Meaning:  </a:t>
            </a:r>
            <a:r>
              <a:rPr sz="1600" b="0">
                <a:solidFill>
                  <a:srgbClr val="EEF3FA"/>
                </a:solidFill>
                <a:latin typeface="Calibri"/>
              </a:rPr>
              <a:t>trust group averages. Never judge one article: its score sits near zero and noise can tip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Honest check: word counting beats our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BC4"/>
                </a:solidFill>
                <a:latin typeface="Calibri"/>
              </a:rPr>
              <a:t>How well each method sorts manipulative from neutral articles (AUC)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514600"/>
            <a:ext cx="9784080" cy="54864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0.5 coin toss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6974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1.0 perfect</a:t>
            </a:r>
          </a:p>
        </p:txBody>
      </p:sp>
      <p:sp>
        <p:nvSpPr>
          <p:cNvPr id="11" name="Oval 10"/>
          <p:cNvSpPr/>
          <p:nvPr/>
        </p:nvSpPr>
        <p:spPr>
          <a:xfrm>
            <a:off x="1809487" y="2395728"/>
            <a:ext cx="292608" cy="292608"/>
          </a:xfrm>
          <a:prstGeom prst="ellipse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071" y="29718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9AABC4"/>
                </a:solidFill>
                <a:latin typeface="Calibri"/>
              </a:rPr>
              <a:t>sentiment 0.54</a:t>
            </a:r>
          </a:p>
        </p:txBody>
      </p:sp>
      <p:sp>
        <p:nvSpPr>
          <p:cNvPr id="13" name="Oval 12"/>
          <p:cNvSpPr/>
          <p:nvPr/>
        </p:nvSpPr>
        <p:spPr>
          <a:xfrm>
            <a:off x="3535399" y="2395728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2983" y="19476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7CC4FF"/>
                </a:solidFill>
                <a:latin typeface="Calibri"/>
              </a:rPr>
              <a:t>our score 0.63</a:t>
            </a:r>
          </a:p>
        </p:txBody>
      </p:sp>
      <p:sp>
        <p:nvSpPr>
          <p:cNvPr id="15" name="Oval 14"/>
          <p:cNvSpPr/>
          <p:nvPr/>
        </p:nvSpPr>
        <p:spPr>
          <a:xfrm>
            <a:off x="10352946" y="2395728"/>
            <a:ext cx="292608" cy="292608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0530" y="19476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7A59"/>
                </a:solidFill>
                <a:latin typeface="Calibri"/>
              </a:rPr>
              <a:t>word counting 0.98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WHY: EACH GROUP CAME FROM ONE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fear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97480" y="3785615"/>
            <a:ext cx="457200" cy="128016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46120" y="3657600"/>
            <a:ext cx="228600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ISOT fake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14800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outrage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97480" y="4242816"/>
            <a:ext cx="457200" cy="128016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46120" y="4114800"/>
            <a:ext cx="228600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SemEval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72000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clickbait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97480" y="4700016"/>
            <a:ext cx="457200" cy="128016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46120" y="4572000"/>
            <a:ext cx="228600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Webis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29200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neutral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697480" y="5157216"/>
            <a:ext cx="457200" cy="128016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46120" y="5029200"/>
            <a:ext cx="228600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PubMed + ISOT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383280"/>
            <a:ext cx="2560320" cy="16916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F7A59"/>
                </a:solidFill>
                <a:latin typeface="Calibri"/>
              </a:rPr>
              <a:t>66%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words guess the source
(chance: 25%)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383280"/>
            <a:ext cx="2724912" cy="16916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32" name="TextBox 31"/>
          <p:cNvSpPr txBox="1"/>
          <p:nvPr/>
        </p:nvSpPr>
        <p:spPr>
          <a:xfrm>
            <a:off x="8915400" y="347472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CC4FF"/>
                </a:solidFill>
                <a:latin typeface="Calibri"/>
              </a:rPr>
              <a:t>So our score is a measurement for the physics, not a detector.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Does the brain model match real brains? Weakly,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Tested on public brain scans of people watching Friends (Algonauts 2025). Higher = closer match (r).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people vs each other,
full episode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920240"/>
            <a:ext cx="621792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920240"/>
            <a:ext cx="5548579" cy="274320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185623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9AABC4"/>
                </a:solidFill>
                <a:latin typeface="Calibri"/>
              </a:rPr>
              <a:t>0.152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8775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best possible,
2-minute clip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651760"/>
            <a:ext cx="621792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651760"/>
            <a:ext cx="3507638" cy="27432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58775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CC4FF"/>
                </a:solidFill>
                <a:latin typeface="Calibri"/>
              </a:rPr>
              <a:t>0.096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our model,
2-minute clip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383280"/>
            <a:ext cx="621792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383280"/>
            <a:ext cx="1035100" cy="274320"/>
          </a:xfrm>
          <a:prstGeom prst="rect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331927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FD09A"/>
                </a:solidFill>
                <a:latin typeface="Calibri"/>
              </a:rPr>
              <a:t>0.028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5FD09A"/>
                </a:solidFill>
                <a:latin typeface="Calibri"/>
              </a:rPr>
              <a:t>≈ 30%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of the best possible on the clip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4251960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5B83D"/>
                </a:solidFill>
                <a:latin typeface="Calibri"/>
              </a:rPr>
              <a:t>p = 0.048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just under the 5% cut-off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4251960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7A59"/>
                </a:solidFill>
                <a:latin typeface="Calibri"/>
              </a:rPr>
              <a:t>3 bugs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found and fixed along the way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669280"/>
            <a:ext cx="10820095" cy="4572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B83D"/>
                </a:solidFill>
                <a:latin typeface="Calibri"/>
              </a:rPr>
              <a:t>Meaning:  </a:t>
            </a:r>
            <a:r>
              <a:rPr sz="1600" b="0">
                <a:solidFill>
                  <a:srgbClr val="EEF3FA"/>
                </a:solidFill>
                <a:latin typeface="Calibri"/>
              </a:rPr>
              <a:t>weak but positive, not the opposite of real brains. A longer run will settle it (Paper 3).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The minimum push media would need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43434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8" name="Picture 7" descr="1d5e9130446c27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843" y="1508760"/>
            <a:ext cx="3145993" cy="579272"/>
          </a:xfrm>
          <a:prstGeom prst="rect">
            <a:avLst/>
          </a:prstGeom>
        </p:spPr>
      </p:pic>
      <p:pic>
        <p:nvPicPr>
          <p:cNvPr id="9" name="Picture 8" descr="5272f2755a3e4b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325" y="2743200"/>
            <a:ext cx="191109" cy="2866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0240" y="269748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strength of the push per unit of score</a:t>
            </a:r>
          </a:p>
        </p:txBody>
      </p:sp>
      <p:pic>
        <p:nvPicPr>
          <p:cNvPr id="11" name="Picture 10" descr="3083b7f6cdc240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348" y="3429000"/>
            <a:ext cx="269062" cy="2866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20240" y="338328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smallest push that flips the majority</a:t>
            </a:r>
          </a:p>
        </p:txBody>
      </p:sp>
      <p:pic>
        <p:nvPicPr>
          <p:cNvPr id="13" name="Picture 12" descr="92db4915de0152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086" y="4114800"/>
            <a:ext cx="359587" cy="2891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20240" y="406908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how strongly people copy each other</a:t>
            </a:r>
          </a:p>
        </p:txBody>
      </p:sp>
      <p:pic>
        <p:nvPicPr>
          <p:cNvPr id="15" name="Picture 14" descr="4b880f26890debb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191" y="4800600"/>
            <a:ext cx="495376" cy="2866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20240" y="475488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spread of our scores = 0.124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172200" y="1280160"/>
          <a:ext cx="5394960" cy="338328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72200" y="457200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copying strength βJ 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234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α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92040"/>
            <a:ext cx="5330952" cy="7772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7A59"/>
                </a:solidFill>
                <a:latin typeface="Calibri"/>
              </a:rPr>
              <a:t>α ≥ 4.29 at βJ = 2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a bar any claim must clear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PHYSICS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Can it analyse any content, even what children watch?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3520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8" name="Picture 7" descr="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1554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1945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5FD09A"/>
                </a:solidFill>
                <a:latin typeface="Calibri"/>
              </a:rPr>
              <a:t>CAN 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97480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Score video, audio and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10712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Compare groups of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123944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Rate content, never the viewer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371600"/>
            <a:ext cx="3429000" cy="3520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4" name="Picture 13" descr="x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155448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79976" y="21945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7A59"/>
                </a:solidFill>
                <a:latin typeface="Calibri"/>
              </a:rPr>
              <a:t>NOT YET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6" y="2697480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Model learned from adult brains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2856" y="3410712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Only news text was tested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2856" y="4123944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One show alone is unreliable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371600"/>
            <a:ext cx="3429000" cy="3520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0" name="Picture 19" descr="flag-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332" y="1554480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74152" y="21945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7CC4FF"/>
                </a:solidFill>
                <a:latin typeface="Calibri"/>
              </a:rPr>
              <a:t>WOULD TAKE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1" y="2697480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Child brain data, with ethics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7031" y="3410712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A children's video test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7031" y="4123944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Safeguards against targeting children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20640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B83D"/>
                </a:solidFill>
                <a:latin typeface="Calibri"/>
              </a:rPr>
              <a:t>Short answer:  </a:t>
            </a:r>
            <a:r>
              <a:rPr sz="1600" b="0">
                <a:solidFill>
                  <a:srgbClr val="EEF3FA"/>
                </a:solidFill>
                <a:latin typeface="Calibri"/>
              </a:rPr>
              <a:t>technically possible, but not yet valid for children.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WHAT'S NEXT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x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Each limit points to the next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7A59"/>
                </a:solidFill>
                <a:latin typeface="Calibri"/>
              </a:rPr>
              <a:t>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FD09A"/>
                </a:solidFill>
                <a:latin typeface="Calibri"/>
              </a:rPr>
              <a:t>NEXT STUDY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Predictions, not brain scans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66360" y="1911095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0" y="1645920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Check against more real brain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Group mixed up with source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66360" y="2697480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2432304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New set: every source has every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18688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Brain surface only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66360" y="3483864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0" y="3218688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A model that predicts deep areas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05072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α not measured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66360" y="4270248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4005072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Link scores to real opinion data (polls)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91456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Brain check is 2 minutes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66360" y="5056632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0" y="4791456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Longer clips, one run 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WHAT'S NEXT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lag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Taking it further: where this research can 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8" name="Picture 7" descr="boo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157276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CC4FF"/>
                </a:solidFill>
                <a:latin typeface="Calibri"/>
              </a:rPr>
              <a:t>PUBLISH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40280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Paper 1 → Physica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44952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Paper 2 → Physica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49624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Paper 3 → Imaging Neuroscience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654296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Preprints first (arXiv)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37160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5" name="Picture 14" descr="a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1554480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57216" y="157276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FD09A"/>
                </a:solidFill>
                <a:latin typeface="Calibri"/>
              </a:rPr>
              <a:t>EXTEND THE SCIENCE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2856" y="2240280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Kenya: 2024 Finance Bill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2856" y="3044952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Video and audio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2856" y="3849624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Measure α with opinion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4654296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Children's media, ethically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137160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2" name="Picture 21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554480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51392" y="157276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B83D"/>
                </a:solidFill>
                <a:latin typeface="Calibri"/>
              </a:rPr>
              <a:t>OPPORTUNITIES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7031" y="2240280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Postgraduate research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7031" y="3044952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Neuroscience + media collaborations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1" y="3849624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Open tool, already online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4654296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Group-level media audits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2356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Live instrument: monarch-4iy.pages.dev   ·   Code and data: github.com/brn-mwai/monarch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WHAT'S NEXT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Three papers, and what I need from you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Calibri"/>
              </a:rPr>
              <a:t>PAPER 1 · Physica A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EEF3FA"/>
                </a:solidFill>
                <a:latin typeface="Calibri"/>
              </a:rPr>
              <a:t>The minimum push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12 pp ·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3716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0" name="TextBox 9"/>
          <p:cNvSpPr txBox="1"/>
          <p:nvPr/>
        </p:nvSpPr>
        <p:spPr>
          <a:xfrm>
            <a:off x="4562856" y="1481328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Calibri"/>
              </a:rPr>
              <a:t>PAPER 2 · Physica A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EEF3FA"/>
                </a:solidFill>
                <a:latin typeface="Calibri"/>
              </a:rPr>
              <a:t>The measuring tool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16 pp ·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3716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2" name="TextBox 11"/>
          <p:cNvSpPr txBox="1"/>
          <p:nvPr/>
        </p:nvSpPr>
        <p:spPr>
          <a:xfrm>
            <a:off x="8257031" y="1481328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B83D"/>
                </a:solidFill>
                <a:latin typeface="Calibri"/>
              </a:rPr>
              <a:t>PAPER 3 · Imaging Neurosci.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EEF3FA"/>
                </a:solidFill>
                <a:latin typeface="Calibri"/>
              </a:rPr>
              <a:t>Matching real brains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8 pp · one longer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TODAY I AM ASKING FOR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2487168" cy="155448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5" name="Picture 14" descr="magnifying-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3749039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343400"/>
            <a:ext cx="230428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7A59"/>
                </a:solidFill>
                <a:latin typeface="Calibri"/>
              </a:rPr>
              <a:t>1  </a:t>
            </a:r>
            <a:r>
              <a:rPr sz="1500" b="1">
                <a:solidFill>
                  <a:srgbClr val="EEF3FA"/>
                </a:solidFill>
                <a:latin typeface="Calibri"/>
              </a:rPr>
              <a:t>Any corrections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2832" y="3566160"/>
            <a:ext cx="2487168" cy="155448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8" name="Picture 17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816" y="3749039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54272" y="4343400"/>
            <a:ext cx="230428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7A59"/>
                </a:solidFill>
                <a:latin typeface="Calibri"/>
              </a:rPr>
              <a:t>2  </a:t>
            </a:r>
            <a:r>
              <a:rPr sz="1500" b="1">
                <a:solidFill>
                  <a:srgbClr val="EEF3FA"/>
                </a:solidFill>
                <a:latin typeface="Calibri"/>
              </a:rPr>
              <a:t>Signature, page iii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9865" y="3566160"/>
            <a:ext cx="2487168" cy="155448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1" name="Picture 20" descr="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849" y="3749039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31305" y="4343400"/>
            <a:ext cx="230428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7A59"/>
                </a:solidFill>
                <a:latin typeface="Calibri"/>
              </a:rPr>
              <a:t>3  </a:t>
            </a:r>
            <a:r>
              <a:rPr sz="1500" b="1">
                <a:solidFill>
                  <a:srgbClr val="EEF3FA"/>
                </a:solidFill>
                <a:latin typeface="Calibri"/>
              </a:rPr>
              <a:t>Library clearance by Thu 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6898" y="3566160"/>
            <a:ext cx="2487168" cy="155448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4" name="Picture 23" descr="flag-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1882" y="3749039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08338" y="4343400"/>
            <a:ext cx="230428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7A59"/>
                </a:solidFill>
                <a:latin typeface="Calibri"/>
              </a:rPr>
              <a:t>4  </a:t>
            </a:r>
            <a:r>
              <a:rPr sz="1500" b="1">
                <a:solidFill>
                  <a:srgbClr val="EEF3FA"/>
                </a:solidFill>
                <a:latin typeface="Calibri"/>
              </a:rPr>
              <a:t>Co-authorship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WHAT'S NEXT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