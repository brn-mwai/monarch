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6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Up Arrow 3"/>
          <p:cNvSpPr/>
          <p:nvPr/>
        </p:nvSpPr>
        <p:spPr>
          <a:xfrm>
            <a:off x="8170939" y="117994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Up Arrow 4"/>
          <p:cNvSpPr/>
          <p:nvPr/>
        </p:nvSpPr>
        <p:spPr>
          <a:xfrm>
            <a:off x="8646427" y="1179941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9121915" y="1179941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Up Arrow 6"/>
          <p:cNvSpPr/>
          <p:nvPr/>
        </p:nvSpPr>
        <p:spPr>
          <a:xfrm>
            <a:off x="9597403" y="117994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10072891" y="117994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10548379" y="117994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11023867" y="117994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8170939" y="1655429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8646427" y="1655429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9121915" y="165542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Up Arrow 13"/>
          <p:cNvSpPr/>
          <p:nvPr/>
        </p:nvSpPr>
        <p:spPr>
          <a:xfrm>
            <a:off x="9597403" y="165542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0072891" y="165542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0548379" y="1655429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1023867" y="165542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8170939" y="213091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Up Arrow 18"/>
          <p:cNvSpPr/>
          <p:nvPr/>
        </p:nvSpPr>
        <p:spPr>
          <a:xfrm>
            <a:off x="8646427" y="2130917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9121915" y="213091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wn Arrow 20"/>
          <p:cNvSpPr/>
          <p:nvPr/>
        </p:nvSpPr>
        <p:spPr>
          <a:xfrm>
            <a:off x="9597403" y="2130917"/>
            <a:ext cx="135609" cy="218724"/>
          </a:xfrm>
          <a:prstGeom prst="downArrow">
            <a:avLst/>
          </a:prstGeom>
          <a:solidFill>
            <a:srgbClr val="FF7A59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10072891" y="2130917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548379" y="213091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1023867" y="2130917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170939" y="260640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646427" y="260640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Up Arrow 26"/>
          <p:cNvSpPr/>
          <p:nvPr/>
        </p:nvSpPr>
        <p:spPr>
          <a:xfrm>
            <a:off x="9121915" y="2606405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597403" y="260640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072891" y="2606405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548379" y="260640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11023867" y="260640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170939" y="3081893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Up Arrow 32"/>
          <p:cNvSpPr/>
          <p:nvPr/>
        </p:nvSpPr>
        <p:spPr>
          <a:xfrm>
            <a:off x="8646427" y="3081893"/>
            <a:ext cx="135609" cy="218724"/>
          </a:xfrm>
          <a:prstGeom prst="upArrow">
            <a:avLst/>
          </a:prstGeom>
          <a:solidFill>
            <a:srgbClr val="7CC4FF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121915" y="3081893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9597403" y="3081893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10072891" y="3081893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Up Arrow 36"/>
          <p:cNvSpPr/>
          <p:nvPr/>
        </p:nvSpPr>
        <p:spPr>
          <a:xfrm>
            <a:off x="10548379" y="3081893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Up Arrow 37"/>
          <p:cNvSpPr/>
          <p:nvPr/>
        </p:nvSpPr>
        <p:spPr>
          <a:xfrm>
            <a:off x="11023867" y="3081893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8170939" y="3557381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8646427" y="3557381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9121915" y="3557381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Up Arrow 41"/>
          <p:cNvSpPr/>
          <p:nvPr/>
        </p:nvSpPr>
        <p:spPr>
          <a:xfrm>
            <a:off x="9597403" y="3557381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0072891" y="3557381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Up Arrow 43"/>
          <p:cNvSpPr/>
          <p:nvPr/>
        </p:nvSpPr>
        <p:spPr>
          <a:xfrm>
            <a:off x="10548379" y="3557381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1023867" y="3557381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wn Arrow 45"/>
          <p:cNvSpPr/>
          <p:nvPr/>
        </p:nvSpPr>
        <p:spPr>
          <a:xfrm>
            <a:off x="8170939" y="4032869"/>
            <a:ext cx="135609" cy="218724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wn Arrow 46"/>
          <p:cNvSpPr/>
          <p:nvPr/>
        </p:nvSpPr>
        <p:spPr>
          <a:xfrm>
            <a:off x="8646427" y="4032869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Up Arrow 47"/>
          <p:cNvSpPr/>
          <p:nvPr/>
        </p:nvSpPr>
        <p:spPr>
          <a:xfrm>
            <a:off x="9121915" y="4032869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Up Arrow 48"/>
          <p:cNvSpPr/>
          <p:nvPr/>
        </p:nvSpPr>
        <p:spPr>
          <a:xfrm>
            <a:off x="9597403" y="4032869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Up Arrow 49"/>
          <p:cNvSpPr/>
          <p:nvPr/>
        </p:nvSpPr>
        <p:spPr>
          <a:xfrm>
            <a:off x="10072891" y="4032869"/>
            <a:ext cx="135609" cy="218724"/>
          </a:xfrm>
          <a:prstGeom prst="upArrow">
            <a:avLst/>
          </a:prstGeom>
          <a:solidFill>
            <a:srgbClr val="7CC4FF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548379" y="4032869"/>
            <a:ext cx="135609" cy="218724"/>
          </a:xfrm>
          <a:prstGeom prst="downArrow">
            <a:avLst/>
          </a:prstGeom>
          <a:solidFill>
            <a:srgbClr val="FF7A59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own Arrow 51"/>
          <p:cNvSpPr/>
          <p:nvPr/>
        </p:nvSpPr>
        <p:spPr>
          <a:xfrm>
            <a:off x="11023867" y="4032869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8170939" y="4508357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own Arrow 53"/>
          <p:cNvSpPr/>
          <p:nvPr/>
        </p:nvSpPr>
        <p:spPr>
          <a:xfrm>
            <a:off x="8646427" y="4508357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Up Arrow 54"/>
          <p:cNvSpPr/>
          <p:nvPr/>
        </p:nvSpPr>
        <p:spPr>
          <a:xfrm>
            <a:off x="9121915" y="4508357"/>
            <a:ext cx="135609" cy="218724"/>
          </a:xfrm>
          <a:prstGeom prst="upArrow">
            <a:avLst/>
          </a:prstGeom>
          <a:solidFill>
            <a:srgbClr val="7CC4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Up Arrow 55"/>
          <p:cNvSpPr/>
          <p:nvPr/>
        </p:nvSpPr>
        <p:spPr>
          <a:xfrm>
            <a:off x="9597403" y="4508357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own Arrow 56"/>
          <p:cNvSpPr/>
          <p:nvPr/>
        </p:nvSpPr>
        <p:spPr>
          <a:xfrm>
            <a:off x="10072891" y="4508357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Up Arrow 57"/>
          <p:cNvSpPr/>
          <p:nvPr/>
        </p:nvSpPr>
        <p:spPr>
          <a:xfrm>
            <a:off x="10548379" y="4508357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Up Arrow 58"/>
          <p:cNvSpPr/>
          <p:nvPr/>
        </p:nvSpPr>
        <p:spPr>
          <a:xfrm>
            <a:off x="11023867" y="4508357"/>
            <a:ext cx="135609" cy="218724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Up Arrow 59"/>
          <p:cNvSpPr/>
          <p:nvPr/>
        </p:nvSpPr>
        <p:spPr>
          <a:xfrm>
            <a:off x="8170939" y="4983845"/>
            <a:ext cx="135609" cy="218724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own Arrow 60"/>
          <p:cNvSpPr/>
          <p:nvPr/>
        </p:nvSpPr>
        <p:spPr>
          <a:xfrm>
            <a:off x="8646427" y="4983845"/>
            <a:ext cx="135609" cy="218724"/>
          </a:xfrm>
          <a:prstGeom prst="downArrow">
            <a:avLst/>
          </a:prstGeom>
          <a:solidFill>
            <a:srgbClr val="FF7A59">
              <a:alpha val="3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Down Arrow 61"/>
          <p:cNvSpPr/>
          <p:nvPr/>
        </p:nvSpPr>
        <p:spPr>
          <a:xfrm>
            <a:off x="9121915" y="4983845"/>
            <a:ext cx="135609" cy="218724"/>
          </a:xfrm>
          <a:prstGeom prst="downArrow">
            <a:avLst/>
          </a:prstGeom>
          <a:solidFill>
            <a:srgbClr val="FF7A5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Up Arrow 62"/>
          <p:cNvSpPr/>
          <p:nvPr/>
        </p:nvSpPr>
        <p:spPr>
          <a:xfrm>
            <a:off x="9597403" y="4983845"/>
            <a:ext cx="135609" cy="218724"/>
          </a:xfrm>
          <a:prstGeom prst="upArrow">
            <a:avLst/>
          </a:prstGeom>
          <a:solidFill>
            <a:srgbClr val="7CC4FF">
              <a:alpha val="5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own Arrow 63"/>
          <p:cNvSpPr/>
          <p:nvPr/>
        </p:nvSpPr>
        <p:spPr>
          <a:xfrm>
            <a:off x="10072891" y="4983845"/>
            <a:ext cx="135609" cy="218724"/>
          </a:xfrm>
          <a:prstGeom prst="downArrow">
            <a:avLst/>
          </a:prstGeom>
          <a:solidFill>
            <a:srgbClr val="FF7A59">
              <a:alpha val="65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Up Arrow 64"/>
          <p:cNvSpPr/>
          <p:nvPr/>
        </p:nvSpPr>
        <p:spPr>
          <a:xfrm>
            <a:off x="10548379" y="4983845"/>
            <a:ext cx="135609" cy="218724"/>
          </a:xfrm>
          <a:prstGeom prst="upArrow">
            <a:avLst/>
          </a:prstGeom>
          <a:solidFill>
            <a:srgbClr val="7CC4F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own Arrow 65"/>
          <p:cNvSpPr/>
          <p:nvPr/>
        </p:nvSpPr>
        <p:spPr>
          <a:xfrm>
            <a:off x="11023867" y="4983845"/>
            <a:ext cx="135609" cy="218724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01000" y="5440680"/>
            <a:ext cx="332841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each arrow is one person's opinion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105156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B.Sc. PHYSICS   ·   CUEA   ·   SUPERVISOR MEETING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1508760"/>
            <a:ext cx="69494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EEF3FA"/>
                </a:solidFill>
                <a:latin typeface="Calibri"/>
              </a:rPr>
              <a:t>Measuring the</a:t>
            </a:r>
          </a:p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7CC4FF"/>
                </a:solidFill>
                <a:latin typeface="Calibri"/>
              </a:rPr>
              <a:t>External Field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" y="3246120"/>
            <a:ext cx="6766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9AABC4"/>
                </a:solidFill>
                <a:latin typeface="Calibri"/>
              </a:rPr>
              <a:t>Can we measure how hard a news article pushes on what people think?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343400"/>
            <a:ext cx="1280160" cy="457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22960" y="457200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EEF3FA"/>
                </a:solidFill>
                <a:latin typeface="Calibri"/>
              </a:rPr>
              <a:t>Brian Mwai</a:t>
            </a:r>
            <a:r>
              <a:rPr sz="2000" b="0">
                <a:solidFill>
                  <a:srgbClr val="9AABC4"/>
                </a:solidFill>
                <a:latin typeface="Calibri"/>
              </a:rPr>
              <a:t>   1050555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Supervisor: Dr. Songa Mutambi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21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Physics treats media as a push, h, on opinion. Nobody measures h</a:t>
            </a:r>
          </a:p>
        </p:txBody>
      </p:sp>
      <p:sp>
        <p:nvSpPr>
          <p:cNvPr id="7" name="Up Arrow 6"/>
          <p:cNvSpPr/>
          <p:nvPr/>
        </p:nvSpPr>
        <p:spPr>
          <a:xfrm>
            <a:off x="8317903" y="173598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Up Arrow 7"/>
          <p:cNvSpPr/>
          <p:nvPr/>
        </p:nvSpPr>
        <p:spPr>
          <a:xfrm>
            <a:off x="8820823" y="173598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Up Arrow 8"/>
          <p:cNvSpPr/>
          <p:nvPr/>
        </p:nvSpPr>
        <p:spPr>
          <a:xfrm>
            <a:off x="9323743" y="17359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Up Arrow 9"/>
          <p:cNvSpPr/>
          <p:nvPr/>
        </p:nvSpPr>
        <p:spPr>
          <a:xfrm>
            <a:off x="9826663" y="173598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Up Arrow 10"/>
          <p:cNvSpPr/>
          <p:nvPr/>
        </p:nvSpPr>
        <p:spPr>
          <a:xfrm>
            <a:off x="10329583" y="17359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 Arrow 11"/>
          <p:cNvSpPr/>
          <p:nvPr/>
        </p:nvSpPr>
        <p:spPr>
          <a:xfrm>
            <a:off x="10832503" y="173598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8317903" y="223890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8820823" y="223890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9323743" y="223890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9826663" y="223890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10329583" y="223890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Up Arrow 17"/>
          <p:cNvSpPr/>
          <p:nvPr/>
        </p:nvSpPr>
        <p:spPr>
          <a:xfrm>
            <a:off x="10832503" y="223890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8317903" y="274182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8820823" y="274182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Up Arrow 20"/>
          <p:cNvSpPr/>
          <p:nvPr/>
        </p:nvSpPr>
        <p:spPr>
          <a:xfrm>
            <a:off x="9323743" y="274182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9826663" y="274182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p Arrow 22"/>
          <p:cNvSpPr/>
          <p:nvPr/>
        </p:nvSpPr>
        <p:spPr>
          <a:xfrm>
            <a:off x="10329583" y="274182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10832503" y="274182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8317903" y="324474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8820823" y="324474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own Arrow 26"/>
          <p:cNvSpPr/>
          <p:nvPr/>
        </p:nvSpPr>
        <p:spPr>
          <a:xfrm>
            <a:off x="9323743" y="324474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p Arrow 27"/>
          <p:cNvSpPr/>
          <p:nvPr/>
        </p:nvSpPr>
        <p:spPr>
          <a:xfrm>
            <a:off x="9826663" y="324474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10329583" y="324474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Up Arrow 29"/>
          <p:cNvSpPr/>
          <p:nvPr/>
        </p:nvSpPr>
        <p:spPr>
          <a:xfrm>
            <a:off x="10832503" y="3244748"/>
            <a:ext cx="143432" cy="231343"/>
          </a:xfrm>
          <a:prstGeom prst="upArrow">
            <a:avLst/>
          </a:prstGeom>
          <a:solidFill>
            <a:srgbClr val="7CC4FF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8317903" y="3747668"/>
            <a:ext cx="143432" cy="231343"/>
          </a:xfrm>
          <a:prstGeom prst="upArrow">
            <a:avLst/>
          </a:prstGeom>
          <a:solidFill>
            <a:srgbClr val="7CC4FF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Up Arrow 31"/>
          <p:cNvSpPr/>
          <p:nvPr/>
        </p:nvSpPr>
        <p:spPr>
          <a:xfrm>
            <a:off x="8820823" y="3747668"/>
            <a:ext cx="143432" cy="231343"/>
          </a:xfrm>
          <a:prstGeom prst="upArrow">
            <a:avLst/>
          </a:prstGeom>
          <a:solidFill>
            <a:srgbClr val="7CC4FF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9323743" y="3747668"/>
            <a:ext cx="143432" cy="231343"/>
          </a:xfrm>
          <a:prstGeom prst="downArrow">
            <a:avLst/>
          </a:prstGeom>
          <a:solidFill>
            <a:srgbClr val="FF7A59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9826663" y="3747668"/>
            <a:ext cx="143432" cy="231343"/>
          </a:xfrm>
          <a:prstGeom prst="upArrow">
            <a:avLst/>
          </a:prstGeom>
          <a:solidFill>
            <a:srgbClr val="7CC4FF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10329583" y="3747668"/>
            <a:ext cx="143432" cy="231343"/>
          </a:xfrm>
          <a:prstGeom prst="downArrow">
            <a:avLst/>
          </a:prstGeom>
          <a:solidFill>
            <a:srgbClr val="FF7A59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10832503" y="374766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8317903" y="4250588"/>
            <a:ext cx="143432" cy="231343"/>
          </a:xfrm>
          <a:prstGeom prst="downArrow">
            <a:avLst/>
          </a:prstGeom>
          <a:solidFill>
            <a:srgbClr val="FF7A5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8820823" y="4250588"/>
            <a:ext cx="143432" cy="231343"/>
          </a:xfrm>
          <a:prstGeom prst="downArrow">
            <a:avLst/>
          </a:prstGeom>
          <a:solidFill>
            <a:srgbClr val="FF7A59">
              <a:alpha val="323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Up Arrow 38"/>
          <p:cNvSpPr/>
          <p:nvPr/>
        </p:nvSpPr>
        <p:spPr>
          <a:xfrm>
            <a:off x="9323743" y="4250588"/>
            <a:ext cx="143432" cy="231343"/>
          </a:xfrm>
          <a:prstGeom prst="upArrow">
            <a:avLst/>
          </a:prstGeom>
          <a:solidFill>
            <a:srgbClr val="7CC4FF">
              <a:alpha val="468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wn Arrow 39"/>
          <p:cNvSpPr/>
          <p:nvPr/>
        </p:nvSpPr>
        <p:spPr>
          <a:xfrm>
            <a:off x="9826663" y="4250588"/>
            <a:ext cx="143432" cy="231343"/>
          </a:xfrm>
          <a:prstGeom prst="downArrow">
            <a:avLst/>
          </a:prstGeom>
          <a:solidFill>
            <a:srgbClr val="FF7A59">
              <a:alpha val="612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Up Arrow 40"/>
          <p:cNvSpPr/>
          <p:nvPr/>
        </p:nvSpPr>
        <p:spPr>
          <a:xfrm>
            <a:off x="10329583" y="4250588"/>
            <a:ext cx="143432" cy="231343"/>
          </a:xfrm>
          <a:prstGeom prst="upArrow">
            <a:avLst/>
          </a:prstGeom>
          <a:solidFill>
            <a:srgbClr val="7CC4FF">
              <a:alpha val="756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own Arrow 41"/>
          <p:cNvSpPr/>
          <p:nvPr/>
        </p:nvSpPr>
        <p:spPr>
          <a:xfrm>
            <a:off x="10832503" y="4250588"/>
            <a:ext cx="143432" cy="231343"/>
          </a:xfrm>
          <a:prstGeom prst="downArrow">
            <a:avLst/>
          </a:prstGeom>
          <a:solidFill>
            <a:srgbClr val="FF7A59">
              <a:alpha val="89999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Up Arrow 42"/>
          <p:cNvSpPr/>
          <p:nvPr/>
        </p:nvSpPr>
        <p:spPr>
          <a:xfrm>
            <a:off x="11384280" y="2103120"/>
            <a:ext cx="320040" cy="2011680"/>
          </a:xfrm>
          <a:prstGeom prst="upArrow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4709160"/>
            <a:ext cx="3931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Arrows are people. Gold arrow is media, pushing everyone the same way.</a:t>
            </a:r>
          </a:p>
        </p:txBody>
      </p:sp>
      <p:pic>
        <p:nvPicPr>
          <p:cNvPr id="45" name="Picture 44" descr="45f02749de550d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3281552" cy="42519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85800" y="2103120"/>
            <a:ext cx="6949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mean-field opinion model: the same maths as magnets lining up.</a:t>
            </a:r>
          </a:p>
        </p:txBody>
      </p:sp>
      <p:pic>
        <p:nvPicPr>
          <p:cNvPr id="47" name="Picture 46" descr="2e3b70b3f2255e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" y="2560320"/>
            <a:ext cx="285292" cy="31272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325880" y="2542032"/>
            <a:ext cx="6309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average opinion of the group: −1 everyone against, +1 everyone for.</a:t>
            </a:r>
          </a:p>
        </p:txBody>
      </p:sp>
      <p:pic>
        <p:nvPicPr>
          <p:cNvPr id="49" name="Picture 48" descr="14e8a1e87ada8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090672"/>
            <a:ext cx="219456" cy="31272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325880" y="3072384"/>
            <a:ext cx="6309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coupling: how strongly each person is pulled toward the people around them.</a:t>
            </a:r>
          </a:p>
        </p:txBody>
      </p:sp>
      <p:pic>
        <p:nvPicPr>
          <p:cNvPr id="51" name="Picture 50" descr="9255c6a4144431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" y="3621024"/>
            <a:ext cx="205740" cy="3154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325880" y="3602736"/>
            <a:ext cx="6309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how firmly people follow that pull instead of acting at random (one over the noise).</a:t>
            </a:r>
          </a:p>
        </p:txBody>
      </p:sp>
      <p:pic>
        <p:nvPicPr>
          <p:cNvPr id="53" name="Picture 52" descr="20c93cf97540e44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" y="4151375"/>
            <a:ext cx="192024" cy="31272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325880" y="4133087"/>
            <a:ext cx="6309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external field: the push from media, the same on everyone.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85800" y="4800600"/>
            <a:ext cx="6949440" cy="868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EEF3FA"/>
                </a:solidFill>
                <a:latin typeface="Calibri"/>
              </a:rPr>
              <a:t>Every study we found picks h by hand. </a:t>
            </a:r>
            <a:r>
              <a:rPr sz="1600" b="1">
                <a:solidFill>
                  <a:srgbClr val="FF7A59"/>
                </a:solidFill>
                <a:latin typeface="Calibri"/>
              </a:rPr>
              <a:t>Our question: can h be measured from the content itself?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What the proposal assumed, and what testing the tools showed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429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THE PROPOSAL ASSUMED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32588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7A59"/>
                </a:solidFill>
                <a:latin typeface="Calibri"/>
              </a:rPr>
              <a:t>WHAT WE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325880"/>
            <a:ext cx="34107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WHAT WE 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342900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We would measure the amygdala, the brain's alarm centre.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691640"/>
            <a:ext cx="370332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The model only predicts the brain's outer surface.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691640"/>
            <a:ext cx="3410712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Used emotion-linked and reasoning-linked surface areas.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342900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score would be a ratio of the two areas.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423160"/>
            <a:ext cx="370332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Averages sit near zero, so the ratio broke for 69 of 400 articles.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423160"/>
            <a:ext cx="3410712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Used a simple difference: emotion minus reasoning.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154680"/>
            <a:ext cx="342900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Outrage articles would stand out the most.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51960" y="3154680"/>
            <a:ext cx="370332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Outrage raised both areas by the same amount.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54680"/>
            <a:ext cx="3410712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Reported it; fear is what stands out.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86200"/>
            <a:ext cx="342900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We would measure α (alpha), the strength of media's push.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3886200"/>
            <a:ext cx="370332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The data could not pin it down.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886200"/>
            <a:ext cx="3410712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Worked out the minimum α instead.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17720"/>
            <a:ext cx="342900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score would detect manipulative articles.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4617720"/>
            <a:ext cx="3703320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Simple word counting did better.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4617720"/>
            <a:ext cx="3410712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Presented it as a measurement, not a detector.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We also corrected two coefficients in the proposal's physics equation. All changes are in the approved amendment.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IDEA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tools we used, and why each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TRIBE v2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Meta research, 2025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An AI model that predicts brain activity from text, sound and video. It learned from brain scans of adult volunteers watching TV and films.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41732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Text-to-speech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reads each article aloud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The model was built on people listening, not reading, so every article is spoken first.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41732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Word timing tool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forced alignment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Marks the moment each word is spoken, so the words and the sound line up for the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918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Brain area map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Glasser et al., 2016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 standard map that names areas of the brain's surface. We used it to pick emotion and reasoning areas.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32918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400 public articles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four published collections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Anyone can download the same articles and check every number.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32918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7CC4FF"/>
                </a:solidFill>
                <a:latin typeface="Calibri"/>
              </a:rPr>
              <a:t>Cloud GPU + Python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free Kaggle Tesla P100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About 70 seconds per article. All code and results are public on GitHub.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66360"/>
            <a:ext cx="10820095" cy="548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7A59"/>
                </a:solidFill>
                <a:latin typeface="Calibri"/>
              </a:rPr>
              <a:t>No person was scanned. </a:t>
            </a:r>
            <a:r>
              <a:rPr sz="1600" b="0">
                <a:solidFill>
                  <a:srgbClr val="EEF3FA"/>
                </a:solidFill>
                <a:latin typeface="Calibri"/>
              </a:rPr>
              <a:t>Every brain value in this work is a prediction from the model.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How one article becomes one number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193852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1  </a:t>
            </a:r>
            <a:r>
              <a:rPr sz="1500" b="1">
                <a:solidFill>
                  <a:srgbClr val="EEF3FA"/>
                </a:solidFill>
                <a:latin typeface="Calibri"/>
              </a:rPr>
              <a:t>Article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about 164 words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70048" y="1783080"/>
            <a:ext cx="192024" cy="137160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7792" y="1371600"/>
            <a:ext cx="193852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2  </a:t>
            </a:r>
            <a:r>
              <a:rPr sz="1500" b="1">
                <a:solidFill>
                  <a:srgbClr val="EEF3FA"/>
                </a:solidFill>
                <a:latin typeface="Calibri"/>
              </a:rPr>
              <a:t>Spoken aloud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text-to-speech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92040" y="1783080"/>
            <a:ext cx="192024" cy="137160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29784" y="1371600"/>
            <a:ext cx="193852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3  </a:t>
            </a:r>
            <a:r>
              <a:rPr sz="1500" b="1">
                <a:solidFill>
                  <a:srgbClr val="EEF3FA"/>
                </a:solidFill>
                <a:latin typeface="Calibri"/>
              </a:rPr>
              <a:t>Word 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when each word is said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14032" y="1783080"/>
            <a:ext cx="192024" cy="137160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51776" y="1371600"/>
            <a:ext cx="193852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4  </a:t>
            </a:r>
            <a:r>
              <a:rPr sz="1500" b="1">
                <a:solidFill>
                  <a:srgbClr val="EEF3FA"/>
                </a:solidFill>
                <a:latin typeface="Calibri"/>
              </a:rPr>
              <a:t>Brain prediction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20,484 points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336024" y="1783080"/>
            <a:ext cx="192024" cy="137160"/>
          </a:xfrm>
          <a:prstGeom prst="rightArrow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73768" y="1371600"/>
            <a:ext cx="1938528" cy="9601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5  </a:t>
            </a:r>
            <a:r>
              <a:rPr sz="1500" b="1">
                <a:solidFill>
                  <a:srgbClr val="EEF3FA"/>
                </a:solidFill>
                <a:latin typeface="Calibri"/>
              </a:rPr>
              <a:t>Two averages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AABC4"/>
                </a:solidFill>
                <a:latin typeface="Calibri"/>
              </a:rPr>
              <a:t>emotion and reasoning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633472"/>
            <a:ext cx="5614416" cy="26471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1_roi_defin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743200"/>
            <a:ext cx="5394960" cy="24277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85800" y="530352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Orange: 1,030 emotion-linked points. Blue: 851 reasoning-linked points.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20840" y="2697480"/>
            <a:ext cx="4782312" cy="2926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sp>
        <p:nvSpPr>
          <p:cNvPr id="20" name="TextBox 19"/>
          <p:cNvSpPr txBox="1"/>
          <p:nvPr/>
        </p:nvSpPr>
        <p:spPr>
          <a:xfrm>
            <a:off x="6922008" y="2807208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THE SCORE, X</a:t>
            </a:r>
          </a:p>
        </p:txBody>
      </p:sp>
      <p:pic>
        <p:nvPicPr>
          <p:cNvPr id="21" name="Picture 20" descr="1a1708a62b82e21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8" y="3127248"/>
            <a:ext cx="3091586" cy="3950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922008" y="3703320"/>
            <a:ext cx="4389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CC4FF"/>
                </a:solidFill>
                <a:latin typeface="Calibri"/>
              </a:rPr>
              <a:t>Ā </a:t>
            </a:r>
            <a:r>
              <a:rPr sz="1400" b="0">
                <a:solidFill>
                  <a:srgbClr val="EEF3FA"/>
                </a:solidFill>
                <a:latin typeface="Calibri"/>
              </a:rPr>
              <a:t>= average predicted activity over that set of points.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Above 0: </a:t>
            </a:r>
            <a:r>
              <a:rPr sz="1500" b="0">
                <a:solidFill>
                  <a:srgbClr val="EEF3FA"/>
                </a:solidFill>
                <a:latin typeface="Calibri"/>
              </a:rPr>
              <a:t>emotion areas predicted more active.</a:t>
            </a:r>
          </a:p>
          <a:p>
            <a:pPr algn="l">
              <a:spcAft>
                <a:spcPts val="100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Below 0: </a:t>
            </a:r>
            <a:r>
              <a:rPr sz="1500" b="0">
                <a:solidFill>
                  <a:srgbClr val="EEF3FA"/>
                </a:solidFill>
                <a:latin typeface="Calibri"/>
              </a:rPr>
              <a:t>reasoning areas predicted more active.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20,484 </a:t>
            </a:r>
            <a:r>
              <a:rPr sz="1300" b="0">
                <a:solidFill>
                  <a:srgbClr val="9AABC4"/>
                </a:solidFill>
                <a:latin typeface="Calibri"/>
              </a:rPr>
              <a:t>= points on a standard model of the brain's surface, where the prediction is made.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400 articles in four groups, matched in length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487168" cy="14173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F7A59"/>
                </a:solidFill>
                <a:latin typeface="Calibri"/>
              </a:rPr>
              <a:t>100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Fear-driven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fake news collection (ISOT)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417320"/>
            <a:ext cx="54864" cy="1417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2832" y="1417320"/>
            <a:ext cx="2487168" cy="14173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F5B83D"/>
                </a:solidFill>
                <a:latin typeface="Calibri"/>
              </a:rPr>
              <a:t>100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Outrage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hyperpartisan news (SemEval-2019)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2832" y="1417320"/>
            <a:ext cx="54864" cy="1417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9865" y="1417320"/>
            <a:ext cx="2487168" cy="14173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3E8EDE"/>
                </a:solidFill>
                <a:latin typeface="Calibri"/>
              </a:rPr>
              <a:t>100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Clickbait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clickbait headlines (Webis-17)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9865" y="1417320"/>
            <a:ext cx="54864" cy="1417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16898" y="1417320"/>
            <a:ext cx="2487168" cy="14173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ctr">
              <a:spcAft>
                <a:spcPts val="0"/>
              </a:spcAft>
            </a:pPr>
            <a:r>
              <a:rPr sz="3200" b="1" i="0">
                <a:solidFill>
                  <a:srgbClr val="9AABC4"/>
                </a:solidFill>
                <a:latin typeface="Calibri"/>
              </a:rPr>
              <a:t>100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EEF3FA"/>
                </a:solidFill>
                <a:latin typeface="Calibri"/>
              </a:rPr>
              <a:t>Neutral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medical abstracts + real news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16898" y="1417320"/>
            <a:ext cx="54864" cy="1417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10896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7CC4FF"/>
                </a:solidFill>
                <a:latin typeface="Calibri"/>
              </a:rPr>
              <a:t>≈ 164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words per article, on average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All four groups are within 5 words of each other.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So a longer article can't score differently just by being longer.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310896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7CC4FF"/>
                </a:solidFill>
                <a:latin typeface="Calibri"/>
              </a:rPr>
              <a:t>0.027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smallest effect the study could see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We sized the study before scanning a single article.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400 articles is enough to catch a difference as small as 2.7%.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310896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7CC4FF"/>
                </a:solidFill>
                <a:latin typeface="Calibri"/>
              </a:rPr>
              <a:t>× 2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every article scanned twice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Two separate runs on the GPU.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Lets us measure how repeatable the score 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Result 1: the four groups really do differ</a:t>
            </a:r>
          </a:p>
        </p:txBody>
      </p:sp>
      <p:sp>
        <p:nvSpPr>
          <p:cNvPr id="7" name="Oval 6"/>
          <p:cNvSpPr/>
          <p:nvPr/>
        </p:nvSpPr>
        <p:spPr>
          <a:xfrm>
            <a:off x="1051560" y="228600"/>
            <a:ext cx="4114800" cy="4114800"/>
          </a:xfrm>
          <a:prstGeom prst="ellipse">
            <a:avLst/>
          </a:prstGeom>
          <a:gradFill rotWithShape="1">
            <a:gsLst>
              <a:gs pos="0">
                <a:srgbClr val="3E8EDE">
                  <a:alpha val="30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HOW MUCH THE GROUPS DIFFER (η²)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303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200" b="1" i="0">
                <a:solidFill>
                  <a:srgbClr val="EEF3FA"/>
                </a:solidFill>
                <a:latin typeface="Calibri"/>
              </a:rPr>
              <a:t>0.107</a:t>
            </a:r>
          </a:p>
        </p:txBody>
      </p:sp>
      <p:pic>
        <p:nvPicPr>
          <p:cNvPr id="10" name="Picture 9" descr="eb93d49365edde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788920"/>
            <a:ext cx="2125751" cy="3342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3593592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first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3657600"/>
            <a:ext cx="265176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657600"/>
            <a:ext cx="2360066" cy="27432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59359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7CC4FF"/>
                </a:solidFill>
                <a:latin typeface="Calibri"/>
              </a:rPr>
              <a:t>0.107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096511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second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4160520"/>
            <a:ext cx="265176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06040" y="4160520"/>
            <a:ext cx="1962302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096511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E8EDE"/>
                </a:solidFill>
                <a:latin typeface="Calibri"/>
              </a:rPr>
              <a:t>0.089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99431"/>
            <a:ext cx="1920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smallest we could see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06040" y="4663440"/>
            <a:ext cx="265176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6040" y="4663440"/>
            <a:ext cx="592226" cy="274320"/>
          </a:xfrm>
          <a:prstGeom prst="rect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599431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9AABC4"/>
                </a:solidFill>
                <a:latin typeface="Calibri"/>
              </a:rPr>
              <a:t>0.027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6636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second run repeats the result. Both are far above what we could detect.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371600"/>
            <a:ext cx="5102352" cy="2011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7CC4FF"/>
                </a:solidFill>
                <a:latin typeface="Calibri"/>
              </a:rPr>
              <a:t>≈ 11%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η² = 0.107: share of the differences explained by group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Knowing an article's group explains about 11% of why its score differs from the others.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The groups overlap a lot; most variation is from one article to the next.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611880"/>
            <a:ext cx="5102352" cy="2011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5FD09A"/>
                </a:solidFill>
                <a:latin typeface="Calibri"/>
              </a:rPr>
              <a:t>1 in a billion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p = 1.0 × 10⁻⁹: the chance this is luck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If the groups were truly the same, a pattern this strong would appear by chance about once in a billion tries.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400 articles and a consistent difference between groups.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Fear drives the difference; outrage barely moves the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DIFFERENCE FROM NEUTRAL ARTICLES (COHEN'S d)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51376" y="1874519"/>
            <a:ext cx="13716" cy="16002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16459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small 0.2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874519"/>
            <a:ext cx="13716" cy="16002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6459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medium 0.5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52944" y="1874519"/>
            <a:ext cx="13716" cy="1600200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04304" y="1645920"/>
            <a:ext cx="1097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large 0.8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947672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fear-driven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0" y="2011680"/>
            <a:ext cx="566928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017520" y="2011680"/>
            <a:ext cx="5323453" cy="274320"/>
          </a:xfrm>
          <a:prstGeom prst="rect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23960" y="1947672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0.94  large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2514600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clickbait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578608"/>
            <a:ext cx="566928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17520" y="2578608"/>
            <a:ext cx="1808500" cy="274320"/>
          </a:xfrm>
          <a:prstGeom prst="rect">
            <a:avLst/>
          </a:prstGeom>
          <a:solidFill>
            <a:srgbClr val="3E8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251460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3E8EDE"/>
                </a:solidFill>
                <a:latin typeface="Calibri"/>
              </a:rPr>
              <a:t>0.32  small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081528"/>
            <a:ext cx="2103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outrage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17520" y="3145536"/>
            <a:ext cx="5669280" cy="274320"/>
          </a:xfrm>
          <a:prstGeom prst="rect">
            <a:avLst/>
          </a:prstGeom>
          <a:solidFill>
            <a:srgbClr val="2A3D5E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17520" y="3145536"/>
            <a:ext cx="170078" cy="274320"/>
          </a:xfrm>
          <a:prstGeom prst="rect">
            <a:avLst/>
          </a:prstGeom>
          <a:solidFill>
            <a:srgbClr val="F5B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23960" y="3081528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5B83D"/>
                </a:solidFill>
                <a:latin typeface="Calibri"/>
              </a:rPr>
              <a:t>0.03  none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749039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27" name="Picture 26" descr="75fb8530cacd19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858768"/>
            <a:ext cx="1589684" cy="3735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95528" y="4526280"/>
            <a:ext cx="50292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7CC4FF"/>
                </a:solidFill>
                <a:latin typeface="Calibri"/>
              </a:rPr>
              <a:t>X̄ </a:t>
            </a:r>
            <a:r>
              <a:rPr sz="1300" b="0">
                <a:solidFill>
                  <a:srgbClr val="EEF3FA"/>
                </a:solidFill>
                <a:latin typeface="Calibri"/>
              </a:rPr>
              <a:t>= average score of a group.  </a:t>
            </a:r>
            <a:r>
              <a:rPr sz="1300" b="1">
                <a:solidFill>
                  <a:srgbClr val="7CC4FF"/>
                </a:solidFill>
                <a:latin typeface="Calibri"/>
              </a:rPr>
              <a:t>s </a:t>
            </a:r>
            <a:r>
              <a:rPr sz="1300" b="0">
                <a:solidFill>
                  <a:srgbClr val="EEF3FA"/>
                </a:solidFill>
                <a:latin typeface="Calibri"/>
              </a:rPr>
              <a:t>= normal spread of scores.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0.2 is small, 0.5 medium, 0.8 large. Fear articles sit almost one full spread away from neutral.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749039"/>
            <a:ext cx="5257800" cy="19202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WHY OUTRAGE STAYS FLAT</a:t>
            </a:r>
          </a:p>
          <a:p>
            <a:pPr algn="l">
              <a:spcAft>
                <a:spcPts val="0"/>
              </a:spcAft>
            </a:pPr>
            <a:r>
              <a:rPr sz="1400" b="1">
                <a:solidFill>
                  <a:srgbClr val="EEF3FA"/>
                </a:solidFill>
                <a:latin typeface="Calibri"/>
              </a:rPr>
              <a:t>Outrage raised emotion areas by 0.51 and reasoning areas by 0.49. </a:t>
            </a:r>
            <a:r>
              <a:rPr sz="1400" b="0">
                <a:solidFill>
                  <a:srgbClr val="EEF3FA"/>
                </a:solidFill>
                <a:latin typeface="Calibri"/>
              </a:rPr>
              <a:t>The score is the gap between them, so it barely moves. Fear raised emotion areas only (0.61 vs −0.10).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score repeats well for groups, not for single articles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7CC4FF"/>
                </a:solidFill>
                <a:latin typeface="Calibri"/>
              </a:rPr>
              <a:t>0.87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Agreement between the two runs (ICC = 0.8725)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1 means identical, 0 means no agreement. 0.87 is high.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The speech voice and the computer's arithmetic vary a little between runs.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371600"/>
            <a:ext cx="5257800" cy="21488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51 of 400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Articles whose score flipped sign (12.8%)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Noise alone predicts about 55. The ones that flipped all sit near zero.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A score near zero tips either way with a tiny wobble, so we never judge one article.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94760"/>
            <a:ext cx="1082009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9AABC4"/>
                </a:solidFill>
                <a:latin typeface="Calibri"/>
              </a:rPr>
              <a:t>FLIPPED ARTICLES: WHAT WE SAW AGAINST WHAT NOISE ALONE PREDICTS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754880"/>
            <a:ext cx="8138160" cy="18288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6768" y="4608576"/>
            <a:ext cx="6239256" cy="310896"/>
          </a:xfrm>
          <a:prstGeom prst="rect">
            <a:avLst/>
          </a:prstGeom>
          <a:solidFill>
            <a:srgbClr val="3E8EDE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43853" y="4480560"/>
            <a:ext cx="36576" cy="5669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876800" y="4645152"/>
            <a:ext cx="237744" cy="237744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50292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58640" y="50292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71359" y="50292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50292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3341" y="4096512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noise predicts about 55 (shaded: 44 to 67)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8391" y="5257800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we saw 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Honest check: simple word counting sorts articles better than our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CC4FF"/>
                </a:solidFill>
                <a:latin typeface="Calibri"/>
              </a:rPr>
              <a:t>AUC </a:t>
            </a:r>
            <a:r>
              <a:rPr sz="1500" b="0">
                <a:solidFill>
                  <a:srgbClr val="EEF3FA"/>
                </a:solidFill>
                <a:latin typeface="Calibri"/>
              </a:rPr>
              <a:t>= how well a score sorts manipulative from neutral articles. 0.5 is a coin toss, 1.0 is perfect.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2743200"/>
            <a:ext cx="9601200" cy="54864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199" y="29260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0.5 coin toss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9260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0.75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926080"/>
            <a:ext cx="1645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9AABC4"/>
                </a:solidFill>
                <a:latin typeface="Calibri"/>
              </a:rPr>
              <a:t>1.0 perfect</a:t>
            </a:r>
          </a:p>
        </p:txBody>
      </p:sp>
      <p:sp>
        <p:nvSpPr>
          <p:cNvPr id="12" name="Oval 11"/>
          <p:cNvSpPr/>
          <p:nvPr/>
        </p:nvSpPr>
        <p:spPr>
          <a:xfrm>
            <a:off x="1895734" y="2633472"/>
            <a:ext cx="274320" cy="274320"/>
          </a:xfrm>
          <a:prstGeom prst="ellipse">
            <a:avLst/>
          </a:prstGeom>
          <a:solidFill>
            <a:srgbClr val="9AA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174" y="32004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9AABC4"/>
                </a:solidFill>
                <a:latin typeface="Calibri"/>
              </a:rPr>
              <a:t>sentiment tool 0.54</a:t>
            </a:r>
          </a:p>
        </p:txBody>
      </p:sp>
      <p:sp>
        <p:nvSpPr>
          <p:cNvPr id="14" name="Oval 13"/>
          <p:cNvSpPr/>
          <p:nvPr/>
        </p:nvSpPr>
        <p:spPr>
          <a:xfrm>
            <a:off x="3589385" y="2633472"/>
            <a:ext cx="274320" cy="274320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825" y="21762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7CC4FF"/>
                </a:solidFill>
                <a:latin typeface="Calibri"/>
              </a:rPr>
              <a:t>our score 0.63</a:t>
            </a:r>
          </a:p>
        </p:txBody>
      </p:sp>
      <p:sp>
        <p:nvSpPr>
          <p:cNvPr id="16" name="Oval 15"/>
          <p:cNvSpPr/>
          <p:nvPr/>
        </p:nvSpPr>
        <p:spPr>
          <a:xfrm>
            <a:off x="10279501" y="2633472"/>
            <a:ext cx="274320" cy="274320"/>
          </a:xfrm>
          <a:prstGeom prst="ellipse">
            <a:avLst/>
          </a:prstGeom>
          <a:solidFill>
            <a:srgbClr val="FF7A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7941" y="2176272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7A59"/>
                </a:solidFill>
                <a:latin typeface="Calibri"/>
              </a:rPr>
              <a:t>word counting 0.98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4903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WHY WORD COUNTING WINS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Each group came from a different source. From the words alone, a computer guesses the source 66% of the time, against 25% by chance. So it is partly spotting the source, not the style.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749039"/>
            <a:ext cx="5257800" cy="1874519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7CC4FF"/>
                </a:solidFill>
                <a:latin typeface="Calibri"/>
              </a:rPr>
              <a:t>WHAT THIS MEANS FOR US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EEF3FA"/>
                </a:solidFill>
                <a:latin typeface="Calibri"/>
              </a:rPr>
              <a:t>We cannot say the group differences come from writing style alone. Our score is offered as a measurement for the physics model, not as a manipulation detector.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Does the brain model match real brains? Weakly, but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9AABC4"/>
                </a:solidFill>
                <a:latin typeface="Calibri"/>
              </a:rPr>
              <a:t>A company audit claimed this model is the opposite of real brains. We tested it on public brain scans of people watching the TV show Friends.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7CC4FF"/>
                </a:solidFill>
                <a:latin typeface="Calibri"/>
              </a:rPr>
              <a:t>0.152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Best possible score (noise ceiling)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How closely real people's brains agree with each other watching the same episode.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Brains differ and scanners are noisy, so even a perfect model can't score higher.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1965960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5FD09A"/>
                </a:solidFill>
                <a:latin typeface="Calibri"/>
              </a:rPr>
              <a:t>0.028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Model vs real brains (r), 2-minute clip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The model's predictions rise and fall with real brain activity, weakly.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The best possible on that same clip is 0.096, so the model gets under a third of the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4152" y="1965960"/>
            <a:ext cx="3429000" cy="27889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5B83D"/>
                </a:solidFill>
                <a:latin typeface="Calibri"/>
              </a:rPr>
              <a:t>p = 0.048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Chance the match is luck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Just under the usual 5% cut-off.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Two minutes of video is short. A longer run is needed to settle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83480"/>
            <a:ext cx="10820095" cy="640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Along the way we found and fixed three hidden bugs: </a:t>
            </a:r>
            <a:r>
              <a:rPr sz="1500" b="0">
                <a:solidFill>
                  <a:srgbClr val="EEF3FA"/>
                </a:solidFill>
                <a:latin typeface="Calibri"/>
              </a:rPr>
              <a:t>the wrong episode loaded, a table read sideways, and two clocks out of step.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RESULTS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THE PHYSICS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The physics result: the minimum push media would need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5486400" cy="42976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8e0d813349e082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848" y="1536192"/>
            <a:ext cx="3340303" cy="537895"/>
          </a:xfrm>
          <a:prstGeom prst="rect">
            <a:avLst/>
          </a:prstGeom>
        </p:spPr>
      </p:pic>
      <p:pic>
        <p:nvPicPr>
          <p:cNvPr id="9" name="Picture 8" descr="20c93cf97540e4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171" y="2505456"/>
            <a:ext cx="136017" cy="22151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40" y="2487168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the push from media on everyone (the field).</a:t>
            </a:r>
          </a:p>
        </p:txBody>
      </p:sp>
      <p:pic>
        <p:nvPicPr>
          <p:cNvPr id="11" name="Picture 10" descr="a2dd4f017e3f8d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9138" y="3026664"/>
            <a:ext cx="202082" cy="22151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148840" y="3008376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our score for an article, emotion minus reasoning.</a:t>
            </a:r>
          </a:p>
        </p:txBody>
      </p:sp>
      <p:pic>
        <p:nvPicPr>
          <p:cNvPr id="13" name="Picture 12" descr="5272f2755a3e4b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6342" y="3547872"/>
            <a:ext cx="147675" cy="2215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148840" y="3529584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strength: how hard one unit of score pushes. Not measured, so no value is quoted.</a:t>
            </a:r>
          </a:p>
        </p:txBody>
      </p:sp>
      <p:pic>
        <p:nvPicPr>
          <p:cNvPr id="15" name="Picture 14" descr="fc09c3c898db603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5113" y="4069079"/>
            <a:ext cx="610133" cy="2409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48840" y="4050791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critical field: the smallest push that flips the majority. It grows with copying strength.</a:t>
            </a:r>
          </a:p>
        </p:txBody>
      </p:sp>
      <p:pic>
        <p:nvPicPr>
          <p:cNvPr id="17" name="Picture 16" descr="92db4915de0152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1248" y="4590288"/>
            <a:ext cx="277863" cy="223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148840" y="4572000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copying strength. Above 1 a group settles on a majority by itself; 2 means strongly connected.</a:t>
            </a:r>
          </a:p>
        </p:txBody>
      </p:sp>
      <p:pic>
        <p:nvPicPr>
          <p:cNvPr id="19" name="Picture 18" descr="4b880f26890debb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8784" y="5111496"/>
            <a:ext cx="382790" cy="22151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48840" y="5093208"/>
            <a:ext cx="3931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EF3FA"/>
                </a:solidFill>
                <a:latin typeface="Calibri"/>
              </a:rPr>
              <a:t>spread of our scores: from −0.070 to +0.054, so 0.124.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371600"/>
            <a:ext cx="5102352" cy="233172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7A59"/>
                </a:solidFill>
                <a:latin typeface="Calibri"/>
              </a:rPr>
              <a:t>α ≥ 4.29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Minimum strength when copying is strong (βJ = 2)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What it means: </a:t>
            </a:r>
            <a:r>
              <a:rPr sz="1300" b="0">
                <a:solidFill>
                  <a:srgbClr val="EEF3FA"/>
                </a:solidFill>
                <a:latin typeface="Calibri"/>
              </a:rPr>
              <a:t>Any study saying content like this flips opinion must use an α of at least 4.29, or the maths says it can't happen.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9AABC4"/>
                </a:solidFill>
                <a:latin typeface="Calibri"/>
              </a:rPr>
              <a:t>Why this value: </a:t>
            </a:r>
            <a:r>
              <a:rPr sz="1300" b="0">
                <a:solidFill>
                  <a:srgbClr val="EEF3FA"/>
                </a:solidFill>
                <a:latin typeface="Calibri"/>
              </a:rPr>
              <a:t>Our scores cover a narrow range (0.124), so each unit of score must push hard.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931920"/>
            <a:ext cx="5102352" cy="169164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F5B83D"/>
                </a:solidFill>
                <a:latin typeface="Calibri"/>
              </a:rPr>
              <a:t>WHAT IT DOES NOT SAY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It does not claim that media flips opinion. It is a bar any such claim has to clear. The more strongly people copy each other, the higher the bar.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THE PHYSICS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2A3D5E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Can it analyse any content, even what children watch?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429000" cy="3840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5FD0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8" name="Picture 7" descr="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157276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15544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FD09A"/>
                </a:solidFill>
                <a:latin typeface="Calibri"/>
              </a:rPr>
              <a:t>WHAT IT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05740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Take video and sound as well as text, so a cartoon or an advert can be scored.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Compare groups of content, like two channels or two kinds of programme.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Score the content, never the viewer. Nobody is scanned.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417320"/>
            <a:ext cx="3429000" cy="3840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2" name="Picture 11" descr="x-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144" y="1572768"/>
            <a:ext cx="310896" cy="3108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74336" y="15544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7A59"/>
                </a:solidFill>
                <a:latin typeface="Calibri"/>
              </a:rPr>
              <a:t>WHAT IT CANNOT DO YET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05740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Say how a child reacts. The model learned from adult brains, and children's brains are still developing.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Speak for video: only news text read aloud was tested here.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Rate one show: about 1 in 8 items flip between runs.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1417320"/>
            <a:ext cx="3429000" cy="38404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09728" bIns="109728"/>
          <a:lstStyle/>
          <a:p>
            <a:pPr algn="l"/>
          </a:p>
        </p:txBody>
      </p:sp>
      <p:pic>
        <p:nvPicPr>
          <p:cNvPr id="16" name="Picture 15" descr="flag-bann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1572768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68512" y="155448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WHAT IT WOULD TAKE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057400"/>
            <a:ext cx="30632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Brain scans from children, collected with ethics approval and consent.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A test set of children's videos.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Content where source and type are mixed.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•  Safeguards so it is never used to target children.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394960"/>
            <a:ext cx="10820095" cy="45720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5B83D"/>
                </a:solidFill>
                <a:latin typeface="Calibri"/>
              </a:rPr>
              <a:t>Short answer: </a:t>
            </a:r>
            <a:r>
              <a:rPr sz="1500" b="0">
                <a:solidFill>
                  <a:srgbClr val="EEF3FA"/>
                </a:solidFill>
                <a:latin typeface="Calibri"/>
              </a:rPr>
              <a:t>technically possible, but not yet valid for children.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What this work cannot claim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490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7A59"/>
                </a:solidFill>
                <a:latin typeface="Calibri"/>
              </a:rPr>
              <a:t>LIMIT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2588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325880"/>
            <a:ext cx="31363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NEXT STEP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691640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Predictions, not brain scans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691640"/>
            <a:ext cx="365760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Nobody was scanned; the model could be wrong.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691640"/>
            <a:ext cx="313639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The real-brain check (Paper 3).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50592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Group is mixed up with source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50592"/>
            <a:ext cx="365760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Each group came from one collection.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2450592"/>
            <a:ext cx="313639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 new set where every source has every type.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09544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Brain surface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209544"/>
            <a:ext cx="365760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No amygdala or other deep areas.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3209544"/>
            <a:ext cx="313639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A model that predicts deep areas.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968496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Strength of the push (α) unknown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968496"/>
            <a:ext cx="365760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The data can't pin it down.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968496"/>
            <a:ext cx="313639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Use the minimum rule instead.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727448"/>
            <a:ext cx="3749039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EF3FA"/>
                </a:solidFill>
                <a:latin typeface="Calibri"/>
              </a:rPr>
              <a:t>The real-brain check is short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4727448"/>
            <a:ext cx="3657600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9AABC4"/>
                </a:solidFill>
                <a:latin typeface="Calibri"/>
              </a:rPr>
              <a:t>Only 2 minutes of video so far.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4727448"/>
            <a:ext cx="3136392" cy="658368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15875">
            <a:solidFill>
              <a:srgbClr val="2A3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09728" bIns="109728"/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EF3FA"/>
                </a:solidFill>
                <a:latin typeface="Calibri"/>
              </a:rPr>
              <a:t>Longer clips, run one at a time.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14055" y="-3794760"/>
            <a:ext cx="6858000" cy="6858000"/>
          </a:xfrm>
          <a:prstGeom prst="ellipse">
            <a:avLst/>
          </a:prstGeom>
          <a:gradFill rotWithShape="1">
            <a:gsLst>
              <a:gs pos="0">
                <a:srgbClr val="3E8EDE">
                  <a:alpha val="28000"/>
                </a:srgbClr>
              </a:gs>
              <a:gs pos="100000">
                <a:srgbClr val="3E8ED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3474720" y="4663440"/>
            <a:ext cx="5486400" cy="5486400"/>
          </a:xfrm>
          <a:prstGeom prst="ellipse">
            <a:avLst/>
          </a:prstGeom>
          <a:gradFill rotWithShape="1">
            <a:gsLst>
              <a:gs pos="0">
                <a:srgbClr val="FF7A59">
                  <a:alpha val="10000"/>
                </a:srgbClr>
              </a:gs>
              <a:gs pos="100000">
                <a:srgbClr val="FF7A59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89304" y="201168"/>
            <a:ext cx="10216591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4" y="420624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7CC4FF"/>
                </a:solidFill>
                <a:latin typeface="Calibri"/>
              </a:rPr>
              <a:t>Three papers, and what I need from you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7160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1 · Physica A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EF3FA"/>
                </a:solidFill>
                <a:latin typeface="Calibri"/>
              </a:rPr>
              <a:t>The minimum push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How strong media would have to be to flip a majority. Pure physics; needs no brain data.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12 pages, ready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37160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Calibri"/>
              </a:rPr>
              <a:t>PAPER 2 · Physica A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EF3FA"/>
                </a:solidFill>
                <a:latin typeface="Calibri"/>
              </a:rPr>
              <a:t>The measuring tool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process, the 400 articles, the results, and the word-counting comparison.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CC4FF"/>
                </a:solidFill>
                <a:latin typeface="Calibri"/>
              </a:rPr>
              <a:t>16 pages, ready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4152" y="137160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5B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F5B83D"/>
                </a:solidFill>
                <a:latin typeface="Calibri"/>
              </a:rPr>
              <a:t>PAPER 3 · Imaging Neuroscience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EF3FA"/>
                </a:solidFill>
                <a:latin typeface="Calibri"/>
              </a:rPr>
              <a:t>Does the model match real brains?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9AABC4"/>
                </a:solidFill>
                <a:latin typeface="Calibri"/>
              </a:rPr>
              <a:t>The best-possible score, the three bugs, and the first check.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5B83D"/>
                </a:solidFill>
                <a:latin typeface="Calibri"/>
              </a:rPr>
              <a:t>8 pages, one longer run to 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840480"/>
            <a:ext cx="10820095" cy="1783080"/>
          </a:xfrm>
          <a:prstGeom prst="roundRect">
            <a:avLst>
              <a:gd name="adj" fmla="val 6000"/>
            </a:avLst>
          </a:prstGeom>
          <a:solidFill>
            <a:srgbClr val="12223C"/>
          </a:solidFill>
          <a:ln w="25400">
            <a:solidFill>
              <a:srgbClr val="FF7A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 bIns="109728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FF7A59"/>
                </a:solidFill>
                <a:latin typeface="Calibri"/>
              </a:rPr>
              <a:t>TODAY I AM ASKING FOR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1   </a:t>
            </a:r>
            <a:r>
              <a:rPr sz="1500" b="0">
                <a:solidFill>
                  <a:srgbClr val="EEF3FA"/>
                </a:solidFill>
                <a:latin typeface="Calibri"/>
              </a:rPr>
              <a:t>Any corrections you need before the thesis is final.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2   </a:t>
            </a:r>
            <a:r>
              <a:rPr sz="1500" b="0">
                <a:solidFill>
                  <a:srgbClr val="EEF3FA"/>
                </a:solidFill>
                <a:latin typeface="Calibri"/>
              </a:rPr>
              <a:t>Your signature on the declaration page (page iii).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3   </a:t>
            </a:r>
            <a:r>
              <a:rPr sz="1500" b="0">
                <a:solidFill>
                  <a:srgbClr val="EEF3FA"/>
                </a:solidFill>
                <a:latin typeface="Calibri"/>
              </a:rPr>
              <a:t>Clearance to deposit with the library (bound copy by Thursday 24 September).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7A59"/>
                </a:solidFill>
                <a:latin typeface="Calibri"/>
              </a:rPr>
              <a:t>4   </a:t>
            </a:r>
            <a:r>
              <a:rPr sz="1500" b="0">
                <a:solidFill>
                  <a:srgbClr val="EEF3FA"/>
                </a:solidFill>
                <a:latin typeface="Calibri"/>
              </a:rPr>
              <a:t>Your view on co-authorship of the three papers.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9AABC4"/>
                </a:solidFill>
                <a:latin typeface="Calibri"/>
              </a:rPr>
              <a:t>WHAT'S 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92243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68315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44387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20459" y="6473952"/>
            <a:ext cx="502920" cy="36576"/>
          </a:xfrm>
          <a:prstGeom prst="rect">
            <a:avLst/>
          </a:prstGeom>
          <a:solidFill>
            <a:srgbClr val="2A3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96531" y="6473952"/>
            <a:ext cx="502920" cy="36576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91495" y="635508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9AABC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