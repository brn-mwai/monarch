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Dr. Songa, and thank you for the time. I'll take you through the dissertation as it stands after your review: what I set out to do, the tools and steps, what we found, where the proposal turned out wrong, what the work cannot claim, and the three papers. About fifteen minutes, and I'll end with what I need from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idea in one picture. Physicists model a group forming an opinion the same way they model tiny magnets lining up. Each arrow is a person, and people tend to copy those around them. Media is an outside push on everyone at once. In every study I read, the size of that push is simply chosen by the researcher. My question was: can we measure it from the content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results, I want to be upfront about what changed from the proposal. Five assumptions turned out differently once we tested the tools. The biggest: we planned to measure the amygdala, the brain's alarm centre, but the model only predicts the brain's outer surface. So we used emotion-linked and reasoning-linked areas on the surface instead. All of this is in the amendment you approved.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tools. The main one is TRIBE v2, published by Meta's research lab. It learned from brain scans of adult volunteers watching TV and films, and it predicts how a typical brain would respond to new content. Because it was built on people listening, we read each article aloud first. Nobody was scanned in this project. Every brain value you'll see is a prediction.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process for one article. It's turned into speech, the timing of each word is marked, and the model predicts activity at 20,484 points across the brain's surface. We average 1,030 points in areas linked to emotion and 851 in areas linked to careful reasoning. The score is emotion minus reasoning. Above zero, emotion leads. Below zero, reasoning leads.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scored 400 articles from four public collections, 100 each: fear-driven fake news, outrage-style partisan news, clickbait, and neutral writing. We matched their lengths so no group wins by being longer, and we worked out before scanning that 400 was enough to see a small effect. Then we ran every article twice.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the four groups really do differ. The number is eta squared, 0.107. In plain terms, about 11 percent of the differences between articles line up with their group. The rest is article-to-article variation, because the groups overlap a lot. The chance of this being luck is about one in a billion, and the second run gave 0.089, so it held.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group drives it? Fear. Compared with neutral articles, fear-driven ones differ by 0.94, which counts as large. Clickbait is small. Outrage barely moves, which surprised us, because the proposal expected it to be strongest. Looking closer, outrage raises both the emotion and the reasoning areas by about the same amount, so the gap between them stays flat.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trust the score? We ran all 400 articles twice. Agreement between runs is 0.87, where 1 means identical, so it's high. It isn't perfect because the speech voice and the computer's arithmetic vary slightly. 51 articles flipped sign. Noise alone predicts about 55, and those articles all sit near zero. So we only make claims about groups, never one article.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most important honest check. Simple word counting sorted manipulative from neutral articles far better than our score: 0.98 against 0.63, where 0.5 is a coin toss. The reason is that each group came from a different source, and the words give the source away. So we can't say the differences come from writing style alone. Our score is a measurement for the physics, not a manipulation detector.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the brain model match real brains at all? A company audit claimed it was the opposite of real brain data, so we tested it on public scans of people watching the show Friends. Real people's brains agree with each other at 0.152, the best any model can reach. On a two-minute clip the model scored 0.028, against a best possible of 0.096 on that clip. Weak, but positive. We also found and fixed three hidden bugs. This is Paper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physics result. Media's push equals our score times a strength called alpha. We couldn't measure alpha from the data, so we don't quote one. Instead we asked: how big must alpha be for media alone to flip a majority? With our scores spread over 0.124, the answer is at least 4.29 when people copy each other strongly. Any future claim that content like this flips opinion has to clear that bar.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my first presentation I was asked whether this could analyse any content, even what children watch. Technically, yes: the pipeline takes video and audio, so it could score a cartoon or an advert. But the model learned from adult brains, and children's brains are still developing, so it can't say how a child reacts. We also only tested news text. For children, we'd need child brain data and ethics approval first.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clear about the limits: every brain value is a prediction, not a scan. Group and source are mixed together in this dataset. The model can't see deep areas like the amygdala. We couldn't measure alpha. And the check against real brains used only two minutes of video. Each is stated in the thesis, and each points to the next piece of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papers come out of this. Paper 1 is pure physics: the minimum-push rule, no brain data needed. Paper 2 is the measuring tool and the 400 articles, including the word-counting comparison. Paper 3 is the check against real brains. The dissertation comes first. I'd like any corrections you need, your signature on the declaration page, and clearance for the library by Thursday. And I'd like to ask about co-authorship on the papers.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10820095" cy="365760"/>
          </a:xfrm>
          <a:prstGeom prst="rect">
            <a:avLst/>
          </a:prstGeom>
          <a:noFill/>
        </p:spPr>
        <p:txBody>
          <a:bodyPr wrap="square" anchor="t">
            <a:spAutoFit/>
          </a:bodyPr>
          <a:lstStyle/>
          <a:p>
            <a:pPr algn="l">
              <a:spcAft>
                <a:spcPts val="0"/>
              </a:spcAft>
            </a:pPr>
            <a:r>
              <a:rPr sz="1300" b="1" i="0">
                <a:solidFill>
                  <a:srgbClr val="FF7A59"/>
                </a:solidFill>
                <a:latin typeface="Calibri"/>
              </a:rPr>
              <a:t>PRESENTER SCRIPT  ·  FOR BRIAN ONLY</a:t>
            </a:r>
          </a:p>
        </p:txBody>
      </p:sp>
      <p:sp>
        <p:nvSpPr>
          <p:cNvPr id="5" name="TextBox 4"/>
          <p:cNvSpPr txBox="1"/>
          <p:nvPr/>
        </p:nvSpPr>
        <p:spPr>
          <a:xfrm>
            <a:off x="685800" y="822960"/>
            <a:ext cx="10820095" cy="822960"/>
          </a:xfrm>
          <a:prstGeom prst="rect">
            <a:avLst/>
          </a:prstGeom>
          <a:noFill/>
        </p:spPr>
        <p:txBody>
          <a:bodyPr wrap="square" anchor="t">
            <a:spAutoFit/>
          </a:bodyPr>
          <a:lstStyle/>
          <a:p>
            <a:pPr algn="l">
              <a:spcAft>
                <a:spcPts val="0"/>
              </a:spcAft>
            </a:pPr>
            <a:r>
              <a:rPr sz="3000" b="1" i="0">
                <a:solidFill>
                  <a:srgbClr val="7CC4FF"/>
                </a:solidFill>
                <a:latin typeface="Calibri"/>
              </a:rPr>
              <a:t>Meeting with Dr. Songa, 21 September 2026</a:t>
            </a:r>
          </a:p>
        </p:txBody>
      </p:sp>
      <p:sp>
        <p:nvSpPr>
          <p:cNvPr id="6" name="TextBox 5"/>
          <p:cNvSpPr txBox="1"/>
          <p:nvPr/>
        </p:nvSpPr>
        <p:spPr>
          <a:xfrm>
            <a:off x="685800" y="1508760"/>
            <a:ext cx="10820095" cy="457200"/>
          </a:xfrm>
          <a:prstGeom prst="rect">
            <a:avLst/>
          </a:prstGeom>
          <a:noFill/>
        </p:spPr>
        <p:txBody>
          <a:bodyPr wrap="square" anchor="t">
            <a:spAutoFit/>
          </a:bodyPr>
          <a:lstStyle/>
          <a:p>
            <a:pPr algn="l">
              <a:spcAft>
                <a:spcPts val="0"/>
              </a:spcAft>
            </a:pPr>
            <a:r>
              <a:rPr sz="1500" b="0" i="0">
                <a:solidFill>
                  <a:srgbClr val="9AABC4"/>
                </a:solidFill>
                <a:latin typeface="Calibri"/>
              </a:rPr>
              <a:t>One card per slide. Read the script in your own words; the right column is the numbers to say out loud. Likely questions and a plain-words sheet follow.</a:t>
            </a:r>
          </a:p>
        </p:txBody>
      </p:sp>
      <p:sp>
        <p:nvSpPr>
          <p:cNvPr id="7" name="Rounded Rectangle 6"/>
          <p:cNvSpPr/>
          <p:nvPr/>
        </p:nvSpPr>
        <p:spPr>
          <a:xfrm>
            <a:off x="685800" y="21945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01   </a:t>
            </a:r>
            <a:r>
              <a:rPr sz="1300" b="1">
                <a:solidFill>
                  <a:srgbClr val="EEF3FA"/>
                </a:solidFill>
                <a:latin typeface="Calibri"/>
              </a:rPr>
              <a:t>Title</a:t>
            </a:r>
            <a:r>
              <a:rPr sz="1300" b="0">
                <a:solidFill>
                  <a:srgbClr val="9AABC4"/>
                </a:solidFill>
                <a:latin typeface="Calibri"/>
              </a:rPr>
              <a:t>   1 min</a:t>
            </a:r>
          </a:p>
        </p:txBody>
      </p:sp>
      <p:sp>
        <p:nvSpPr>
          <p:cNvPr id="8" name="Rounded Rectangle 7"/>
          <p:cNvSpPr/>
          <p:nvPr/>
        </p:nvSpPr>
        <p:spPr>
          <a:xfrm>
            <a:off x="685800" y="26517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02   </a:t>
            </a:r>
            <a:r>
              <a:rPr sz="1300" b="1">
                <a:solidFill>
                  <a:srgbClr val="EEF3FA"/>
                </a:solidFill>
                <a:latin typeface="Calibri"/>
              </a:rPr>
              <a:t>The question</a:t>
            </a:r>
            <a:r>
              <a:rPr sz="1300" b="0">
                <a:solidFill>
                  <a:srgbClr val="9AABC4"/>
                </a:solidFill>
                <a:latin typeface="Calibri"/>
              </a:rPr>
              <a:t>   1 min</a:t>
            </a:r>
          </a:p>
        </p:txBody>
      </p:sp>
      <p:sp>
        <p:nvSpPr>
          <p:cNvPr id="9" name="Rounded Rectangle 8"/>
          <p:cNvSpPr/>
          <p:nvPr/>
        </p:nvSpPr>
        <p:spPr>
          <a:xfrm>
            <a:off x="685800" y="31089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03   </a:t>
            </a:r>
            <a:r>
              <a:rPr sz="1300" b="1">
                <a:solidFill>
                  <a:srgbClr val="EEF3FA"/>
                </a:solidFill>
                <a:latin typeface="Calibri"/>
              </a:rPr>
              <a:t>Plan vs reality</a:t>
            </a:r>
            <a:r>
              <a:rPr sz="1300" b="0">
                <a:solidFill>
                  <a:srgbClr val="9AABC4"/>
                </a:solidFill>
                <a:latin typeface="Calibri"/>
              </a:rPr>
              <a:t>   1.5 min</a:t>
            </a:r>
          </a:p>
        </p:txBody>
      </p:sp>
      <p:sp>
        <p:nvSpPr>
          <p:cNvPr id="10" name="Rounded Rectangle 9"/>
          <p:cNvSpPr/>
          <p:nvPr/>
        </p:nvSpPr>
        <p:spPr>
          <a:xfrm>
            <a:off x="685800" y="35661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04   </a:t>
            </a:r>
            <a:r>
              <a:rPr sz="1300" b="1">
                <a:solidFill>
                  <a:srgbClr val="EEF3FA"/>
                </a:solidFill>
                <a:latin typeface="Calibri"/>
              </a:rPr>
              <a:t>Tools</a:t>
            </a:r>
            <a:r>
              <a:rPr sz="1300" b="0">
                <a:solidFill>
                  <a:srgbClr val="9AABC4"/>
                </a:solidFill>
                <a:latin typeface="Calibri"/>
              </a:rPr>
              <a:t>   1 min</a:t>
            </a:r>
          </a:p>
        </p:txBody>
      </p:sp>
      <p:sp>
        <p:nvSpPr>
          <p:cNvPr id="11" name="Rounded Rectangle 10"/>
          <p:cNvSpPr/>
          <p:nvPr/>
        </p:nvSpPr>
        <p:spPr>
          <a:xfrm>
            <a:off x="685800" y="40233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05   </a:t>
            </a:r>
            <a:r>
              <a:rPr sz="1300" b="1">
                <a:solidFill>
                  <a:srgbClr val="EEF3FA"/>
                </a:solidFill>
                <a:latin typeface="Calibri"/>
              </a:rPr>
              <a:t>Process</a:t>
            </a:r>
            <a:r>
              <a:rPr sz="1300" b="0">
                <a:solidFill>
                  <a:srgbClr val="9AABC4"/>
                </a:solidFill>
                <a:latin typeface="Calibri"/>
              </a:rPr>
              <a:t>   1 min</a:t>
            </a:r>
          </a:p>
        </p:txBody>
      </p:sp>
      <p:sp>
        <p:nvSpPr>
          <p:cNvPr id="12" name="Rounded Rectangle 11"/>
          <p:cNvSpPr/>
          <p:nvPr/>
        </p:nvSpPr>
        <p:spPr>
          <a:xfrm>
            <a:off x="685800" y="44805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06   </a:t>
            </a:r>
            <a:r>
              <a:rPr sz="1300" b="1">
                <a:solidFill>
                  <a:srgbClr val="EEF3FA"/>
                </a:solidFill>
                <a:latin typeface="Calibri"/>
              </a:rPr>
              <a:t>The articles</a:t>
            </a:r>
            <a:r>
              <a:rPr sz="1300" b="0">
                <a:solidFill>
                  <a:srgbClr val="9AABC4"/>
                </a:solidFill>
                <a:latin typeface="Calibri"/>
              </a:rPr>
              <a:t>   1 min</a:t>
            </a:r>
          </a:p>
        </p:txBody>
      </p:sp>
      <p:sp>
        <p:nvSpPr>
          <p:cNvPr id="13" name="Rounded Rectangle 12"/>
          <p:cNvSpPr/>
          <p:nvPr/>
        </p:nvSpPr>
        <p:spPr>
          <a:xfrm>
            <a:off x="685800" y="49377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07   </a:t>
            </a:r>
            <a:r>
              <a:rPr sz="1300" b="1">
                <a:solidFill>
                  <a:srgbClr val="EEF3FA"/>
                </a:solidFill>
                <a:latin typeface="Calibri"/>
              </a:rPr>
              <a:t>Groups differ</a:t>
            </a:r>
            <a:r>
              <a:rPr sz="1300" b="0">
                <a:solidFill>
                  <a:srgbClr val="9AABC4"/>
                </a:solidFill>
                <a:latin typeface="Calibri"/>
              </a:rPr>
              <a:t>   1 min</a:t>
            </a:r>
          </a:p>
        </p:txBody>
      </p:sp>
      <p:sp>
        <p:nvSpPr>
          <p:cNvPr id="14" name="Rounded Rectangle 13"/>
          <p:cNvSpPr/>
          <p:nvPr/>
        </p:nvSpPr>
        <p:spPr>
          <a:xfrm>
            <a:off x="685800" y="53949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08   </a:t>
            </a:r>
            <a:r>
              <a:rPr sz="1300" b="1">
                <a:solidFill>
                  <a:srgbClr val="EEF3FA"/>
                </a:solidFill>
                <a:latin typeface="Calibri"/>
              </a:rPr>
              <a:t>Which group</a:t>
            </a:r>
            <a:r>
              <a:rPr sz="1300" b="0">
                <a:solidFill>
                  <a:srgbClr val="9AABC4"/>
                </a:solidFill>
                <a:latin typeface="Calibri"/>
              </a:rPr>
              <a:t>   1 min</a:t>
            </a:r>
          </a:p>
        </p:txBody>
      </p:sp>
      <p:sp>
        <p:nvSpPr>
          <p:cNvPr id="15" name="Rounded Rectangle 14"/>
          <p:cNvSpPr/>
          <p:nvPr/>
        </p:nvSpPr>
        <p:spPr>
          <a:xfrm>
            <a:off x="6172200" y="21945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09   </a:t>
            </a:r>
            <a:r>
              <a:rPr sz="1300" b="1">
                <a:solidFill>
                  <a:srgbClr val="EEF3FA"/>
                </a:solidFill>
                <a:latin typeface="Calibri"/>
              </a:rPr>
              <a:t>Repeatable?</a:t>
            </a:r>
            <a:r>
              <a:rPr sz="1300" b="0">
                <a:solidFill>
                  <a:srgbClr val="9AABC4"/>
                </a:solidFill>
                <a:latin typeface="Calibri"/>
              </a:rPr>
              <a:t>   1 min</a:t>
            </a:r>
          </a:p>
        </p:txBody>
      </p:sp>
      <p:sp>
        <p:nvSpPr>
          <p:cNvPr id="16" name="Rounded Rectangle 15"/>
          <p:cNvSpPr/>
          <p:nvPr/>
        </p:nvSpPr>
        <p:spPr>
          <a:xfrm>
            <a:off x="6172200" y="26517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10   </a:t>
            </a:r>
            <a:r>
              <a:rPr sz="1300" b="1">
                <a:solidFill>
                  <a:srgbClr val="EEF3FA"/>
                </a:solidFill>
                <a:latin typeface="Calibri"/>
              </a:rPr>
              <a:t>Honest check</a:t>
            </a:r>
            <a:r>
              <a:rPr sz="1300" b="0">
                <a:solidFill>
                  <a:srgbClr val="9AABC4"/>
                </a:solidFill>
                <a:latin typeface="Calibri"/>
              </a:rPr>
              <a:t>   1.5 min</a:t>
            </a:r>
          </a:p>
        </p:txBody>
      </p:sp>
      <p:sp>
        <p:nvSpPr>
          <p:cNvPr id="17" name="Rounded Rectangle 16"/>
          <p:cNvSpPr/>
          <p:nvPr/>
        </p:nvSpPr>
        <p:spPr>
          <a:xfrm>
            <a:off x="6172200" y="31089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11   </a:t>
            </a:r>
            <a:r>
              <a:rPr sz="1300" b="1">
                <a:solidFill>
                  <a:srgbClr val="EEF3FA"/>
                </a:solidFill>
                <a:latin typeface="Calibri"/>
              </a:rPr>
              <a:t>Real brains</a:t>
            </a:r>
            <a:r>
              <a:rPr sz="1300" b="0">
                <a:solidFill>
                  <a:srgbClr val="9AABC4"/>
                </a:solidFill>
                <a:latin typeface="Calibri"/>
              </a:rPr>
              <a:t>   1 min</a:t>
            </a:r>
          </a:p>
        </p:txBody>
      </p:sp>
      <p:sp>
        <p:nvSpPr>
          <p:cNvPr id="18" name="Rounded Rectangle 17"/>
          <p:cNvSpPr/>
          <p:nvPr/>
        </p:nvSpPr>
        <p:spPr>
          <a:xfrm>
            <a:off x="6172200" y="35661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12   </a:t>
            </a:r>
            <a:r>
              <a:rPr sz="1300" b="1">
                <a:solidFill>
                  <a:srgbClr val="EEF3FA"/>
                </a:solidFill>
                <a:latin typeface="Calibri"/>
              </a:rPr>
              <a:t>The minimum push</a:t>
            </a:r>
            <a:r>
              <a:rPr sz="1300" b="0">
                <a:solidFill>
                  <a:srgbClr val="9AABC4"/>
                </a:solidFill>
                <a:latin typeface="Calibri"/>
              </a:rPr>
              <a:t>   1 min</a:t>
            </a:r>
          </a:p>
        </p:txBody>
      </p:sp>
      <p:sp>
        <p:nvSpPr>
          <p:cNvPr id="19" name="Rounded Rectangle 18"/>
          <p:cNvSpPr/>
          <p:nvPr/>
        </p:nvSpPr>
        <p:spPr>
          <a:xfrm>
            <a:off x="6172200" y="40233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13   </a:t>
            </a:r>
            <a:r>
              <a:rPr sz="1300" b="1">
                <a:solidFill>
                  <a:srgbClr val="EEF3FA"/>
                </a:solidFill>
                <a:latin typeface="Calibri"/>
              </a:rPr>
              <a:t>Children's content</a:t>
            </a:r>
            <a:r>
              <a:rPr sz="1300" b="0">
                <a:solidFill>
                  <a:srgbClr val="9AABC4"/>
                </a:solidFill>
                <a:latin typeface="Calibri"/>
              </a:rPr>
              <a:t>   1 min</a:t>
            </a:r>
          </a:p>
        </p:txBody>
      </p:sp>
      <p:sp>
        <p:nvSpPr>
          <p:cNvPr id="20" name="Rounded Rectangle 19"/>
          <p:cNvSpPr/>
          <p:nvPr/>
        </p:nvSpPr>
        <p:spPr>
          <a:xfrm>
            <a:off x="6172200" y="44805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14   </a:t>
            </a:r>
            <a:r>
              <a:rPr sz="1300" b="1">
                <a:solidFill>
                  <a:srgbClr val="EEF3FA"/>
                </a:solidFill>
                <a:latin typeface="Calibri"/>
              </a:rPr>
              <a:t>Limits</a:t>
            </a:r>
            <a:r>
              <a:rPr sz="1300" b="0">
                <a:solidFill>
                  <a:srgbClr val="9AABC4"/>
                </a:solidFill>
                <a:latin typeface="Calibri"/>
              </a:rPr>
              <a:t>   0.5 min</a:t>
            </a:r>
          </a:p>
        </p:txBody>
      </p:sp>
      <p:sp>
        <p:nvSpPr>
          <p:cNvPr id="21" name="Rounded Rectangle 20"/>
          <p:cNvSpPr/>
          <p:nvPr/>
        </p:nvSpPr>
        <p:spPr>
          <a:xfrm>
            <a:off x="6172200" y="4937760"/>
            <a:ext cx="521208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F7A59"/>
                </a:solidFill>
                <a:latin typeface="Calibri"/>
              </a:rPr>
              <a:t>15   </a:t>
            </a:r>
            <a:r>
              <a:rPr sz="1300" b="1">
                <a:solidFill>
                  <a:srgbClr val="EEF3FA"/>
                </a:solidFill>
                <a:latin typeface="Calibri"/>
              </a:rPr>
              <a:t>Papers and requests</a:t>
            </a:r>
            <a:r>
              <a:rPr sz="1300" b="0">
                <a:solidFill>
                  <a:srgbClr val="9AABC4"/>
                </a:solidFill>
                <a:latin typeface="Calibri"/>
              </a:rPr>
              <a:t>   1.5 min</a:t>
            </a:r>
          </a:p>
        </p:txBody>
      </p:sp>
      <p:sp>
        <p:nvSpPr>
          <p:cNvPr id="22" name="TextBox 21"/>
          <p:cNvSpPr txBox="1"/>
          <p:nvPr/>
        </p:nvSpPr>
        <p:spPr>
          <a:xfrm>
            <a:off x="6172200" y="5532120"/>
            <a:ext cx="5303520" cy="365760"/>
          </a:xfrm>
          <a:prstGeom prst="rect">
            <a:avLst/>
          </a:prstGeom>
          <a:noFill/>
        </p:spPr>
        <p:txBody>
          <a:bodyPr wrap="square" anchor="t">
            <a:spAutoFit/>
          </a:bodyPr>
          <a:lstStyle/>
          <a:p>
            <a:pPr algn="l">
              <a:spcAft>
                <a:spcPts val="0"/>
              </a:spcAft>
            </a:pPr>
            <a:r>
              <a:rPr sz="1400" b="1" i="0">
                <a:solidFill>
                  <a:srgbClr val="F5B83D"/>
                </a:solidFill>
                <a:latin typeface="Calibri"/>
              </a:rPr>
              <a:t>Total about 16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01</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Title</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Good morning, Dr. Songa, and thank you for the time. I'll take you through the dissertation as it stands after your review: what I set out to do, the tools and steps, what we found, where the proposal turned out wrong, what the work cannot claim, and the three papers. About fifteen minutes, and I'll end with what I need from you.</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About 15 minutes in total</a:t>
            </a:r>
          </a:p>
          <a:p>
            <a:pPr algn="l">
              <a:spcAft>
                <a:spcPts val="1000"/>
              </a:spcAft>
            </a:pPr>
            <a:r>
              <a:rPr sz="1500" b="0" i="0">
                <a:solidFill>
                  <a:srgbClr val="EEF3FA"/>
                </a:solidFill>
                <a:latin typeface="Calibri"/>
              </a:rPr>
              <a:t>•  End with the four requests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02  ·  THE IDEA</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The question</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Here is the idea in one picture. Physicists model a group forming an opinion the same way they model tiny magnets lining up. Each arrow is a person, and people tend to copy those around them. Media is an outside push on everyone at once. In every study I read, the size of that push is simply chosen by the researcher. My question was: can we measure it from the content itself?</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h = the push from media</a:t>
            </a:r>
          </a:p>
          <a:p>
            <a:pPr algn="l">
              <a:spcAft>
                <a:spcPts val="1000"/>
              </a:spcAft>
            </a:pPr>
            <a:r>
              <a:rPr sz="1500" b="0" i="0">
                <a:solidFill>
                  <a:srgbClr val="EEF3FA"/>
                </a:solidFill>
                <a:latin typeface="Calibri"/>
              </a:rPr>
              <a:t>•  J = how much people copy each other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03  ·  THE IDEA</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Plan vs reality</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Before the results, I want to be upfront about what changed from the proposal. Five assumptions turned out differently once we tested the tools. The biggest: we planned to measure the amygdala, the brain's alarm centre, but the model only predicts the brain's outer surface. So we used emotion-linked and reasoning-linked areas on the surface instead. All of this is in the amendment you approved.</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5 changes, all in the approved amendment</a:t>
            </a:r>
          </a:p>
          <a:p>
            <a:pPr algn="l">
              <a:spcAft>
                <a:spcPts val="1000"/>
              </a:spcAft>
            </a:pPr>
            <a:r>
              <a:rPr sz="1500" b="0" i="0">
                <a:solidFill>
                  <a:srgbClr val="EEF3FA"/>
                </a:solidFill>
                <a:latin typeface="Calibri"/>
              </a:rPr>
              <a:t>•  Ratio broke for 69 of 400 articles</a:t>
            </a:r>
          </a:p>
          <a:p>
            <a:pPr algn="l">
              <a:spcAft>
                <a:spcPts val="1000"/>
              </a:spcAft>
            </a:pPr>
            <a:r>
              <a:rPr sz="1500" b="0" i="0">
                <a:solidFill>
                  <a:srgbClr val="EEF3FA"/>
                </a:solidFill>
                <a:latin typeface="Calibri"/>
              </a:rPr>
              <a:t>•  Two physics coefficients corrected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04  ·  THE METHOD</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Tools</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These are the tools. The main one is TRIBE v2, published by Meta's research lab. It learned from brain scans of adult volunteers watching TV and films, and it predicts how a typical brain would respond to new content. Because it was built on people listening, we read each article aloud first. Nobody was scanned in this project. Every brain value you'll see is a prediction.</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TRIBE v2: Meta, 2025</a:t>
            </a:r>
          </a:p>
          <a:p>
            <a:pPr algn="l">
              <a:spcAft>
                <a:spcPts val="1000"/>
              </a:spcAft>
            </a:pPr>
            <a:r>
              <a:rPr sz="1500" b="0" i="0">
                <a:solidFill>
                  <a:srgbClr val="EEF3FA"/>
                </a:solidFill>
                <a:latin typeface="Calibri"/>
              </a:rPr>
              <a:t>•  About 70 seconds per article on a P100</a:t>
            </a:r>
          </a:p>
          <a:p>
            <a:pPr algn="l">
              <a:spcAft>
                <a:spcPts val="1000"/>
              </a:spcAft>
            </a:pPr>
            <a:r>
              <a:rPr sz="1500" b="0" i="0">
                <a:solidFill>
                  <a:srgbClr val="EEF3FA"/>
                </a:solidFill>
                <a:latin typeface="Calibri"/>
              </a:rPr>
              <a:t>•  No person was scanned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05  ·  THE METHOD</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Process</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This is the whole process for one article. It's turned into speech, the timing of each word is marked, and the model predicts activity at 20,484 points across the brain's surface. We average 1,030 points in areas linked to emotion and 851 in areas linked to careful reasoning. The score is emotion minus reasoning. Above zero, emotion leads. Below zero, reasoning leads.</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20,484 points on the brain surface</a:t>
            </a:r>
          </a:p>
          <a:p>
            <a:pPr algn="l">
              <a:spcAft>
                <a:spcPts val="1000"/>
              </a:spcAft>
            </a:pPr>
            <a:r>
              <a:rPr sz="1500" b="0" i="0">
                <a:solidFill>
                  <a:srgbClr val="EEF3FA"/>
                </a:solidFill>
                <a:latin typeface="Calibri"/>
              </a:rPr>
              <a:t>•  1,030 emotion, 851 reasoning</a:t>
            </a:r>
          </a:p>
          <a:p>
            <a:pPr algn="l">
              <a:spcAft>
                <a:spcPts val="1000"/>
              </a:spcAft>
            </a:pPr>
            <a:r>
              <a:rPr sz="1500" b="0" i="0">
                <a:solidFill>
                  <a:srgbClr val="EEF3FA"/>
                </a:solidFill>
                <a:latin typeface="Calibri"/>
              </a:rPr>
              <a:t>•  Score = emotion minus reasoning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06  ·  THE METHOD</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The articles</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We scored 400 articles from four public collections, 100 each: fear-driven fake news, outrage-style partisan news, clickbait, and neutral writing. We matched their lengths so no group wins by being longer, and we worked out before scanning that 400 was enough to see a small effect. Then we ran every article twice.</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4 groups x 100 articles</a:t>
            </a:r>
          </a:p>
          <a:p>
            <a:pPr algn="l">
              <a:spcAft>
                <a:spcPts val="1000"/>
              </a:spcAft>
            </a:pPr>
            <a:r>
              <a:rPr sz="1500" b="0" i="0">
                <a:solidFill>
                  <a:srgbClr val="EEF3FA"/>
                </a:solidFill>
                <a:latin typeface="Calibri"/>
              </a:rPr>
              <a:t>•  About 164 words each</a:t>
            </a:r>
          </a:p>
          <a:p>
            <a:pPr algn="l">
              <a:spcAft>
                <a:spcPts val="1000"/>
              </a:spcAft>
            </a:pPr>
            <a:r>
              <a:rPr sz="1500" b="0" i="0">
                <a:solidFill>
                  <a:srgbClr val="EEF3FA"/>
                </a:solidFill>
                <a:latin typeface="Calibri"/>
              </a:rPr>
              <a:t>•  Smallest detectable effect 0.027</a:t>
            </a:r>
          </a:p>
          <a:p>
            <a:pPr algn="l">
              <a:spcAft>
                <a:spcPts val="1000"/>
              </a:spcAft>
            </a:pPr>
            <a:r>
              <a:rPr sz="1500" b="0" i="0">
                <a:solidFill>
                  <a:srgbClr val="EEF3FA"/>
                </a:solidFill>
                <a:latin typeface="Calibri"/>
              </a:rPr>
              <a:t>•  Every article scanned twice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07  ·  THE RESULTS</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Groups differ</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First result: the four groups really do differ. The number is eta squared, 0.107. In plain terms, about 11 percent of the differences between articles line up with their group. The rest is article-to-article variation, because the groups overlap a lot. The chance of this being luck is about one in a billion, and the second run gave 0.089, so it held.</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0.107 = about 11% explained by group</a:t>
            </a:r>
          </a:p>
          <a:p>
            <a:pPr algn="l">
              <a:spcAft>
                <a:spcPts val="1000"/>
              </a:spcAft>
            </a:pPr>
            <a:r>
              <a:rPr sz="1500" b="0" i="0">
                <a:solidFill>
                  <a:srgbClr val="EEF3FA"/>
                </a:solidFill>
                <a:latin typeface="Calibri"/>
              </a:rPr>
              <a:t>•  p = about 1 in a billion</a:t>
            </a:r>
          </a:p>
          <a:p>
            <a:pPr algn="l">
              <a:spcAft>
                <a:spcPts val="1000"/>
              </a:spcAft>
            </a:pPr>
            <a:r>
              <a:rPr sz="1500" b="0" i="0">
                <a:solidFill>
                  <a:srgbClr val="EEF3FA"/>
                </a:solidFill>
                <a:latin typeface="Calibri"/>
              </a:rPr>
              <a:t>•  Second run 0.089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08  ·  THE RESULTS</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Which group</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Which group drives it? Fear. Compared with neutral articles, fear-driven ones differ by 0.94, which counts as large. Clickbait is small. Outrage barely moves, which surprised us, because the proposal expected it to be strongest. Looking closer, outrage raises both the emotion and the reasoning areas by about the same amount, so the gap between them stays flat.</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Fear 0.94 (large)</a:t>
            </a:r>
          </a:p>
          <a:p>
            <a:pPr algn="l">
              <a:spcAft>
                <a:spcPts val="1000"/>
              </a:spcAft>
            </a:pPr>
            <a:r>
              <a:rPr sz="1500" b="0" i="0">
                <a:solidFill>
                  <a:srgbClr val="EEF3FA"/>
                </a:solidFill>
                <a:latin typeface="Calibri"/>
              </a:rPr>
              <a:t>•  Clickbait 0.32 (small)</a:t>
            </a:r>
          </a:p>
          <a:p>
            <a:pPr algn="l">
              <a:spcAft>
                <a:spcPts val="1000"/>
              </a:spcAft>
            </a:pPr>
            <a:r>
              <a:rPr sz="1500" b="0" i="0">
                <a:solidFill>
                  <a:srgbClr val="EEF3FA"/>
                </a:solidFill>
                <a:latin typeface="Calibri"/>
              </a:rPr>
              <a:t>•  Outrage 0.03: both areas rise, 0.51 and 0.49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09  ·  THE RESULTS</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Repeatable?</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Can we trust the score? We ran all 400 articles twice. Agreement between runs is 0.87, where 1 means identical, so it's high. It isn't perfect because the speech voice and the computer's arithmetic vary slightly. 51 articles flipped sign. Noise alone predicts about 55, and those articles all sit near zero. So we only make claims about groups, never one article.</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Agreement 0.87 (1 = identical)</a:t>
            </a:r>
          </a:p>
          <a:p>
            <a:pPr algn="l">
              <a:spcAft>
                <a:spcPts val="1000"/>
              </a:spcAft>
            </a:pPr>
            <a:r>
              <a:rPr sz="1500" b="0" i="0">
                <a:solidFill>
                  <a:srgbClr val="EEF3FA"/>
                </a:solidFill>
                <a:latin typeface="Calibri"/>
              </a:rPr>
              <a:t>•  51 flipped, about 55 expected (44 to 67)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10  ·  THE RESULTS</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Honest check</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Now the most important honest check. Simple word counting sorted manipulative from neutral articles far better than our score: 0.98 against 0.63, where 0.5 is a coin toss. The reason is that each group came from a different source, and the words give the source away. So we can't say the differences come from writing style alone. Our score is a measurement for the physics, not a manipulation detector.</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Word counting 0.98, ours 0.63, sentiment 0.54</a:t>
            </a:r>
          </a:p>
          <a:p>
            <a:pPr algn="l">
              <a:spcAft>
                <a:spcPts val="1000"/>
              </a:spcAft>
            </a:pPr>
            <a:r>
              <a:rPr sz="1500" b="0" i="0">
                <a:solidFill>
                  <a:srgbClr val="EEF3FA"/>
                </a:solidFill>
                <a:latin typeface="Calibri"/>
              </a:rPr>
              <a:t>•  0.5 = coin toss</a:t>
            </a:r>
          </a:p>
          <a:p>
            <a:pPr algn="l">
              <a:spcAft>
                <a:spcPts val="1000"/>
              </a:spcAft>
            </a:pPr>
            <a:r>
              <a:rPr sz="1500" b="0" i="0">
                <a:solidFill>
                  <a:srgbClr val="EEF3FA"/>
                </a:solidFill>
                <a:latin typeface="Calibri"/>
              </a:rPr>
              <a:t>•  Source guessed 66% of the time vs 25% by chance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11  ·  THE RESULTS</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Real brains</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Does the brain model match real brains at all? A company audit claimed it was the opposite of real brain data, so we tested it on public scans of people watching the show Friends. Real people's brains agree with each other at 0.152, the best any model can reach. On a two-minute clip the model scored 0.028, against a best possible of 0.096 on that clip. Weak, but positive. We also found and fixed three hidden bugs. This is Paper 3.</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Best possible 0.152 (full episode)</a:t>
            </a:r>
          </a:p>
          <a:p>
            <a:pPr algn="l">
              <a:spcAft>
                <a:spcPts val="1000"/>
              </a:spcAft>
            </a:pPr>
            <a:r>
              <a:rPr sz="1500" b="0" i="0">
                <a:solidFill>
                  <a:srgbClr val="EEF3FA"/>
                </a:solidFill>
                <a:latin typeface="Calibri"/>
              </a:rPr>
              <a:t>•  Model 0.028 vs 0.096 on the 2-minute clip</a:t>
            </a:r>
          </a:p>
          <a:p>
            <a:pPr algn="l">
              <a:spcAft>
                <a:spcPts val="1000"/>
              </a:spcAft>
            </a:pPr>
            <a:r>
              <a:rPr sz="1500" b="0" i="0">
                <a:solidFill>
                  <a:srgbClr val="EEF3FA"/>
                </a:solidFill>
                <a:latin typeface="Calibri"/>
              </a:rPr>
              <a:t>•  p = 0.048</a:t>
            </a:r>
          </a:p>
          <a:p>
            <a:pPr algn="l">
              <a:spcAft>
                <a:spcPts val="1000"/>
              </a:spcAft>
            </a:pPr>
            <a:r>
              <a:rPr sz="1500" b="0" i="0">
                <a:solidFill>
                  <a:srgbClr val="EEF3FA"/>
                </a:solidFill>
                <a:latin typeface="Calibri"/>
              </a:rPr>
              <a:t>•  3 bugs found and fixed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12  ·  THE PHYSICS</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The minimum push</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Here is the physics result. Media's push equals our score times a strength called alpha. We couldn't measure alpha from the data, so we don't quote one. Instead we asked: how big must alpha be for media alone to flip a majority? With our scores spread over 0.124, the answer is at least 4.29 when people copy each other strongly. Any future claim that content like this flips opinion has to clear that bar.</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Spread of scores 0.124 (-0.070 to +0.054)</a:t>
            </a:r>
          </a:p>
          <a:p>
            <a:pPr algn="l">
              <a:spcAft>
                <a:spcPts val="1000"/>
              </a:spcAft>
            </a:pPr>
            <a:r>
              <a:rPr sz="1500" b="0" i="0">
                <a:solidFill>
                  <a:srgbClr val="EEF3FA"/>
                </a:solidFill>
                <a:latin typeface="Calibri"/>
              </a:rPr>
              <a:t>•  Alpha at least 4.29 at copying strength 2</a:t>
            </a:r>
          </a:p>
          <a:p>
            <a:pPr algn="l">
              <a:spcAft>
                <a:spcPts val="1000"/>
              </a:spcAft>
            </a:pPr>
            <a:r>
              <a:rPr sz="1500" b="0" i="0">
                <a:solidFill>
                  <a:srgbClr val="EEF3FA"/>
                </a:solidFill>
                <a:latin typeface="Calibri"/>
              </a:rPr>
              <a:t>•  No value of alpha is claimed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13  ·  WHAT'S NEXT</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Children's content</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At my first presentation I was asked whether this could analyse any content, even what children watch. Technically, yes: the pipeline takes video and audio, so it could score a cartoon or an advert. But the model learned from adult brains, and children's brains are still developing, so it can't say how a child reacts. We also only tested news text. For children, we'd need child brain data and ethics approval first.</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Can: video and audio, groups of content</a:t>
            </a:r>
          </a:p>
          <a:p>
            <a:pPr algn="l">
              <a:spcAft>
                <a:spcPts val="1000"/>
              </a:spcAft>
            </a:pPr>
            <a:r>
              <a:rPr sz="1500" b="0" i="0">
                <a:solidFill>
                  <a:srgbClr val="EEF3FA"/>
                </a:solidFill>
                <a:latin typeface="Calibri"/>
              </a:rPr>
              <a:t>•  Cannot: adult-trained model, 1 in 8 items flip</a:t>
            </a:r>
          </a:p>
          <a:p>
            <a:pPr algn="l">
              <a:spcAft>
                <a:spcPts val="1000"/>
              </a:spcAft>
            </a:pPr>
            <a:r>
              <a:rPr sz="1500" b="0" i="0">
                <a:solidFill>
                  <a:srgbClr val="EEF3FA"/>
                </a:solidFill>
                <a:latin typeface="Calibri"/>
              </a:rPr>
              <a:t>•  Needs: child data and ethics approval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14  ·  WHAT'S NEXT</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Limits</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To be clear about the limits: every brain value is a prediction, not a scan. Group and source are mixed together in this dataset. The model can't see deep areas like the amygdala. We couldn't measure alpha. And the check against real brains used only two minutes of video. Each is stated in the thesis, and each points to the next piece of work.</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5 limits, each stated in the 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SLIDE 15  ·  WHAT'S NEXT</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800" b="1" i="0">
                <a:solidFill>
                  <a:srgbClr val="7CC4FF"/>
                </a:solidFill>
                <a:latin typeface="Calibri"/>
              </a:rPr>
              <a:t>Papers and requests</a:t>
            </a:r>
          </a:p>
        </p:txBody>
      </p:sp>
      <p:sp>
        <p:nvSpPr>
          <p:cNvPr id="6" name="Rounded Rectangle 5"/>
          <p:cNvSpPr/>
          <p:nvPr/>
        </p:nvSpPr>
        <p:spPr>
          <a:xfrm>
            <a:off x="685800" y="1325880"/>
            <a:ext cx="7406640" cy="4663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74320" bIns="109728"/>
          <a:lstStyle/>
          <a:p>
            <a:pPr algn="l">
              <a:spcAft>
                <a:spcPts val="800"/>
              </a:spcAft>
            </a:pPr>
            <a:r>
              <a:rPr sz="1100" b="1" i="0">
                <a:solidFill>
                  <a:srgbClr val="9AABC4"/>
                </a:solidFill>
                <a:latin typeface="Calibri"/>
              </a:rPr>
              <a:t>SAY</a:t>
            </a:r>
          </a:p>
          <a:p>
            <a:pPr algn="l">
              <a:spcAft>
                <a:spcPts val="0"/>
              </a:spcAft>
            </a:pPr>
            <a:r>
              <a:rPr sz="1900" b="0" i="0">
                <a:solidFill>
                  <a:srgbClr val="EEF3FA"/>
                </a:solidFill>
                <a:latin typeface="Calibri"/>
              </a:rPr>
              <a:t>Three papers come out of this. Paper 1 is pure physics: the minimum-push rule, no brain data needed. Paper 2 is the measuring tool and the 400 articles, including the word-counting comparison. Paper 3 is the check against real brains. The dissertation comes first. I'd like any corrections you need, your signature on the declaration page, and clearance for the library by Thursday. And I'd like to ask about co-authorship on the papers.</a:t>
            </a:r>
          </a:p>
        </p:txBody>
      </p:sp>
      <p:sp>
        <p:nvSpPr>
          <p:cNvPr id="7" name="Rounded Rectangle 6"/>
          <p:cNvSpPr/>
          <p:nvPr/>
        </p:nvSpPr>
        <p:spPr>
          <a:xfrm>
            <a:off x="8321040" y="1325880"/>
            <a:ext cx="3182112" cy="4663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74320" bIns="109728"/>
          <a:lstStyle/>
          <a:p>
            <a:pPr algn="l">
              <a:spcAft>
                <a:spcPts val="1000"/>
              </a:spcAft>
            </a:pPr>
            <a:r>
              <a:rPr sz="1100" b="1" i="0">
                <a:solidFill>
                  <a:srgbClr val="F5B83D"/>
                </a:solidFill>
                <a:latin typeface="Calibri"/>
              </a:rPr>
              <a:t>NUMBERS TO SAY</a:t>
            </a:r>
          </a:p>
          <a:p>
            <a:pPr algn="l">
              <a:spcAft>
                <a:spcPts val="1000"/>
              </a:spcAft>
            </a:pPr>
            <a:r>
              <a:rPr sz="1500" b="0" i="0">
                <a:solidFill>
                  <a:srgbClr val="EEF3FA"/>
                </a:solidFill>
                <a:latin typeface="Calibri"/>
              </a:rPr>
              <a:t>•  Bound copy to the library by Thu 24 Sep</a:t>
            </a:r>
          </a:p>
          <a:p>
            <a:pPr algn="l">
              <a:spcAft>
                <a:spcPts val="1000"/>
              </a:spcAft>
            </a:pPr>
            <a:r>
              <a:rPr sz="1500" b="0" i="0">
                <a:solidFill>
                  <a:srgbClr val="EEF3FA"/>
                </a:solidFill>
                <a:latin typeface="Calibri"/>
              </a:rPr>
              <a:t>•  Graduation clearance by Mon 28 Sep</a:t>
            </a:r>
          </a:p>
          <a:p>
            <a:pPr algn="l">
              <a:spcAft>
                <a:spcPts val="1000"/>
              </a:spcAft>
            </a:pPr>
            <a:r>
              <a:rPr sz="1500" b="0" i="0">
                <a:solidFill>
                  <a:srgbClr val="EEF3FA"/>
                </a:solidFill>
                <a:latin typeface="Calibri"/>
              </a:rPr>
              <a:t>•  Ask about co-authorship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LIKELY QUESTIONS  1 of 6</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200" b="1" i="0">
                <a:solidFill>
                  <a:srgbClr val="7CC4FF"/>
                </a:solidFill>
                <a:latin typeface="Calibri"/>
              </a:rPr>
              <a:t>Many of these grow out of the first presentation's question about children's content</a:t>
            </a:r>
          </a:p>
        </p:txBody>
      </p:sp>
      <p:sp>
        <p:nvSpPr>
          <p:cNvPr id="6" name="Rounded Rectangle 5"/>
          <p:cNvSpPr/>
          <p:nvPr/>
        </p:nvSpPr>
        <p:spPr>
          <a:xfrm>
            <a:off x="685800" y="1417320"/>
            <a:ext cx="10820095" cy="21488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Q1   </a:t>
            </a:r>
            <a:r>
              <a:rPr sz="2000" b="1">
                <a:solidFill>
                  <a:srgbClr val="EEF3FA"/>
                </a:solidFill>
                <a:latin typeface="Calibri"/>
              </a:rPr>
              <a:t>Can this analyse any content, even what children watch?</a:t>
            </a:r>
          </a:p>
          <a:p>
            <a:pPr algn="l">
              <a:spcAft>
                <a:spcPts val="0"/>
              </a:spcAft>
            </a:pPr>
            <a:r>
              <a:rPr sz="1700" b="1">
                <a:solidFill>
                  <a:srgbClr val="5FD09A"/>
                </a:solidFill>
                <a:latin typeface="Calibri"/>
              </a:rPr>
              <a:t>A   </a:t>
            </a:r>
            <a:r>
              <a:rPr sz="1700" b="0">
                <a:solidFill>
                  <a:srgbClr val="EEF3FA"/>
                </a:solidFill>
                <a:latin typeface="Calibri"/>
              </a:rPr>
              <a:t>Technically it can score video and audio, not only text. But the model learned from adult brains, so it can't tell us how a child reacts, and we only tested news text. It would need child brain data and ethics approval first.</a:t>
            </a:r>
          </a:p>
        </p:txBody>
      </p:sp>
      <p:sp>
        <p:nvSpPr>
          <p:cNvPr id="7" name="Rounded Rectangle 6"/>
          <p:cNvSpPr/>
          <p:nvPr/>
        </p:nvSpPr>
        <p:spPr>
          <a:xfrm>
            <a:off x="685800" y="3749039"/>
            <a:ext cx="10820095" cy="21488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Q2   </a:t>
            </a:r>
            <a:r>
              <a:rPr sz="2000" b="1">
                <a:solidFill>
                  <a:srgbClr val="EEF3FA"/>
                </a:solidFill>
                <a:latin typeface="Calibri"/>
              </a:rPr>
              <a:t>Could a parent or a regulator use it to rate one show?</a:t>
            </a:r>
          </a:p>
          <a:p>
            <a:pPr algn="l">
              <a:spcAft>
                <a:spcPts val="0"/>
              </a:spcAft>
            </a:pPr>
            <a:r>
              <a:rPr sz="1700" b="1">
                <a:solidFill>
                  <a:srgbClr val="5FD09A"/>
                </a:solidFill>
                <a:latin typeface="Calibri"/>
              </a:rPr>
              <a:t>A   </a:t>
            </a:r>
            <a:r>
              <a:rPr sz="1700" b="0">
                <a:solidFill>
                  <a:srgbClr val="EEF3FA"/>
                </a:solidFill>
                <a:latin typeface="Calibri"/>
              </a:rPr>
              <a:t>Not yet. About 1 in 8 items flip between runs, so a single score isn't reliable. It's only trustworthy for comparing groups of content, and not for children until it has been tested on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LIKELY QUESTIONS  2 of 6</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200" b="1" i="0">
                <a:solidFill>
                  <a:srgbClr val="7CC4FF"/>
                </a:solidFill>
                <a:latin typeface="Calibri"/>
              </a:rPr>
              <a:t>Many of these grow out of the first presentation's question about children's content</a:t>
            </a:r>
          </a:p>
        </p:txBody>
      </p:sp>
      <p:sp>
        <p:nvSpPr>
          <p:cNvPr id="6" name="Rounded Rectangle 5"/>
          <p:cNvSpPr/>
          <p:nvPr/>
        </p:nvSpPr>
        <p:spPr>
          <a:xfrm>
            <a:off x="685800" y="1417320"/>
            <a:ext cx="10820095" cy="21488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Q3   </a:t>
            </a:r>
            <a:r>
              <a:rPr sz="2000" b="1">
                <a:solidFill>
                  <a:srgbClr val="EEF3FA"/>
                </a:solidFill>
                <a:latin typeface="Calibri"/>
              </a:rPr>
              <a:t>Was anyone scanned? Is it reading people's minds?</a:t>
            </a:r>
          </a:p>
          <a:p>
            <a:pPr algn="l">
              <a:spcAft>
                <a:spcPts val="0"/>
              </a:spcAft>
            </a:pPr>
            <a:r>
              <a:rPr sz="1700" b="1">
                <a:solidFill>
                  <a:srgbClr val="5FD09A"/>
                </a:solidFill>
                <a:latin typeface="Calibri"/>
              </a:rPr>
              <a:t>A   </a:t>
            </a:r>
            <a:r>
              <a:rPr sz="1700" b="0">
                <a:solidFill>
                  <a:srgbClr val="EEF3FA"/>
                </a:solidFill>
                <a:latin typeface="Calibri"/>
              </a:rPr>
              <a:t>No. Nobody was scanned. The scores are predictions from a published model of a typical adult brain. The tool rates content, not people, and knows nothing about any individual.</a:t>
            </a:r>
          </a:p>
        </p:txBody>
      </p:sp>
      <p:sp>
        <p:nvSpPr>
          <p:cNvPr id="7" name="Rounded Rectangle 6"/>
          <p:cNvSpPr/>
          <p:nvPr/>
        </p:nvSpPr>
        <p:spPr>
          <a:xfrm>
            <a:off x="685800" y="3749039"/>
            <a:ext cx="10820095" cy="21488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Q4   </a:t>
            </a:r>
            <a:r>
              <a:rPr sz="2000" b="1">
                <a:solidFill>
                  <a:srgbClr val="EEF3FA"/>
                </a:solidFill>
                <a:latin typeface="Calibri"/>
              </a:rPr>
              <a:t>Could someone use it to make content more manipulative?</a:t>
            </a:r>
          </a:p>
          <a:p>
            <a:pPr algn="l">
              <a:spcAft>
                <a:spcPts val="0"/>
              </a:spcAft>
            </a:pPr>
            <a:r>
              <a:rPr sz="1700" b="1">
                <a:solidFill>
                  <a:srgbClr val="5FD09A"/>
                </a:solidFill>
                <a:latin typeface="Calibri"/>
              </a:rPr>
              <a:t>A   </a:t>
            </a:r>
            <a:r>
              <a:rPr sz="1700" b="0">
                <a:solidFill>
                  <a:srgbClr val="EEF3FA"/>
                </a:solidFill>
                <a:latin typeface="Calibri"/>
              </a:rPr>
              <a:t>That's a real risk with any measurement of content. That's why it's framed as a research measurement, reports only group results, and the model's licence allows non-commercial research only.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LIKELY QUESTIONS  3 of 6</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200" b="1" i="0">
                <a:solidFill>
                  <a:srgbClr val="7CC4FF"/>
                </a:solidFill>
                <a:latin typeface="Calibri"/>
              </a:rPr>
              <a:t>Many of these grow out of the first presentation's question about children's content</a:t>
            </a:r>
          </a:p>
        </p:txBody>
      </p:sp>
      <p:sp>
        <p:nvSpPr>
          <p:cNvPr id="6" name="Rounded Rectangle 5"/>
          <p:cNvSpPr/>
          <p:nvPr/>
        </p:nvSpPr>
        <p:spPr>
          <a:xfrm>
            <a:off x="685800" y="1417320"/>
            <a:ext cx="10820095" cy="21488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Q5   </a:t>
            </a:r>
            <a:r>
              <a:rPr sz="2000" b="1">
                <a:solidFill>
                  <a:srgbClr val="EEF3FA"/>
                </a:solidFill>
                <a:latin typeface="Calibri"/>
              </a:rPr>
              <a:t>If word counting does better, why not use that?</a:t>
            </a:r>
          </a:p>
          <a:p>
            <a:pPr algn="l">
              <a:spcAft>
                <a:spcPts val="0"/>
              </a:spcAft>
            </a:pPr>
            <a:r>
              <a:rPr sz="1700" b="1">
                <a:solidFill>
                  <a:srgbClr val="5FD09A"/>
                </a:solidFill>
                <a:latin typeface="Calibri"/>
              </a:rPr>
              <a:t>A   </a:t>
            </a:r>
            <a:r>
              <a:rPr sz="1700" b="0">
                <a:solidFill>
                  <a:srgbClr val="EEF3FA"/>
                </a:solidFill>
                <a:latin typeface="Calibri"/>
              </a:rPr>
              <a:t>Word counting answers a different question: it mostly learns which source an article came from. Our score is meant to be the push in the opinion model. The comparison is there to be honest about what the score is not.</a:t>
            </a:r>
          </a:p>
        </p:txBody>
      </p:sp>
      <p:sp>
        <p:nvSpPr>
          <p:cNvPr id="7" name="Rounded Rectangle 6"/>
          <p:cNvSpPr/>
          <p:nvPr/>
        </p:nvSpPr>
        <p:spPr>
          <a:xfrm>
            <a:off x="685800" y="3749039"/>
            <a:ext cx="10820095" cy="21488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Q6   </a:t>
            </a:r>
            <a:r>
              <a:rPr sz="2000" b="1">
                <a:solidFill>
                  <a:srgbClr val="EEF3FA"/>
                </a:solidFill>
                <a:latin typeface="Calibri"/>
              </a:rPr>
              <a:t>Why read the articles aloud?</a:t>
            </a:r>
          </a:p>
          <a:p>
            <a:pPr algn="l">
              <a:spcAft>
                <a:spcPts val="0"/>
              </a:spcAft>
            </a:pPr>
            <a:r>
              <a:rPr sz="1700" b="1">
                <a:solidFill>
                  <a:srgbClr val="5FD09A"/>
                </a:solidFill>
                <a:latin typeface="Calibri"/>
              </a:rPr>
              <a:t>A   </a:t>
            </a:r>
            <a:r>
              <a:rPr sz="1700" b="0">
                <a:solidFill>
                  <a:srgbClr val="EEF3FA"/>
                </a:solidFill>
                <a:latin typeface="Calibri"/>
              </a:rPr>
              <a:t>The model was trained on people watching and listening, so it expects speech with word timings. Reading aloud puts the article in the form the model understands.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LIKELY QUESTIONS  4 of 6</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200" b="1" i="0">
                <a:solidFill>
                  <a:srgbClr val="7CC4FF"/>
                </a:solidFill>
                <a:latin typeface="Calibri"/>
              </a:rPr>
              <a:t>Many of these grow out of the first presentation's question about children's content</a:t>
            </a:r>
          </a:p>
        </p:txBody>
      </p:sp>
      <p:sp>
        <p:nvSpPr>
          <p:cNvPr id="6" name="Rounded Rectangle 5"/>
          <p:cNvSpPr/>
          <p:nvPr/>
        </p:nvSpPr>
        <p:spPr>
          <a:xfrm>
            <a:off x="685800" y="1417320"/>
            <a:ext cx="10820095" cy="21488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Q7   </a:t>
            </a:r>
            <a:r>
              <a:rPr sz="2000" b="1">
                <a:solidFill>
                  <a:srgbClr val="EEF3FA"/>
                </a:solidFill>
                <a:latin typeface="Calibri"/>
              </a:rPr>
              <a:t>Why no amygdala, when the proposal named it?</a:t>
            </a:r>
          </a:p>
          <a:p>
            <a:pPr algn="l">
              <a:spcAft>
                <a:spcPts val="0"/>
              </a:spcAft>
            </a:pPr>
            <a:r>
              <a:rPr sz="1700" b="1">
                <a:solidFill>
                  <a:srgbClr val="5FD09A"/>
                </a:solidFill>
                <a:latin typeface="Calibri"/>
              </a:rPr>
              <a:t>A   </a:t>
            </a:r>
            <a:r>
              <a:rPr sz="1700" b="0">
                <a:solidFill>
                  <a:srgbClr val="EEF3FA"/>
                </a:solidFill>
                <a:latin typeface="Calibri"/>
              </a:rPr>
              <a:t>The released model only predicts the brain's outer surface. The amygdala sits deep inside, so we can't measure it and make no claim about it. We used surface areas linked to emotion instead.</a:t>
            </a:r>
          </a:p>
        </p:txBody>
      </p:sp>
      <p:sp>
        <p:nvSpPr>
          <p:cNvPr id="7" name="Rounded Rectangle 6"/>
          <p:cNvSpPr/>
          <p:nvPr/>
        </p:nvSpPr>
        <p:spPr>
          <a:xfrm>
            <a:off x="685800" y="3749039"/>
            <a:ext cx="10820095" cy="21488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Q8   </a:t>
            </a:r>
            <a:r>
              <a:rPr sz="2000" b="1">
                <a:solidFill>
                  <a:srgbClr val="EEF3FA"/>
                </a:solidFill>
                <a:latin typeface="Calibri"/>
              </a:rPr>
              <a:t>What would it take to work for children's media?</a:t>
            </a:r>
          </a:p>
          <a:p>
            <a:pPr algn="l">
              <a:spcAft>
                <a:spcPts val="0"/>
              </a:spcAft>
            </a:pPr>
            <a:r>
              <a:rPr sz="1700" b="1">
                <a:solidFill>
                  <a:srgbClr val="5FD09A"/>
                </a:solidFill>
                <a:latin typeface="Calibri"/>
              </a:rPr>
              <a:t>A   </a:t>
            </a:r>
            <a:r>
              <a:rPr sz="1700" b="0">
                <a:solidFill>
                  <a:srgbClr val="EEF3FA"/>
                </a:solidFill>
                <a:latin typeface="Calibri"/>
              </a:rPr>
              <a:t>Brain scans from children collected with ethics approval and consent, a test set of children's videos, content where source and type are mixed, and a longer check against real brains.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LIKELY QUESTIONS  5 of 6</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200" b="1" i="0">
                <a:solidFill>
                  <a:srgbClr val="7CC4FF"/>
                </a:solidFill>
                <a:latin typeface="Calibri"/>
              </a:rPr>
              <a:t>Many of these grow out of the first presentation's question about children's content</a:t>
            </a:r>
          </a:p>
        </p:txBody>
      </p:sp>
      <p:sp>
        <p:nvSpPr>
          <p:cNvPr id="6" name="Rounded Rectangle 5"/>
          <p:cNvSpPr/>
          <p:nvPr/>
        </p:nvSpPr>
        <p:spPr>
          <a:xfrm>
            <a:off x="685800" y="1417320"/>
            <a:ext cx="10820095" cy="21488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Q9   </a:t>
            </a:r>
            <a:r>
              <a:rPr sz="2000" b="1">
                <a:solidFill>
                  <a:srgbClr val="EEF3FA"/>
                </a:solidFill>
                <a:latin typeface="Calibri"/>
              </a:rPr>
              <a:t>Why is this a physics project?</a:t>
            </a:r>
          </a:p>
          <a:p>
            <a:pPr algn="l">
              <a:spcAft>
                <a:spcPts val="0"/>
              </a:spcAft>
            </a:pPr>
            <a:r>
              <a:rPr sz="1700" b="1">
                <a:solidFill>
                  <a:srgbClr val="5FD09A"/>
                </a:solidFill>
                <a:latin typeface="Calibri"/>
              </a:rPr>
              <a:t>A   </a:t>
            </a:r>
            <a:r>
              <a:rPr sz="1700" b="0">
                <a:solidFill>
                  <a:srgbClr val="EEF3FA"/>
                </a:solidFill>
                <a:latin typeface="Calibri"/>
              </a:rPr>
              <a:t>The opinion model is statistical physics, the same maths as magnets lining up. The contribution is measuring the push in that model and working out the minimum strength it needs. The brain model is the measuring tool.</a:t>
            </a:r>
          </a:p>
        </p:txBody>
      </p:sp>
      <p:sp>
        <p:nvSpPr>
          <p:cNvPr id="7" name="Rounded Rectangle 6"/>
          <p:cNvSpPr/>
          <p:nvPr/>
        </p:nvSpPr>
        <p:spPr>
          <a:xfrm>
            <a:off x="685800" y="3749039"/>
            <a:ext cx="10820095" cy="21488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Q10   </a:t>
            </a:r>
            <a:r>
              <a:rPr sz="2000" b="1">
                <a:solidFill>
                  <a:srgbClr val="EEF3FA"/>
                </a:solidFill>
                <a:latin typeface="Calibri"/>
              </a:rPr>
              <a:t>What does 'alpha at least 4.29' mean in practice?</a:t>
            </a:r>
          </a:p>
          <a:p>
            <a:pPr algn="l">
              <a:spcAft>
                <a:spcPts val="0"/>
              </a:spcAft>
            </a:pPr>
            <a:r>
              <a:rPr sz="1700" b="1">
                <a:solidFill>
                  <a:srgbClr val="5FD09A"/>
                </a:solidFill>
                <a:latin typeface="Calibri"/>
              </a:rPr>
              <a:t>A   </a:t>
            </a:r>
            <a:r>
              <a:rPr sz="1700" b="0">
                <a:solidFill>
                  <a:srgbClr val="EEF3FA"/>
                </a:solidFill>
                <a:latin typeface="Calibri"/>
              </a:rPr>
              <a:t>It's a bar to clear. If someone claims content like this flips a strongly connected group's opinion, their alpha must be at least 4.29, or the model says it can't happen. It does not say media does flip opinion.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LIKELY QUESTIONS  6 of 6</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200" b="1" i="0">
                <a:solidFill>
                  <a:srgbClr val="7CC4FF"/>
                </a:solidFill>
                <a:latin typeface="Calibri"/>
              </a:rPr>
              <a:t>Many of these grow out of the first presentation's question about children's content</a:t>
            </a:r>
          </a:p>
        </p:txBody>
      </p:sp>
      <p:sp>
        <p:nvSpPr>
          <p:cNvPr id="6" name="Rounded Rectangle 5"/>
          <p:cNvSpPr/>
          <p:nvPr/>
        </p:nvSpPr>
        <p:spPr>
          <a:xfrm>
            <a:off x="685800" y="1417320"/>
            <a:ext cx="10820095" cy="21488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Q11   </a:t>
            </a:r>
            <a:r>
              <a:rPr sz="2000" b="1">
                <a:solidFill>
                  <a:srgbClr val="EEF3FA"/>
                </a:solidFill>
                <a:latin typeface="Calibri"/>
              </a:rPr>
              <a:t>Why only 400 articles?</a:t>
            </a:r>
          </a:p>
          <a:p>
            <a:pPr algn="l">
              <a:spcAft>
                <a:spcPts val="0"/>
              </a:spcAft>
            </a:pPr>
            <a:r>
              <a:rPr sz="1700" b="1">
                <a:solidFill>
                  <a:srgbClr val="5FD09A"/>
                </a:solidFill>
                <a:latin typeface="Calibri"/>
              </a:rPr>
              <a:t>A   </a:t>
            </a:r>
            <a:r>
              <a:rPr sz="1700" b="0">
                <a:solidFill>
                  <a:srgbClr val="EEF3FA"/>
                </a:solidFill>
                <a:latin typeface="Calibri"/>
              </a:rPr>
              <a:t>We calculated before scanning that 400 was enough to see an effect as small as 2.7%. Each article takes about a minute of GPU time, and we ran all of them twice.</a:t>
            </a:r>
          </a:p>
        </p:txBody>
      </p:sp>
      <p:sp>
        <p:nvSpPr>
          <p:cNvPr id="7" name="Rounded Rectangle 6"/>
          <p:cNvSpPr/>
          <p:nvPr/>
        </p:nvSpPr>
        <p:spPr>
          <a:xfrm>
            <a:off x="685800" y="3749039"/>
            <a:ext cx="10820095" cy="21488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201168" bIns="109728"/>
          <a:lstStyle/>
          <a:p>
            <a:pPr algn="l">
              <a:spcAft>
                <a:spcPts val="1000"/>
              </a:spcAft>
            </a:pPr>
            <a:r>
              <a:rPr sz="2000" b="1">
                <a:solidFill>
                  <a:srgbClr val="FF7A59"/>
                </a:solidFill>
                <a:latin typeface="Calibri"/>
              </a:rPr>
              <a:t>Q12   </a:t>
            </a:r>
            <a:r>
              <a:rPr sz="2000" b="1">
                <a:solidFill>
                  <a:srgbClr val="EEF3FA"/>
                </a:solidFill>
                <a:latin typeface="Calibri"/>
              </a:rPr>
              <a:t>Is it okay to use Meta's model?</a:t>
            </a:r>
          </a:p>
          <a:p>
            <a:pPr algn="l">
              <a:spcAft>
                <a:spcPts val="0"/>
              </a:spcAft>
            </a:pPr>
            <a:r>
              <a:rPr sz="1700" b="1">
                <a:solidFill>
                  <a:srgbClr val="5FD09A"/>
                </a:solidFill>
                <a:latin typeface="Calibri"/>
              </a:rPr>
              <a:t>A   </a:t>
            </a:r>
            <a:r>
              <a:rPr sz="1700" b="0">
                <a:solidFill>
                  <a:srgbClr val="EEF3FA"/>
                </a:solidFill>
                <a:latin typeface="Calibri"/>
              </a:rPr>
              <a:t>Yes, for research. It's released under a non-commercial licence, it's cited throughout, and this project makes no money from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4320"/>
            <a:ext cx="10820095" cy="320040"/>
          </a:xfrm>
          <a:prstGeom prst="rect">
            <a:avLst/>
          </a:prstGeom>
          <a:noFill/>
        </p:spPr>
        <p:txBody>
          <a:bodyPr wrap="square" anchor="t">
            <a:spAutoFit/>
          </a:bodyPr>
          <a:lstStyle/>
          <a:p>
            <a:pPr algn="l">
              <a:spcAft>
                <a:spcPts val="0"/>
              </a:spcAft>
            </a:pPr>
            <a:r>
              <a:rPr sz="1200" b="1" i="0">
                <a:solidFill>
                  <a:srgbClr val="FF7A59"/>
                </a:solidFill>
                <a:latin typeface="Calibri"/>
              </a:rPr>
              <a:t>PLAIN WORDS FOR EVERY NUMBER</a:t>
            </a:r>
          </a:p>
        </p:txBody>
      </p:sp>
      <p:sp>
        <p:nvSpPr>
          <p:cNvPr id="5" name="TextBox 4"/>
          <p:cNvSpPr txBox="1"/>
          <p:nvPr/>
        </p:nvSpPr>
        <p:spPr>
          <a:xfrm>
            <a:off x="685800" y="566928"/>
            <a:ext cx="10820095" cy="640080"/>
          </a:xfrm>
          <a:prstGeom prst="rect">
            <a:avLst/>
          </a:prstGeom>
          <a:noFill/>
        </p:spPr>
        <p:txBody>
          <a:bodyPr wrap="square" anchor="t">
            <a:spAutoFit/>
          </a:bodyPr>
          <a:lstStyle/>
          <a:p>
            <a:pPr algn="l">
              <a:spcAft>
                <a:spcPts val="0"/>
              </a:spcAft>
            </a:pPr>
            <a:r>
              <a:rPr sz="2600" b="1" i="0">
                <a:solidFill>
                  <a:srgbClr val="7CC4FF"/>
                </a:solidFill>
                <a:latin typeface="Calibri"/>
              </a:rPr>
              <a:t>If a symbol comes up, say it like this</a:t>
            </a:r>
          </a:p>
        </p:txBody>
      </p:sp>
      <p:sp>
        <p:nvSpPr>
          <p:cNvPr id="6" name="Rounded Rectangle 5"/>
          <p:cNvSpPr/>
          <p:nvPr/>
        </p:nvSpPr>
        <p:spPr>
          <a:xfrm>
            <a:off x="685800" y="132588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η², eta squared   </a:t>
            </a:r>
            <a:r>
              <a:rPr sz="1300" b="0">
                <a:solidFill>
                  <a:srgbClr val="EEF3FA"/>
                </a:solidFill>
                <a:latin typeface="Calibri"/>
              </a:rPr>
              <a:t>Share of the differences explained by group. 0.107 is about 11%.</a:t>
            </a:r>
          </a:p>
        </p:txBody>
      </p:sp>
      <p:sp>
        <p:nvSpPr>
          <p:cNvPr id="7" name="Rounded Rectangle 6"/>
          <p:cNvSpPr/>
          <p:nvPr/>
        </p:nvSpPr>
        <p:spPr>
          <a:xfrm>
            <a:off x="685800" y="210312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p-value   </a:t>
            </a:r>
            <a:r>
              <a:rPr sz="1300" b="0">
                <a:solidFill>
                  <a:srgbClr val="EEF3FA"/>
                </a:solidFill>
                <a:latin typeface="Calibri"/>
              </a:rPr>
              <a:t>Chance a result this strong appears by luck. 1 × 10⁻⁹ is about one in a billion.</a:t>
            </a:r>
          </a:p>
        </p:txBody>
      </p:sp>
      <p:sp>
        <p:nvSpPr>
          <p:cNvPr id="8" name="Rounded Rectangle 7"/>
          <p:cNvSpPr/>
          <p:nvPr/>
        </p:nvSpPr>
        <p:spPr>
          <a:xfrm>
            <a:off x="685800" y="288036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d, Cohen's d   </a:t>
            </a:r>
            <a:r>
              <a:rPr sz="1300" b="0">
                <a:solidFill>
                  <a:srgbClr val="EEF3FA"/>
                </a:solidFill>
                <a:latin typeface="Calibri"/>
              </a:rPr>
              <a:t>Size of a difference in units of normal spread. 0.2 small, 0.5 medium, 0.8 large.</a:t>
            </a:r>
          </a:p>
        </p:txBody>
      </p:sp>
      <p:sp>
        <p:nvSpPr>
          <p:cNvPr id="9" name="Rounded Rectangle 8"/>
          <p:cNvSpPr/>
          <p:nvPr/>
        </p:nvSpPr>
        <p:spPr>
          <a:xfrm>
            <a:off x="685800" y="365760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ICC   </a:t>
            </a:r>
            <a:r>
              <a:rPr sz="1300" b="0">
                <a:solidFill>
                  <a:srgbClr val="EEF3FA"/>
                </a:solidFill>
                <a:latin typeface="Calibri"/>
              </a:rPr>
              <a:t>Agreement between two runs. 1 identical, 0 none. Ours 0.87.</a:t>
            </a:r>
          </a:p>
        </p:txBody>
      </p:sp>
      <p:sp>
        <p:nvSpPr>
          <p:cNvPr id="10" name="Rounded Rectangle 9"/>
          <p:cNvSpPr/>
          <p:nvPr/>
        </p:nvSpPr>
        <p:spPr>
          <a:xfrm>
            <a:off x="685800" y="443484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AUC   </a:t>
            </a:r>
            <a:r>
              <a:rPr sz="1300" b="0">
                <a:solidFill>
                  <a:srgbClr val="EEF3FA"/>
                </a:solidFill>
                <a:latin typeface="Calibri"/>
              </a:rPr>
              <a:t>How well a score sorts two kinds of article. 0.5 coin toss, 1 perfect.</a:t>
            </a:r>
          </a:p>
        </p:txBody>
      </p:sp>
      <p:sp>
        <p:nvSpPr>
          <p:cNvPr id="11" name="Rounded Rectangle 10"/>
          <p:cNvSpPr/>
          <p:nvPr/>
        </p:nvSpPr>
        <p:spPr>
          <a:xfrm>
            <a:off x="685800" y="521208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r, correlation   </a:t>
            </a:r>
            <a:r>
              <a:rPr sz="1300" b="0">
                <a:solidFill>
                  <a:srgbClr val="EEF3FA"/>
                </a:solidFill>
                <a:latin typeface="Calibri"/>
              </a:rPr>
              <a:t>How closely two things rise and fall together. 0 none, 1 perfect.</a:t>
            </a:r>
          </a:p>
        </p:txBody>
      </p:sp>
      <p:sp>
        <p:nvSpPr>
          <p:cNvPr id="12" name="Rounded Rectangle 11"/>
          <p:cNvSpPr/>
          <p:nvPr/>
        </p:nvSpPr>
        <p:spPr>
          <a:xfrm>
            <a:off x="6172200" y="132588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Noise ceiling   </a:t>
            </a:r>
            <a:r>
              <a:rPr sz="1300" b="0">
                <a:solidFill>
                  <a:srgbClr val="EEF3FA"/>
                </a:solidFill>
                <a:latin typeface="Calibri"/>
              </a:rPr>
              <a:t>Best score any model can reach, given how much real brains differ. Ours 0.152.</a:t>
            </a:r>
          </a:p>
        </p:txBody>
      </p:sp>
      <p:sp>
        <p:nvSpPr>
          <p:cNvPr id="13" name="Rounded Rectangle 12"/>
          <p:cNvSpPr/>
          <p:nvPr/>
        </p:nvSpPr>
        <p:spPr>
          <a:xfrm>
            <a:off x="6172200" y="210312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α, alpha   </a:t>
            </a:r>
            <a:r>
              <a:rPr sz="1300" b="0">
                <a:solidFill>
                  <a:srgbClr val="EEF3FA"/>
                </a:solidFill>
                <a:latin typeface="Calibri"/>
              </a:rPr>
              <a:t>Strength of media's push per unit of our score. Not measured.</a:t>
            </a:r>
          </a:p>
        </p:txBody>
      </p:sp>
      <p:sp>
        <p:nvSpPr>
          <p:cNvPr id="14" name="Rounded Rectangle 13"/>
          <p:cNvSpPr/>
          <p:nvPr/>
        </p:nvSpPr>
        <p:spPr>
          <a:xfrm>
            <a:off x="6172200" y="288036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βJ   </a:t>
            </a:r>
            <a:r>
              <a:rPr sz="1300" b="0">
                <a:solidFill>
                  <a:srgbClr val="EEF3FA"/>
                </a:solidFill>
                <a:latin typeface="Calibri"/>
              </a:rPr>
              <a:t>How strongly people copy each other. Above 1, a group settles on a majority by itself.</a:t>
            </a:r>
          </a:p>
        </p:txBody>
      </p:sp>
      <p:sp>
        <p:nvSpPr>
          <p:cNvPr id="15" name="Rounded Rectangle 14"/>
          <p:cNvSpPr/>
          <p:nvPr/>
        </p:nvSpPr>
        <p:spPr>
          <a:xfrm>
            <a:off x="6172200" y="365760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ΔX   </a:t>
            </a:r>
            <a:r>
              <a:rPr sz="1300" b="0">
                <a:solidFill>
                  <a:srgbClr val="EEF3FA"/>
                </a:solidFill>
                <a:latin typeface="Calibri"/>
              </a:rPr>
              <a:t>Spread of our scores, lowest to highest: 0.124.</a:t>
            </a:r>
          </a:p>
        </p:txBody>
      </p:sp>
      <p:sp>
        <p:nvSpPr>
          <p:cNvPr id="16" name="Rounded Rectangle 15"/>
          <p:cNvSpPr/>
          <p:nvPr/>
        </p:nvSpPr>
        <p:spPr>
          <a:xfrm>
            <a:off x="6172200" y="4434840"/>
            <a:ext cx="5303520" cy="6858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300" b="1">
                <a:solidFill>
                  <a:srgbClr val="F5B83D"/>
                </a:solidFill>
                <a:latin typeface="Calibri"/>
              </a:rPr>
              <a:t>h with small c   </a:t>
            </a:r>
            <a:r>
              <a:rPr sz="1300" b="0">
                <a:solidFill>
                  <a:srgbClr val="EEF3FA"/>
                </a:solidFill>
                <a:latin typeface="Calibri"/>
              </a:rPr>
              <a:t>The critical push: what it takes to flip a majority.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