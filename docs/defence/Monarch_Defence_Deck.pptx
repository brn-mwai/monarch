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7CC4FF"/>
              </a:solidFill>
              <a:ln>
                <a:noFill/>
              </a:ln>
            </c:spPr>
          </c:dPt>
          <c:dPt>
            <c:idx val="1"/>
            <c:spPr>
              <a:solidFill>
                <a:srgbClr val="2A3D5E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group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0.1068</c:v>
                </c:pt>
                <c:pt idx="1">
                  <c:v>0.8932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 required</c:v>
                </c:pt>
              </c:strCache>
            </c:strRef>
          </c:tx>
          <c:spPr>
            <a:ln w="38100">
              <a:solidFill>
                <a:srgbClr val="7CC4FF"/>
              </a:solidFill>
            </a:ln>
          </c:spPr>
          <c:marker>
            <c:symbol val="none"/>
          </c:marker>
          <c:xVal>
            <c:numRef>
              <c:f>Sheet1!$A$2:$A$32</c:f>
              <c:numCache>
                <c:formatCode>General</c:formatCode>
                <c:ptCount val="31"/>
                <c:pt idx="0">
                  <c:v>1.0</c:v>
                </c:pt>
                <c:pt idx="1">
                  <c:v>1.05</c:v>
                </c:pt>
                <c:pt idx="2">
                  <c:v>1.1</c:v>
                </c:pt>
                <c:pt idx="3">
                  <c:v>1.15</c:v>
                </c:pt>
                <c:pt idx="4">
                  <c:v>1.2</c:v>
                </c:pt>
                <c:pt idx="5">
                  <c:v>1.25</c:v>
                </c:pt>
                <c:pt idx="6">
                  <c:v>1.3</c:v>
                </c:pt>
                <c:pt idx="7">
                  <c:v>1.35</c:v>
                </c:pt>
                <c:pt idx="8">
                  <c:v>1.4</c:v>
                </c:pt>
                <c:pt idx="9">
                  <c:v>1.45</c:v>
                </c:pt>
                <c:pt idx="10">
                  <c:v>1.5</c:v>
                </c:pt>
                <c:pt idx="11">
                  <c:v>1.55</c:v>
                </c:pt>
                <c:pt idx="12">
                  <c:v>1.6</c:v>
                </c:pt>
                <c:pt idx="13">
                  <c:v>1.65</c:v>
                </c:pt>
                <c:pt idx="14">
                  <c:v>1.7</c:v>
                </c:pt>
                <c:pt idx="15">
                  <c:v>1.75</c:v>
                </c:pt>
                <c:pt idx="16">
                  <c:v>1.8</c:v>
                </c:pt>
                <c:pt idx="17">
                  <c:v>1.85</c:v>
                </c:pt>
                <c:pt idx="18">
                  <c:v>1.9</c:v>
                </c:pt>
                <c:pt idx="19">
                  <c:v>1.95</c:v>
                </c:pt>
                <c:pt idx="20">
                  <c:v>2.0</c:v>
                </c:pt>
                <c:pt idx="21">
                  <c:v>2.05</c:v>
                </c:pt>
                <c:pt idx="22">
                  <c:v>2.1</c:v>
                </c:pt>
                <c:pt idx="23">
                  <c:v>2.15</c:v>
                </c:pt>
                <c:pt idx="24">
                  <c:v>2.2</c:v>
                </c:pt>
                <c:pt idx="25">
                  <c:v>2.25</c:v>
                </c:pt>
                <c:pt idx="26">
                  <c:v>2.3</c:v>
                </c:pt>
                <c:pt idx="27">
                  <c:v>2.35</c:v>
                </c:pt>
                <c:pt idx="28">
                  <c:v>2.4</c:v>
                </c:pt>
                <c:pt idx="29">
                  <c:v>2.45</c:v>
                </c:pt>
                <c:pt idx="30">
                  <c:v>2.5</c:v>
                </c:pt>
              </c:numCache>
            </c:numRef>
          </c:xVal>
          <c:yVal>
            <c:numRef>
              <c:f>Sheet1!$B$2:$B$32</c:f>
              <c:numCache>
                <c:formatCode>General</c:formatCode>
                <c:ptCount val="31"/>
                <c:pt idx="0">
                  <c:v>0.0</c:v>
                </c:pt>
                <c:pt idx="1">
                  <c:v>0.05918338078351689</c:v>
                </c:pt>
                <c:pt idx="2">
                  <c:v>0.1650380916853392</c:v>
                </c:pt>
                <c:pt idx="3">
                  <c:v>0.2990712144836746</c:v>
                </c:pt>
                <c:pt idx="4">
                  <c:v>0.4543963361108232</c:v>
                </c:pt>
                <c:pt idx="5">
                  <c:v>0.6269554336449967</c:v>
                </c:pt>
                <c:pt idx="6">
                  <c:v>0.81398744833397</c:v>
                </c:pt>
                <c:pt idx="7">
                  <c:v>1.0134638432693657</c:v>
                </c:pt>
                <c:pt idx="8">
                  <c:v>1.2238204017587742</c:v>
                </c:pt>
                <c:pt idx="9">
                  <c:v>1.4438098933923091</c:v>
                </c:pt>
                <c:pt idx="10">
                  <c:v>1.6724130162935578</c:v>
                </c:pt>
                <c:pt idx="11">
                  <c:v>1.9087807696186925</c:v>
                </c:pt>
                <c:pt idx="12">
                  <c:v>2.1521952101367066</c:v>
                </c:pt>
                <c:pt idx="13">
                  <c:v>2.402041645767016</c:v>
                </c:pt>
                <c:pt idx="14">
                  <c:v>2.657788297596657</c:v>
                </c:pt>
                <c:pt idx="15">
                  <c:v>2.9189710334629715</c:v>
                </c:pt>
                <c:pt idx="16">
                  <c:v>3.1851816582026613</c:v>
                </c:pt>
                <c:pt idx="17">
                  <c:v>3.456058766387657</c:v>
                </c:pt>
                <c:pt idx="18">
                  <c:v>3.7312804840616804</c:v>
                </c:pt>
                <c:pt idx="19">
                  <c:v>4.0105586307024526</c:v>
                </c:pt>
                <c:pt idx="20">
                  <c:v>4.2936339673936565</c:v>
                </c:pt>
                <c:pt idx="21">
                  <c:v>4.580272288302001</c:v>
                </c:pt>
                <c:pt idx="22">
                  <c:v>4.870261175613264</c:v>
                </c:pt>
                <c:pt idx="23">
                  <c:v>5.163407282634284</c:v>
                </c:pt>
                <c:pt idx="24">
                  <c:v>5.45953404182952</c:v>
                </c:pt>
                <c:pt idx="25">
                  <c:v>5.758479718014789</c:v>
                </c:pt>
                <c:pt idx="26">
                  <c:v>6.060095744343501</c:v>
                </c:pt>
                <c:pt idx="27">
                  <c:v>6.364245291821802</c:v>
                </c:pt>
                <c:pt idx="28">
                  <c:v>6.670802033066661</c:v>
                </c:pt>
                <c:pt idx="29">
                  <c:v>6.979649068704033</c:v>
                </c:pt>
                <c:pt idx="30">
                  <c:v>7.290677990781043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Sheet1!$B$34</c:f>
              <c:strCache>
                <c:ptCount val="1"/>
                <c:pt idx="0">
                  <c:v>our case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2"/>
            <c:spPr>
              <a:solidFill>
                <a:srgbClr val="FF7A59"/>
              </a:solidFill>
              <a:ln>
                <a:noFill/>
              </a:ln>
            </c:spPr>
          </c:marker>
          <c:xVal>
            <c:numRef>
              <c:f>Sheet1!$A$35:$A$35</c:f>
              <c:numCache>
                <c:formatCode>General</c:formatCode>
                <c:ptCount val="1"/>
                <c:pt idx="0">
                  <c:v>2.0</c:v>
                </c:pt>
              </c:numCache>
            </c:numRef>
          </c:xVal>
          <c:yVal>
            <c:numRef>
              <c:f>Sheet1!$B$35:$B$35</c:f>
              <c:numCache>
                <c:formatCode>General</c:formatCode>
                <c:ptCount val="1"/>
                <c:pt idx="0">
                  <c:v>4.29363396739365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2.5"/>
          <c:min val="1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2A3D5E"/>
            </a:solidFill>
          </a:ln>
        </c:spPr>
        <c:crossAx val="-2129643912"/>
        <c:crosses val="autoZero"/>
        <c:crossBetween val="midCat"/>
        <c:majorUnit val="0.5"/>
      </c:valAx>
      <c:valAx>
        <c:axId val="-2129643912"/>
        <c:scaling>
          <c:orientation val="minMax"/>
          <c:max val="8.0"/>
          <c:min val="0.0"/>
        </c:scaling>
        <c:delete val="0"/>
        <c:axPos val="l"/>
        <c:majorGridlines>
          <c:spPr>
            <a:ln>
              <a:solidFill>
                <a:srgbClr val="2A3D5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2A3D5E"/>
            </a:solidFill>
          </a:ln>
        </c:spPr>
        <c:crossAx val="-2128940872"/>
        <c:crosses val="autoZero"/>
        <c:crossBetween val="midCat"/>
        <c:majorUnit val="2.0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9AABC4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hyperlink" Target="https://monarch-4iy.pages.dev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chart" Target="../charts/chart1.xml"/><Relationship Id="rId4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6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Up Arrow 3"/>
          <p:cNvSpPr/>
          <p:nvPr/>
        </p:nvSpPr>
        <p:spPr>
          <a:xfrm>
            <a:off x="8170939" y="1179941"/>
            <a:ext cx="135609" cy="218724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 Arrow 4"/>
          <p:cNvSpPr/>
          <p:nvPr/>
        </p:nvSpPr>
        <p:spPr>
          <a:xfrm>
            <a:off x="8646427" y="1179941"/>
            <a:ext cx="135609" cy="218724"/>
          </a:xfrm>
          <a:prstGeom prst="upArrow">
            <a:avLst/>
          </a:prstGeom>
          <a:solidFill>
            <a:srgbClr val="7CC4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wn Arrow 5"/>
          <p:cNvSpPr/>
          <p:nvPr/>
        </p:nvSpPr>
        <p:spPr>
          <a:xfrm>
            <a:off x="9121915" y="1179941"/>
            <a:ext cx="135609" cy="218724"/>
          </a:xfrm>
          <a:prstGeom prst="downArrow">
            <a:avLst/>
          </a:prstGeom>
          <a:solidFill>
            <a:srgbClr val="FF7A59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Up Arrow 6"/>
          <p:cNvSpPr/>
          <p:nvPr/>
        </p:nvSpPr>
        <p:spPr>
          <a:xfrm>
            <a:off x="9597403" y="1179941"/>
            <a:ext cx="135609" cy="218724"/>
          </a:xfrm>
          <a:prstGeom prst="upArrow">
            <a:avLst/>
          </a:prstGeom>
          <a:solidFill>
            <a:srgbClr val="7CC4FF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Up Arrow 7"/>
          <p:cNvSpPr/>
          <p:nvPr/>
        </p:nvSpPr>
        <p:spPr>
          <a:xfrm>
            <a:off x="10072891" y="1179941"/>
            <a:ext cx="135609" cy="218724"/>
          </a:xfrm>
          <a:prstGeom prst="upArrow">
            <a:avLst/>
          </a:prstGeom>
          <a:solidFill>
            <a:srgbClr val="7CC4FF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Up Arrow 8"/>
          <p:cNvSpPr/>
          <p:nvPr/>
        </p:nvSpPr>
        <p:spPr>
          <a:xfrm>
            <a:off x="10548379" y="1179941"/>
            <a:ext cx="135609" cy="218724"/>
          </a:xfrm>
          <a:prstGeom prst="upArrow">
            <a:avLst/>
          </a:prstGeom>
          <a:solidFill>
            <a:srgbClr val="7CC4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Up Arrow 9"/>
          <p:cNvSpPr/>
          <p:nvPr/>
        </p:nvSpPr>
        <p:spPr>
          <a:xfrm>
            <a:off x="11023867" y="1179941"/>
            <a:ext cx="135609" cy="218724"/>
          </a:xfrm>
          <a:prstGeom prst="upArrow">
            <a:avLst/>
          </a:prstGeom>
          <a:solidFill>
            <a:srgbClr val="7CC4FF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Up Arrow 10"/>
          <p:cNvSpPr/>
          <p:nvPr/>
        </p:nvSpPr>
        <p:spPr>
          <a:xfrm>
            <a:off x="8170939" y="1655429"/>
            <a:ext cx="135609" cy="218724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Up Arrow 11"/>
          <p:cNvSpPr/>
          <p:nvPr/>
        </p:nvSpPr>
        <p:spPr>
          <a:xfrm>
            <a:off x="8646427" y="1655429"/>
            <a:ext cx="135609" cy="218724"/>
          </a:xfrm>
          <a:prstGeom prst="upArrow">
            <a:avLst/>
          </a:prstGeom>
          <a:solidFill>
            <a:srgbClr val="7CC4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Up Arrow 12"/>
          <p:cNvSpPr/>
          <p:nvPr/>
        </p:nvSpPr>
        <p:spPr>
          <a:xfrm>
            <a:off x="9121915" y="1655429"/>
            <a:ext cx="135609" cy="218724"/>
          </a:xfrm>
          <a:prstGeom prst="upArrow">
            <a:avLst/>
          </a:prstGeom>
          <a:solidFill>
            <a:srgbClr val="7CC4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p Arrow 13"/>
          <p:cNvSpPr/>
          <p:nvPr/>
        </p:nvSpPr>
        <p:spPr>
          <a:xfrm>
            <a:off x="9597403" y="1655429"/>
            <a:ext cx="135609" cy="218724"/>
          </a:xfrm>
          <a:prstGeom prst="upArrow">
            <a:avLst/>
          </a:prstGeom>
          <a:solidFill>
            <a:srgbClr val="7CC4FF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Up Arrow 14"/>
          <p:cNvSpPr/>
          <p:nvPr/>
        </p:nvSpPr>
        <p:spPr>
          <a:xfrm>
            <a:off x="10072891" y="1655429"/>
            <a:ext cx="135609" cy="218724"/>
          </a:xfrm>
          <a:prstGeom prst="upArrow">
            <a:avLst/>
          </a:prstGeom>
          <a:solidFill>
            <a:srgbClr val="7CC4FF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p Arrow 15"/>
          <p:cNvSpPr/>
          <p:nvPr/>
        </p:nvSpPr>
        <p:spPr>
          <a:xfrm>
            <a:off x="10548379" y="1655429"/>
            <a:ext cx="135609" cy="218724"/>
          </a:xfrm>
          <a:prstGeom prst="upArrow">
            <a:avLst/>
          </a:prstGeom>
          <a:solidFill>
            <a:srgbClr val="7CC4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11023867" y="1655429"/>
            <a:ext cx="135609" cy="218724"/>
          </a:xfrm>
          <a:prstGeom prst="downArrow">
            <a:avLst/>
          </a:prstGeom>
          <a:solidFill>
            <a:srgbClr val="FF7A59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p Arrow 17"/>
          <p:cNvSpPr/>
          <p:nvPr/>
        </p:nvSpPr>
        <p:spPr>
          <a:xfrm>
            <a:off x="8170939" y="2130917"/>
            <a:ext cx="135609" cy="218724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Up Arrow 18"/>
          <p:cNvSpPr/>
          <p:nvPr/>
        </p:nvSpPr>
        <p:spPr>
          <a:xfrm>
            <a:off x="8646427" y="2130917"/>
            <a:ext cx="135609" cy="218724"/>
          </a:xfrm>
          <a:prstGeom prst="upArrow">
            <a:avLst/>
          </a:prstGeom>
          <a:solidFill>
            <a:srgbClr val="7CC4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 Arrow 19"/>
          <p:cNvSpPr/>
          <p:nvPr/>
        </p:nvSpPr>
        <p:spPr>
          <a:xfrm>
            <a:off x="9121915" y="2130917"/>
            <a:ext cx="135609" cy="218724"/>
          </a:xfrm>
          <a:prstGeom prst="upArrow">
            <a:avLst/>
          </a:prstGeom>
          <a:solidFill>
            <a:srgbClr val="7CC4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9597403" y="2130917"/>
            <a:ext cx="135609" cy="218724"/>
          </a:xfrm>
          <a:prstGeom prst="downArrow">
            <a:avLst/>
          </a:prstGeom>
          <a:solidFill>
            <a:srgbClr val="FF7A59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Up Arrow 21"/>
          <p:cNvSpPr/>
          <p:nvPr/>
        </p:nvSpPr>
        <p:spPr>
          <a:xfrm>
            <a:off x="10072891" y="2130917"/>
            <a:ext cx="135609" cy="218724"/>
          </a:xfrm>
          <a:prstGeom prst="upArrow">
            <a:avLst/>
          </a:prstGeom>
          <a:solidFill>
            <a:srgbClr val="7CC4FF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Up Arrow 22"/>
          <p:cNvSpPr/>
          <p:nvPr/>
        </p:nvSpPr>
        <p:spPr>
          <a:xfrm>
            <a:off x="10548379" y="2130917"/>
            <a:ext cx="135609" cy="218724"/>
          </a:xfrm>
          <a:prstGeom prst="upArrow">
            <a:avLst/>
          </a:prstGeom>
          <a:solidFill>
            <a:srgbClr val="7CC4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11023867" y="2130917"/>
            <a:ext cx="135609" cy="218724"/>
          </a:xfrm>
          <a:prstGeom prst="downArrow">
            <a:avLst/>
          </a:prstGeom>
          <a:solidFill>
            <a:srgbClr val="FF7A59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Up Arrow 24"/>
          <p:cNvSpPr/>
          <p:nvPr/>
        </p:nvSpPr>
        <p:spPr>
          <a:xfrm>
            <a:off x="8170939" y="2606405"/>
            <a:ext cx="135609" cy="218724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8646427" y="2606405"/>
            <a:ext cx="135609" cy="218724"/>
          </a:xfrm>
          <a:prstGeom prst="downArrow">
            <a:avLst/>
          </a:prstGeom>
          <a:solidFill>
            <a:srgbClr val="FF7A5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Up Arrow 26"/>
          <p:cNvSpPr/>
          <p:nvPr/>
        </p:nvSpPr>
        <p:spPr>
          <a:xfrm>
            <a:off x="9121915" y="2606405"/>
            <a:ext cx="135609" cy="218724"/>
          </a:xfrm>
          <a:prstGeom prst="upArrow">
            <a:avLst/>
          </a:prstGeom>
          <a:solidFill>
            <a:srgbClr val="7CC4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Up Arrow 27"/>
          <p:cNvSpPr/>
          <p:nvPr/>
        </p:nvSpPr>
        <p:spPr>
          <a:xfrm>
            <a:off x="9597403" y="2606405"/>
            <a:ext cx="135609" cy="218724"/>
          </a:xfrm>
          <a:prstGeom prst="upArrow">
            <a:avLst/>
          </a:prstGeom>
          <a:solidFill>
            <a:srgbClr val="7CC4FF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Up Arrow 28"/>
          <p:cNvSpPr/>
          <p:nvPr/>
        </p:nvSpPr>
        <p:spPr>
          <a:xfrm>
            <a:off x="10072891" y="2606405"/>
            <a:ext cx="135609" cy="218724"/>
          </a:xfrm>
          <a:prstGeom prst="upArrow">
            <a:avLst/>
          </a:prstGeom>
          <a:solidFill>
            <a:srgbClr val="7CC4FF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Up Arrow 29"/>
          <p:cNvSpPr/>
          <p:nvPr/>
        </p:nvSpPr>
        <p:spPr>
          <a:xfrm>
            <a:off x="10548379" y="2606405"/>
            <a:ext cx="135609" cy="218724"/>
          </a:xfrm>
          <a:prstGeom prst="upArrow">
            <a:avLst/>
          </a:prstGeom>
          <a:solidFill>
            <a:srgbClr val="7CC4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wn Arrow 30"/>
          <p:cNvSpPr/>
          <p:nvPr/>
        </p:nvSpPr>
        <p:spPr>
          <a:xfrm>
            <a:off x="11023867" y="2606405"/>
            <a:ext cx="135609" cy="218724"/>
          </a:xfrm>
          <a:prstGeom prst="downArrow">
            <a:avLst/>
          </a:prstGeom>
          <a:solidFill>
            <a:srgbClr val="FF7A59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Up Arrow 31"/>
          <p:cNvSpPr/>
          <p:nvPr/>
        </p:nvSpPr>
        <p:spPr>
          <a:xfrm>
            <a:off x="8170939" y="3081893"/>
            <a:ext cx="135609" cy="218724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Up Arrow 32"/>
          <p:cNvSpPr/>
          <p:nvPr/>
        </p:nvSpPr>
        <p:spPr>
          <a:xfrm>
            <a:off x="8646427" y="3081893"/>
            <a:ext cx="135609" cy="218724"/>
          </a:xfrm>
          <a:prstGeom prst="upArrow">
            <a:avLst/>
          </a:prstGeom>
          <a:solidFill>
            <a:srgbClr val="7CC4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Up Arrow 33"/>
          <p:cNvSpPr/>
          <p:nvPr/>
        </p:nvSpPr>
        <p:spPr>
          <a:xfrm>
            <a:off x="9121915" y="3081893"/>
            <a:ext cx="135609" cy="218724"/>
          </a:xfrm>
          <a:prstGeom prst="upArrow">
            <a:avLst/>
          </a:prstGeom>
          <a:solidFill>
            <a:srgbClr val="7CC4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Up Arrow 34"/>
          <p:cNvSpPr/>
          <p:nvPr/>
        </p:nvSpPr>
        <p:spPr>
          <a:xfrm>
            <a:off x="9597403" y="3081893"/>
            <a:ext cx="135609" cy="218724"/>
          </a:xfrm>
          <a:prstGeom prst="upArrow">
            <a:avLst/>
          </a:prstGeom>
          <a:solidFill>
            <a:srgbClr val="7CC4FF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Up Arrow 35"/>
          <p:cNvSpPr/>
          <p:nvPr/>
        </p:nvSpPr>
        <p:spPr>
          <a:xfrm>
            <a:off x="10072891" y="3081893"/>
            <a:ext cx="135609" cy="218724"/>
          </a:xfrm>
          <a:prstGeom prst="upArrow">
            <a:avLst/>
          </a:prstGeom>
          <a:solidFill>
            <a:srgbClr val="7CC4FF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Up Arrow 36"/>
          <p:cNvSpPr/>
          <p:nvPr/>
        </p:nvSpPr>
        <p:spPr>
          <a:xfrm>
            <a:off x="10548379" y="3081893"/>
            <a:ext cx="135609" cy="218724"/>
          </a:xfrm>
          <a:prstGeom prst="upArrow">
            <a:avLst/>
          </a:prstGeom>
          <a:solidFill>
            <a:srgbClr val="7CC4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Up Arrow 37"/>
          <p:cNvSpPr/>
          <p:nvPr/>
        </p:nvSpPr>
        <p:spPr>
          <a:xfrm>
            <a:off x="11023867" y="3081893"/>
            <a:ext cx="135609" cy="218724"/>
          </a:xfrm>
          <a:prstGeom prst="upArrow">
            <a:avLst/>
          </a:prstGeom>
          <a:solidFill>
            <a:srgbClr val="7CC4FF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Up Arrow 38"/>
          <p:cNvSpPr/>
          <p:nvPr/>
        </p:nvSpPr>
        <p:spPr>
          <a:xfrm>
            <a:off x="8170939" y="3557381"/>
            <a:ext cx="135609" cy="218724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8646427" y="3557381"/>
            <a:ext cx="135609" cy="218724"/>
          </a:xfrm>
          <a:prstGeom prst="downArrow">
            <a:avLst/>
          </a:prstGeom>
          <a:solidFill>
            <a:srgbClr val="FF7A5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Up Arrow 40"/>
          <p:cNvSpPr/>
          <p:nvPr/>
        </p:nvSpPr>
        <p:spPr>
          <a:xfrm>
            <a:off x="9121915" y="3557381"/>
            <a:ext cx="135609" cy="218724"/>
          </a:xfrm>
          <a:prstGeom prst="upArrow">
            <a:avLst/>
          </a:prstGeom>
          <a:solidFill>
            <a:srgbClr val="7CC4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Up Arrow 41"/>
          <p:cNvSpPr/>
          <p:nvPr/>
        </p:nvSpPr>
        <p:spPr>
          <a:xfrm>
            <a:off x="9597403" y="3557381"/>
            <a:ext cx="135609" cy="218724"/>
          </a:xfrm>
          <a:prstGeom prst="upArrow">
            <a:avLst/>
          </a:prstGeom>
          <a:solidFill>
            <a:srgbClr val="7CC4FF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Up Arrow 42"/>
          <p:cNvSpPr/>
          <p:nvPr/>
        </p:nvSpPr>
        <p:spPr>
          <a:xfrm>
            <a:off x="10072891" y="3557381"/>
            <a:ext cx="135609" cy="218724"/>
          </a:xfrm>
          <a:prstGeom prst="upArrow">
            <a:avLst/>
          </a:prstGeom>
          <a:solidFill>
            <a:srgbClr val="7CC4FF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Up Arrow 43"/>
          <p:cNvSpPr/>
          <p:nvPr/>
        </p:nvSpPr>
        <p:spPr>
          <a:xfrm>
            <a:off x="10548379" y="3557381"/>
            <a:ext cx="135609" cy="218724"/>
          </a:xfrm>
          <a:prstGeom prst="upArrow">
            <a:avLst/>
          </a:prstGeom>
          <a:solidFill>
            <a:srgbClr val="7CC4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Up Arrow 44"/>
          <p:cNvSpPr/>
          <p:nvPr/>
        </p:nvSpPr>
        <p:spPr>
          <a:xfrm>
            <a:off x="11023867" y="3557381"/>
            <a:ext cx="135609" cy="218724"/>
          </a:xfrm>
          <a:prstGeom prst="upArrow">
            <a:avLst/>
          </a:prstGeom>
          <a:solidFill>
            <a:srgbClr val="7CC4FF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own Arrow 45"/>
          <p:cNvSpPr/>
          <p:nvPr/>
        </p:nvSpPr>
        <p:spPr>
          <a:xfrm>
            <a:off x="8170939" y="4032869"/>
            <a:ext cx="135609" cy="218724"/>
          </a:xfrm>
          <a:prstGeom prst="downArrow">
            <a:avLst/>
          </a:prstGeom>
          <a:solidFill>
            <a:srgbClr val="FF7A5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own Arrow 46"/>
          <p:cNvSpPr/>
          <p:nvPr/>
        </p:nvSpPr>
        <p:spPr>
          <a:xfrm>
            <a:off x="8646427" y="4032869"/>
            <a:ext cx="135609" cy="218724"/>
          </a:xfrm>
          <a:prstGeom prst="downArrow">
            <a:avLst/>
          </a:prstGeom>
          <a:solidFill>
            <a:srgbClr val="FF7A5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Up Arrow 47"/>
          <p:cNvSpPr/>
          <p:nvPr/>
        </p:nvSpPr>
        <p:spPr>
          <a:xfrm>
            <a:off x="9121915" y="4032869"/>
            <a:ext cx="135609" cy="218724"/>
          </a:xfrm>
          <a:prstGeom prst="upArrow">
            <a:avLst/>
          </a:prstGeom>
          <a:solidFill>
            <a:srgbClr val="7CC4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Up Arrow 48"/>
          <p:cNvSpPr/>
          <p:nvPr/>
        </p:nvSpPr>
        <p:spPr>
          <a:xfrm>
            <a:off x="9597403" y="4032869"/>
            <a:ext cx="135609" cy="218724"/>
          </a:xfrm>
          <a:prstGeom prst="upArrow">
            <a:avLst/>
          </a:prstGeom>
          <a:solidFill>
            <a:srgbClr val="7CC4FF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Up Arrow 49"/>
          <p:cNvSpPr/>
          <p:nvPr/>
        </p:nvSpPr>
        <p:spPr>
          <a:xfrm>
            <a:off x="10072891" y="4032869"/>
            <a:ext cx="135609" cy="218724"/>
          </a:xfrm>
          <a:prstGeom prst="upArrow">
            <a:avLst/>
          </a:prstGeom>
          <a:solidFill>
            <a:srgbClr val="7CC4FF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own Arrow 50"/>
          <p:cNvSpPr/>
          <p:nvPr/>
        </p:nvSpPr>
        <p:spPr>
          <a:xfrm>
            <a:off x="10548379" y="4032869"/>
            <a:ext cx="135609" cy="218724"/>
          </a:xfrm>
          <a:prstGeom prst="downArrow">
            <a:avLst/>
          </a:prstGeom>
          <a:solidFill>
            <a:srgbClr val="FF7A59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own Arrow 51"/>
          <p:cNvSpPr/>
          <p:nvPr/>
        </p:nvSpPr>
        <p:spPr>
          <a:xfrm>
            <a:off x="11023867" y="4032869"/>
            <a:ext cx="135609" cy="218724"/>
          </a:xfrm>
          <a:prstGeom prst="downArrow">
            <a:avLst/>
          </a:prstGeom>
          <a:solidFill>
            <a:srgbClr val="FF7A59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Up Arrow 52"/>
          <p:cNvSpPr/>
          <p:nvPr/>
        </p:nvSpPr>
        <p:spPr>
          <a:xfrm>
            <a:off x="8170939" y="4508357"/>
            <a:ext cx="135609" cy="218724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own Arrow 53"/>
          <p:cNvSpPr/>
          <p:nvPr/>
        </p:nvSpPr>
        <p:spPr>
          <a:xfrm>
            <a:off x="8646427" y="4508357"/>
            <a:ext cx="135609" cy="218724"/>
          </a:xfrm>
          <a:prstGeom prst="downArrow">
            <a:avLst/>
          </a:prstGeom>
          <a:solidFill>
            <a:srgbClr val="FF7A5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Up Arrow 54"/>
          <p:cNvSpPr/>
          <p:nvPr/>
        </p:nvSpPr>
        <p:spPr>
          <a:xfrm>
            <a:off x="9121915" y="4508357"/>
            <a:ext cx="135609" cy="218724"/>
          </a:xfrm>
          <a:prstGeom prst="upArrow">
            <a:avLst/>
          </a:prstGeom>
          <a:solidFill>
            <a:srgbClr val="7CC4FF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Up Arrow 55"/>
          <p:cNvSpPr/>
          <p:nvPr/>
        </p:nvSpPr>
        <p:spPr>
          <a:xfrm>
            <a:off x="9597403" y="4508357"/>
            <a:ext cx="135609" cy="218724"/>
          </a:xfrm>
          <a:prstGeom prst="upArrow">
            <a:avLst/>
          </a:prstGeom>
          <a:solidFill>
            <a:srgbClr val="7CC4FF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own Arrow 56"/>
          <p:cNvSpPr/>
          <p:nvPr/>
        </p:nvSpPr>
        <p:spPr>
          <a:xfrm>
            <a:off x="10072891" y="4508357"/>
            <a:ext cx="135609" cy="218724"/>
          </a:xfrm>
          <a:prstGeom prst="downArrow">
            <a:avLst/>
          </a:prstGeom>
          <a:solidFill>
            <a:srgbClr val="FF7A59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Up Arrow 57"/>
          <p:cNvSpPr/>
          <p:nvPr/>
        </p:nvSpPr>
        <p:spPr>
          <a:xfrm>
            <a:off x="10548379" y="4508357"/>
            <a:ext cx="135609" cy="218724"/>
          </a:xfrm>
          <a:prstGeom prst="upArrow">
            <a:avLst/>
          </a:prstGeom>
          <a:solidFill>
            <a:srgbClr val="7CC4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Up Arrow 58"/>
          <p:cNvSpPr/>
          <p:nvPr/>
        </p:nvSpPr>
        <p:spPr>
          <a:xfrm>
            <a:off x="11023867" y="4508357"/>
            <a:ext cx="135609" cy="218724"/>
          </a:xfrm>
          <a:prstGeom prst="upArrow">
            <a:avLst/>
          </a:prstGeom>
          <a:solidFill>
            <a:srgbClr val="7CC4FF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Up Arrow 59"/>
          <p:cNvSpPr/>
          <p:nvPr/>
        </p:nvSpPr>
        <p:spPr>
          <a:xfrm>
            <a:off x="8170939" y="4983845"/>
            <a:ext cx="135609" cy="218724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own Arrow 60"/>
          <p:cNvSpPr/>
          <p:nvPr/>
        </p:nvSpPr>
        <p:spPr>
          <a:xfrm>
            <a:off x="8646427" y="4983845"/>
            <a:ext cx="135609" cy="218724"/>
          </a:xfrm>
          <a:prstGeom prst="downArrow">
            <a:avLst/>
          </a:prstGeom>
          <a:solidFill>
            <a:srgbClr val="FF7A59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own Arrow 61"/>
          <p:cNvSpPr/>
          <p:nvPr/>
        </p:nvSpPr>
        <p:spPr>
          <a:xfrm>
            <a:off x="9121915" y="4983845"/>
            <a:ext cx="135609" cy="218724"/>
          </a:xfrm>
          <a:prstGeom prst="downArrow">
            <a:avLst/>
          </a:prstGeom>
          <a:solidFill>
            <a:srgbClr val="FF7A59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Up Arrow 62"/>
          <p:cNvSpPr/>
          <p:nvPr/>
        </p:nvSpPr>
        <p:spPr>
          <a:xfrm>
            <a:off x="9597403" y="4983845"/>
            <a:ext cx="135609" cy="218724"/>
          </a:xfrm>
          <a:prstGeom prst="upArrow">
            <a:avLst/>
          </a:prstGeom>
          <a:solidFill>
            <a:srgbClr val="7CC4FF">
              <a:alpha val="5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own Arrow 63"/>
          <p:cNvSpPr/>
          <p:nvPr/>
        </p:nvSpPr>
        <p:spPr>
          <a:xfrm>
            <a:off x="10072891" y="4983845"/>
            <a:ext cx="135609" cy="218724"/>
          </a:xfrm>
          <a:prstGeom prst="downArrow">
            <a:avLst/>
          </a:prstGeom>
          <a:solidFill>
            <a:srgbClr val="FF7A59">
              <a:alpha val="65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Up Arrow 64"/>
          <p:cNvSpPr/>
          <p:nvPr/>
        </p:nvSpPr>
        <p:spPr>
          <a:xfrm>
            <a:off x="10548379" y="4983845"/>
            <a:ext cx="135609" cy="218724"/>
          </a:xfrm>
          <a:prstGeom prst="upArrow">
            <a:avLst/>
          </a:prstGeom>
          <a:solidFill>
            <a:srgbClr val="7CC4FF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own Arrow 65"/>
          <p:cNvSpPr/>
          <p:nvPr/>
        </p:nvSpPr>
        <p:spPr>
          <a:xfrm>
            <a:off x="11023867" y="4983845"/>
            <a:ext cx="135609" cy="218724"/>
          </a:xfrm>
          <a:prstGeom prst="downArrow">
            <a:avLst/>
          </a:prstGeom>
          <a:solidFill>
            <a:srgbClr val="FF7A59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1000" y="5440680"/>
            <a:ext cx="33284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9AABC4"/>
                </a:solidFill>
                <a:latin typeface="Calibri"/>
              </a:rPr>
              <a:t>each arrow is one person's opinion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1051560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CC4FF"/>
                </a:solidFill>
                <a:latin typeface="Calibri"/>
              </a:rPr>
              <a:t>B.Sc. PHYSICS   ·   CUEA   ·   DISSERTATION DEFENCE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1508760"/>
            <a:ext cx="69494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EEF3FA"/>
                </a:solidFill>
                <a:latin typeface="Calibri"/>
              </a:rPr>
              <a:t>Measuring the</a:t>
            </a:r>
          </a:p>
          <a:p>
            <a:pPr algn="l">
              <a:spcAft>
                <a:spcPts val="0"/>
              </a:spcAft>
            </a:pPr>
            <a:r>
              <a:rPr sz="5000" b="1" i="0">
                <a:solidFill>
                  <a:srgbClr val="7CC4FF"/>
                </a:solidFill>
                <a:latin typeface="Calibri"/>
              </a:rPr>
              <a:t>External Field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" y="3246120"/>
            <a:ext cx="6766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9AABC4"/>
                </a:solidFill>
                <a:latin typeface="Calibri"/>
              </a:rPr>
              <a:t>Can we measure how hard a news article pushes on what people think?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" y="4343400"/>
            <a:ext cx="1280160" cy="4572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" y="4572000"/>
            <a:ext cx="6766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EEF3FA"/>
                </a:solidFill>
                <a:latin typeface="Calibri"/>
              </a:rPr>
              <a:t>Brian Mwai</a:t>
            </a:r>
            <a:r>
              <a:rPr sz="2000" b="0">
                <a:solidFill>
                  <a:srgbClr val="9AABC4"/>
                </a:solidFill>
                <a:latin typeface="Calibri"/>
              </a:rPr>
              <a:t>   1050555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Supervisor: Dr. Songa Mutambi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25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av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Physics treats media as a push, h, on opinion. Nobody measures h</a:t>
            </a:r>
          </a:p>
        </p:txBody>
      </p:sp>
      <p:pic>
        <p:nvPicPr>
          <p:cNvPr id="7" name="Picture 6" descr="45f02749de550d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08760"/>
            <a:ext cx="3937863" cy="51023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5800" y="2514600"/>
            <a:ext cx="3383280" cy="896112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9" name="Picture 8" descr="2e3b70b3f2255e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2697480"/>
            <a:ext cx="356616" cy="3909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2624328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magnetisation
= average opinion, −1 to +1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514600"/>
            <a:ext cx="3383280" cy="896112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12" name="Picture 11" descr="14e8a1e87ada8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79" y="2697480"/>
            <a:ext cx="274320" cy="39090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74920" y="2624328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coupling
= pull toward neighbours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38728"/>
            <a:ext cx="3383280" cy="896112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15" name="Picture 14" descr="9255c6a4144431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412" y="3721608"/>
            <a:ext cx="257175" cy="39433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54480" y="3648456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inverse temperature
= how firmly people follow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538728"/>
            <a:ext cx="3383280" cy="896112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18" name="Picture 17" descr="20c93cf97540e44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3424" y="3721608"/>
            <a:ext cx="240030" cy="39090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74920" y="3648456"/>
            <a:ext cx="24688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external field
= media's push on everyone</a:t>
            </a:r>
          </a:p>
        </p:txBody>
      </p:sp>
      <p:sp>
        <p:nvSpPr>
          <p:cNvPr id="20" name="Up Arrow 19"/>
          <p:cNvSpPr/>
          <p:nvPr/>
        </p:nvSpPr>
        <p:spPr>
          <a:xfrm>
            <a:off x="8317903" y="1735988"/>
            <a:ext cx="143432" cy="231343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p Arrow 20"/>
          <p:cNvSpPr/>
          <p:nvPr/>
        </p:nvSpPr>
        <p:spPr>
          <a:xfrm>
            <a:off x="8820823" y="1735988"/>
            <a:ext cx="143432" cy="231343"/>
          </a:xfrm>
          <a:prstGeom prst="upArrow">
            <a:avLst/>
          </a:prstGeom>
          <a:solidFill>
            <a:srgbClr val="7CC4FF">
              <a:alpha val="323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Up Arrow 21"/>
          <p:cNvSpPr/>
          <p:nvPr/>
        </p:nvSpPr>
        <p:spPr>
          <a:xfrm>
            <a:off x="9323743" y="1735988"/>
            <a:ext cx="143432" cy="231343"/>
          </a:xfrm>
          <a:prstGeom prst="upArrow">
            <a:avLst/>
          </a:prstGeom>
          <a:solidFill>
            <a:srgbClr val="7CC4FF">
              <a:alpha val="46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Up Arrow 22"/>
          <p:cNvSpPr/>
          <p:nvPr/>
        </p:nvSpPr>
        <p:spPr>
          <a:xfrm>
            <a:off x="9826663" y="1735988"/>
            <a:ext cx="143432" cy="231343"/>
          </a:xfrm>
          <a:prstGeom prst="upArrow">
            <a:avLst/>
          </a:prstGeom>
          <a:solidFill>
            <a:srgbClr val="7CC4FF">
              <a:alpha val="61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Up Arrow 23"/>
          <p:cNvSpPr/>
          <p:nvPr/>
        </p:nvSpPr>
        <p:spPr>
          <a:xfrm>
            <a:off x="10329583" y="1735988"/>
            <a:ext cx="143432" cy="231343"/>
          </a:xfrm>
          <a:prstGeom prst="upArrow">
            <a:avLst/>
          </a:prstGeom>
          <a:solidFill>
            <a:srgbClr val="7CC4FF">
              <a:alpha val="75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Up Arrow 24"/>
          <p:cNvSpPr/>
          <p:nvPr/>
        </p:nvSpPr>
        <p:spPr>
          <a:xfrm>
            <a:off x="10832503" y="1735988"/>
            <a:ext cx="143432" cy="231343"/>
          </a:xfrm>
          <a:prstGeom prst="upArrow">
            <a:avLst/>
          </a:prstGeom>
          <a:solidFill>
            <a:srgbClr val="7CC4FF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p Arrow 25"/>
          <p:cNvSpPr/>
          <p:nvPr/>
        </p:nvSpPr>
        <p:spPr>
          <a:xfrm>
            <a:off x="8317903" y="2238908"/>
            <a:ext cx="143432" cy="231343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8820823" y="2238908"/>
            <a:ext cx="143432" cy="231343"/>
          </a:xfrm>
          <a:prstGeom prst="downArrow">
            <a:avLst/>
          </a:prstGeom>
          <a:solidFill>
            <a:srgbClr val="FF7A59">
              <a:alpha val="323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Up Arrow 27"/>
          <p:cNvSpPr/>
          <p:nvPr/>
        </p:nvSpPr>
        <p:spPr>
          <a:xfrm>
            <a:off x="9323743" y="2238908"/>
            <a:ext cx="143432" cy="231343"/>
          </a:xfrm>
          <a:prstGeom prst="upArrow">
            <a:avLst/>
          </a:prstGeom>
          <a:solidFill>
            <a:srgbClr val="7CC4FF">
              <a:alpha val="46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Up Arrow 28"/>
          <p:cNvSpPr/>
          <p:nvPr/>
        </p:nvSpPr>
        <p:spPr>
          <a:xfrm>
            <a:off x="9826663" y="2238908"/>
            <a:ext cx="143432" cy="231343"/>
          </a:xfrm>
          <a:prstGeom prst="upArrow">
            <a:avLst/>
          </a:prstGeom>
          <a:solidFill>
            <a:srgbClr val="7CC4FF">
              <a:alpha val="61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wn Arrow 29"/>
          <p:cNvSpPr/>
          <p:nvPr/>
        </p:nvSpPr>
        <p:spPr>
          <a:xfrm>
            <a:off x="10329583" y="2238908"/>
            <a:ext cx="143432" cy="231343"/>
          </a:xfrm>
          <a:prstGeom prst="downArrow">
            <a:avLst/>
          </a:prstGeom>
          <a:solidFill>
            <a:srgbClr val="FF7A59">
              <a:alpha val="75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Up Arrow 30"/>
          <p:cNvSpPr/>
          <p:nvPr/>
        </p:nvSpPr>
        <p:spPr>
          <a:xfrm>
            <a:off x="10832503" y="2238908"/>
            <a:ext cx="143432" cy="231343"/>
          </a:xfrm>
          <a:prstGeom prst="upArrow">
            <a:avLst/>
          </a:prstGeom>
          <a:solidFill>
            <a:srgbClr val="7CC4FF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wn Arrow 31"/>
          <p:cNvSpPr/>
          <p:nvPr/>
        </p:nvSpPr>
        <p:spPr>
          <a:xfrm>
            <a:off x="8317903" y="2741828"/>
            <a:ext cx="143432" cy="231343"/>
          </a:xfrm>
          <a:prstGeom prst="downArrow">
            <a:avLst/>
          </a:prstGeom>
          <a:solidFill>
            <a:srgbClr val="FF7A5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Up Arrow 32"/>
          <p:cNvSpPr/>
          <p:nvPr/>
        </p:nvSpPr>
        <p:spPr>
          <a:xfrm>
            <a:off x="8820823" y="2741828"/>
            <a:ext cx="143432" cy="231343"/>
          </a:xfrm>
          <a:prstGeom prst="upArrow">
            <a:avLst/>
          </a:prstGeom>
          <a:solidFill>
            <a:srgbClr val="7CC4FF">
              <a:alpha val="323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Up Arrow 33"/>
          <p:cNvSpPr/>
          <p:nvPr/>
        </p:nvSpPr>
        <p:spPr>
          <a:xfrm>
            <a:off x="9323743" y="2741828"/>
            <a:ext cx="143432" cy="231343"/>
          </a:xfrm>
          <a:prstGeom prst="upArrow">
            <a:avLst/>
          </a:prstGeom>
          <a:solidFill>
            <a:srgbClr val="7CC4FF">
              <a:alpha val="46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Up Arrow 34"/>
          <p:cNvSpPr/>
          <p:nvPr/>
        </p:nvSpPr>
        <p:spPr>
          <a:xfrm>
            <a:off x="9826663" y="2741828"/>
            <a:ext cx="143432" cy="231343"/>
          </a:xfrm>
          <a:prstGeom prst="upArrow">
            <a:avLst/>
          </a:prstGeom>
          <a:solidFill>
            <a:srgbClr val="7CC4FF">
              <a:alpha val="61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Up Arrow 35"/>
          <p:cNvSpPr/>
          <p:nvPr/>
        </p:nvSpPr>
        <p:spPr>
          <a:xfrm>
            <a:off x="10329583" y="2741828"/>
            <a:ext cx="143432" cy="231343"/>
          </a:xfrm>
          <a:prstGeom prst="upArrow">
            <a:avLst/>
          </a:prstGeom>
          <a:solidFill>
            <a:srgbClr val="7CC4FF">
              <a:alpha val="75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own Arrow 36"/>
          <p:cNvSpPr/>
          <p:nvPr/>
        </p:nvSpPr>
        <p:spPr>
          <a:xfrm>
            <a:off x="10832503" y="2741828"/>
            <a:ext cx="143432" cy="231343"/>
          </a:xfrm>
          <a:prstGeom prst="downArrow">
            <a:avLst/>
          </a:prstGeom>
          <a:solidFill>
            <a:srgbClr val="FF7A59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Up Arrow 37"/>
          <p:cNvSpPr/>
          <p:nvPr/>
        </p:nvSpPr>
        <p:spPr>
          <a:xfrm>
            <a:off x="8317903" y="3244748"/>
            <a:ext cx="143432" cy="231343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own Arrow 38"/>
          <p:cNvSpPr/>
          <p:nvPr/>
        </p:nvSpPr>
        <p:spPr>
          <a:xfrm>
            <a:off x="8820823" y="3244748"/>
            <a:ext cx="143432" cy="231343"/>
          </a:xfrm>
          <a:prstGeom prst="downArrow">
            <a:avLst/>
          </a:prstGeom>
          <a:solidFill>
            <a:srgbClr val="FF7A59">
              <a:alpha val="323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9323743" y="3244748"/>
            <a:ext cx="143432" cy="231343"/>
          </a:xfrm>
          <a:prstGeom prst="downArrow">
            <a:avLst/>
          </a:prstGeom>
          <a:solidFill>
            <a:srgbClr val="FF7A59">
              <a:alpha val="46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Up Arrow 40"/>
          <p:cNvSpPr/>
          <p:nvPr/>
        </p:nvSpPr>
        <p:spPr>
          <a:xfrm>
            <a:off x="9826663" y="3244748"/>
            <a:ext cx="143432" cy="231343"/>
          </a:xfrm>
          <a:prstGeom prst="upArrow">
            <a:avLst/>
          </a:prstGeom>
          <a:solidFill>
            <a:srgbClr val="7CC4FF">
              <a:alpha val="61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own Arrow 41"/>
          <p:cNvSpPr/>
          <p:nvPr/>
        </p:nvSpPr>
        <p:spPr>
          <a:xfrm>
            <a:off x="10329583" y="3244748"/>
            <a:ext cx="143432" cy="231343"/>
          </a:xfrm>
          <a:prstGeom prst="downArrow">
            <a:avLst/>
          </a:prstGeom>
          <a:solidFill>
            <a:srgbClr val="FF7A59">
              <a:alpha val="75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Up Arrow 42"/>
          <p:cNvSpPr/>
          <p:nvPr/>
        </p:nvSpPr>
        <p:spPr>
          <a:xfrm>
            <a:off x="10832503" y="3244748"/>
            <a:ext cx="143432" cy="231343"/>
          </a:xfrm>
          <a:prstGeom prst="upArrow">
            <a:avLst/>
          </a:prstGeom>
          <a:solidFill>
            <a:srgbClr val="7CC4FF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Up Arrow 43"/>
          <p:cNvSpPr/>
          <p:nvPr/>
        </p:nvSpPr>
        <p:spPr>
          <a:xfrm>
            <a:off x="8317903" y="3747668"/>
            <a:ext cx="143432" cy="231343"/>
          </a:xfrm>
          <a:prstGeom prst="upArrow">
            <a:avLst/>
          </a:prstGeom>
          <a:solidFill>
            <a:srgbClr val="7CC4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Up Arrow 44"/>
          <p:cNvSpPr/>
          <p:nvPr/>
        </p:nvSpPr>
        <p:spPr>
          <a:xfrm>
            <a:off x="8820823" y="3747668"/>
            <a:ext cx="143432" cy="231343"/>
          </a:xfrm>
          <a:prstGeom prst="upArrow">
            <a:avLst/>
          </a:prstGeom>
          <a:solidFill>
            <a:srgbClr val="7CC4FF">
              <a:alpha val="323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own Arrow 45"/>
          <p:cNvSpPr/>
          <p:nvPr/>
        </p:nvSpPr>
        <p:spPr>
          <a:xfrm>
            <a:off x="9323743" y="3747668"/>
            <a:ext cx="143432" cy="231343"/>
          </a:xfrm>
          <a:prstGeom prst="downArrow">
            <a:avLst/>
          </a:prstGeom>
          <a:solidFill>
            <a:srgbClr val="FF7A59">
              <a:alpha val="46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Up Arrow 46"/>
          <p:cNvSpPr/>
          <p:nvPr/>
        </p:nvSpPr>
        <p:spPr>
          <a:xfrm>
            <a:off x="9826663" y="3747668"/>
            <a:ext cx="143432" cy="231343"/>
          </a:xfrm>
          <a:prstGeom prst="upArrow">
            <a:avLst/>
          </a:prstGeom>
          <a:solidFill>
            <a:srgbClr val="7CC4FF">
              <a:alpha val="61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own Arrow 47"/>
          <p:cNvSpPr/>
          <p:nvPr/>
        </p:nvSpPr>
        <p:spPr>
          <a:xfrm>
            <a:off x="10329583" y="3747668"/>
            <a:ext cx="143432" cy="231343"/>
          </a:xfrm>
          <a:prstGeom prst="downArrow">
            <a:avLst/>
          </a:prstGeom>
          <a:solidFill>
            <a:srgbClr val="FF7A59">
              <a:alpha val="75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own Arrow 48"/>
          <p:cNvSpPr/>
          <p:nvPr/>
        </p:nvSpPr>
        <p:spPr>
          <a:xfrm>
            <a:off x="10832503" y="3747668"/>
            <a:ext cx="143432" cy="231343"/>
          </a:xfrm>
          <a:prstGeom prst="downArrow">
            <a:avLst/>
          </a:prstGeom>
          <a:solidFill>
            <a:srgbClr val="FF7A59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own Arrow 49"/>
          <p:cNvSpPr/>
          <p:nvPr/>
        </p:nvSpPr>
        <p:spPr>
          <a:xfrm>
            <a:off x="8317903" y="4250588"/>
            <a:ext cx="143432" cy="231343"/>
          </a:xfrm>
          <a:prstGeom prst="downArrow">
            <a:avLst/>
          </a:prstGeom>
          <a:solidFill>
            <a:srgbClr val="FF7A5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own Arrow 50"/>
          <p:cNvSpPr/>
          <p:nvPr/>
        </p:nvSpPr>
        <p:spPr>
          <a:xfrm>
            <a:off x="8820823" y="4250588"/>
            <a:ext cx="143432" cy="231343"/>
          </a:xfrm>
          <a:prstGeom prst="downArrow">
            <a:avLst/>
          </a:prstGeom>
          <a:solidFill>
            <a:srgbClr val="FF7A59">
              <a:alpha val="323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Up Arrow 51"/>
          <p:cNvSpPr/>
          <p:nvPr/>
        </p:nvSpPr>
        <p:spPr>
          <a:xfrm>
            <a:off x="9323743" y="4250588"/>
            <a:ext cx="143432" cy="231343"/>
          </a:xfrm>
          <a:prstGeom prst="upArrow">
            <a:avLst/>
          </a:prstGeom>
          <a:solidFill>
            <a:srgbClr val="7CC4FF">
              <a:alpha val="46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own Arrow 52"/>
          <p:cNvSpPr/>
          <p:nvPr/>
        </p:nvSpPr>
        <p:spPr>
          <a:xfrm>
            <a:off x="9826663" y="4250588"/>
            <a:ext cx="143432" cy="231343"/>
          </a:xfrm>
          <a:prstGeom prst="downArrow">
            <a:avLst/>
          </a:prstGeom>
          <a:solidFill>
            <a:srgbClr val="FF7A59">
              <a:alpha val="61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Up Arrow 53"/>
          <p:cNvSpPr/>
          <p:nvPr/>
        </p:nvSpPr>
        <p:spPr>
          <a:xfrm>
            <a:off x="10329583" y="4250588"/>
            <a:ext cx="143432" cy="231343"/>
          </a:xfrm>
          <a:prstGeom prst="upArrow">
            <a:avLst/>
          </a:prstGeom>
          <a:solidFill>
            <a:srgbClr val="7CC4FF">
              <a:alpha val="756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own Arrow 54"/>
          <p:cNvSpPr/>
          <p:nvPr/>
        </p:nvSpPr>
        <p:spPr>
          <a:xfrm>
            <a:off x="10832503" y="4250588"/>
            <a:ext cx="143432" cy="231343"/>
          </a:xfrm>
          <a:prstGeom prst="downArrow">
            <a:avLst/>
          </a:prstGeom>
          <a:solidFill>
            <a:srgbClr val="FF7A59">
              <a:alpha val="899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Up Arrow 55"/>
          <p:cNvSpPr/>
          <p:nvPr/>
        </p:nvSpPr>
        <p:spPr>
          <a:xfrm>
            <a:off x="11338560" y="2103120"/>
            <a:ext cx="365760" cy="2011680"/>
          </a:xfrm>
          <a:prstGeom prst="upArrow">
            <a:avLst/>
          </a:prstGeom>
          <a:solidFill>
            <a:srgbClr val="F5B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20c93cf97540e44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9426" y="4206240"/>
            <a:ext cx="224027" cy="364845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685800" y="4754880"/>
            <a:ext cx="10820095" cy="6858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7A59"/>
                </a:solidFill>
                <a:latin typeface="Calibri"/>
              </a:rPr>
              <a:t>Question:  </a:t>
            </a:r>
            <a:r>
              <a:rPr sz="1600" b="0">
                <a:solidFill>
                  <a:srgbClr val="EEF3FA"/>
                </a:solidFill>
                <a:latin typeface="Calibri"/>
              </a:rPr>
              <a:t>can h be measured from the content itself?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19495" y="6053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5B83D"/>
                </a:solidFill>
                <a:latin typeface="Calibri"/>
              </a:rPr>
              <a:t>Next: what testing the tools changed  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IDEA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gnifying-g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Testing the tools changed five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WE PLANNED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3258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7CC4FF"/>
                </a:solidFill>
                <a:latin typeface="Calibri"/>
              </a:rPr>
              <a:t>WE FOUND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Measure the amygdala</a:t>
            </a:r>
          </a:p>
        </p:txBody>
      </p:sp>
      <p:pic>
        <p:nvPicPr>
          <p:cNvPr id="10" name="Picture 9" descr="x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37944"/>
            <a:ext cx="274320" cy="274320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>
            <a:off x="4526280" y="1911095"/>
            <a:ext cx="457200" cy="146304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74920" y="1645920"/>
            <a:ext cx="642823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Model predicts the brain surface only, so we used surface areas</a:t>
            </a:r>
          </a:p>
        </p:txBody>
      </p:sp>
      <p:pic>
        <p:nvPicPr>
          <p:cNvPr id="13" name="Picture 12" descr="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1837944"/>
            <a:ext cx="274320" cy="2743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85800" y="2432304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Score as a ratio</a:t>
            </a:r>
          </a:p>
        </p:txBody>
      </p:sp>
      <p:pic>
        <p:nvPicPr>
          <p:cNvPr id="15" name="Picture 14" descr="x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624328"/>
            <a:ext cx="274320" cy="274320"/>
          </a:xfrm>
          <a:prstGeom prst="rect">
            <a:avLst/>
          </a:prstGeom>
        </p:spPr>
      </p:pic>
      <p:sp>
        <p:nvSpPr>
          <p:cNvPr id="16" name="Right Arrow 15"/>
          <p:cNvSpPr/>
          <p:nvPr/>
        </p:nvSpPr>
        <p:spPr>
          <a:xfrm>
            <a:off x="4526280" y="2697480"/>
            <a:ext cx="457200" cy="146304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74920" y="2432304"/>
            <a:ext cx="642823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Ratio undefined for 69 of 400, so we used a difference</a:t>
            </a:r>
          </a:p>
        </p:txBody>
      </p:sp>
      <p:pic>
        <p:nvPicPr>
          <p:cNvPr id="18" name="Picture 17" descr="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2624328"/>
            <a:ext cx="274320" cy="2743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85800" y="3218688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Outrage stands out most</a:t>
            </a:r>
          </a:p>
        </p:txBody>
      </p:sp>
      <p:pic>
        <p:nvPicPr>
          <p:cNvPr id="20" name="Picture 19" descr="x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410712"/>
            <a:ext cx="274320" cy="274320"/>
          </a:xfrm>
          <a:prstGeom prst="rect">
            <a:avLst/>
          </a:prstGeom>
        </p:spPr>
      </p:pic>
      <p:sp>
        <p:nvSpPr>
          <p:cNvPr id="21" name="Right Arrow 20"/>
          <p:cNvSpPr/>
          <p:nvPr/>
        </p:nvSpPr>
        <p:spPr>
          <a:xfrm>
            <a:off x="4526280" y="3483864"/>
            <a:ext cx="457200" cy="146304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74920" y="3218688"/>
            <a:ext cx="642823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Fear stands out; outrage lifts both areas equally</a:t>
            </a:r>
          </a:p>
        </p:txBody>
      </p:sp>
      <p:pic>
        <p:nvPicPr>
          <p:cNvPr id="23" name="Picture 22" descr="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3410712"/>
            <a:ext cx="274320" cy="27432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85800" y="4005072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Measure α, media's strength</a:t>
            </a:r>
          </a:p>
        </p:txBody>
      </p:sp>
      <p:pic>
        <p:nvPicPr>
          <p:cNvPr id="25" name="Picture 24" descr="x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197096"/>
            <a:ext cx="274320" cy="274320"/>
          </a:xfrm>
          <a:prstGeom prst="rect">
            <a:avLst/>
          </a:prstGeom>
        </p:spPr>
      </p:pic>
      <p:sp>
        <p:nvSpPr>
          <p:cNvPr id="26" name="Right Arrow 25"/>
          <p:cNvSpPr/>
          <p:nvPr/>
        </p:nvSpPr>
        <p:spPr>
          <a:xfrm>
            <a:off x="4526280" y="4270248"/>
            <a:ext cx="457200" cy="146304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74920" y="4005072"/>
            <a:ext cx="642823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Data can't pin α, so we derived its minimum</a:t>
            </a:r>
          </a:p>
        </p:txBody>
      </p:sp>
      <p:pic>
        <p:nvPicPr>
          <p:cNvPr id="28" name="Picture 27" descr="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4197096"/>
            <a:ext cx="274320" cy="27432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85800" y="4791456"/>
            <a:ext cx="3749039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A manipulation detector</a:t>
            </a:r>
          </a:p>
        </p:txBody>
      </p:sp>
      <p:pic>
        <p:nvPicPr>
          <p:cNvPr id="30" name="Picture 29" descr="x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4983480"/>
            <a:ext cx="274320" cy="274320"/>
          </a:xfrm>
          <a:prstGeom prst="rect">
            <a:avLst/>
          </a:prstGeom>
        </p:spPr>
      </p:pic>
      <p:sp>
        <p:nvSpPr>
          <p:cNvPr id="31" name="Right Arrow 30"/>
          <p:cNvSpPr/>
          <p:nvPr/>
        </p:nvSpPr>
        <p:spPr>
          <a:xfrm>
            <a:off x="4526280" y="5056632"/>
            <a:ext cx="457200" cy="146304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74920" y="4791456"/>
            <a:ext cx="642823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Word counting 0.98 vs our 0.63, so it's a measurement</a:t>
            </a:r>
          </a:p>
        </p:txBody>
      </p:sp>
      <p:pic>
        <p:nvPicPr>
          <p:cNvPr id="33" name="Picture 32" descr="check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4983480"/>
            <a:ext cx="274320" cy="2743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5800" y="56235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AABC4"/>
                </a:solidFill>
                <a:latin typeface="Calibri"/>
              </a:rPr>
              <a:t>All five are in the approved amendment.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9495" y="6053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5B83D"/>
                </a:solidFill>
                <a:latin typeface="Calibri"/>
              </a:rPr>
              <a:t>Next: how the measurement works 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IDEA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How one article becomes one number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1938528" cy="11887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8" name="Picture 7" descr="news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84" y="14173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1810512"/>
            <a:ext cx="193852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Article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400 news texts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70048" y="1847088"/>
            <a:ext cx="192024" cy="146304"/>
          </a:xfrm>
          <a:prstGeom prst="rightArrow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7792" y="1325880"/>
            <a:ext cx="1938528" cy="11887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12" name="Picture 11" descr="wave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176" y="1417320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07792" y="1810512"/>
            <a:ext cx="193852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Read aloud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text-to-speech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92040" y="1847088"/>
            <a:ext cx="192024" cy="146304"/>
          </a:xfrm>
          <a:prstGeom prst="rightArrow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9784" y="1325880"/>
            <a:ext cx="1938528" cy="11887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16" name="Picture 15" descr="text-a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68" y="1417320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29784" y="1810512"/>
            <a:ext cx="193852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Word timings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timing tool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14032" y="1847088"/>
            <a:ext cx="192024" cy="146304"/>
          </a:xfrm>
          <a:prstGeom prst="rightArrow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51776" y="1325880"/>
            <a:ext cx="1938528" cy="11887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20" name="Picture 19" descr="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417320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51776" y="1810512"/>
            <a:ext cx="193852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TRIBE v2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20,484 surface points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36024" y="1847088"/>
            <a:ext cx="192024" cy="146304"/>
          </a:xfrm>
          <a:prstGeom prst="rightArrow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73768" y="1325880"/>
            <a:ext cx="1938528" cy="11887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24" name="Picture 23" descr="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0152" y="1417320"/>
            <a:ext cx="365760" cy="36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573768" y="1810512"/>
            <a:ext cx="193852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Brain map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1,030 + 851 points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2697480"/>
            <a:ext cx="4846320" cy="28803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27" name="Picture 26" descr="instrument_arti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2770632"/>
            <a:ext cx="4663440" cy="27728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800" y="560527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EF3FA"/>
                </a:solidFill>
                <a:latin typeface="Calibri"/>
              </a:rPr>
              <a:t>One article: </a:t>
            </a:r>
            <a:r>
              <a:rPr sz="1100" b="0">
                <a:solidFill>
                  <a:srgbClr val="9AABC4"/>
                </a:solidFill>
                <a:latin typeface="Calibri"/>
              </a:rPr>
              <a:t>emotional +0.109 − deliberate +0.055 = score +0.054, highest of 400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2697480"/>
            <a:ext cx="5742432" cy="178308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30" name="TextBox 29"/>
          <p:cNvSpPr txBox="1"/>
          <p:nvPr/>
        </p:nvSpPr>
        <p:spPr>
          <a:xfrm>
            <a:off x="5943600" y="27706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THE SCORE, X</a:t>
            </a:r>
          </a:p>
        </p:txBody>
      </p:sp>
      <p:pic>
        <p:nvPicPr>
          <p:cNvPr id="31" name="Picture 30" descr="52c90d50f004ef1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5690" y="3017520"/>
            <a:ext cx="3012490" cy="324383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6035040" y="3767328"/>
            <a:ext cx="2560320" cy="9144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22792" y="3767328"/>
            <a:ext cx="2560320" cy="9144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95360" y="3648456"/>
            <a:ext cx="27432" cy="329184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3877056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7CC4FF"/>
                </a:solidFill>
                <a:latin typeface="Calibri"/>
              </a:rPr>
              <a:t>X &lt; 0: reasoning leads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2792" y="3877056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X &gt; 0: emotion leads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133087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Ā = average predicted activity; standardised, no unit  ·  nobody scanned</a:t>
            </a:r>
          </a:p>
        </p:txBody>
      </p:sp>
      <p:sp>
        <p:nvSpPr>
          <p:cNvPr id="38" name="Rounded Rectangle 37">
            <a:hlinkClick r:id="rId9"/>
          </p:cNvPr>
          <p:cNvSpPr/>
          <p:nvPr/>
        </p:nvSpPr>
        <p:spPr>
          <a:xfrm>
            <a:off x="5760720" y="4617720"/>
            <a:ext cx="5742432" cy="9601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39" name="Picture 38" descr="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4873752"/>
            <a:ext cx="420624" cy="42062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37960" y="4663440"/>
            <a:ext cx="48463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B83D"/>
                </a:solidFill>
                <a:latin typeface="Calibri"/>
              </a:rPr>
              <a:t>TRY THE INSTRUMENT LIVE</a:t>
            </a:r>
          </a:p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EEF3FA"/>
                </a:solidFill>
                <a:latin typeface="Calibri"/>
              </a:rPr>
              <a:t>monarch-4iy.pages.dev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code and data: github.com/brn-mwai/monarch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19495" y="6053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5B83D"/>
                </a:solidFill>
                <a:latin typeface="Calibri"/>
              </a:rPr>
              <a:t>Next: the 400 articles  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METHOD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ews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400 articles, four groups, matched in length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487168" cy="17373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2487168" cy="6400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248716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FF7A59"/>
                </a:solidFill>
                <a:latin typeface="Calibri"/>
              </a:rPr>
              <a:t>100</a:t>
            </a:r>
          </a:p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EF3FA"/>
                </a:solidFill>
                <a:latin typeface="Calibri"/>
              </a:rPr>
              <a:t>Fear-activating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fake news (ISOT)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2832" y="1417320"/>
            <a:ext cx="2487168" cy="17373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11" name="Rectangle 10"/>
          <p:cNvSpPr/>
          <p:nvPr/>
        </p:nvSpPr>
        <p:spPr>
          <a:xfrm>
            <a:off x="3462832" y="1417320"/>
            <a:ext cx="2487168" cy="64008"/>
          </a:xfrm>
          <a:prstGeom prst="rect">
            <a:avLst/>
          </a:prstGeom>
          <a:solidFill>
            <a:srgbClr val="F5B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2832" y="1600200"/>
            <a:ext cx="248716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F5B83D"/>
                </a:solidFill>
                <a:latin typeface="Calibri"/>
              </a:rPr>
              <a:t>100</a:t>
            </a:r>
          </a:p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EF3FA"/>
                </a:solidFill>
                <a:latin typeface="Calibri"/>
              </a:rPr>
              <a:t>High outrage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partisan news (SemEval)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9865" y="1417320"/>
            <a:ext cx="2487168" cy="17373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14" name="Rectangle 13"/>
          <p:cNvSpPr/>
          <p:nvPr/>
        </p:nvSpPr>
        <p:spPr>
          <a:xfrm>
            <a:off x="6239865" y="1417320"/>
            <a:ext cx="2487168" cy="64008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9865" y="1600200"/>
            <a:ext cx="248716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3E8EDE"/>
                </a:solidFill>
                <a:latin typeface="Calibri"/>
              </a:rPr>
              <a:t>100</a:t>
            </a:r>
          </a:p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EF3FA"/>
                </a:solidFill>
                <a:latin typeface="Calibri"/>
              </a:rPr>
              <a:t>Reward hook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clickbait (Webis)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6898" y="1417320"/>
            <a:ext cx="2487168" cy="17373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17" name="Rectangle 16"/>
          <p:cNvSpPr/>
          <p:nvPr/>
        </p:nvSpPr>
        <p:spPr>
          <a:xfrm>
            <a:off x="9016898" y="1417320"/>
            <a:ext cx="2487168" cy="64008"/>
          </a:xfrm>
          <a:prstGeom prst="rect">
            <a:avLst/>
          </a:prstGeom>
          <a:solidFill>
            <a:srgbClr val="9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6898" y="1600200"/>
            <a:ext cx="248716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9AABC4"/>
                </a:solidFill>
                <a:latin typeface="Calibri"/>
              </a:rPr>
              <a:t>100</a:t>
            </a:r>
          </a:p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EEF3FA"/>
                </a:solidFill>
                <a:latin typeface="Calibri"/>
              </a:rPr>
              <a:t>Neutral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medical + real news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7472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7CC4FF"/>
                </a:solidFill>
                <a:latin typeface="Calibri"/>
              </a:rPr>
              <a:t>162–167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average words per article,
lowest to highest group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9976" y="347472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5FD09A"/>
                </a:solidFill>
                <a:latin typeface="Calibri"/>
              </a:rPr>
              <a:t>0.027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smallest η² 400 articles can
detect, set before scanning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2" y="3474720"/>
            <a:ext cx="3429000" cy="16002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F5B83D"/>
                </a:solidFill>
                <a:latin typeface="Calibri"/>
              </a:rPr>
              <a:t>× 2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every article
scanned twice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30352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EEF3FA"/>
                </a:solidFill>
                <a:latin typeface="Calibri"/>
              </a:rPr>
              <a:t>All 400, with scores:  </a:t>
            </a:r>
            <a:r>
              <a:rPr sz="1400" b="1">
                <a:solidFill>
                  <a:srgbClr val="F5B83D"/>
                </a:solidFill>
                <a:latin typeface="Calibri"/>
              </a:rPr>
              <a:t>monarch-4iy.pages.dev/corpus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9495" y="6053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5B83D"/>
                </a:solidFill>
                <a:latin typeface="Calibri"/>
              </a:rPr>
              <a:t>Next: reading the corpus page 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METHOD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ews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Reading the corpus page: what each number means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669280" cy="42062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COLUMN   →   MEANING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783080"/>
            <a:ext cx="1737360" cy="49377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5B83D"/>
                </a:solidFill>
                <a:latin typeface="Calibri"/>
              </a:rPr>
              <a:t>Emotional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783080"/>
            <a:ext cx="3474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average predicted activity, 1,030 emotional 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386584"/>
            <a:ext cx="1737360" cy="49377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5B83D"/>
                </a:solidFill>
                <a:latin typeface="Calibri"/>
              </a:rPr>
              <a:t>Deliberate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86584"/>
            <a:ext cx="3474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average predicted activity, 851 reasoning 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990088"/>
            <a:ext cx="1737360" cy="49377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5B83D"/>
                </a:solidFill>
                <a:latin typeface="Calibri"/>
              </a:rP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990088"/>
            <a:ext cx="3474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Emotional − Deliberate = 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593591"/>
            <a:ext cx="1737360" cy="49377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5B83D"/>
                </a:solidFill>
                <a:latin typeface="Calibri"/>
              </a:rPr>
              <a:t>Pre-scan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93591"/>
            <a:ext cx="3474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label from its source, given before any scan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197096"/>
            <a:ext cx="1737360" cy="49377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5B83D"/>
                </a:solidFill>
                <a:latin typeface="Calibri"/>
              </a:rPr>
              <a:t>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197096"/>
            <a:ext cx="347472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article length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EF3FA"/>
                </a:solidFill>
                <a:latin typeface="Calibri"/>
              </a:rPr>
              <a:t>All 400 scores: </a:t>
            </a:r>
            <a:r>
              <a:rPr sz="1300" b="0">
                <a:solidFill>
                  <a:srgbClr val="EEF3FA"/>
                </a:solidFill>
                <a:latin typeface="Calibri"/>
              </a:rPr>
              <a:t>−0.070 to +0.054, spread ΔX = 0.124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Units: standardised activity, no physical unit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325880"/>
            <a:ext cx="4919472" cy="42062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21" name="TextBox 20"/>
          <p:cNvSpPr txBox="1"/>
          <p:nvPr/>
        </p:nvSpPr>
        <p:spPr>
          <a:xfrm>
            <a:off x="6766560" y="14173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AVERAGE SCORE X PER GROUP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64240" y="1783080"/>
            <a:ext cx="18288" cy="28346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0" y="46177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EEF3FA"/>
                </a:solidFill>
                <a:latin typeface="Calibri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00892" y="2148839"/>
            <a:ext cx="263347" cy="27432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856231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EF3FA"/>
                </a:solidFill>
                <a:latin typeface="Calibri"/>
              </a:rPr>
              <a:t>Fear-activating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7892" y="2112263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F7A59"/>
                </a:solidFill>
                <a:latin typeface="Calibri"/>
              </a:rPr>
              <a:t>-0.002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91548" y="2834639"/>
            <a:ext cx="1872691" cy="274320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54203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EF3FA"/>
                </a:solidFill>
                <a:latin typeface="Calibri"/>
              </a:rPr>
              <a:t>Reward hook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8548" y="2798063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3E8EDE"/>
                </a:solidFill>
                <a:latin typeface="Calibri"/>
              </a:rPr>
              <a:t>-0.013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57616" y="3520439"/>
            <a:ext cx="2706624" cy="274320"/>
          </a:xfrm>
          <a:prstGeom prst="rect">
            <a:avLst/>
          </a:prstGeom>
          <a:solidFill>
            <a:srgbClr val="F5B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22783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EF3FA"/>
                </a:solidFill>
                <a:latin typeface="Calibri"/>
              </a:rPr>
              <a:t>High outrage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4616" y="3483863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F5B83D"/>
                </a:solidFill>
                <a:latin typeface="Calibri"/>
              </a:rPr>
              <a:t>-0.018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69833" y="4206240"/>
            <a:ext cx="2794406" cy="274320"/>
          </a:xfrm>
          <a:prstGeom prst="rect">
            <a:avLst/>
          </a:prstGeom>
          <a:solidFill>
            <a:srgbClr val="9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391363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EF3FA"/>
                </a:solidFill>
                <a:latin typeface="Calibri"/>
              </a:rPr>
              <a:t>Neutral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6833" y="4169663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 i="0">
                <a:solidFill>
                  <a:srgbClr val="9AABC4"/>
                </a:solidFill>
                <a:latin typeface="Calibri"/>
              </a:rPr>
              <a:t>-0.019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89204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All four below 0: the deliberate areas respond more in every group.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66928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EF3FA"/>
                </a:solidFill>
                <a:latin typeface="Calibri"/>
              </a:rPr>
              <a:t>Live: </a:t>
            </a:r>
            <a:r>
              <a:rPr sz="1300" b="1">
                <a:solidFill>
                  <a:srgbClr val="F5B83D"/>
                </a:solidFill>
                <a:latin typeface="Calibri"/>
              </a:rPr>
              <a:t>monarch-4iy.pages.dev/corpus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19495" y="6053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5B83D"/>
                </a:solidFill>
                <a:latin typeface="Calibri"/>
              </a:rPr>
              <a:t>Next: are these differences real?  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METHOD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-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Result 1: the four groups differ, η² = 0.107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325880"/>
          <a:ext cx="338328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256032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EEF3FA"/>
                </a:solidFill>
                <a:latin typeface="Calibri"/>
              </a:rPr>
              <a:t>10.7%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0916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7CC4FF"/>
                </a:solidFill>
                <a:latin typeface="Calibri"/>
              </a:rPr>
              <a:t>10.7% </a:t>
            </a:r>
            <a:r>
              <a:rPr sz="1400" b="0">
                <a:solidFill>
                  <a:srgbClr val="EEF3FA"/>
                </a:solidFill>
                <a:latin typeface="Calibri"/>
              </a:rPr>
              <a:t>of the variation in the score is due to the group</a:t>
            </a:r>
          </a:p>
        </p:txBody>
      </p:sp>
      <p:pic>
        <p:nvPicPr>
          <p:cNvPr id="10" name="Picture 9" descr="77685d6b0a4c6b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371600"/>
            <a:ext cx="2768574" cy="4903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43400" y="2331720"/>
            <a:ext cx="7132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η² ON EACH RUN (one-way ANOVA), AGAINST THE SMALLEST WE COULD 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399" y="2679192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9AABC4"/>
                </a:solidFill>
                <a:latin typeface="Calibri"/>
              </a:rPr>
              <a:t>first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2743200"/>
            <a:ext cx="420624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2743200"/>
            <a:ext cx="3743553" cy="27432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0" y="267919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7CC4FF"/>
                </a:solidFill>
                <a:latin typeface="Calibri"/>
              </a:rPr>
              <a:t>0.107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3182112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9AABC4"/>
                </a:solidFill>
                <a:latin typeface="Calibri"/>
              </a:rPr>
              <a:t>second 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3246120"/>
            <a:ext cx="420624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06440" y="3246120"/>
            <a:ext cx="3112617" cy="274320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318211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E8EDE"/>
                </a:solidFill>
                <a:latin typeface="Calibri"/>
              </a:rPr>
              <a:t>0.089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3685031"/>
            <a:ext cx="1325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9AABC4"/>
                </a:solidFill>
                <a:latin typeface="Calibri"/>
              </a:rPr>
              <a:t>detectable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3749039"/>
            <a:ext cx="420624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06440" y="3749039"/>
            <a:ext cx="939393" cy="274320"/>
          </a:xfrm>
          <a:prstGeom prst="rect">
            <a:avLst/>
          </a:prstGeom>
          <a:solidFill>
            <a:srgbClr val="9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3685031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9AABC4"/>
                </a:solidFill>
                <a:latin typeface="Calibri"/>
              </a:rPr>
              <a:t>0.027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343400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3E8E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3E8EDE"/>
                </a:solidFill>
                <a:latin typeface="Calibri"/>
              </a:rPr>
              <a:t>F = 15.779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EF3FA"/>
                </a:solidFill>
                <a:latin typeface="Calibri"/>
              </a:rPr>
              <a:t>between-group spread ÷ within-group spread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4343400"/>
            <a:ext cx="3474720" cy="11887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5FD09A"/>
                </a:solidFill>
                <a:latin typeface="Calibri"/>
              </a:rPr>
              <a:t>p = 1.0 × 10⁻⁹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EF3FA"/>
                </a:solidFill>
                <a:latin typeface="Calibri"/>
              </a:rPr>
              <a:t>probability of F this large if all 4 groups were equal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235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SS = sum of squares. The other 89.3% is article to article.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9495" y="6053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5B83D"/>
                </a:solidFill>
                <a:latin typeface="Calibri"/>
              </a:rPr>
              <a:t>Next: which group drives it? 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RESULTS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-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Result 2: fear drives it, d = 0.94; outrage lifts both sides equally</a:t>
            </a:r>
          </a:p>
        </p:txBody>
      </p:sp>
      <p:pic>
        <p:nvPicPr>
          <p:cNvPr id="7" name="Picture 6" descr="75fb8530cacd19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1673352" cy="3931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66160" y="141732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d = distance from neutral in standard deviations (s). Reference marks 0.2, 0.5, 0.8.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8768" y="2103120"/>
            <a:ext cx="13716" cy="1554480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7" y="190195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0.2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79" y="2103120"/>
            <a:ext cx="13716" cy="1554480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90195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0.5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9792" y="2103120"/>
            <a:ext cx="13716" cy="1554480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1152" y="190195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799" y="2176272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fear-activating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240280"/>
            <a:ext cx="603504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51760" y="2240280"/>
            <a:ext cx="5666902" cy="27432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217627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7A59"/>
                </a:solidFill>
                <a:latin typeface="Calibri"/>
              </a:rPr>
              <a:t>0.94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" y="2679192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reward hook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2743200"/>
            <a:ext cx="603504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51760" y="2743200"/>
            <a:ext cx="1925177" cy="274320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3960" y="267919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E8EDE"/>
                </a:solidFill>
                <a:latin typeface="Calibri"/>
              </a:rPr>
              <a:t>0.32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799" y="3182112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0" i="0">
                <a:solidFill>
                  <a:srgbClr val="9AABC4"/>
                </a:solidFill>
                <a:latin typeface="Calibri"/>
              </a:rPr>
              <a:t>high outrage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3246120"/>
            <a:ext cx="603504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1760" y="3246120"/>
            <a:ext cx="181051" cy="274320"/>
          </a:xfrm>
          <a:prstGeom prst="rect">
            <a:avLst/>
          </a:prstGeom>
          <a:solidFill>
            <a:srgbClr val="F5B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60" y="318211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B83D"/>
                </a:solidFill>
                <a:latin typeface="Calibri"/>
              </a:rPr>
              <a:t>0.03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84048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28" name="TextBox 27"/>
          <p:cNvSpPr txBox="1"/>
          <p:nvPr/>
        </p:nvSpPr>
        <p:spPr>
          <a:xfrm>
            <a:off x="3429000" y="3977639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FEAR, d per region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5074920"/>
            <a:ext cx="2194560" cy="18288"/>
          </a:xfrm>
          <a:prstGeom prst="rect">
            <a:avLst/>
          </a:prstGeom>
          <a:solidFill>
            <a:srgbClr val="9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" y="4178076"/>
            <a:ext cx="640080" cy="896843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3903756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+0.61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2578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emotional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03120" y="5074920"/>
            <a:ext cx="640080" cy="143377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39" y="48006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7CC4FF"/>
                </a:solidFill>
                <a:latin typeface="Calibri"/>
              </a:rPr>
              <a:t>-0.10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39" y="52578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deliberate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4343400"/>
            <a:ext cx="23774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7A59"/>
                </a:solidFill>
                <a:latin typeface="Calibri"/>
              </a:rPr>
              <a:t>score moves:
d = 0.94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5352" y="384048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38" name="TextBox 37"/>
          <p:cNvSpPr txBox="1"/>
          <p:nvPr/>
        </p:nvSpPr>
        <p:spPr>
          <a:xfrm>
            <a:off x="8988552" y="3977639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5B83D"/>
                </a:solidFill>
                <a:latin typeface="Calibri"/>
              </a:rPr>
              <a:t>OUTRAGE, d per region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19672" y="5074920"/>
            <a:ext cx="2194560" cy="18288"/>
          </a:xfrm>
          <a:prstGeom prst="rect">
            <a:avLst/>
          </a:prstGeom>
          <a:solidFill>
            <a:srgbClr val="9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02552" y="4333158"/>
            <a:ext cx="640080" cy="741761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9672" y="405883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+0.51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9672" y="52578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emotional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62672" y="4356567"/>
            <a:ext cx="640080" cy="71835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9792" y="4082247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7CC4FF"/>
                </a:solidFill>
                <a:latin typeface="Calibri"/>
              </a:rPr>
              <a:t>+0.49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9792" y="52578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9AABC4"/>
                </a:solidFill>
                <a:latin typeface="Calibri"/>
              </a:rPr>
              <a:t>deliberate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88552" y="4343400"/>
            <a:ext cx="23774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5B83D"/>
                </a:solidFill>
                <a:latin typeface="Calibri"/>
              </a:rPr>
              <a:t>score flat:
d = 0.03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9495" y="6053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5B83D"/>
                </a:solidFill>
                <a:latin typeface="Calibri"/>
              </a:rPr>
              <a:t>Next: can we trust the scores?  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RESULTS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rows-clockw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Result 3: scores repeat for groups, not single articles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5257800" cy="31089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257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7CC4FF"/>
                </a:solidFill>
                <a:latin typeface="Calibri"/>
              </a:rPr>
              <a:t>0.8725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ICC: agreement between two runs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200400"/>
            <a:ext cx="4526280" cy="274320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3200400"/>
            <a:ext cx="3949179" cy="27432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0 = none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5661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1 = identical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371600"/>
            <a:ext cx="5257800" cy="31089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14" name="TextBox 13"/>
          <p:cNvSpPr txBox="1"/>
          <p:nvPr/>
        </p:nvSpPr>
        <p:spPr>
          <a:xfrm>
            <a:off x="6245352" y="1508760"/>
            <a:ext cx="5257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FF7A59"/>
                </a:solidFill>
                <a:latin typeface="Calibri"/>
              </a:rPr>
              <a:t>51 of 400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changed sign between runs (12.8%)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337560"/>
            <a:ext cx="4572000" cy="18288"/>
          </a:xfrm>
          <a:prstGeom prst="rect">
            <a:avLst/>
          </a:prstGeom>
          <a:solidFill>
            <a:srgbClr val="9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93280" y="3200400"/>
            <a:ext cx="3505199" cy="292608"/>
          </a:xfrm>
          <a:prstGeom prst="rect">
            <a:avLst/>
          </a:prstGeom>
          <a:solidFill>
            <a:srgbClr val="3E8ED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97112" y="3108960"/>
            <a:ext cx="36576" cy="475488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50352" y="3236976"/>
            <a:ext cx="219456" cy="219456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3749039"/>
            <a:ext cx="5257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7A59"/>
                </a:solidFill>
                <a:latin typeface="Calibri"/>
              </a:rPr>
              <a:t>● observed 51   </a:t>
            </a:r>
            <a:r>
              <a:rPr sz="1200" b="1">
                <a:solidFill>
                  <a:srgbClr val="7CC4FF"/>
                </a:solidFill>
                <a:latin typeface="Calibri"/>
              </a:rPr>
              <a:t>▌noise predicts 55 (95%: 44 to 67)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754880"/>
            <a:ext cx="10820095" cy="56692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B83D"/>
                </a:solidFill>
                <a:latin typeface="Calibri"/>
              </a:rPr>
              <a:t>Meaning:  </a:t>
            </a:r>
            <a:r>
              <a:rPr sz="1500" b="0">
                <a:solidFill>
                  <a:srgbClr val="EEF3FA"/>
                </a:solidFill>
                <a:latin typeface="Calibri"/>
              </a:rPr>
              <a:t>flipped articles average |X| = 0.003 against 0.022 for the rest, so we report group averages only.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9495" y="6053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5B83D"/>
                </a:solidFill>
                <a:latin typeface="Calibri"/>
              </a:rPr>
              <a:t>Next: does the score detect manipulation? 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RESULTS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Honest check: word counting beats our score, 0.98 vs 0.63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AABC4"/>
                </a:solidFill>
                <a:latin typeface="Calibri"/>
              </a:rPr>
              <a:t>AUC = chance a random manipulative article scores above a random neutral 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514600"/>
            <a:ext cx="9784080" cy="54864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974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0.5 = coin toss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0" y="26974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1.0 = perfect</a:t>
            </a:r>
          </a:p>
        </p:txBody>
      </p:sp>
      <p:sp>
        <p:nvSpPr>
          <p:cNvPr id="11" name="Oval 10"/>
          <p:cNvSpPr/>
          <p:nvPr/>
        </p:nvSpPr>
        <p:spPr>
          <a:xfrm>
            <a:off x="1809487" y="2395728"/>
            <a:ext cx="292608" cy="292608"/>
          </a:xfrm>
          <a:prstGeom prst="ellipse">
            <a:avLst/>
          </a:prstGeom>
          <a:solidFill>
            <a:srgbClr val="9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071" y="29718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9AABC4"/>
                </a:solidFill>
                <a:latin typeface="Calibri"/>
              </a:rPr>
              <a:t>sentiment 0.54</a:t>
            </a:r>
          </a:p>
        </p:txBody>
      </p:sp>
      <p:sp>
        <p:nvSpPr>
          <p:cNvPr id="13" name="Oval 12"/>
          <p:cNvSpPr/>
          <p:nvPr/>
        </p:nvSpPr>
        <p:spPr>
          <a:xfrm>
            <a:off x="3535399" y="2395728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2983" y="194767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7CC4FF"/>
                </a:solidFill>
                <a:latin typeface="Calibri"/>
              </a:rPr>
              <a:t>our score 0.63</a:t>
            </a:r>
          </a:p>
        </p:txBody>
      </p:sp>
      <p:sp>
        <p:nvSpPr>
          <p:cNvPr id="15" name="Oval 14"/>
          <p:cNvSpPr/>
          <p:nvPr/>
        </p:nvSpPr>
        <p:spPr>
          <a:xfrm>
            <a:off x="10352946" y="2395728"/>
            <a:ext cx="292608" cy="292608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0530" y="194767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7A59"/>
                </a:solidFill>
                <a:latin typeface="Calibri"/>
              </a:rPr>
              <a:t>word counting 0.98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WHY: EACH GROUP CAME FROM ONE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fear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697480" y="3785615"/>
            <a:ext cx="457200" cy="128016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46120" y="3657600"/>
            <a:ext cx="2286000" cy="38404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ISOT fake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14800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outrage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697480" y="4242816"/>
            <a:ext cx="457200" cy="128016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46120" y="4114800"/>
            <a:ext cx="2286000" cy="38404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SemEval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572000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reward hook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697480" y="4700016"/>
            <a:ext cx="457200" cy="128016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46120" y="4572000"/>
            <a:ext cx="2286000" cy="38404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Webis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29200"/>
            <a:ext cx="1920240" cy="38404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neutral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697480" y="5157216"/>
            <a:ext cx="457200" cy="128016"/>
          </a:xfrm>
          <a:prstGeom prst="rightArrow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46120" y="5029200"/>
            <a:ext cx="2286000" cy="38404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PubMed + ISOT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3383280"/>
            <a:ext cx="2560320" cy="16916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FF7A59"/>
                </a:solidFill>
                <a:latin typeface="Calibri"/>
              </a:rPr>
              <a:t>66%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of articles: words identify
the source (chance 25%)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3383280"/>
            <a:ext cx="2724912" cy="16916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32" name="TextBox 31"/>
          <p:cNvSpPr txBox="1"/>
          <p:nvPr/>
        </p:nvSpPr>
        <p:spPr>
          <a:xfrm>
            <a:off x="8915400" y="3474720"/>
            <a:ext cx="24688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CC4FF"/>
                </a:solidFill>
                <a:latin typeface="Calibri"/>
              </a:rPr>
              <a:t>So our score is a measurement for the physics, not a detector.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9495" y="6053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5B83D"/>
                </a:solidFill>
                <a:latin typeface="Calibri"/>
              </a:rPr>
              <a:t>Next: does the brain model match real brains?  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RESULTS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Does the brain model match real brains? r = +0.028, p = 0.048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8200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AABC4"/>
                </a:solidFill>
                <a:latin typeface="Calibri"/>
              </a:rPr>
              <a:t>Public brain scans of 4 people watching Friends (Algonauts 2025).  r = correlation: 0 = no match, 1 = perfect.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5623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9AABC4"/>
                </a:solidFill>
                <a:latin typeface="Calibri"/>
              </a:rPr>
              <a:t>people vs each other,
full episode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920240"/>
            <a:ext cx="621792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920240"/>
            <a:ext cx="5548579" cy="274320"/>
          </a:xfrm>
          <a:prstGeom prst="rect">
            <a:avLst/>
          </a:prstGeom>
          <a:solidFill>
            <a:srgbClr val="9AA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920" y="185623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9AABC4"/>
                </a:solidFill>
                <a:latin typeface="Calibri"/>
              </a:rPr>
              <a:t>0.152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8775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9AABC4"/>
                </a:solidFill>
                <a:latin typeface="Calibri"/>
              </a:rPr>
              <a:t>ceiling,
2-minute clip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651760"/>
            <a:ext cx="621792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651760"/>
            <a:ext cx="3507638" cy="27432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258775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7CC4FF"/>
                </a:solidFill>
                <a:latin typeface="Calibri"/>
              </a:rPr>
              <a:t>0.096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9AABC4"/>
                </a:solidFill>
                <a:latin typeface="Calibri"/>
              </a:rPr>
              <a:t>our model,
2-minute clip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383280"/>
            <a:ext cx="6217920" cy="274320"/>
          </a:xfrm>
          <a:prstGeom prst="rect">
            <a:avLst/>
          </a:prstGeom>
          <a:solidFill>
            <a:srgbClr val="2A3D5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3383280"/>
            <a:ext cx="1035100" cy="274320"/>
          </a:xfrm>
          <a:prstGeom prst="rect">
            <a:avLst/>
          </a:prstGeom>
          <a:solidFill>
            <a:srgbClr val="5F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3319272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FD09A"/>
                </a:solidFill>
                <a:latin typeface="Calibri"/>
              </a:rPr>
              <a:t>0.028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51960"/>
            <a:ext cx="3429000" cy="12344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5FD09A"/>
                </a:solidFill>
                <a:latin typeface="Calibri"/>
              </a:rPr>
              <a:t>30%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of the clip ceiling
(0.028 ÷ 0.096)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4251960"/>
            <a:ext cx="3429000" cy="12344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5B83D"/>
                </a:solidFill>
                <a:latin typeface="Calibri"/>
              </a:rPr>
              <a:t>p = 0.048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against 61 time-shifted copies;
cut-off 0.05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4152" y="4251960"/>
            <a:ext cx="3429000" cy="12344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FF7A59"/>
                </a:solidFill>
                <a:latin typeface="Calibri"/>
              </a:rPr>
              <a:t>3 bugs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found and fixed along the way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577840"/>
            <a:ext cx="10820095" cy="4572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B83D"/>
                </a:solidFill>
                <a:latin typeface="Calibri"/>
              </a:rPr>
              <a:t>Meaning:  </a:t>
            </a:r>
            <a:r>
              <a:rPr sz="1500" b="0">
                <a:solidFill>
                  <a:srgbClr val="EEF3FA"/>
                </a:solidFill>
                <a:latin typeface="Calibri"/>
              </a:rPr>
              <a:t>the sign is positive (+0.028). The full-episode run is next, in Paper 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9495" y="6053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5B83D"/>
                </a:solidFill>
                <a:latin typeface="Calibri"/>
              </a:rPr>
              <a:t>Next: the physics 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RESULTS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THE PHYSICS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The minimum push media would need: α ≥ 4.29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12080" cy="434340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8" name="Picture 7" descr="1d5e9130446c27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843" y="1508760"/>
            <a:ext cx="3145993" cy="579272"/>
          </a:xfrm>
          <a:prstGeom prst="rect">
            <a:avLst/>
          </a:prstGeom>
        </p:spPr>
      </p:pic>
      <p:pic>
        <p:nvPicPr>
          <p:cNvPr id="9" name="Picture 8" descr="20c93cf97540e4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290" y="2542032"/>
            <a:ext cx="152019" cy="2475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83080" y="2487168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CC4FF"/>
                </a:solidFill>
                <a:latin typeface="Calibri"/>
              </a:rPr>
              <a:t>external field  </a:t>
            </a:r>
            <a:r>
              <a:rPr sz="1300" b="0">
                <a:solidFill>
                  <a:srgbClr val="EEF3FA"/>
                </a:solidFill>
                <a:latin typeface="Calibri"/>
              </a:rPr>
              <a:t>= media's push on everyone</a:t>
            </a:r>
          </a:p>
        </p:txBody>
      </p:sp>
      <p:pic>
        <p:nvPicPr>
          <p:cNvPr id="11" name="Picture 10" descr="a2dd4f017e3f8d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371" y="3063240"/>
            <a:ext cx="225856" cy="2475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83080" y="3008376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CC4FF"/>
                </a:solidFill>
                <a:latin typeface="Calibri"/>
              </a:rPr>
              <a:t>observable  </a:t>
            </a:r>
            <a:r>
              <a:rPr sz="1300" b="0">
                <a:solidFill>
                  <a:srgbClr val="EEF3FA"/>
                </a:solidFill>
                <a:latin typeface="Calibri"/>
              </a:rPr>
              <a:t>= our score for an article</a:t>
            </a:r>
          </a:p>
        </p:txBody>
      </p:sp>
      <p:pic>
        <p:nvPicPr>
          <p:cNvPr id="13" name="Picture 12" descr="5272f2755a3e4bf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4775" y="3584448"/>
            <a:ext cx="165049" cy="2475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83080" y="3529584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CC4FF"/>
                </a:solidFill>
                <a:latin typeface="Calibri"/>
              </a:rPr>
              <a:t>coupling constant  </a:t>
            </a:r>
            <a:r>
              <a:rPr sz="1300" b="0">
                <a:solidFill>
                  <a:srgbClr val="EEF3FA"/>
                </a:solidFill>
                <a:latin typeface="Calibri"/>
              </a:rPr>
              <a:t>= push per unit of score</a:t>
            </a:r>
          </a:p>
        </p:txBody>
      </p:sp>
      <p:pic>
        <p:nvPicPr>
          <p:cNvPr id="15" name="Picture 14" descr="3083b7f6cdc240b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1114" y="4105655"/>
            <a:ext cx="232371" cy="2475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83080" y="4050791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CC4FF"/>
                </a:solidFill>
                <a:latin typeface="Calibri"/>
              </a:rPr>
              <a:t>critical field  </a:t>
            </a:r>
            <a:r>
              <a:rPr sz="1300" b="0">
                <a:solidFill>
                  <a:srgbClr val="EEF3FA"/>
                </a:solidFill>
                <a:latin typeface="Calibri"/>
              </a:rPr>
              <a:t>= smallest push that flips the majority</a:t>
            </a:r>
          </a:p>
        </p:txBody>
      </p:sp>
      <p:pic>
        <p:nvPicPr>
          <p:cNvPr id="17" name="Picture 16" descr="92db4915de0152d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023" y="4626864"/>
            <a:ext cx="310553" cy="24974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783080" y="4572000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CC4FF"/>
                </a:solidFill>
                <a:latin typeface="Calibri"/>
              </a:rPr>
              <a:t>reduced coupling  </a:t>
            </a:r>
            <a:r>
              <a:rPr sz="1300" b="0">
                <a:solidFill>
                  <a:srgbClr val="EEF3FA"/>
                </a:solidFill>
                <a:latin typeface="Calibri"/>
              </a:rPr>
              <a:t>= how strongly people copy each other</a:t>
            </a:r>
          </a:p>
        </p:txBody>
      </p:sp>
      <p:pic>
        <p:nvPicPr>
          <p:cNvPr id="19" name="Picture 18" descr="4b880f26890debb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3387" y="5148072"/>
            <a:ext cx="427824" cy="2475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783080" y="5093208"/>
            <a:ext cx="4023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CC4FF"/>
                </a:solidFill>
                <a:latin typeface="Calibri"/>
              </a:rPr>
              <a:t>spread  </a:t>
            </a:r>
            <a:r>
              <a:rPr sz="1300" b="0">
                <a:solidFill>
                  <a:srgbClr val="EEF3FA"/>
                </a:solidFill>
                <a:latin typeface="Calibri"/>
              </a:rPr>
              <a:t>= highest − lowest score = 0.124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172200" y="1280160"/>
          <a:ext cx="5394960" cy="338328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172200" y="457200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reduced coupling βJ 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234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minimum 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892040"/>
            <a:ext cx="5330952" cy="7772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7A59"/>
                </a:solidFill>
                <a:latin typeface="Calibri"/>
              </a:rPr>
              <a:t>α ≥ 0.533 ÷ 0.124 = 4.29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EF3FA"/>
                </a:solidFill>
                <a:latin typeface="Calibri"/>
              </a:rPr>
              <a:t>at βJ = 2, where the critical field is 0.533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9495" y="6053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5B83D"/>
                </a:solidFill>
                <a:latin typeface="Calibri"/>
              </a:rPr>
              <a:t>Next: what it could be used for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THE PHYSICS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2A3D5E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Can it analyse any content, even what children watch?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429000" cy="35204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8" name="Picture 7" descr="check-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80" y="155448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219456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5FD09A"/>
                </a:solidFill>
                <a:latin typeface="Calibri"/>
              </a:rPr>
              <a:t>CAN 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697480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Score video, audio and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410712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Compare groups of content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123944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Rate content, never the viewer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371600"/>
            <a:ext cx="3429000" cy="35204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14" name="Picture 13" descr="x-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156" y="1554480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79976" y="219456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7A59"/>
                </a:solidFill>
                <a:latin typeface="Calibri"/>
              </a:rPr>
              <a:t>NOT YET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2856" y="2697480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Model learned from adult brains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62856" y="3410712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Only news text was tested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62856" y="4123944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1 in 8 single scores flip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371600"/>
            <a:ext cx="3429000" cy="35204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20" name="Picture 19" descr="flag-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4332" y="1554480"/>
            <a:ext cx="548640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074152" y="219456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7CC4FF"/>
                </a:solidFill>
                <a:latin typeface="Calibri"/>
              </a:rPr>
              <a:t>WOULD TAKE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57031" y="2697480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Child brain data, with ethics 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57031" y="3410712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A children's video test 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7031" y="4123944"/>
            <a:ext cx="3063240" cy="603504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Safeguards against targeting children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120640"/>
            <a:ext cx="10820095" cy="54864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5B83D"/>
                </a:solidFill>
                <a:latin typeface="Calibri"/>
              </a:rPr>
              <a:t>Short answer:  </a:t>
            </a:r>
            <a:r>
              <a:rPr sz="1600" b="0">
                <a:solidFill>
                  <a:srgbClr val="EEF3FA"/>
                </a:solidFill>
                <a:latin typeface="Calibri"/>
              </a:rPr>
              <a:t>technically possible, but not yet valid for children.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9495" y="6053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5B83D"/>
                </a:solidFill>
                <a:latin typeface="Calibri"/>
              </a:rPr>
              <a:t>Next: the limits, and what fixes each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WHAT'S NEXT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x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Each limit points to the next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7A59"/>
                </a:solidFill>
                <a:latin typeface="Calibri"/>
              </a:rPr>
              <a:t>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3258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FD09A"/>
                </a:solidFill>
                <a:latin typeface="Calibri"/>
              </a:rPr>
              <a:t>NEXT STUDY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645920"/>
            <a:ext cx="4434840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Predictions, not brain scans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166360" y="1911095"/>
            <a:ext cx="411480" cy="146304"/>
          </a:xfrm>
          <a:prstGeom prst="rightArrow">
            <a:avLst/>
          </a:prstGeom>
          <a:solidFill>
            <a:srgbClr val="5F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0" y="1645920"/>
            <a:ext cx="583387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Check against more real brain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32304"/>
            <a:ext cx="4434840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Group mixed up with source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166360" y="2697480"/>
            <a:ext cx="411480" cy="146304"/>
          </a:xfrm>
          <a:prstGeom prst="rightArrow">
            <a:avLst/>
          </a:prstGeom>
          <a:solidFill>
            <a:srgbClr val="5F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2432304"/>
            <a:ext cx="583387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New set: every source has every 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18688"/>
            <a:ext cx="4434840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Brain surface only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66360" y="3483864"/>
            <a:ext cx="411480" cy="146304"/>
          </a:xfrm>
          <a:prstGeom prst="rightArrow">
            <a:avLst/>
          </a:prstGeom>
          <a:solidFill>
            <a:srgbClr val="5F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0" y="3218688"/>
            <a:ext cx="583387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A model that predicts deep areas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05072"/>
            <a:ext cx="4434840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α not measured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166360" y="4270248"/>
            <a:ext cx="411480" cy="146304"/>
          </a:xfrm>
          <a:prstGeom prst="rightArrow">
            <a:avLst/>
          </a:prstGeom>
          <a:solidFill>
            <a:srgbClr val="5F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0" y="4005072"/>
            <a:ext cx="583387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Link scores to real opinion data (polls)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791456"/>
            <a:ext cx="4434840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Brain check is 2 minutes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166360" y="5056632"/>
            <a:ext cx="411480" cy="146304"/>
          </a:xfrm>
          <a:prstGeom prst="rightArrow">
            <a:avLst/>
          </a:prstGeom>
          <a:solidFill>
            <a:srgbClr val="5FD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0" y="4791456"/>
            <a:ext cx="5833872" cy="658368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EEF3FA"/>
                </a:solidFill>
                <a:latin typeface="Calibri"/>
              </a:rPr>
              <a:t>The full episode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9495" y="6053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5B83D"/>
                </a:solidFill>
                <a:latin typeface="Calibri"/>
              </a:rPr>
              <a:t>Next: where the work goes 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WHAT'S NEXT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lag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Taking it further: where this research can 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429000" cy="41605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8" name="Picture 7" descr="boo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54480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1572768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CC4FF"/>
                </a:solidFill>
                <a:latin typeface="Calibri"/>
              </a:rPr>
              <a:t>PUBLISH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240280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Paper 1 → Physica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044952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Paper 2 → Physica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849624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Paper 3 → Imaging Neuroscience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654296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Preprints first (arXiv)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371600"/>
            <a:ext cx="3429000" cy="41605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15" name="Picture 14" descr="a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1554480"/>
            <a:ext cx="411480" cy="411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57216" y="1572768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5FD09A"/>
                </a:solidFill>
                <a:latin typeface="Calibri"/>
              </a:rPr>
              <a:t>EXTEND THE SCIENCE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62856" y="2240280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Kenya: 2024 Finance Bill (funding)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62856" y="3044952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Video and audio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62856" y="3849624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Measure α with opinion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62856" y="4654296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Children's media, ethically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2" y="1371600"/>
            <a:ext cx="3429000" cy="41605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pic>
        <p:nvPicPr>
          <p:cNvPr id="22" name="Picture 21" descr="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1554480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51392" y="1572768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5B83D"/>
                </a:solidFill>
                <a:latin typeface="Calibri"/>
              </a:rPr>
              <a:t>OPPORTUNITIES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7031" y="2240280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Postgraduate research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7031" y="3044952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Neuroscience + media collaborations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57031" y="3849624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Open tool, already online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4654296"/>
            <a:ext cx="3063240" cy="676656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15875">
            <a:solidFill>
              <a:srgbClr val="2A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EF3FA"/>
                </a:solidFill>
                <a:latin typeface="Calibri"/>
              </a:rPr>
              <a:t>Group-level media audits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9495" y="60533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 i="0">
                <a:solidFill>
                  <a:srgbClr val="F5B83D"/>
                </a:solidFill>
                <a:latin typeface="Calibri"/>
              </a:rPr>
              <a:t>Next: conclusions 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WHAT'S NEXT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14055" y="-3794760"/>
            <a:ext cx="6858000" cy="6858000"/>
          </a:xfrm>
          <a:prstGeom prst="ellipse">
            <a:avLst/>
          </a:prstGeom>
          <a:gradFill rotWithShape="1">
            <a:gsLst>
              <a:gs pos="0">
                <a:srgbClr val="3E8EDE">
                  <a:alpha val="28000"/>
                </a:srgbClr>
              </a:gs>
              <a:gs pos="100000">
                <a:srgbClr val="3E8ED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474720" y="4663440"/>
            <a:ext cx="5486400" cy="5486400"/>
          </a:xfrm>
          <a:prstGeom prst="ellipse">
            <a:avLst/>
          </a:prstGeom>
          <a:gradFill rotWithShape="1">
            <a:gsLst>
              <a:gs pos="0">
                <a:srgbClr val="FF7A59">
                  <a:alpha val="10000"/>
                </a:srgbClr>
              </a:gs>
              <a:gs pos="100000">
                <a:srgbClr val="FF7A5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eck-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9304" y="201168"/>
            <a:ext cx="1021659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7A59"/>
                </a:solidFill>
                <a:latin typeface="Calibri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9304" y="420624"/>
            <a:ext cx="1021659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7CC4FF"/>
                </a:solidFill>
                <a:latin typeface="Calibri"/>
              </a:rPr>
              <a:t>Conclusions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5257800" cy="15087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7CC4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481328"/>
            <a:ext cx="44805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7CC4FF"/>
                </a:solidFill>
                <a:latin typeface="Calibri"/>
              </a:rPr>
              <a:t>0.8725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A field observable can be measured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ICC: agreement between two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371600"/>
            <a:ext cx="5257800" cy="15087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5FD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11" name="TextBox 10"/>
          <p:cNvSpPr txBox="1"/>
          <p:nvPr/>
        </p:nvSpPr>
        <p:spPr>
          <a:xfrm>
            <a:off x="6428232" y="14630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5FD09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5432" y="1481328"/>
            <a:ext cx="44805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5FD09A"/>
                </a:solidFill>
                <a:latin typeface="Calibri"/>
              </a:rPr>
              <a:t>0.107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It separates the four groups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η²: 10.7% of variation due to group; source mixed 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63240"/>
            <a:ext cx="5257800" cy="15087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F7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7A59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172968"/>
            <a:ext cx="44805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7A59"/>
                </a:solidFill>
                <a:latin typeface="Calibri"/>
              </a:rPr>
              <a:t>α ≥ 4.29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Media strength has a minimum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at βJ = 2, within the mean-field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063240"/>
            <a:ext cx="5257800" cy="150876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F5B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09728" bIns="109728"/>
          <a:lstStyle/>
          <a:p>
            <a:pPr algn="l"/>
          </a:p>
        </p:txBody>
      </p:sp>
      <p:sp>
        <p:nvSpPr>
          <p:cNvPr id="17" name="TextBox 16"/>
          <p:cNvSpPr txBox="1"/>
          <p:nvPr/>
        </p:nvSpPr>
        <p:spPr>
          <a:xfrm>
            <a:off x="6428232" y="315468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5B83D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2" y="3172968"/>
            <a:ext cx="44805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5B83D"/>
                </a:solidFill>
                <a:latin typeface="Calibri"/>
              </a:rPr>
              <a:t>r = 0.028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EF3FA"/>
                </a:solidFill>
                <a:latin typeface="Calibri"/>
              </a:rPr>
              <a:t>The brain model matches real brains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BC4"/>
                </a:solidFill>
                <a:latin typeface="Calibri"/>
              </a:rPr>
              <a:t>positive; 30% of the 0.096 ceiling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892040"/>
            <a:ext cx="10820095" cy="502920"/>
          </a:xfrm>
          <a:prstGeom prst="roundRect">
            <a:avLst>
              <a:gd name="adj" fmla="val 6000"/>
            </a:avLst>
          </a:prstGeom>
          <a:solidFill>
            <a:srgbClr val="12223C"/>
          </a:solidFill>
          <a:ln w="2540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CC4FF"/>
                </a:solidFill>
                <a:latin typeface="Calibri"/>
              </a:rPr>
              <a:t>Three papers follow.  </a:t>
            </a:r>
            <a:r>
              <a:rPr sz="1400" b="0">
                <a:solidFill>
                  <a:srgbClr val="EEF3FA"/>
                </a:solidFill>
                <a:latin typeface="Calibri"/>
              </a:rPr>
              <a:t>Paper 1 and Paper 2 → Physica A,  Paper 3 → Imaging Neuroscience.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532120"/>
            <a:ext cx="108200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5B83D"/>
                </a:solidFill>
                <a:latin typeface="Calibri"/>
              </a:rPr>
              <a:t>Thank you.  Questions welcome.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55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AABC4"/>
                </a:solidFill>
                <a:latin typeface="Calibri"/>
              </a:rPr>
              <a:t>WHAT'S NEXT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92243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68315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44387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0459" y="6473952"/>
            <a:ext cx="502920" cy="36576"/>
          </a:xfrm>
          <a:prstGeom prst="rect">
            <a:avLst/>
          </a:prstGeom>
          <a:solidFill>
            <a:srgbClr val="2A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96531" y="6473952"/>
            <a:ext cx="502920" cy="36576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91495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ABC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