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0"/>
  <c:chart>
    <c:autoTitleDeleted val="1"/>
    <c:plotArea>
      <c:layout/>
      <c:doughnutChart>
        <c:varyColors val="1"/>
        <c:ser>
          <c:idx val="0"/>
          <c:order val="0"/>
          <c:tx>
            <c:strRef>
              <c:f>Sheet1!$B$1</c:f>
              <c:strCache>
                <c:ptCount val="1"/>
                <c:pt idx="0">
                  <c:v>share</c:v>
                </c:pt>
              </c:strCache>
            </c:strRef>
          </c:tx>
          <c:dPt>
            <c:idx val="0"/>
            <c:spPr>
              <a:solidFill>
                <a:srgbClr val="7CC4FF"/>
              </a:solidFill>
              <a:ln>
                <a:noFill/>
              </a:ln>
            </c:spPr>
          </c:dPt>
          <c:dPt>
            <c:idx val="1"/>
            <c:spPr>
              <a:solidFill>
                <a:srgbClr val="2A3D5E"/>
              </a:solidFill>
              <a:ln>
                <a:noFill/>
              </a:ln>
            </c:spPr>
          </c:dPt>
          <c:cat>
            <c:strRef>
              <c:f>Sheet1!$A$2:$A$3</c:f>
              <c:strCache>
                <c:ptCount val="2"/>
                <c:pt idx="0">
                  <c:v>group</c:v>
                </c:pt>
                <c:pt idx="1">
                  <c:v>rest</c:v>
                </c:pt>
              </c:strCache>
            </c:strRef>
          </c:cat>
          <c:val>
            <c:numRef>
              <c:f>Sheet1!$B$2:$B$3</c:f>
              <c:numCache>
                <c:formatCode>General</c:formatCode>
                <c:ptCount val="2"/>
                <c:pt idx="0">
                  <c:v>0.1068</c:v>
                </c:pt>
                <c:pt idx="1">
                  <c:v>0.8932</c:v>
                </c:pt>
              </c:numCache>
            </c:numRef>
          </c:val>
        </c:ser>
        <c:dLbls>
          <c:showLegendKey val="0"/>
          <c:showVal val="0"/>
          <c:showCatName val="0"/>
          <c:showSerName val="0"/>
          <c:showPercent val="0"/>
          <c:showBubbleSize val="0"/>
          <c:showLeaderLines val="1"/>
        </c:dLbls>
        <c:firstSliceAng val="0"/>
        <c:holeSize val="70"/>
      </c:doughnutChart>
    </c:plotArea>
    <c:plotVisOnly val="1"/>
    <c:dispBlanksAs val="gap"/>
    <c:showDLblsOverMax val="0"/>
  </c:chart>
  <c:txPr>
    <a:bodyPr/>
    <a:lstStyle/>
    <a:p>
      <a:pPr>
        <a:defRPr sz="1800"/>
      </a:pPr>
      <a:endParaRPr/>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chart>
    <c:plotArea>
      <c:scatterChart>
        <c:scatterStyle val="smoothMarker"/>
        <c:varyColors val="0"/>
        <c:ser>
          <c:idx val="0"/>
          <c:order val="0"/>
          <c:tx>
            <c:strRef>
              <c:f>Sheet1!$B$1</c:f>
              <c:strCache>
                <c:ptCount val="1"/>
                <c:pt idx="0">
                  <c:v>alpha required</c:v>
                </c:pt>
              </c:strCache>
            </c:strRef>
          </c:tx>
          <c:spPr>
            <a:ln w="38100">
              <a:solidFill>
                <a:srgbClr val="7CC4FF"/>
              </a:solidFill>
            </a:ln>
          </c:spPr>
          <c:marker>
            <c:symbol val="none"/>
          </c:marker>
          <c:xVal>
            <c:numRef>
              <c:f>Sheet1!$A$2:$A$32</c:f>
              <c:numCache>
                <c:formatCode>General</c:formatCode>
                <c:ptCount val="31"/>
                <c:pt idx="0">
                  <c:v>1.0</c:v>
                </c:pt>
                <c:pt idx="1">
                  <c:v>1.05</c:v>
                </c:pt>
                <c:pt idx="2">
                  <c:v>1.1</c:v>
                </c:pt>
                <c:pt idx="3">
                  <c:v>1.15</c:v>
                </c:pt>
                <c:pt idx="4">
                  <c:v>1.2</c:v>
                </c:pt>
                <c:pt idx="5">
                  <c:v>1.25</c:v>
                </c:pt>
                <c:pt idx="6">
                  <c:v>1.3</c:v>
                </c:pt>
                <c:pt idx="7">
                  <c:v>1.35</c:v>
                </c:pt>
                <c:pt idx="8">
                  <c:v>1.4</c:v>
                </c:pt>
                <c:pt idx="9">
                  <c:v>1.45</c:v>
                </c:pt>
                <c:pt idx="10">
                  <c:v>1.5</c:v>
                </c:pt>
                <c:pt idx="11">
                  <c:v>1.55</c:v>
                </c:pt>
                <c:pt idx="12">
                  <c:v>1.6</c:v>
                </c:pt>
                <c:pt idx="13">
                  <c:v>1.65</c:v>
                </c:pt>
                <c:pt idx="14">
                  <c:v>1.7</c:v>
                </c:pt>
                <c:pt idx="15">
                  <c:v>1.75</c:v>
                </c:pt>
                <c:pt idx="16">
                  <c:v>1.8</c:v>
                </c:pt>
                <c:pt idx="17">
                  <c:v>1.85</c:v>
                </c:pt>
                <c:pt idx="18">
                  <c:v>1.9</c:v>
                </c:pt>
                <c:pt idx="19">
                  <c:v>1.95</c:v>
                </c:pt>
                <c:pt idx="20">
                  <c:v>2.0</c:v>
                </c:pt>
                <c:pt idx="21">
                  <c:v>2.05</c:v>
                </c:pt>
                <c:pt idx="22">
                  <c:v>2.1</c:v>
                </c:pt>
                <c:pt idx="23">
                  <c:v>2.15</c:v>
                </c:pt>
                <c:pt idx="24">
                  <c:v>2.2</c:v>
                </c:pt>
                <c:pt idx="25">
                  <c:v>2.25</c:v>
                </c:pt>
                <c:pt idx="26">
                  <c:v>2.3</c:v>
                </c:pt>
                <c:pt idx="27">
                  <c:v>2.35</c:v>
                </c:pt>
                <c:pt idx="28">
                  <c:v>2.4</c:v>
                </c:pt>
                <c:pt idx="29">
                  <c:v>2.45</c:v>
                </c:pt>
                <c:pt idx="30">
                  <c:v>2.5</c:v>
                </c:pt>
              </c:numCache>
            </c:numRef>
          </c:xVal>
          <c:yVal>
            <c:numRef>
              <c:f>Sheet1!$B$2:$B$32</c:f>
              <c:numCache>
                <c:formatCode>General</c:formatCode>
                <c:ptCount val="31"/>
                <c:pt idx="0">
                  <c:v>0.0</c:v>
                </c:pt>
                <c:pt idx="1">
                  <c:v>0.05918338078351689</c:v>
                </c:pt>
                <c:pt idx="2">
                  <c:v>0.1650380916853392</c:v>
                </c:pt>
                <c:pt idx="3">
                  <c:v>0.2990712144836746</c:v>
                </c:pt>
                <c:pt idx="4">
                  <c:v>0.4543963361108232</c:v>
                </c:pt>
                <c:pt idx="5">
                  <c:v>0.6269554336449967</c:v>
                </c:pt>
                <c:pt idx="6">
                  <c:v>0.81398744833397</c:v>
                </c:pt>
                <c:pt idx="7">
                  <c:v>1.0134638432693657</c:v>
                </c:pt>
                <c:pt idx="8">
                  <c:v>1.2238204017587742</c:v>
                </c:pt>
                <c:pt idx="9">
                  <c:v>1.4438098933923091</c:v>
                </c:pt>
                <c:pt idx="10">
                  <c:v>1.6724130162935578</c:v>
                </c:pt>
                <c:pt idx="11">
                  <c:v>1.9087807696186925</c:v>
                </c:pt>
                <c:pt idx="12">
                  <c:v>2.1521952101367066</c:v>
                </c:pt>
                <c:pt idx="13">
                  <c:v>2.402041645767016</c:v>
                </c:pt>
                <c:pt idx="14">
                  <c:v>2.657788297596657</c:v>
                </c:pt>
                <c:pt idx="15">
                  <c:v>2.9189710334629715</c:v>
                </c:pt>
                <c:pt idx="16">
                  <c:v>3.1851816582026613</c:v>
                </c:pt>
                <c:pt idx="17">
                  <c:v>3.456058766387657</c:v>
                </c:pt>
                <c:pt idx="18">
                  <c:v>3.7312804840616804</c:v>
                </c:pt>
                <c:pt idx="19">
                  <c:v>4.0105586307024526</c:v>
                </c:pt>
                <c:pt idx="20">
                  <c:v>4.2936339673936565</c:v>
                </c:pt>
                <c:pt idx="21">
                  <c:v>4.580272288302001</c:v>
                </c:pt>
                <c:pt idx="22">
                  <c:v>4.870261175613264</c:v>
                </c:pt>
                <c:pt idx="23">
                  <c:v>5.163407282634284</c:v>
                </c:pt>
                <c:pt idx="24">
                  <c:v>5.45953404182952</c:v>
                </c:pt>
                <c:pt idx="25">
                  <c:v>5.758479718014789</c:v>
                </c:pt>
                <c:pt idx="26">
                  <c:v>6.060095744343501</c:v>
                </c:pt>
                <c:pt idx="27">
                  <c:v>6.364245291821802</c:v>
                </c:pt>
                <c:pt idx="28">
                  <c:v>6.670802033066661</c:v>
                </c:pt>
                <c:pt idx="29">
                  <c:v>6.979649068704033</c:v>
                </c:pt>
                <c:pt idx="30">
                  <c:v>7.290677990781043</c:v>
                </c:pt>
              </c:numCache>
            </c:numRef>
          </c:yVal>
          <c:smooth val="0"/>
        </c:ser>
        <c:ser>
          <c:idx val="1"/>
          <c:order val="1"/>
          <c:tx>
            <c:strRef>
              <c:f>Sheet1!$B$34</c:f>
              <c:strCache>
                <c:ptCount val="1"/>
                <c:pt idx="0">
                  <c:v>our case</c:v>
                </c:pt>
              </c:strCache>
            </c:strRef>
          </c:tx>
          <c:spPr>
            <a:ln>
              <a:noFill/>
            </a:ln>
          </c:spPr>
          <c:marker>
            <c:symbol val="circle"/>
            <c:size val="12"/>
            <c:spPr>
              <a:solidFill>
                <a:srgbClr val="FF7A59"/>
              </a:solidFill>
              <a:ln>
                <a:noFill/>
              </a:ln>
            </c:spPr>
          </c:marker>
          <c:xVal>
            <c:numRef>
              <c:f>Sheet1!$A$35:$A$35</c:f>
              <c:numCache>
                <c:formatCode>General</c:formatCode>
                <c:ptCount val="1"/>
                <c:pt idx="0">
                  <c:v>2.0</c:v>
                </c:pt>
              </c:numCache>
            </c:numRef>
          </c:xVal>
          <c:yVal>
            <c:numRef>
              <c:f>Sheet1!$B$35:$B$35</c:f>
              <c:numCache>
                <c:formatCode>General</c:formatCode>
                <c:ptCount val="1"/>
                <c:pt idx="0">
                  <c:v>4.29363396739365</c:v>
                </c:pt>
              </c:numCache>
            </c:numRef>
          </c:yVal>
          <c:smooth val="0"/>
        </c:ser>
        <c:axId val="-2128940872"/>
        <c:axId val="-2129643912"/>
      </c:scatterChart>
      <c:valAx>
        <c:axId val="-2128940872"/>
        <c:scaling>
          <c:orientation val="minMax"/>
          <c:max val="2.5"/>
          <c:min val="1.0"/>
        </c:scaling>
        <c:delete val="0"/>
        <c:axPos val="b"/>
        <c:numFmt formatCode="General" sourceLinked="1"/>
        <c:majorTickMark val="out"/>
        <c:minorTickMark val="none"/>
        <c:tickLblPos val="nextTo"/>
        <c:spPr>
          <a:ln>
            <a:solidFill>
              <a:srgbClr val="2A3D5E"/>
            </a:solidFill>
          </a:ln>
        </c:spPr>
        <c:crossAx val="-2129643912"/>
        <c:crosses val="autoZero"/>
        <c:crossBetween val="midCat"/>
        <c:majorUnit val="0.5"/>
      </c:valAx>
      <c:valAx>
        <c:axId val="-2129643912"/>
        <c:scaling>
          <c:orientation val="minMax"/>
          <c:max val="8.0"/>
          <c:min val="0.0"/>
        </c:scaling>
        <c:delete val="0"/>
        <c:axPos val="l"/>
        <c:majorGridlines>
          <c:spPr>
            <a:ln>
              <a:solidFill>
                <a:srgbClr val="2A3D5E"/>
              </a:solidFill>
            </a:ln>
          </c:spPr>
        </c:majorGridlines>
        <c:numFmt formatCode="General" sourceLinked="1"/>
        <c:majorTickMark val="out"/>
        <c:minorTickMark val="none"/>
        <c:tickLblPos val="nextTo"/>
        <c:spPr>
          <a:ln>
            <a:solidFill>
              <a:srgbClr val="2A3D5E"/>
            </a:solidFill>
          </a:ln>
        </c:spPr>
        <c:crossAx val="-2128940872"/>
        <c:crosses val="autoZero"/>
        <c:crossBetween val="midCat"/>
        <c:majorUnit val="2.0"/>
      </c:valAx>
    </c:plotArea>
    <c:plotVisOnly val="1"/>
    <c:dispBlanksAs val="gap"/>
    <c:showDLblsOverMax val="0"/>
  </c:chart>
  <c:txPr>
    <a:bodyPr/>
    <a:lstStyle/>
    <a:p>
      <a:pPr>
        <a:defRPr sz="1200">
          <a:solidFill>
            <a:srgbClr val="9AABC4"/>
          </a:solidFill>
          <a:latin typeface="Calibri"/>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KEY POINT: Media's push on opinion is always guessed. This work measures a candidate for it and derives the minimum strength any claim must use.</a:t>
            </a:r>
          </a:p>
          <a:p/>
          <a:p>
            <a:r>
              <a:t>SCRIPT (about 0.5 min)</a:t>
            </a:r>
          </a:p>
          <a:p>
            <a:r>
              <a:t>Good morning. I'm Brian Mwai, and my dissertation is called Measuring the External Field. The question behind it is simple: can we measure how hard a news article pushes on what people think? I'll start with the physics idea behind that question.</a:t>
            </a:r>
          </a:p>
          <a:p/>
          <a:p>
            <a:r>
              <a:t>DEFINITIONS (if asked)</a:t>
            </a:r>
          </a:p>
          <a:p>
            <a:r>
              <a:t>- Sociophysics: using the tools of statistical physics to model how groups of people behave.</a:t>
            </a:r>
          </a:p>
          <a:p/>
          <a:p>
            <a:r>
              <a:t>IF ASKED "SO WHAT?"</a:t>
            </a:r>
          </a:p>
          <a:p>
            <a:r>
              <a:t>Opinion models treat media as a push, but everyone guesses how big it is. I built a way to measure a candidate for that push from the content itself. It separates the four groups at 10.7%, with source mixed in, so I don't claim it detects manipulation. And even without knowing the exact strength, the measured spread gives a floor: media would need a coupling of at least 4.29 to flip a group with beta J = 2. That turns a guessed number into a testable one.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KEY POINT: In the opinion model, the external field h is an input nobody measures. That gap is the project.</a:t>
            </a:r>
          </a:p>
          <a:p/>
          <a:p>
            <a:r>
              <a:t>SCRIPT (about 1 min)</a:t>
            </a:r>
          </a:p>
          <a:p>
            <a:r>
              <a:t>Physics can model opinion the way it models a magnet. Each person is a spin, pointing for or against. m, the magnetisation, is the group's average opinion, from minus one to plus one. J, the coupling, is how much people copy those around them. Beta, the inverse temperature, is how firmly they follow that pull instead of acting at random. And h, the external field, is media's push on everyone at once. In the studies I read, h is always chosen by hand. Nobody measures it. So my question was: can h be measured from the content itself? Testing the tools to answer that changed the plan, so that comes next.</a:t>
            </a:r>
          </a:p>
          <a:p/>
          <a:p>
            <a:r>
              <a:t>NUMBERS ON THIS SLIDE</a:t>
            </a:r>
          </a:p>
          <a:p>
            <a:r>
              <a:t>- m: average opinion, -1 (all against) to +1 (all for)</a:t>
            </a:r>
          </a:p>
          <a:p>
            <a:r>
              <a:t>- h: a general external field, media's push; not magnetic or electric</a:t>
            </a:r>
          </a:p>
          <a:p/>
          <a:p>
            <a:r>
              <a:t>DEFINITIONS (if asked)</a:t>
            </a:r>
          </a:p>
          <a:p>
            <a:r>
              <a:t>- Ising model: a model of magnets where each spin points up or down and prefers to match its neighbours; used here for two-sided opinions.</a:t>
            </a:r>
          </a:p>
          <a:p>
            <a:r>
              <a:t>- Mean field: each person feels the average of the whole group, not particular neighbours; it makes the maths solvable.</a:t>
            </a:r>
          </a:p>
          <a:p>
            <a:r>
              <a:t>- tanh: a smooth S-shaped function that keeps m between -1 and +1.</a:t>
            </a:r>
          </a:p>
          <a:p/>
          <a:p>
            <a:r>
              <a:t>IF ASKED</a:t>
            </a:r>
          </a:p>
          <a:p>
            <a:r>
              <a:t>Q: What does beta J mean, and why must a be negative?</a:t>
            </a:r>
          </a:p>
          <a:p>
            <a:r>
              <a:t>A: Beta J is the reduced coupling: how strongly people copy each other compared with acting at random. In the free energy, a = (1 - beta J)/2. When beta J is above 1, a is negative and two stable opinions exist, so a push is needed to flip from one to the other. Alpha itself is positive.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KEY POINT: Testing the tools changed the plan. All five changes are in the approved amendment.</a:t>
            </a:r>
          </a:p>
          <a:p/>
          <a:p>
            <a:r>
              <a:t>SCRIPT (about 1 min)</a:t>
            </a:r>
          </a:p>
          <a:p>
            <a:r>
              <a:t>Five things changed once I tested the tools. I planned to measure the amygdala, but the model only predicts the brain's surface. I planned a ratio score, but it was undefined for 69 of the 400 articles, so I used a difference, which works for all 400. I expected outrage to stand out, and fear did instead. I planned to measure alpha, media's strength, but the data can't pin it down, so I derived its minimum. And word counting sorted the articles better than my score, 0.98 against 0.63, so the score is a measurement, not a detector. All five are in the approved amendment. Here is how the measurement works.</a:t>
            </a:r>
          </a:p>
          <a:p/>
          <a:p>
            <a:r>
              <a:t>NUMBERS ON THIS SLIDE</a:t>
            </a:r>
          </a:p>
          <a:p>
            <a:r>
              <a:t>- 69 of 400: articles where the ratio was undefined (say 69, not 49)</a:t>
            </a:r>
          </a:p>
          <a:p>
            <a:r>
              <a:t>- 0.98 vs 0.63: word counting vs our score, AUC, 0.5 = coin toss</a:t>
            </a:r>
          </a:p>
          <a:p/>
          <a:p>
            <a:r>
              <a:t>DEFINITIONS (if asked)</a:t>
            </a:r>
          </a:p>
          <a:p>
            <a:r>
              <a:t>- Amygdala: a small structure deep in the brain linked to fear.</a:t>
            </a:r>
          </a:p>
          <a:p>
            <a:r>
              <a:t>- Cortex: the brain's outer surface, where the model predicts.</a:t>
            </a:r>
          </a:p>
          <a:p>
            <a:r>
              <a:t>- Amendment: the approved change to the proposal's scope and title.</a:t>
            </a:r>
          </a:p>
          <a:p/>
          <a:p>
            <a:r>
              <a:t>IF ASKED</a:t>
            </a:r>
          </a:p>
          <a:p>
            <a:r>
              <a:t>Q: Why no amygdala?</a:t>
            </a:r>
          </a:p>
          <a:p>
            <a:r>
              <a:t>A: The released model only predicts the brain's surface. The amygdala is deep inside, so I make no claim about it.</a:t>
            </a:r>
          </a:p>
          <a:p/>
          <a:p>
            <a:r>
              <a:t>Q: Why a difference, not a ratio?</a:t>
            </a:r>
          </a:p>
          <a:p>
            <a:r>
              <a:t>A: The model outputs standardised activity, so a region's average is negative about as often as positive. Dividing by it breaks: the ratio was undefined for 69 of 400 articles. The difference works for all 400.</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KEY POINT: One article becomes one number, X = emotional minus deliberate. Every value is a prediction; nobody was scanned.</a:t>
            </a:r>
          </a:p>
          <a:p/>
          <a:p>
            <a:r>
              <a:t>SCRIPT (about 1.5 min)</a:t>
            </a:r>
          </a:p>
          <a:p>
            <a:r>
              <a:t>One article becomes one number in five steps. A text-to-speech voice reads it aloud, because the brain model was trained on people watching and listening. A timing tool marks when each word is spoken. TRIBE v2, a published model from Meta, predicts activity at 20,484 points on the brain's surface. A standard brain map picks 1,030 points in emotional areas and 851 in deliberate, reasoning areas. The score, X, is the emotional average minus the deliberate average. Above zero, emotion leads. Below zero, reasoning leads. The numbers have no physical unit: they are the model's standardised activity. Nobody was scanned; every value is a prediction. The article on the left scores plus 0.054, the highest of all 400. So which 400 articles?</a:t>
            </a:r>
          </a:p>
          <a:p/>
          <a:p>
            <a:r>
              <a:t>NUMBERS ON THIS SLIDE</a:t>
            </a:r>
          </a:p>
          <a:p>
            <a:r>
              <a:t>- 20,484: points on the brain surface the model predicts</a:t>
            </a:r>
          </a:p>
          <a:p>
            <a:r>
              <a:t>- 1,030: points in emotional areas; 851: points in deliberate areas</a:t>
            </a:r>
          </a:p>
          <a:p>
            <a:r>
              <a:t>- +0.109 emotional, +0.055 deliberate, score +0.054 (0.109 - 0.055)</a:t>
            </a:r>
          </a:p>
          <a:p>
            <a:r>
              <a:t>- Units: standardised activity, no physical unit</a:t>
            </a:r>
          </a:p>
          <a:p/>
          <a:p>
            <a:r>
              <a:t>DEFINITIONS (if asked)</a:t>
            </a:r>
          </a:p>
          <a:p>
            <a:r>
              <a:t>- TRIBE v2: Meta's published brain model: it predicts fMRI responses from text, audio and video.</a:t>
            </a:r>
          </a:p>
          <a:p>
            <a:r>
              <a:t>- fMRI: brain scanning that tracks blood flow as a stand-in for activity.</a:t>
            </a:r>
          </a:p>
          <a:p>
            <a:r>
              <a:t>- fsaverage5: a standard brain surface with 20,484 points.</a:t>
            </a:r>
          </a:p>
          <a:p>
            <a:r>
              <a:t>- Glasser 2016 atlas: a standard map dividing the cortex into named areas.</a:t>
            </a:r>
          </a:p>
          <a:p>
            <a:r>
              <a:t>- Standardised activity: the model's output, scaled so it has no physical unit.</a:t>
            </a:r>
          </a:p>
          <a:p/>
          <a:p>
            <a:r>
              <a:t>IF ASKED</a:t>
            </a:r>
          </a:p>
          <a:p>
            <a:r>
              <a:t>Q: Was anyone scanned? Is it reading minds?</a:t>
            </a:r>
          </a:p>
          <a:p>
            <a:r>
              <a:t>A: No. Nobody was scanned. The scores are predictions for a typical adult brain. The tool rates content, not people.</a:t>
            </a:r>
          </a:p>
          <a:p/>
          <a:p>
            <a:r>
              <a:t>Q: Why read the articles aloud?</a:t>
            </a:r>
          </a:p>
          <a:p>
            <a:r>
              <a:t>A: The model was trained on people watching and listening, so it expects speech with word timings.</a:t>
            </a:r>
          </a:p>
          <a:p/>
          <a:p>
            <a:r>
              <a:t>Q: Is it okay to use Meta's model?</a:t>
            </a:r>
          </a:p>
          <a:p>
            <a:r>
              <a:t>A: Yes, for research. It's under a non-commercial licence, cited throughout, and this project makes no money from it.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KEY POINT: The article set was fixed before scanning: 4 x 100, length-matched, powered to detect 0.027.</a:t>
            </a:r>
          </a:p>
          <a:p/>
          <a:p>
            <a:r>
              <a:t>SCRIPT (about 1 min)</a:t>
            </a:r>
          </a:p>
          <a:p>
            <a:r>
              <a:t>I used four public collections, 100 articles each: fear-activating fake news, high-outrage partisan news, reward-hook clickbait, and neutral writing from medical abstracts and real news. The group averages sit between 162 and 167 words, so length can't explain a difference. Before scanning, I calculated that 400 articles can detect an eta squared of 0.027 or more, and I scanned every article twice. All 400 are on the corpus page, so here is how to read it.</a:t>
            </a:r>
          </a:p>
          <a:p/>
          <a:p>
            <a:r>
              <a:t>NUMBERS ON THIS SLIDE</a:t>
            </a:r>
          </a:p>
          <a:p>
            <a:r>
              <a:t>- 4 x 100 = 400 articles</a:t>
            </a:r>
          </a:p>
          <a:p>
            <a:r>
              <a:t>- 162 to 167: range of the four group averages, in words</a:t>
            </a:r>
          </a:p>
          <a:p>
            <a:r>
              <a:t>- 0.027: smallest eta squared 400 articles detect (80% power, p &lt; 0.05)</a:t>
            </a:r>
          </a:p>
          <a:p>
            <a:r>
              <a:t>- x 2: every article scanned twice</a:t>
            </a:r>
          </a:p>
          <a:p/>
          <a:p>
            <a:r>
              <a:t>DEFINITIONS (if asked)</a:t>
            </a:r>
          </a:p>
          <a:p>
            <a:r>
              <a:t>- Power analysis: working out in advance how big a study must be to detect an effect of a given size.</a:t>
            </a:r>
          </a:p>
          <a:p/>
          <a:p>
            <a:r>
              <a:t>IF ASKED</a:t>
            </a:r>
          </a:p>
          <a:p>
            <a:r>
              <a:t>Q: Why only 400 articles?</a:t>
            </a:r>
          </a:p>
          <a:p>
            <a:r>
              <a:t>A: I calculated before scanning that 400 detects an eta squared of 0.027. Each article takes about 70 seconds of GPU time, and I ran them twice.</a:t>
            </a:r>
          </a:p>
          <a:p/>
          <a:p>
            <a:r>
              <a:t>Q: Why didn't you use Kenyan media?</a:t>
            </a:r>
          </a:p>
          <a:p>
            <a:r>
              <a:t>A: Cost. 400 articles scanned twice used about 16 GPU hours of the free Kaggle allowance. A Kenyan set would also need hand-labelling by paid annotators, because no labelled set exists. The 2024 Finance Bill case is the first extension once there is funding.</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KEY POINT: Each corpus column is defined. All four group averages are below zero.</a:t>
            </a:r>
          </a:p>
          <a:p/>
          <a:p>
            <a:r>
              <a:t>SCRIPT (about 1.5 min)</a:t>
            </a:r>
          </a:p>
          <a:p>
            <a:r>
              <a:t>This is what each column on the corpus page means. Emotional is the average predicted activity across the 1,030 emotional points. Deliberate is the same across the 851 reasoning points. Score is emotional minus deliberate: that's X. Pre-scan label is the label the article already had in its source collection. Across all 400, scores run from minus 0.070 to plus 0.054, a spread of 0.124. On the right are the four group averages. All four are below zero, so the reasoning areas respond more in every group. The groups differ in how far below zero they sit: fear is closest, at minus 0.002, and neutral is furthest, at minus 0.019. I'll show you the page now. [SHOW CORPUS] The question is whether those differences are real.</a:t>
            </a:r>
          </a:p>
          <a:p/>
          <a:p>
            <a:r>
              <a:t>NUMBERS ON THIS SLIDE</a:t>
            </a:r>
          </a:p>
          <a:p>
            <a:r>
              <a:t>- -0.070 to +0.054: lowest and highest score of the 400</a:t>
            </a:r>
          </a:p>
          <a:p>
            <a:r>
              <a:t>- 0.124: spread = highest minus lowest; used in the physics later</a:t>
            </a:r>
          </a:p>
          <a:p>
            <a:r>
              <a:t>- -0.002 fear, -0.013 reward hook, -0.018 outrage, -0.019 neutral</a:t>
            </a:r>
          </a:p>
          <a:p>
            <a:r>
              <a:t>- Below zero = deliberate areas respond more than emotional areas</a:t>
            </a:r>
          </a:p>
          <a:p/>
          <a:p>
            <a:r>
              <a:t>DEFINITIONS (if asked)</a:t>
            </a:r>
          </a:p>
          <a:p>
            <a:r>
              <a:t>- Pre-scan label: the label an article carried in its source collection before anything was scanned.</a:t>
            </a:r>
          </a:p>
          <a:p/>
          <a:p>
            <a:r>
              <a:t>IF ASKED</a:t>
            </a:r>
          </a:p>
          <a:p>
            <a:r>
              <a:t>Q: Is the difference between groups just writing style?</a:t>
            </a:r>
          </a:p>
          <a:p>
            <a:r>
              <a:t>A: It can't be put down to style alone, because each group came from one source. The words identify the source for 66% of articles. A crossed set, every source with every type, would separate them.</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KEY POINT: The groups differ: eta squared 0.107 (10.7%), p = 1.0 x 10^-9, repeated at 0.089.</a:t>
            </a:r>
          </a:p>
          <a:p/>
          <a:p>
            <a:r>
              <a:t>SCRIPT (about 1 min)</a:t>
            </a:r>
          </a:p>
          <a:p>
            <a:r>
              <a:t>To test that, I used a one-way ANOVA. It compares the spread between the four group averages with the spread inside each group. F is 15.779. Eta squared is the share of all the variation in the score that the group accounts for: 0.107, so 10.7 percent. The other 89 percent is article to article. The p-value is 1 times 10 to the minus 9: the probability of an F this large if all four groups had the same average. The second run gave 0.089. Both are above the 0.027 the study could detect. So the groups differ. Which group drives it?</a:t>
            </a:r>
          </a:p>
          <a:p/>
          <a:p>
            <a:r>
              <a:t>NUMBERS ON THIS SLIDE</a:t>
            </a:r>
          </a:p>
          <a:p>
            <a:r>
              <a:t>- F = 15.779: between-group spread over within-group spread</a:t>
            </a:r>
          </a:p>
          <a:p>
            <a:r>
              <a:t>- eta squared 0.107 = 10.7% of the variation is due to group</a:t>
            </a:r>
          </a:p>
          <a:p>
            <a:r>
              <a:t>- p = 1.0 x 10^-9 first run; second run 0.089, p = 4.9 x 10^-8</a:t>
            </a:r>
          </a:p>
          <a:p>
            <a:r>
              <a:t>- 0.027: smallest eta squared the design could detect</a:t>
            </a:r>
          </a:p>
          <a:p/>
          <a:p>
            <a:r>
              <a:t>DEFINITIONS (if asked)</a:t>
            </a:r>
          </a:p>
          <a:p>
            <a:r>
              <a:t>- One-way ANOVA: compares the averages of several groups defined by one factor.</a:t>
            </a:r>
          </a:p>
          <a:p>
            <a:r>
              <a:t>- F: spread between group averages divided by spread within groups.</a:t>
            </a:r>
          </a:p>
          <a:p>
            <a:r>
              <a:t>- eta squared: between-group sum of squares over total sum of squares; a share from 0 to 1.</a:t>
            </a:r>
          </a:p>
          <a:p>
            <a:r>
              <a:t>- p-value: the probability of a result at least this large if there were no real difference.</a:t>
            </a:r>
          </a:p>
          <a:p/>
          <a:p>
            <a:r>
              <a:t>IF ASKED</a:t>
            </a:r>
          </a:p>
          <a:p>
            <a:r>
              <a:t>Q: What is eta squared, physically?</a:t>
            </a:r>
          </a:p>
          <a:p>
            <a:r>
              <a:t>A: It is not a physical quantity. It is a dimensionless share, between 0 and 1: the between-group sum of squares divided by the total sum of squares. 0.107 means the group accounts for 10.7% of the variation in the score.</a:t>
            </a:r>
          </a:p>
          <a:p/>
          <a:p>
            <a:r>
              <a:t>Q: Why a one-way ANOVA?</a:t>
            </a:r>
          </a:p>
          <a:p>
            <a:r>
              <a:t>A: One factor, the group, with four levels, and one measured value per article. That is the one-way design. I also checked each group against neutral with Welch's t-test, which doesn't assume equal spreads.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KEY POINT: Fear drives it at d = 0.94. Outrage lifts both regions equally, so its score stays at d = 0.03.</a:t>
            </a:r>
          </a:p>
          <a:p/>
          <a:p>
            <a:r>
              <a:t>SCRIPT (about 1 min)</a:t>
            </a:r>
          </a:p>
          <a:p>
            <a:r>
              <a:t>Fear does. Cohen's d measures how far a group's average sits from neutral, in standard deviations. Fear is 0.94, clickbait 0.32, outrage 0.03. For scale, 0.2, 0.5 and 0.8 are the usual reference marks. So why is outrage near zero? Split the score into its two parts. Fear raises the emotional areas by 0.61 and the deliberate areas by minus 0.10, so the score moves. Outrage raises both, by 0.51 and 0.49, so the difference stays near zero. Outrage has an effect, on both sides equally. Next: can we trust these scores?</a:t>
            </a:r>
          </a:p>
          <a:p/>
          <a:p>
            <a:r>
              <a:t>NUMBERS ON THIS SLIDE</a:t>
            </a:r>
          </a:p>
          <a:p>
            <a:r>
              <a:t>- d: distance from neutral in standard deviations</a:t>
            </a:r>
          </a:p>
          <a:p>
            <a:r>
              <a:t>- Fear 0.94, reward hook 0.32, outrage 0.03 (p = 0.832)</a:t>
            </a:r>
          </a:p>
          <a:p>
            <a:r>
              <a:t>- Fear: emotional +0.61, deliberate -0.10</a:t>
            </a:r>
          </a:p>
          <a:p>
            <a:r>
              <a:t>- Outrage: emotional +0.51, deliberate +0.49</a:t>
            </a:r>
          </a:p>
          <a:p/>
          <a:p>
            <a:r>
              <a:t>DEFINITIONS (if asked)</a:t>
            </a:r>
          </a:p>
          <a:p>
            <a:r>
              <a:t>- Cohen's d: difference between two group averages divided by the typical spread (standard deviation).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KEY POINT: Agreement between runs is 0.8725. 51 flips match the 55 noise predicts, so only group averages are reported.</a:t>
            </a:r>
          </a:p>
          <a:p/>
          <a:p>
            <a:r>
              <a:t>SCRIPT (about 1 min)</a:t>
            </a:r>
          </a:p>
          <a:p>
            <a:r>
              <a:t>I ran all 400 articles twice on the GPU. The ICC, the agreement between the two runs, is 0.8725, where 1 means identical and 0 means no agreement. 51 of the 400 changed sign between runs. Measurement noise alone predicts 55, with a 95 percent range of 44 to 67, so 51 is what noise predicts. Those articles sit near zero: their average size is 0.003, against 0.022 for the rest. So I report group averages and never a verdict on one article. Now the most important check.</a:t>
            </a:r>
          </a:p>
          <a:p/>
          <a:p>
            <a:r>
              <a:t>NUMBERS ON THIS SLIDE</a:t>
            </a:r>
          </a:p>
          <a:p>
            <a:r>
              <a:t>- ICC 0.8725: agreement of two runs, 1 = identical, 0 = none</a:t>
            </a:r>
          </a:p>
          <a:p>
            <a:r>
              <a:t>- 51 of 400 = 12.8% changed sign between runs</a:t>
            </a:r>
          </a:p>
          <a:p>
            <a:r>
              <a:t>- 55.3 expected from noise, 95% range 44 to 67</a:t>
            </a:r>
          </a:p>
          <a:p>
            <a:r>
              <a:t>- Flipped items: average size 0.003 vs 0.022 for the rest</a:t>
            </a:r>
          </a:p>
          <a:p/>
          <a:p>
            <a:r>
              <a:t>DEFINITIONS (if asked)</a:t>
            </a:r>
          </a:p>
          <a:p>
            <a:r>
              <a:t>- ICC: intraclass correlation: agreement between repeated measurements of the same items; 1 is identical.</a:t>
            </a:r>
          </a:p>
          <a:p>
            <a:r>
              <a:t>- Sign reversal: a score positive on one run and negative on the other.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KEY POINT: Word counting scores 0.98 against our 0.63 because source is mixed in. The score is a measurement, not a detector.</a:t>
            </a:r>
          </a:p>
          <a:p/>
          <a:p>
            <a:r>
              <a:t>SCRIPT (about 1 min)</a:t>
            </a:r>
          </a:p>
          <a:p>
            <a:r>
              <a:t>Does the score detect manipulation? AUC is the probability that a randomly chosen manipulative article scores above a randomly chosen neutral one. 0.5 is a coin toss, and 1 is perfect. A sentiment tool gets 0.54. My score gets 0.63. Plain word counting gets 0.98. Why so high? Each group came from one source, and the words identify the source for 66 percent of articles, against 25 percent by chance. So the difference can't be put down to writing style alone, because source is mixed in. My score is a measurement for the physics, not a manipulation detector. That raises the next question: does the brain model match real brains?</a:t>
            </a:r>
          </a:p>
          <a:p/>
          <a:p>
            <a:r>
              <a:t>NUMBERS ON THIS SLIDE</a:t>
            </a:r>
          </a:p>
          <a:p>
            <a:r>
              <a:t>- AUC: chance a manipulative article outscores a neutral one</a:t>
            </a:r>
          </a:p>
          <a:p>
            <a:r>
              <a:t>- 0.54 sentiment (VADER), 0.63 our score, 0.98 word counting (TF-IDF)</a:t>
            </a:r>
          </a:p>
          <a:p>
            <a:r>
              <a:t>- 66%: articles whose source the words identify; chance 25%</a:t>
            </a:r>
          </a:p>
          <a:p/>
          <a:p>
            <a:r>
              <a:t>DEFINITIONS (if asked)</a:t>
            </a:r>
          </a:p>
          <a:p>
            <a:r>
              <a:t>- AUC: area under the ROC curve: chance a random manipulative article outscores a random neutral one.</a:t>
            </a:r>
          </a:p>
          <a:p>
            <a:r>
              <a:t>- TF-IDF: word counting that weights words by how distinctive they are.</a:t>
            </a:r>
          </a:p>
          <a:p>
            <a:r>
              <a:t>- VADER: a standard sentiment tool.</a:t>
            </a:r>
          </a:p>
          <a:p>
            <a:r>
              <a:t>- Confound: a second factor, here source, that moves with the one studied.</a:t>
            </a:r>
          </a:p>
          <a:p/>
          <a:p>
            <a:r>
              <a:t>IF ASKED</a:t>
            </a:r>
          </a:p>
          <a:p>
            <a:r>
              <a:t>Q: If word counting does better, why not use that?</a:t>
            </a:r>
          </a:p>
          <a:p>
            <a:r>
              <a:t>A: Word counting mostly learns the source: 66% against 25% chance. My score is meant to be the push h in the opinion model. The comparison is there to be honest about what the score is.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KEY POINT: The brain model correlates positively with real brains: r = 0.028, 30% of the 0.096 ceiling, p = 0.048.</a:t>
            </a:r>
          </a:p>
          <a:p/>
          <a:p>
            <a:r>
              <a:t>SCRIPT (about 1 min)</a:t>
            </a:r>
          </a:p>
          <a:p>
            <a:r>
              <a:t>I tested it on public brain scans of four people watching Friends. The correlation, r, measures how closely two signals rise and fall together. Real people match each other at 0.152 over the full episode; that's the ceiling. On the 2-minute clip I ran, the ceiling is 0.096 and the model reaches 0.028, which is 30 percent of the ceiling. The p-value is 0.048, under the 0.05 cut-off. The sign is positive, so it does not reproduce the negative value a published audit reported. I also found and fixed three bugs in the pipeline. The full-episode run is the next step, in Paper 3. Now to the physics.</a:t>
            </a:r>
          </a:p>
          <a:p/>
          <a:p>
            <a:r>
              <a:t>NUMBERS ON THIS SLIDE</a:t>
            </a:r>
          </a:p>
          <a:p>
            <a:r>
              <a:t>- r: correlation, 0 = no match, 1 = perfect</a:t>
            </a:r>
          </a:p>
          <a:p>
            <a:r>
              <a:t>- 0.152: people vs each other, full episode (ceiling)</a:t>
            </a:r>
          </a:p>
          <a:p>
            <a:r>
              <a:t>- 0.096: ceiling on the 2-minute clip; 0.028: the model</a:t>
            </a:r>
          </a:p>
          <a:p>
            <a:r>
              <a:t>- 30% = 0.028 / 0.096; p = 0.048 against 61 time-shifted copies</a:t>
            </a:r>
          </a:p>
          <a:p/>
          <a:p>
            <a:r>
              <a:t>DEFINITIONS (if asked)</a:t>
            </a:r>
          </a:p>
          <a:p>
            <a:r>
              <a:t>- Noise ceiling: how well real brains predict each other; the best any model can do.</a:t>
            </a:r>
          </a:p>
          <a:p>
            <a:r>
              <a:t>- r: Pearson correlation: how closely two signals rise and fall together.</a:t>
            </a:r>
          </a:p>
          <a:p>
            <a:r>
              <a:t>- Circular-shift test: shift one signal in time 61 times to see how often chance gives a match this good.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KEY POINT: The measured spread sets a minimum: alpha &gt;= 4.29 at beta J = 2.</a:t>
            </a:r>
          </a:p>
          <a:p/>
          <a:p>
            <a:r>
              <a:t>SCRIPT (about 1.5 min)</a:t>
            </a:r>
          </a:p>
          <a:p>
            <a:r>
              <a:t>Here is how the score connects to the model. The field h equals alpha times X. Alpha is the coupling constant: how much push per unit of score. I can't measure alpha, so I asked how big it must be to flip a majority. The critical field, h c, is the smallest push that does that, and it depends on beta J, the reduced coupling: how strongly people copy each other. At beta J of 2, h c is 0.533. Divide by the spread of scores, 0.124, and alpha must be at least 4.29. The curve shows that minimum for every beta J. It is a bar any claim must clear, not a claim that media flips opinion, and it holds within the mean-field model. So what could this be used for?</a:t>
            </a:r>
          </a:p>
          <a:p/>
          <a:p>
            <a:r>
              <a:t>NUMBERS ON THIS SLIDE</a:t>
            </a:r>
          </a:p>
          <a:p>
            <a:r>
              <a:t>- h = alpha x X: field = coupling constant x score</a:t>
            </a:r>
          </a:p>
          <a:p>
            <a:r>
              <a:t>- beta J = 2: say 'beta J', not 'beta'</a:t>
            </a:r>
          </a:p>
          <a:p>
            <a:r>
              <a:t>- h_c(2) = 0.533: smallest push that flips the majority at beta J = 2</a:t>
            </a:r>
          </a:p>
          <a:p>
            <a:r>
              <a:t>- 0.533 / 0.124 = 4.29: minimum alpha</a:t>
            </a:r>
          </a:p>
          <a:p/>
          <a:p>
            <a:r>
              <a:t>DEFINITIONS (if asked)</a:t>
            </a:r>
          </a:p>
          <a:p>
            <a:r>
              <a:t>- Critical field: the smallest field that flips the majority.</a:t>
            </a:r>
          </a:p>
          <a:p>
            <a:r>
              <a:t>- Lower bound: a minimum: alpha can't be smaller than this.</a:t>
            </a:r>
          </a:p>
          <a:p/>
          <a:p>
            <a:r>
              <a:t>IF ASKED "SO WHAT?"</a:t>
            </a:r>
          </a:p>
          <a:p>
            <a:r>
              <a:t>Opinion models treat media as a push, but everyone guesses how big it is. I built a way to measure a candidate for that push from the content itself. It separates the four groups at 10.7%, with source mixed in, so I don't claim it detects manipulation. And even without knowing the exact strength, the measured spread gives a floor: media would need a coupling of at least 4.29 to flip a group with beta J = 2. That turns a guessed number into a testable one.</a:t>
            </a:r>
          </a:p>
          <a:p/>
          <a:p>
            <a:r>
              <a:t>IF ASKED</a:t>
            </a:r>
          </a:p>
          <a:p>
            <a:r>
              <a:t>Q: Why is this physics?</a:t>
            </a:r>
          </a:p>
          <a:p>
            <a:r>
              <a:t>A: The opinion model is statistical physics, the maths of magnets lining up. The contribution is measuring the push and deriving its minimum.</a:t>
            </a:r>
          </a:p>
          <a:p/>
          <a:p>
            <a:r>
              <a:t>Q: What does alpha &gt;= 4.29 mean in practice?</a:t>
            </a:r>
          </a:p>
          <a:p>
            <a:r>
              <a:t>A: It's a bar. Alpha turns the score into a push. Any claim that such content flips a group with beta J = 2 must use an alpha of at least 4.29, or the model says it can't happen.</a:t>
            </a:r>
          </a:p>
          <a:p/>
          <a:p>
            <a:r>
              <a:t>Q: What does beta J mean, and why must a be negative?</a:t>
            </a:r>
          </a:p>
          <a:p>
            <a:r>
              <a:t>A: Beta J is the reduced coupling: how strongly people copy each other compared with acting at random. In the free energy, a = (1 - beta J)/2. When beta J is above 1, a is negative and two stable opinions exist, so a push is needed to flip from one to the other. Alpha itself is positive.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KEY POINT: It can score any video, audio or text, but it is not valid for children without child brain data.</a:t>
            </a:r>
          </a:p>
          <a:p/>
          <a:p>
            <a:r>
              <a:t>SCRIPT (about 1 min)</a:t>
            </a:r>
          </a:p>
          <a:p>
            <a:r>
              <a:t>At my proposal I was asked whether this could analyse any content, even what children watch. It takes video and audio, so it could score a cartoon. But the model learned from adult brains, so it can't say how a child reacts. I only tested news text, and 1 in 8 single scores flip between runs. Children would need child brain data and ethics approval first. Each of these limits points to a next study.</a:t>
            </a:r>
          </a:p>
          <a:p/>
          <a:p>
            <a:r>
              <a:t>NUMBERS ON THIS SLIDE</a:t>
            </a:r>
          </a:p>
          <a:p>
            <a:r>
              <a:t>- 1 in 8: 51 of 400 single scores flip between runs</a:t>
            </a:r>
          </a:p>
          <a:p/>
          <a:p>
            <a:r>
              <a:t>DEFINITIONS (if asked)</a:t>
            </a:r>
          </a:p>
          <a:p>
            <a:r>
              <a:t>- Ethics approval: formal permission from a review board, required for research with children.</a:t>
            </a:r>
          </a:p>
          <a:p/>
          <a:p>
            <a:r>
              <a:t>IF ASKED</a:t>
            </a:r>
          </a:p>
          <a:p>
            <a:r>
              <a:t>Q: Can this analyse any content, even what children watch?</a:t>
            </a:r>
          </a:p>
          <a:p>
            <a:r>
              <a:t>A: It can score video and audio. But the model learned from adult brains, so it can't say how a child reacts, and I only tested news text. It would need child brain data and ethics approval first.</a:t>
            </a:r>
          </a:p>
          <a:p/>
          <a:p>
            <a:r>
              <a:t>Q: Could a parent or a regulator use it to rate one show?</a:t>
            </a:r>
          </a:p>
          <a:p>
            <a:r>
              <a:t>A: Not yet. 51 of 400 single scores flip between runs, so one score isn't reliable. It is for comparing groups of content.</a:t>
            </a:r>
          </a:p>
          <a:p/>
          <a:p>
            <a:r>
              <a:t>Q: What would it take for children's media?</a:t>
            </a:r>
          </a:p>
          <a:p>
            <a:r>
              <a:t>A: Child brain scans with ethics approval and consent, a children's video test set, and content where source and type are mixed.</a:t>
            </a:r>
          </a:p>
          <a:p/>
          <a:p>
            <a:r>
              <a:t>Q: What about ethics?</a:t>
            </a:r>
          </a:p>
          <a:p>
            <a:r>
              <a:t>A: No new data was collected from any person. The brain model was trained by Meta on public, consented scans, and I use only public articles and public scans. The tool rates content, never a viewer.</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KEY POINT: Every limit points to a specific next study.</a:t>
            </a:r>
          </a:p>
          <a:p/>
          <a:p>
            <a:r>
              <a:t>SCRIPT (about 0.5 min)</a:t>
            </a:r>
          </a:p>
          <a:p>
            <a:r>
              <a:t>Five limits, each with the study that fixes it. Predictions need checking against more real brain data. Group and source need separating with a new article set. Deep brain areas need a model that predicts them. Alpha needs real opinion data. And the brain check needs the full episode. That leads to where the work goes next.</a:t>
            </a:r>
          </a:p>
          <a:p/>
          <a:p>
            <a:r>
              <a:t>NUMBERS ON THIS SLIDE</a:t>
            </a:r>
          </a:p>
          <a:p>
            <a:r>
              <a:t>- 5 limits, each stated in the thesis</a:t>
            </a:r>
          </a:p>
          <a:p/>
          <a:p>
            <a:r>
              <a:t>DEFINITIONS (if asked)</a:t>
            </a:r>
          </a:p>
          <a:p>
            <a:r>
              <a:t>- Crossed design: every source contributes every type of article.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KEY POINT: Three directions: publishing, extending the science, and further research.</a:t>
            </a:r>
          </a:p>
          <a:p/>
          <a:p>
            <a:r>
              <a:t>SCRIPT (about 0.75 min)</a:t>
            </a:r>
          </a:p>
          <a:p>
            <a:r>
              <a:t>Three directions. Publishing: three papers, with preprints first. Extending the science: the Kenyan case from the proposal, coverage of the 2024 Finance Bill, plus video and audio, and measuring alpha against opinion data. And opportunities: a postgraduate topic, collaboration with neuroscience and media researchers, and a tool that is already online. To close, four conclusions.</a:t>
            </a:r>
          </a:p>
          <a:p/>
          <a:p>
            <a:r>
              <a:t>NUMBERS ON THIS SLIDE</a:t>
            </a:r>
          </a:p>
          <a:p>
            <a:r>
              <a:t>- Kenya: 2024 Finance Bill coverage, needs GPU funding</a:t>
            </a:r>
          </a:p>
          <a:p/>
          <a:p>
            <a:r>
              <a:t>DEFINITIONS (if asked)</a:t>
            </a:r>
          </a:p>
          <a:p>
            <a:r>
              <a:t>- Preprint: a paper shared publicly before peer review, e.g. on arXiv.</a:t>
            </a:r>
          </a:p>
          <a:p/>
          <a:p>
            <a:r>
              <a:t>IF ASKED</a:t>
            </a:r>
          </a:p>
          <a:p>
            <a:r>
              <a:t>Q: Could someone use it to make content more manipulative?</a:t>
            </a:r>
          </a:p>
          <a:p>
            <a:r>
              <a:t>A: It's a real risk for any content measure. That's why it reports group results only, for research, and the model's licence is non-commercial.</a:t>
            </a:r>
          </a:p>
          <a:p/>
          <a:p>
            <a:r>
              <a:t>Q: Why didn't you use Kenyan media?</a:t>
            </a:r>
          </a:p>
          <a:p>
            <a:r>
              <a:t>A: Cost. 400 articles scanned twice used about 16 GPU hours of the free Kaggle allowance. A Kenyan set would also need hand-labelling by paid annotators, because no labelled set exists. The 2024 Finance Bill case is the first extension once there is funding.</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KEY POINT: Four conclusions, each with its number, then questions.</a:t>
            </a:r>
          </a:p>
          <a:p/>
          <a:p>
            <a:r>
              <a:t>SCRIPT (about 1 min)</a:t>
            </a:r>
          </a:p>
          <a:p>
            <a:r>
              <a:t>One: a field observable can be measured from content, and it repeats, with agreement of 0.8725 between runs. Two: it separates the four groups at eta squared 0.107, with source mixed in, so I report it as a measurement, not a detector. Three: alpha can't be measured from this data, so the thesis gives a minimum, 4.29 at beta J of 2. Four: the brain model correlates positively with real brains, at 0.028, 30 percent of the ceiling. Three papers follow from this. Thank you. I'm happy to take your questions.</a:t>
            </a:r>
          </a:p>
          <a:p/>
          <a:p>
            <a:r>
              <a:t>NUMBERS ON THIS SLIDE</a:t>
            </a:r>
          </a:p>
          <a:p>
            <a:r>
              <a:t>- 0.8725 ICC</a:t>
            </a:r>
          </a:p>
          <a:p>
            <a:r>
              <a:t>- 0.107 eta squared</a:t>
            </a:r>
          </a:p>
          <a:p>
            <a:r>
              <a:t>- 4.29 minimum alpha at beta J = 2</a:t>
            </a:r>
          </a:p>
          <a:p>
            <a:r>
              <a:t>- 0.028 = 30% of the 0.096 ceiling</a:t>
            </a:r>
          </a:p>
          <a:p/>
          <a:p>
            <a:r>
              <a:t>IF ASKED "SO WHAT?"</a:t>
            </a:r>
          </a:p>
          <a:p>
            <a:r>
              <a:t>Opinion models treat media as a push, but everyone guesses how big it is. I built a way to measure a candidate for that push from the content itself. It separates the four groups at 10.7%, with source mixed in, so I don't claim it detects manipulation. And even without knowing the exact strength, the measured spread gives a floor: media would need a coupling of at least 4.29 to flip a group with beta J = 2. That turns a guessed number into a testable one.</a:t>
            </a:r>
          </a:p>
          <a:p/>
          <a:p>
            <a:r>
              <a:t>IF ASKED</a:t>
            </a:r>
          </a:p>
          <a:p>
            <a:r>
              <a:t>Q: Was anyone scanned? Is it reading minds?</a:t>
            </a:r>
          </a:p>
          <a:p>
            <a:r>
              <a:t>A: No. Nobody was scanned. The scores are predictions for a typical adult brain. The tool rates content, not people.</a:t>
            </a:r>
          </a:p>
          <a:p/>
          <a:p>
            <a:r>
              <a:t>Q: If word counting does better, why not use that?</a:t>
            </a:r>
          </a:p>
          <a:p>
            <a:r>
              <a:t>A: Word counting mostly learns the source: 66% against 25% chance. My score is meant to be the push h in the opinion model. The comparison is there to be honest about what the score is.</a:t>
            </a:r>
          </a:p>
          <a:p/>
          <a:p>
            <a:r>
              <a:t>Q: What about ethics?</a:t>
            </a:r>
          </a:p>
          <a:p>
            <a:r>
              <a:t>A: No new data was collected from any person. The brain model was trained by Meta on public, consented scans, and I use only public articles and public scans. The tool rates content, never a viewer.</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image3.png"/><Relationship Id="rId6" Type="http://schemas.openxmlformats.org/officeDocument/2006/relationships/image" Target="../media/image4.png"/><Relationship Id="rId7" Type="http://schemas.openxmlformats.org/officeDocument/2006/relationships/image" Target="../media/image5.png"/><Relationship Id="rId8" Type="http://schemas.openxmlformats.org/officeDocument/2006/relationships/image" Target="../media/image6.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7.png"/><Relationship Id="rId4" Type="http://schemas.openxmlformats.org/officeDocument/2006/relationships/image" Target="../media/image8.png"/><Relationship Id="rId5" Type="http://schemas.openxmlformats.org/officeDocument/2006/relationships/image" Target="../media/image9.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image" Target="../media/image1.png"/><Relationship Id="rId6" Type="http://schemas.openxmlformats.org/officeDocument/2006/relationships/image" Target="../media/image12.png"/><Relationship Id="rId7" Type="http://schemas.openxmlformats.org/officeDocument/2006/relationships/image" Target="../media/image13.png"/><Relationship Id="rId8" Type="http://schemas.openxmlformats.org/officeDocument/2006/relationships/image" Target="../media/image14.png"/><Relationship Id="rId9" Type="http://schemas.openxmlformats.org/officeDocument/2006/relationships/image" Target="../media/image15.png"/><Relationship Id="rId10" Type="http://schemas.openxmlformats.org/officeDocument/2006/relationships/hyperlink" Target="https://monarch-4iy.pages.dev"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1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1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16.png"/><Relationship Id="rId4" Type="http://schemas.openxmlformats.org/officeDocument/2006/relationships/chart" Target="../charts/chart1.xml"/><Relationship Id="rId5" Type="http://schemas.openxmlformats.org/officeDocument/2006/relationships/image" Target="../media/image17.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16.png"/><Relationship Id="rId4" Type="http://schemas.openxmlformats.org/officeDocument/2006/relationships/image" Target="../media/image18.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1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20.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1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21.png"/><Relationship Id="rId4" Type="http://schemas.openxmlformats.org/officeDocument/2006/relationships/image" Target="../media/image22.png"/><Relationship Id="rId5" Type="http://schemas.openxmlformats.org/officeDocument/2006/relationships/image" Target="../media/image6.png"/><Relationship Id="rId6" Type="http://schemas.openxmlformats.org/officeDocument/2006/relationships/image" Target="../media/image23.png"/><Relationship Id="rId7" Type="http://schemas.openxmlformats.org/officeDocument/2006/relationships/image" Target="../media/image24.png"/><Relationship Id="rId8" Type="http://schemas.openxmlformats.org/officeDocument/2006/relationships/image" Target="../media/image25.png"/><Relationship Id="rId9" Type="http://schemas.openxmlformats.org/officeDocument/2006/relationships/image" Target="../media/image26.png"/><Relationship Id="rId10" Type="http://schemas.openxmlformats.org/officeDocument/2006/relationships/image" Target="../media/image27.png"/><Relationship Id="rId11" Type="http://schemas.openxmlformats.org/officeDocument/2006/relationships/chart" Target="../charts/char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13.png"/><Relationship Id="rId4" Type="http://schemas.openxmlformats.org/officeDocument/2006/relationships/image" Target="../media/image9.png"/><Relationship Id="rId5" Type="http://schemas.openxmlformats.org/officeDocument/2006/relationships/image" Target="../media/image8.png"/><Relationship Id="rId6" Type="http://schemas.openxmlformats.org/officeDocument/2006/relationships/image" Target="../media/image28.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8.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28.png"/><Relationship Id="rId4" Type="http://schemas.openxmlformats.org/officeDocument/2006/relationships/image" Target="../media/image29.png"/><Relationship Id="rId5" Type="http://schemas.openxmlformats.org/officeDocument/2006/relationships/image" Target="../media/image30.png"/><Relationship Id="rId6" Type="http://schemas.openxmlformats.org/officeDocument/2006/relationships/image" Target="../media/image13.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9.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Oval 1"/>
          <p:cNvSpPr/>
          <p:nvPr/>
        </p:nvSpPr>
        <p:spPr>
          <a:xfrm>
            <a:off x="8214055" y="-3794760"/>
            <a:ext cx="6858000" cy="6858000"/>
          </a:xfrm>
          <a:prstGeom prst="ellipse">
            <a:avLst/>
          </a:prstGeom>
          <a:gradFill rotWithShape="1">
            <a:gsLst>
              <a:gs pos="0">
                <a:srgbClr val="3E8EDE">
                  <a:alpha val="28000"/>
                </a:srgbClr>
              </a:gs>
              <a:gs pos="100000">
                <a:srgbClr val="3E8EDE">
                  <a:alpha val="0"/>
                </a:srgbClr>
              </a:gs>
            </a:gsLst>
            <a:path path="circle">
              <a:fillToRect l="50000" t="50000" r="50000" b="50000"/>
            </a:path>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3474720" y="4663440"/>
            <a:ext cx="5486400" cy="5486400"/>
          </a:xfrm>
          <a:prstGeom prst="ellipse">
            <a:avLst/>
          </a:prstGeom>
          <a:gradFill rotWithShape="1">
            <a:gsLst>
              <a:gs pos="0">
                <a:srgbClr val="FF7A59">
                  <a:alpha val="10000"/>
                </a:srgbClr>
              </a:gs>
              <a:gs pos="100000">
                <a:srgbClr val="FF7A59">
                  <a:alpha val="0"/>
                </a:srgbClr>
              </a:gs>
            </a:gsLst>
            <a:path path="circle">
              <a:fillToRect l="50000" t="50000" r="50000" b="50000"/>
            </a:path>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Up Arrow 3"/>
          <p:cNvSpPr/>
          <p:nvPr/>
        </p:nvSpPr>
        <p:spPr>
          <a:xfrm>
            <a:off x="8170939" y="1179941"/>
            <a:ext cx="135609" cy="218724"/>
          </a:xfrm>
          <a:prstGeom prst="upArrow">
            <a:avLst/>
          </a:prstGeom>
          <a:solidFill>
            <a:srgbClr val="7CC4FF">
              <a:alpha val="1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Up Arrow 4"/>
          <p:cNvSpPr/>
          <p:nvPr/>
        </p:nvSpPr>
        <p:spPr>
          <a:xfrm>
            <a:off x="8646427" y="1179941"/>
            <a:ext cx="135609" cy="218724"/>
          </a:xfrm>
          <a:prstGeom prst="upArrow">
            <a:avLst/>
          </a:prstGeom>
          <a:solidFill>
            <a:srgbClr val="7CC4FF">
              <a:alpha val="3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Down Arrow 5"/>
          <p:cNvSpPr/>
          <p:nvPr/>
        </p:nvSpPr>
        <p:spPr>
          <a:xfrm>
            <a:off x="9121915" y="1179941"/>
            <a:ext cx="135609" cy="218724"/>
          </a:xfrm>
          <a:prstGeom prst="downArrow">
            <a:avLst/>
          </a:prstGeom>
          <a:solidFill>
            <a:srgbClr val="FF7A59">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Up Arrow 6"/>
          <p:cNvSpPr/>
          <p:nvPr/>
        </p:nvSpPr>
        <p:spPr>
          <a:xfrm>
            <a:off x="9597403" y="1179941"/>
            <a:ext cx="135609" cy="218724"/>
          </a:xfrm>
          <a:prstGeom prst="upArrow">
            <a:avLst/>
          </a:prstGeom>
          <a:solidFill>
            <a:srgbClr val="7CC4FF">
              <a:alpha val="5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Up Arrow 7"/>
          <p:cNvSpPr/>
          <p:nvPr/>
        </p:nvSpPr>
        <p:spPr>
          <a:xfrm>
            <a:off x="10072891" y="1179941"/>
            <a:ext cx="135609" cy="218724"/>
          </a:xfrm>
          <a:prstGeom prst="upArrow">
            <a:avLst/>
          </a:prstGeom>
          <a:solidFill>
            <a:srgbClr val="7CC4FF">
              <a:alpha val="65999"/>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Up Arrow 8"/>
          <p:cNvSpPr/>
          <p:nvPr/>
        </p:nvSpPr>
        <p:spPr>
          <a:xfrm>
            <a:off x="10548379" y="1179941"/>
            <a:ext cx="135609" cy="218724"/>
          </a:xfrm>
          <a:prstGeom prst="upArrow">
            <a:avLst/>
          </a:prstGeom>
          <a:solidFill>
            <a:srgbClr val="7CC4FF">
              <a:alpha val="7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Up Arrow 9"/>
          <p:cNvSpPr/>
          <p:nvPr/>
        </p:nvSpPr>
        <p:spPr>
          <a:xfrm>
            <a:off x="11023867" y="1179941"/>
            <a:ext cx="135609" cy="218724"/>
          </a:xfrm>
          <a:prstGeom prst="upArrow">
            <a:avLst/>
          </a:prstGeom>
          <a:solidFill>
            <a:srgbClr val="7CC4FF">
              <a:alpha val="89999"/>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Up Arrow 10"/>
          <p:cNvSpPr/>
          <p:nvPr/>
        </p:nvSpPr>
        <p:spPr>
          <a:xfrm>
            <a:off x="8170939" y="1655429"/>
            <a:ext cx="135609" cy="218724"/>
          </a:xfrm>
          <a:prstGeom prst="upArrow">
            <a:avLst/>
          </a:prstGeom>
          <a:solidFill>
            <a:srgbClr val="7CC4FF">
              <a:alpha val="1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Up Arrow 11"/>
          <p:cNvSpPr/>
          <p:nvPr/>
        </p:nvSpPr>
        <p:spPr>
          <a:xfrm>
            <a:off x="8646427" y="1655429"/>
            <a:ext cx="135609" cy="218724"/>
          </a:xfrm>
          <a:prstGeom prst="upArrow">
            <a:avLst/>
          </a:prstGeom>
          <a:solidFill>
            <a:srgbClr val="7CC4FF">
              <a:alpha val="3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Up Arrow 12"/>
          <p:cNvSpPr/>
          <p:nvPr/>
        </p:nvSpPr>
        <p:spPr>
          <a:xfrm>
            <a:off x="9121915" y="1655429"/>
            <a:ext cx="135609" cy="218724"/>
          </a:xfrm>
          <a:prstGeom prst="upArrow">
            <a:avLst/>
          </a:prstGeom>
          <a:solidFill>
            <a:srgbClr val="7CC4FF">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Up Arrow 13"/>
          <p:cNvSpPr/>
          <p:nvPr/>
        </p:nvSpPr>
        <p:spPr>
          <a:xfrm>
            <a:off x="9597403" y="1655429"/>
            <a:ext cx="135609" cy="218724"/>
          </a:xfrm>
          <a:prstGeom prst="upArrow">
            <a:avLst/>
          </a:prstGeom>
          <a:solidFill>
            <a:srgbClr val="7CC4FF">
              <a:alpha val="5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Up Arrow 14"/>
          <p:cNvSpPr/>
          <p:nvPr/>
        </p:nvSpPr>
        <p:spPr>
          <a:xfrm>
            <a:off x="10072891" y="1655429"/>
            <a:ext cx="135609" cy="218724"/>
          </a:xfrm>
          <a:prstGeom prst="upArrow">
            <a:avLst/>
          </a:prstGeom>
          <a:solidFill>
            <a:srgbClr val="7CC4FF">
              <a:alpha val="65999"/>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Up Arrow 15"/>
          <p:cNvSpPr/>
          <p:nvPr/>
        </p:nvSpPr>
        <p:spPr>
          <a:xfrm>
            <a:off x="10548379" y="1655429"/>
            <a:ext cx="135609" cy="218724"/>
          </a:xfrm>
          <a:prstGeom prst="upArrow">
            <a:avLst/>
          </a:prstGeom>
          <a:solidFill>
            <a:srgbClr val="7CC4FF">
              <a:alpha val="7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own Arrow 16"/>
          <p:cNvSpPr/>
          <p:nvPr/>
        </p:nvSpPr>
        <p:spPr>
          <a:xfrm>
            <a:off x="11023867" y="1655429"/>
            <a:ext cx="135609" cy="218724"/>
          </a:xfrm>
          <a:prstGeom prst="downArrow">
            <a:avLst/>
          </a:prstGeom>
          <a:solidFill>
            <a:srgbClr val="FF7A59">
              <a:alpha val="89999"/>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Up Arrow 17"/>
          <p:cNvSpPr/>
          <p:nvPr/>
        </p:nvSpPr>
        <p:spPr>
          <a:xfrm>
            <a:off x="8170939" y="2130917"/>
            <a:ext cx="135609" cy="218724"/>
          </a:xfrm>
          <a:prstGeom prst="upArrow">
            <a:avLst/>
          </a:prstGeom>
          <a:solidFill>
            <a:srgbClr val="7CC4FF">
              <a:alpha val="1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Up Arrow 18"/>
          <p:cNvSpPr/>
          <p:nvPr/>
        </p:nvSpPr>
        <p:spPr>
          <a:xfrm>
            <a:off x="8646427" y="2130917"/>
            <a:ext cx="135609" cy="218724"/>
          </a:xfrm>
          <a:prstGeom prst="upArrow">
            <a:avLst/>
          </a:prstGeom>
          <a:solidFill>
            <a:srgbClr val="7CC4FF">
              <a:alpha val="3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Up Arrow 19"/>
          <p:cNvSpPr/>
          <p:nvPr/>
        </p:nvSpPr>
        <p:spPr>
          <a:xfrm>
            <a:off x="9121915" y="2130917"/>
            <a:ext cx="135609" cy="218724"/>
          </a:xfrm>
          <a:prstGeom prst="upArrow">
            <a:avLst/>
          </a:prstGeom>
          <a:solidFill>
            <a:srgbClr val="7CC4FF">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own Arrow 20"/>
          <p:cNvSpPr/>
          <p:nvPr/>
        </p:nvSpPr>
        <p:spPr>
          <a:xfrm>
            <a:off x="9597403" y="2130917"/>
            <a:ext cx="135609" cy="218724"/>
          </a:xfrm>
          <a:prstGeom prst="downArrow">
            <a:avLst/>
          </a:prstGeom>
          <a:solidFill>
            <a:srgbClr val="FF7A59">
              <a:alpha val="5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Up Arrow 21"/>
          <p:cNvSpPr/>
          <p:nvPr/>
        </p:nvSpPr>
        <p:spPr>
          <a:xfrm>
            <a:off x="10072891" y="2130917"/>
            <a:ext cx="135609" cy="218724"/>
          </a:xfrm>
          <a:prstGeom prst="upArrow">
            <a:avLst/>
          </a:prstGeom>
          <a:solidFill>
            <a:srgbClr val="7CC4FF">
              <a:alpha val="65999"/>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Up Arrow 22"/>
          <p:cNvSpPr/>
          <p:nvPr/>
        </p:nvSpPr>
        <p:spPr>
          <a:xfrm>
            <a:off x="10548379" y="2130917"/>
            <a:ext cx="135609" cy="218724"/>
          </a:xfrm>
          <a:prstGeom prst="upArrow">
            <a:avLst/>
          </a:prstGeom>
          <a:solidFill>
            <a:srgbClr val="7CC4FF">
              <a:alpha val="7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Down Arrow 23"/>
          <p:cNvSpPr/>
          <p:nvPr/>
        </p:nvSpPr>
        <p:spPr>
          <a:xfrm>
            <a:off x="11023867" y="2130917"/>
            <a:ext cx="135609" cy="218724"/>
          </a:xfrm>
          <a:prstGeom prst="downArrow">
            <a:avLst/>
          </a:prstGeom>
          <a:solidFill>
            <a:srgbClr val="FF7A59">
              <a:alpha val="89999"/>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Up Arrow 24"/>
          <p:cNvSpPr/>
          <p:nvPr/>
        </p:nvSpPr>
        <p:spPr>
          <a:xfrm>
            <a:off x="8170939" y="2606405"/>
            <a:ext cx="135609" cy="218724"/>
          </a:xfrm>
          <a:prstGeom prst="upArrow">
            <a:avLst/>
          </a:prstGeom>
          <a:solidFill>
            <a:srgbClr val="7CC4FF">
              <a:alpha val="1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Down Arrow 25"/>
          <p:cNvSpPr/>
          <p:nvPr/>
        </p:nvSpPr>
        <p:spPr>
          <a:xfrm>
            <a:off x="8646427" y="2606405"/>
            <a:ext cx="135609" cy="218724"/>
          </a:xfrm>
          <a:prstGeom prst="downArrow">
            <a:avLst/>
          </a:prstGeom>
          <a:solidFill>
            <a:srgbClr val="FF7A59">
              <a:alpha val="3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Up Arrow 26"/>
          <p:cNvSpPr/>
          <p:nvPr/>
        </p:nvSpPr>
        <p:spPr>
          <a:xfrm>
            <a:off x="9121915" y="2606405"/>
            <a:ext cx="135609" cy="218724"/>
          </a:xfrm>
          <a:prstGeom prst="upArrow">
            <a:avLst/>
          </a:prstGeom>
          <a:solidFill>
            <a:srgbClr val="7CC4FF">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Up Arrow 27"/>
          <p:cNvSpPr/>
          <p:nvPr/>
        </p:nvSpPr>
        <p:spPr>
          <a:xfrm>
            <a:off x="9597403" y="2606405"/>
            <a:ext cx="135609" cy="218724"/>
          </a:xfrm>
          <a:prstGeom prst="upArrow">
            <a:avLst/>
          </a:prstGeom>
          <a:solidFill>
            <a:srgbClr val="7CC4FF">
              <a:alpha val="5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Up Arrow 28"/>
          <p:cNvSpPr/>
          <p:nvPr/>
        </p:nvSpPr>
        <p:spPr>
          <a:xfrm>
            <a:off x="10072891" y="2606405"/>
            <a:ext cx="135609" cy="218724"/>
          </a:xfrm>
          <a:prstGeom prst="upArrow">
            <a:avLst/>
          </a:prstGeom>
          <a:solidFill>
            <a:srgbClr val="7CC4FF">
              <a:alpha val="65999"/>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Up Arrow 29"/>
          <p:cNvSpPr/>
          <p:nvPr/>
        </p:nvSpPr>
        <p:spPr>
          <a:xfrm>
            <a:off x="10548379" y="2606405"/>
            <a:ext cx="135609" cy="218724"/>
          </a:xfrm>
          <a:prstGeom prst="upArrow">
            <a:avLst/>
          </a:prstGeom>
          <a:solidFill>
            <a:srgbClr val="7CC4FF">
              <a:alpha val="7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Down Arrow 30"/>
          <p:cNvSpPr/>
          <p:nvPr/>
        </p:nvSpPr>
        <p:spPr>
          <a:xfrm>
            <a:off x="11023867" y="2606405"/>
            <a:ext cx="135609" cy="218724"/>
          </a:xfrm>
          <a:prstGeom prst="downArrow">
            <a:avLst/>
          </a:prstGeom>
          <a:solidFill>
            <a:srgbClr val="FF7A59">
              <a:alpha val="89999"/>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Up Arrow 31"/>
          <p:cNvSpPr/>
          <p:nvPr/>
        </p:nvSpPr>
        <p:spPr>
          <a:xfrm>
            <a:off x="8170939" y="3081893"/>
            <a:ext cx="135609" cy="218724"/>
          </a:xfrm>
          <a:prstGeom prst="upArrow">
            <a:avLst/>
          </a:prstGeom>
          <a:solidFill>
            <a:srgbClr val="7CC4FF">
              <a:alpha val="1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Up Arrow 32"/>
          <p:cNvSpPr/>
          <p:nvPr/>
        </p:nvSpPr>
        <p:spPr>
          <a:xfrm>
            <a:off x="8646427" y="3081893"/>
            <a:ext cx="135609" cy="218724"/>
          </a:xfrm>
          <a:prstGeom prst="upArrow">
            <a:avLst/>
          </a:prstGeom>
          <a:solidFill>
            <a:srgbClr val="7CC4FF">
              <a:alpha val="3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Up Arrow 33"/>
          <p:cNvSpPr/>
          <p:nvPr/>
        </p:nvSpPr>
        <p:spPr>
          <a:xfrm>
            <a:off x="9121915" y="3081893"/>
            <a:ext cx="135609" cy="218724"/>
          </a:xfrm>
          <a:prstGeom prst="upArrow">
            <a:avLst/>
          </a:prstGeom>
          <a:solidFill>
            <a:srgbClr val="7CC4FF">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Up Arrow 34"/>
          <p:cNvSpPr/>
          <p:nvPr/>
        </p:nvSpPr>
        <p:spPr>
          <a:xfrm>
            <a:off x="9597403" y="3081893"/>
            <a:ext cx="135609" cy="218724"/>
          </a:xfrm>
          <a:prstGeom prst="upArrow">
            <a:avLst/>
          </a:prstGeom>
          <a:solidFill>
            <a:srgbClr val="7CC4FF">
              <a:alpha val="5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Up Arrow 35"/>
          <p:cNvSpPr/>
          <p:nvPr/>
        </p:nvSpPr>
        <p:spPr>
          <a:xfrm>
            <a:off x="10072891" y="3081893"/>
            <a:ext cx="135609" cy="218724"/>
          </a:xfrm>
          <a:prstGeom prst="upArrow">
            <a:avLst/>
          </a:prstGeom>
          <a:solidFill>
            <a:srgbClr val="7CC4FF">
              <a:alpha val="65999"/>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Up Arrow 36"/>
          <p:cNvSpPr/>
          <p:nvPr/>
        </p:nvSpPr>
        <p:spPr>
          <a:xfrm>
            <a:off x="10548379" y="3081893"/>
            <a:ext cx="135609" cy="218724"/>
          </a:xfrm>
          <a:prstGeom prst="upArrow">
            <a:avLst/>
          </a:prstGeom>
          <a:solidFill>
            <a:srgbClr val="7CC4FF">
              <a:alpha val="7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Up Arrow 37"/>
          <p:cNvSpPr/>
          <p:nvPr/>
        </p:nvSpPr>
        <p:spPr>
          <a:xfrm>
            <a:off x="11023867" y="3081893"/>
            <a:ext cx="135609" cy="218724"/>
          </a:xfrm>
          <a:prstGeom prst="upArrow">
            <a:avLst/>
          </a:prstGeom>
          <a:solidFill>
            <a:srgbClr val="7CC4FF">
              <a:alpha val="89999"/>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Up Arrow 38"/>
          <p:cNvSpPr/>
          <p:nvPr/>
        </p:nvSpPr>
        <p:spPr>
          <a:xfrm>
            <a:off x="8170939" y="3557381"/>
            <a:ext cx="135609" cy="218724"/>
          </a:xfrm>
          <a:prstGeom prst="upArrow">
            <a:avLst/>
          </a:prstGeom>
          <a:solidFill>
            <a:srgbClr val="7CC4FF">
              <a:alpha val="1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Down Arrow 39"/>
          <p:cNvSpPr/>
          <p:nvPr/>
        </p:nvSpPr>
        <p:spPr>
          <a:xfrm>
            <a:off x="8646427" y="3557381"/>
            <a:ext cx="135609" cy="218724"/>
          </a:xfrm>
          <a:prstGeom prst="downArrow">
            <a:avLst/>
          </a:prstGeom>
          <a:solidFill>
            <a:srgbClr val="FF7A59">
              <a:alpha val="3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Up Arrow 40"/>
          <p:cNvSpPr/>
          <p:nvPr/>
        </p:nvSpPr>
        <p:spPr>
          <a:xfrm>
            <a:off x="9121915" y="3557381"/>
            <a:ext cx="135609" cy="218724"/>
          </a:xfrm>
          <a:prstGeom prst="upArrow">
            <a:avLst/>
          </a:prstGeom>
          <a:solidFill>
            <a:srgbClr val="7CC4FF">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Up Arrow 41"/>
          <p:cNvSpPr/>
          <p:nvPr/>
        </p:nvSpPr>
        <p:spPr>
          <a:xfrm>
            <a:off x="9597403" y="3557381"/>
            <a:ext cx="135609" cy="218724"/>
          </a:xfrm>
          <a:prstGeom prst="upArrow">
            <a:avLst/>
          </a:prstGeom>
          <a:solidFill>
            <a:srgbClr val="7CC4FF">
              <a:alpha val="5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Up Arrow 42"/>
          <p:cNvSpPr/>
          <p:nvPr/>
        </p:nvSpPr>
        <p:spPr>
          <a:xfrm>
            <a:off x="10072891" y="3557381"/>
            <a:ext cx="135609" cy="218724"/>
          </a:xfrm>
          <a:prstGeom prst="upArrow">
            <a:avLst/>
          </a:prstGeom>
          <a:solidFill>
            <a:srgbClr val="7CC4FF">
              <a:alpha val="65999"/>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Up Arrow 43"/>
          <p:cNvSpPr/>
          <p:nvPr/>
        </p:nvSpPr>
        <p:spPr>
          <a:xfrm>
            <a:off x="10548379" y="3557381"/>
            <a:ext cx="135609" cy="218724"/>
          </a:xfrm>
          <a:prstGeom prst="upArrow">
            <a:avLst/>
          </a:prstGeom>
          <a:solidFill>
            <a:srgbClr val="7CC4FF">
              <a:alpha val="7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Up Arrow 44"/>
          <p:cNvSpPr/>
          <p:nvPr/>
        </p:nvSpPr>
        <p:spPr>
          <a:xfrm>
            <a:off x="11023867" y="3557381"/>
            <a:ext cx="135609" cy="218724"/>
          </a:xfrm>
          <a:prstGeom prst="upArrow">
            <a:avLst/>
          </a:prstGeom>
          <a:solidFill>
            <a:srgbClr val="7CC4FF">
              <a:alpha val="89999"/>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Down Arrow 45"/>
          <p:cNvSpPr/>
          <p:nvPr/>
        </p:nvSpPr>
        <p:spPr>
          <a:xfrm>
            <a:off x="8170939" y="4032869"/>
            <a:ext cx="135609" cy="218724"/>
          </a:xfrm>
          <a:prstGeom prst="downArrow">
            <a:avLst/>
          </a:prstGeom>
          <a:solidFill>
            <a:srgbClr val="FF7A59">
              <a:alpha val="1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Down Arrow 46"/>
          <p:cNvSpPr/>
          <p:nvPr/>
        </p:nvSpPr>
        <p:spPr>
          <a:xfrm>
            <a:off x="8646427" y="4032869"/>
            <a:ext cx="135609" cy="218724"/>
          </a:xfrm>
          <a:prstGeom prst="downArrow">
            <a:avLst/>
          </a:prstGeom>
          <a:solidFill>
            <a:srgbClr val="FF7A59">
              <a:alpha val="3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Up Arrow 47"/>
          <p:cNvSpPr/>
          <p:nvPr/>
        </p:nvSpPr>
        <p:spPr>
          <a:xfrm>
            <a:off x="9121915" y="4032869"/>
            <a:ext cx="135609" cy="218724"/>
          </a:xfrm>
          <a:prstGeom prst="upArrow">
            <a:avLst/>
          </a:prstGeom>
          <a:solidFill>
            <a:srgbClr val="7CC4FF">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Up Arrow 48"/>
          <p:cNvSpPr/>
          <p:nvPr/>
        </p:nvSpPr>
        <p:spPr>
          <a:xfrm>
            <a:off x="9597403" y="4032869"/>
            <a:ext cx="135609" cy="218724"/>
          </a:xfrm>
          <a:prstGeom prst="upArrow">
            <a:avLst/>
          </a:prstGeom>
          <a:solidFill>
            <a:srgbClr val="7CC4FF">
              <a:alpha val="5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Up Arrow 49"/>
          <p:cNvSpPr/>
          <p:nvPr/>
        </p:nvSpPr>
        <p:spPr>
          <a:xfrm>
            <a:off x="10072891" y="4032869"/>
            <a:ext cx="135609" cy="218724"/>
          </a:xfrm>
          <a:prstGeom prst="upArrow">
            <a:avLst/>
          </a:prstGeom>
          <a:solidFill>
            <a:srgbClr val="7CC4FF">
              <a:alpha val="65999"/>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Down Arrow 50"/>
          <p:cNvSpPr/>
          <p:nvPr/>
        </p:nvSpPr>
        <p:spPr>
          <a:xfrm>
            <a:off x="10548379" y="4032869"/>
            <a:ext cx="135609" cy="218724"/>
          </a:xfrm>
          <a:prstGeom prst="downArrow">
            <a:avLst/>
          </a:prstGeom>
          <a:solidFill>
            <a:srgbClr val="FF7A59">
              <a:alpha val="7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Down Arrow 51"/>
          <p:cNvSpPr/>
          <p:nvPr/>
        </p:nvSpPr>
        <p:spPr>
          <a:xfrm>
            <a:off x="11023867" y="4032869"/>
            <a:ext cx="135609" cy="218724"/>
          </a:xfrm>
          <a:prstGeom prst="downArrow">
            <a:avLst/>
          </a:prstGeom>
          <a:solidFill>
            <a:srgbClr val="FF7A59">
              <a:alpha val="89999"/>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Up Arrow 52"/>
          <p:cNvSpPr/>
          <p:nvPr/>
        </p:nvSpPr>
        <p:spPr>
          <a:xfrm>
            <a:off x="8170939" y="4508357"/>
            <a:ext cx="135609" cy="218724"/>
          </a:xfrm>
          <a:prstGeom prst="upArrow">
            <a:avLst/>
          </a:prstGeom>
          <a:solidFill>
            <a:srgbClr val="7CC4FF">
              <a:alpha val="1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Down Arrow 53"/>
          <p:cNvSpPr/>
          <p:nvPr/>
        </p:nvSpPr>
        <p:spPr>
          <a:xfrm>
            <a:off x="8646427" y="4508357"/>
            <a:ext cx="135609" cy="218724"/>
          </a:xfrm>
          <a:prstGeom prst="downArrow">
            <a:avLst/>
          </a:prstGeom>
          <a:solidFill>
            <a:srgbClr val="FF7A59">
              <a:alpha val="3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Up Arrow 54"/>
          <p:cNvSpPr/>
          <p:nvPr/>
        </p:nvSpPr>
        <p:spPr>
          <a:xfrm>
            <a:off x="9121915" y="4508357"/>
            <a:ext cx="135609" cy="218724"/>
          </a:xfrm>
          <a:prstGeom prst="upArrow">
            <a:avLst/>
          </a:prstGeom>
          <a:solidFill>
            <a:srgbClr val="7CC4FF">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Up Arrow 55"/>
          <p:cNvSpPr/>
          <p:nvPr/>
        </p:nvSpPr>
        <p:spPr>
          <a:xfrm>
            <a:off x="9597403" y="4508357"/>
            <a:ext cx="135609" cy="218724"/>
          </a:xfrm>
          <a:prstGeom prst="upArrow">
            <a:avLst/>
          </a:prstGeom>
          <a:solidFill>
            <a:srgbClr val="7CC4FF">
              <a:alpha val="5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Down Arrow 56"/>
          <p:cNvSpPr/>
          <p:nvPr/>
        </p:nvSpPr>
        <p:spPr>
          <a:xfrm>
            <a:off x="10072891" y="4508357"/>
            <a:ext cx="135609" cy="218724"/>
          </a:xfrm>
          <a:prstGeom prst="downArrow">
            <a:avLst/>
          </a:prstGeom>
          <a:solidFill>
            <a:srgbClr val="FF7A59">
              <a:alpha val="65999"/>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Up Arrow 57"/>
          <p:cNvSpPr/>
          <p:nvPr/>
        </p:nvSpPr>
        <p:spPr>
          <a:xfrm>
            <a:off x="10548379" y="4508357"/>
            <a:ext cx="135609" cy="218724"/>
          </a:xfrm>
          <a:prstGeom prst="upArrow">
            <a:avLst/>
          </a:prstGeom>
          <a:solidFill>
            <a:srgbClr val="7CC4FF">
              <a:alpha val="7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Up Arrow 58"/>
          <p:cNvSpPr/>
          <p:nvPr/>
        </p:nvSpPr>
        <p:spPr>
          <a:xfrm>
            <a:off x="11023867" y="4508357"/>
            <a:ext cx="135609" cy="218724"/>
          </a:xfrm>
          <a:prstGeom prst="upArrow">
            <a:avLst/>
          </a:prstGeom>
          <a:solidFill>
            <a:srgbClr val="7CC4FF">
              <a:alpha val="89999"/>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Up Arrow 59"/>
          <p:cNvSpPr/>
          <p:nvPr/>
        </p:nvSpPr>
        <p:spPr>
          <a:xfrm>
            <a:off x="8170939" y="4983845"/>
            <a:ext cx="135609" cy="218724"/>
          </a:xfrm>
          <a:prstGeom prst="upArrow">
            <a:avLst/>
          </a:prstGeom>
          <a:solidFill>
            <a:srgbClr val="7CC4FF">
              <a:alpha val="1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Down Arrow 60"/>
          <p:cNvSpPr/>
          <p:nvPr/>
        </p:nvSpPr>
        <p:spPr>
          <a:xfrm>
            <a:off x="8646427" y="4983845"/>
            <a:ext cx="135609" cy="218724"/>
          </a:xfrm>
          <a:prstGeom prst="downArrow">
            <a:avLst/>
          </a:prstGeom>
          <a:solidFill>
            <a:srgbClr val="FF7A59">
              <a:alpha val="3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Down Arrow 61"/>
          <p:cNvSpPr/>
          <p:nvPr/>
        </p:nvSpPr>
        <p:spPr>
          <a:xfrm>
            <a:off x="9121915" y="4983845"/>
            <a:ext cx="135609" cy="218724"/>
          </a:xfrm>
          <a:prstGeom prst="downArrow">
            <a:avLst/>
          </a:prstGeom>
          <a:solidFill>
            <a:srgbClr val="FF7A59">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Up Arrow 62"/>
          <p:cNvSpPr/>
          <p:nvPr/>
        </p:nvSpPr>
        <p:spPr>
          <a:xfrm>
            <a:off x="9597403" y="4983845"/>
            <a:ext cx="135609" cy="218724"/>
          </a:xfrm>
          <a:prstGeom prst="upArrow">
            <a:avLst/>
          </a:prstGeom>
          <a:solidFill>
            <a:srgbClr val="7CC4FF">
              <a:alpha val="5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Down Arrow 63"/>
          <p:cNvSpPr/>
          <p:nvPr/>
        </p:nvSpPr>
        <p:spPr>
          <a:xfrm>
            <a:off x="10072891" y="4983845"/>
            <a:ext cx="135609" cy="218724"/>
          </a:xfrm>
          <a:prstGeom prst="downArrow">
            <a:avLst/>
          </a:prstGeom>
          <a:solidFill>
            <a:srgbClr val="FF7A59">
              <a:alpha val="65999"/>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Up Arrow 64"/>
          <p:cNvSpPr/>
          <p:nvPr/>
        </p:nvSpPr>
        <p:spPr>
          <a:xfrm>
            <a:off x="10548379" y="4983845"/>
            <a:ext cx="135609" cy="218724"/>
          </a:xfrm>
          <a:prstGeom prst="upArrow">
            <a:avLst/>
          </a:prstGeom>
          <a:solidFill>
            <a:srgbClr val="7CC4FF">
              <a:alpha val="7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Down Arrow 65"/>
          <p:cNvSpPr/>
          <p:nvPr/>
        </p:nvSpPr>
        <p:spPr>
          <a:xfrm>
            <a:off x="11023867" y="4983845"/>
            <a:ext cx="135609" cy="218724"/>
          </a:xfrm>
          <a:prstGeom prst="downArrow">
            <a:avLst/>
          </a:prstGeom>
          <a:solidFill>
            <a:srgbClr val="FF7A59">
              <a:alpha val="89999"/>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8001000" y="5440680"/>
            <a:ext cx="3328416" cy="457200"/>
          </a:xfrm>
          <a:prstGeom prst="rect">
            <a:avLst/>
          </a:prstGeom>
          <a:noFill/>
        </p:spPr>
        <p:txBody>
          <a:bodyPr wrap="square" anchor="t">
            <a:spAutoFit/>
          </a:bodyPr>
          <a:lstStyle/>
          <a:p>
            <a:pPr algn="ctr">
              <a:spcAft>
                <a:spcPts val="0"/>
              </a:spcAft>
            </a:pPr>
            <a:r>
              <a:rPr sz="1300" b="0" i="0">
                <a:solidFill>
                  <a:srgbClr val="9AABC4"/>
                </a:solidFill>
                <a:latin typeface="Calibri"/>
              </a:rPr>
              <a:t>each arrow is one person's opinion</a:t>
            </a:r>
          </a:p>
        </p:txBody>
      </p:sp>
      <p:sp>
        <p:nvSpPr>
          <p:cNvPr id="68" name="TextBox 67"/>
          <p:cNvSpPr txBox="1"/>
          <p:nvPr/>
        </p:nvSpPr>
        <p:spPr>
          <a:xfrm>
            <a:off x="822960" y="1051560"/>
            <a:ext cx="6949440" cy="365760"/>
          </a:xfrm>
          <a:prstGeom prst="rect">
            <a:avLst/>
          </a:prstGeom>
          <a:noFill/>
        </p:spPr>
        <p:txBody>
          <a:bodyPr wrap="square" anchor="t">
            <a:spAutoFit/>
          </a:bodyPr>
          <a:lstStyle/>
          <a:p>
            <a:pPr algn="l">
              <a:spcAft>
                <a:spcPts val="0"/>
              </a:spcAft>
            </a:pPr>
            <a:r>
              <a:rPr sz="1300" b="1" i="0">
                <a:solidFill>
                  <a:srgbClr val="7CC4FF"/>
                </a:solidFill>
                <a:latin typeface="Calibri"/>
              </a:rPr>
              <a:t>B.Sc. PHYSICS   ·   CUEA   ·   DISSERTATION DEFENCE</a:t>
            </a:r>
          </a:p>
        </p:txBody>
      </p:sp>
      <p:sp>
        <p:nvSpPr>
          <p:cNvPr id="69" name="TextBox 68"/>
          <p:cNvSpPr txBox="1"/>
          <p:nvPr/>
        </p:nvSpPr>
        <p:spPr>
          <a:xfrm>
            <a:off x="822960" y="1508760"/>
            <a:ext cx="6949440" cy="1737360"/>
          </a:xfrm>
          <a:prstGeom prst="rect">
            <a:avLst/>
          </a:prstGeom>
          <a:noFill/>
        </p:spPr>
        <p:txBody>
          <a:bodyPr wrap="square" anchor="t">
            <a:spAutoFit/>
          </a:bodyPr>
          <a:lstStyle/>
          <a:p>
            <a:pPr algn="l">
              <a:spcAft>
                <a:spcPts val="0"/>
              </a:spcAft>
            </a:pPr>
            <a:r>
              <a:rPr sz="5000" b="1" i="0">
                <a:solidFill>
                  <a:srgbClr val="EEF3FA"/>
                </a:solidFill>
                <a:latin typeface="Calibri"/>
              </a:rPr>
              <a:t>Measuring the</a:t>
            </a:r>
          </a:p>
          <a:p>
            <a:pPr algn="l">
              <a:spcAft>
                <a:spcPts val="0"/>
              </a:spcAft>
            </a:pPr>
            <a:r>
              <a:rPr sz="5000" b="1" i="0">
                <a:solidFill>
                  <a:srgbClr val="7CC4FF"/>
                </a:solidFill>
                <a:latin typeface="Calibri"/>
              </a:rPr>
              <a:t>External Field</a:t>
            </a:r>
          </a:p>
        </p:txBody>
      </p:sp>
      <p:sp>
        <p:nvSpPr>
          <p:cNvPr id="70" name="TextBox 69"/>
          <p:cNvSpPr txBox="1"/>
          <p:nvPr/>
        </p:nvSpPr>
        <p:spPr>
          <a:xfrm>
            <a:off x="822960" y="3246120"/>
            <a:ext cx="6766560" cy="914400"/>
          </a:xfrm>
          <a:prstGeom prst="rect">
            <a:avLst/>
          </a:prstGeom>
          <a:noFill/>
        </p:spPr>
        <p:txBody>
          <a:bodyPr wrap="square" anchor="t">
            <a:spAutoFit/>
          </a:bodyPr>
          <a:lstStyle/>
          <a:p>
            <a:pPr algn="l">
              <a:spcAft>
                <a:spcPts val="0"/>
              </a:spcAft>
            </a:pPr>
            <a:r>
              <a:rPr sz="2100" b="0" i="0">
                <a:solidFill>
                  <a:srgbClr val="9AABC4"/>
                </a:solidFill>
                <a:latin typeface="Calibri"/>
              </a:rPr>
              <a:t>Can we measure how hard a news article pushes on what people think?</a:t>
            </a:r>
          </a:p>
        </p:txBody>
      </p:sp>
      <p:sp>
        <p:nvSpPr>
          <p:cNvPr id="71" name="Rectangle 70"/>
          <p:cNvSpPr/>
          <p:nvPr/>
        </p:nvSpPr>
        <p:spPr>
          <a:xfrm>
            <a:off x="822960" y="4343400"/>
            <a:ext cx="1280160" cy="45720"/>
          </a:xfrm>
          <a:prstGeom prst="rect">
            <a:avLst/>
          </a:prstGeom>
          <a:solidFill>
            <a:srgbClr val="FF7A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822960" y="4572000"/>
            <a:ext cx="6766560" cy="1280160"/>
          </a:xfrm>
          <a:prstGeom prst="rect">
            <a:avLst/>
          </a:prstGeom>
          <a:noFill/>
        </p:spPr>
        <p:txBody>
          <a:bodyPr wrap="square" anchor="t">
            <a:spAutoFit/>
          </a:bodyPr>
          <a:lstStyle/>
          <a:p>
            <a:pPr algn="l">
              <a:spcAft>
                <a:spcPts val="400"/>
              </a:spcAft>
            </a:pPr>
            <a:r>
              <a:rPr sz="2000" b="1">
                <a:solidFill>
                  <a:srgbClr val="EEF3FA"/>
                </a:solidFill>
                <a:latin typeface="Calibri"/>
              </a:rPr>
              <a:t>Brian Mwai</a:t>
            </a:r>
            <a:r>
              <a:rPr sz="2000" b="0">
                <a:solidFill>
                  <a:srgbClr val="9AABC4"/>
                </a:solidFill>
                <a:latin typeface="Calibri"/>
              </a:rPr>
              <a:t>   1050555</a:t>
            </a:r>
          </a:p>
          <a:p>
            <a:pPr algn="l">
              <a:spcAft>
                <a:spcPts val="200"/>
              </a:spcAft>
            </a:pPr>
            <a:r>
              <a:rPr sz="1500" b="0" i="0">
                <a:solidFill>
                  <a:srgbClr val="9AABC4"/>
                </a:solidFill>
                <a:latin typeface="Calibri"/>
              </a:rPr>
              <a:t>Supervisor: Dr. Songa Mutambi</a:t>
            </a:r>
          </a:p>
          <a:p>
            <a:pPr algn="l">
              <a:spcAft>
                <a:spcPts val="0"/>
              </a:spcAft>
            </a:pPr>
            <a:r>
              <a:rPr sz="1500" b="0" i="0">
                <a:solidFill>
                  <a:srgbClr val="9AABC4"/>
                </a:solidFill>
                <a:latin typeface="Calibri"/>
              </a:rPr>
              <a:t>25 September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Oval 1"/>
          <p:cNvSpPr/>
          <p:nvPr/>
        </p:nvSpPr>
        <p:spPr>
          <a:xfrm>
            <a:off x="8214055" y="-3794760"/>
            <a:ext cx="6858000" cy="6858000"/>
          </a:xfrm>
          <a:prstGeom prst="ellipse">
            <a:avLst/>
          </a:prstGeom>
          <a:gradFill rotWithShape="1">
            <a:gsLst>
              <a:gs pos="0">
                <a:srgbClr val="3E8EDE">
                  <a:alpha val="28000"/>
                </a:srgbClr>
              </a:gs>
              <a:gs pos="100000">
                <a:srgbClr val="3E8EDE">
                  <a:alpha val="0"/>
                </a:srgbClr>
              </a:gs>
            </a:gsLst>
            <a:path path="circle">
              <a:fillToRect l="50000" t="50000" r="50000" b="50000"/>
            </a:path>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3474720" y="4663440"/>
            <a:ext cx="5486400" cy="5486400"/>
          </a:xfrm>
          <a:prstGeom prst="ellipse">
            <a:avLst/>
          </a:prstGeom>
          <a:gradFill rotWithShape="1">
            <a:gsLst>
              <a:gs pos="0">
                <a:srgbClr val="FF7A59">
                  <a:alpha val="10000"/>
                </a:srgbClr>
              </a:gs>
              <a:gs pos="100000">
                <a:srgbClr val="FF7A59">
                  <a:alpha val="0"/>
                </a:srgbClr>
              </a:gs>
            </a:gsLst>
            <a:path path="circle">
              <a:fillToRect l="50000" t="50000" r="50000" b="50000"/>
            </a:path>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waveform.png"/>
          <p:cNvPicPr>
            <a:picLocks noChangeAspect="1"/>
          </p:cNvPicPr>
          <p:nvPr/>
        </p:nvPicPr>
        <p:blipFill>
          <a:blip r:embed="rId3"/>
          <a:stretch>
            <a:fillRect/>
          </a:stretch>
        </p:blipFill>
        <p:spPr>
          <a:xfrm>
            <a:off x="685800" y="457200"/>
            <a:ext cx="420624" cy="420624"/>
          </a:xfrm>
          <a:prstGeom prst="rect">
            <a:avLst/>
          </a:prstGeom>
        </p:spPr>
      </p:pic>
      <p:sp>
        <p:nvSpPr>
          <p:cNvPr id="5" name="TextBox 4"/>
          <p:cNvSpPr txBox="1"/>
          <p:nvPr/>
        </p:nvSpPr>
        <p:spPr>
          <a:xfrm>
            <a:off x="1289304" y="201168"/>
            <a:ext cx="10216591" cy="320040"/>
          </a:xfrm>
          <a:prstGeom prst="rect">
            <a:avLst/>
          </a:prstGeom>
          <a:noFill/>
        </p:spPr>
        <p:txBody>
          <a:bodyPr wrap="square" anchor="t">
            <a:spAutoFit/>
          </a:bodyPr>
          <a:lstStyle/>
          <a:p>
            <a:pPr algn="l">
              <a:spcAft>
                <a:spcPts val="0"/>
              </a:spcAft>
            </a:pPr>
            <a:r>
              <a:rPr sz="1200" b="1" i="0">
                <a:solidFill>
                  <a:srgbClr val="FF7A59"/>
                </a:solidFill>
                <a:latin typeface="Calibri"/>
              </a:rPr>
              <a:t>THE IDEA</a:t>
            </a:r>
          </a:p>
        </p:txBody>
      </p:sp>
      <p:sp>
        <p:nvSpPr>
          <p:cNvPr id="6" name="TextBox 5"/>
          <p:cNvSpPr txBox="1"/>
          <p:nvPr/>
        </p:nvSpPr>
        <p:spPr>
          <a:xfrm>
            <a:off x="1289304" y="420624"/>
            <a:ext cx="10216591" cy="822960"/>
          </a:xfrm>
          <a:prstGeom prst="rect">
            <a:avLst/>
          </a:prstGeom>
          <a:noFill/>
        </p:spPr>
        <p:txBody>
          <a:bodyPr wrap="square" anchor="t">
            <a:spAutoFit/>
          </a:bodyPr>
          <a:lstStyle/>
          <a:p>
            <a:pPr algn="l">
              <a:spcAft>
                <a:spcPts val="0"/>
              </a:spcAft>
            </a:pPr>
            <a:r>
              <a:rPr sz="2600" b="1" i="0">
                <a:solidFill>
                  <a:srgbClr val="7CC4FF"/>
                </a:solidFill>
                <a:latin typeface="Calibri"/>
              </a:rPr>
              <a:t>Physics treats media as a push, h, on opinion. Nobody measures h</a:t>
            </a:r>
          </a:p>
        </p:txBody>
      </p:sp>
      <p:pic>
        <p:nvPicPr>
          <p:cNvPr id="7" name="Picture 6" descr="45f02749de550d5c.png"/>
          <p:cNvPicPr>
            <a:picLocks noChangeAspect="1"/>
          </p:cNvPicPr>
          <p:nvPr/>
        </p:nvPicPr>
        <p:blipFill>
          <a:blip r:embed="rId4"/>
          <a:stretch>
            <a:fillRect/>
          </a:stretch>
        </p:blipFill>
        <p:spPr>
          <a:xfrm>
            <a:off x="685800" y="1508760"/>
            <a:ext cx="3937863" cy="510235"/>
          </a:xfrm>
          <a:prstGeom prst="rect">
            <a:avLst/>
          </a:prstGeom>
        </p:spPr>
      </p:pic>
      <p:sp>
        <p:nvSpPr>
          <p:cNvPr id="8" name="Rounded Rectangle 7"/>
          <p:cNvSpPr/>
          <p:nvPr/>
        </p:nvSpPr>
        <p:spPr>
          <a:xfrm>
            <a:off x="685800" y="2514600"/>
            <a:ext cx="3383280" cy="896112"/>
          </a:xfrm>
          <a:prstGeom prst="roundRect">
            <a:avLst>
              <a:gd name="adj" fmla="val 6000"/>
            </a:avLst>
          </a:prstGeom>
          <a:solidFill>
            <a:srgbClr val="12223C"/>
          </a:solidFill>
          <a:ln w="15875">
            <a:solidFill>
              <a:srgbClr val="2A3D5E"/>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09728" bIns="109728"/>
          <a:lstStyle/>
          <a:p>
            <a:pPr algn="l"/>
          </a:p>
        </p:txBody>
      </p:sp>
      <p:pic>
        <p:nvPicPr>
          <p:cNvPr id="9" name="Picture 8" descr="2e3b70b3f2255e91.png"/>
          <p:cNvPicPr>
            <a:picLocks noChangeAspect="1"/>
          </p:cNvPicPr>
          <p:nvPr/>
        </p:nvPicPr>
        <p:blipFill>
          <a:blip r:embed="rId5"/>
          <a:stretch>
            <a:fillRect/>
          </a:stretch>
        </p:blipFill>
        <p:spPr>
          <a:xfrm>
            <a:off x="964692" y="2697480"/>
            <a:ext cx="356616" cy="390906"/>
          </a:xfrm>
          <a:prstGeom prst="rect">
            <a:avLst/>
          </a:prstGeom>
        </p:spPr>
      </p:pic>
      <p:sp>
        <p:nvSpPr>
          <p:cNvPr id="10" name="TextBox 9"/>
          <p:cNvSpPr txBox="1"/>
          <p:nvPr/>
        </p:nvSpPr>
        <p:spPr>
          <a:xfrm>
            <a:off x="1554480" y="2624328"/>
            <a:ext cx="2468880" cy="731520"/>
          </a:xfrm>
          <a:prstGeom prst="rect">
            <a:avLst/>
          </a:prstGeom>
          <a:noFill/>
        </p:spPr>
        <p:txBody>
          <a:bodyPr wrap="square" anchor="ctr">
            <a:spAutoFit/>
          </a:bodyPr>
          <a:lstStyle/>
          <a:p>
            <a:pPr algn="l">
              <a:spcAft>
                <a:spcPts val="0"/>
              </a:spcAft>
            </a:pPr>
            <a:r>
              <a:rPr sz="1400" b="0" i="0">
                <a:solidFill>
                  <a:srgbClr val="EEF3FA"/>
                </a:solidFill>
                <a:latin typeface="Calibri"/>
              </a:rPr>
              <a:t>magnetisation
= average opinion, −1 to +1</a:t>
            </a:r>
          </a:p>
        </p:txBody>
      </p:sp>
      <p:sp>
        <p:nvSpPr>
          <p:cNvPr id="11" name="Rounded Rectangle 10"/>
          <p:cNvSpPr/>
          <p:nvPr/>
        </p:nvSpPr>
        <p:spPr>
          <a:xfrm>
            <a:off x="4206240" y="2514600"/>
            <a:ext cx="3383280" cy="896112"/>
          </a:xfrm>
          <a:prstGeom prst="roundRect">
            <a:avLst>
              <a:gd name="adj" fmla="val 6000"/>
            </a:avLst>
          </a:prstGeom>
          <a:solidFill>
            <a:srgbClr val="12223C"/>
          </a:solidFill>
          <a:ln w="15875">
            <a:solidFill>
              <a:srgbClr val="2A3D5E"/>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09728" bIns="109728"/>
          <a:lstStyle/>
          <a:p>
            <a:pPr algn="l"/>
          </a:p>
        </p:txBody>
      </p:sp>
      <p:pic>
        <p:nvPicPr>
          <p:cNvPr id="12" name="Picture 11" descr="14e8a1e87ada8350.png"/>
          <p:cNvPicPr>
            <a:picLocks noChangeAspect="1"/>
          </p:cNvPicPr>
          <p:nvPr/>
        </p:nvPicPr>
        <p:blipFill>
          <a:blip r:embed="rId6"/>
          <a:stretch>
            <a:fillRect/>
          </a:stretch>
        </p:blipFill>
        <p:spPr>
          <a:xfrm>
            <a:off x="4526279" y="2697480"/>
            <a:ext cx="274320" cy="390906"/>
          </a:xfrm>
          <a:prstGeom prst="rect">
            <a:avLst/>
          </a:prstGeom>
        </p:spPr>
      </p:pic>
      <p:sp>
        <p:nvSpPr>
          <p:cNvPr id="13" name="TextBox 12"/>
          <p:cNvSpPr txBox="1"/>
          <p:nvPr/>
        </p:nvSpPr>
        <p:spPr>
          <a:xfrm>
            <a:off x="5074920" y="2624328"/>
            <a:ext cx="2468880" cy="731520"/>
          </a:xfrm>
          <a:prstGeom prst="rect">
            <a:avLst/>
          </a:prstGeom>
          <a:noFill/>
        </p:spPr>
        <p:txBody>
          <a:bodyPr wrap="square" anchor="ctr">
            <a:spAutoFit/>
          </a:bodyPr>
          <a:lstStyle/>
          <a:p>
            <a:pPr algn="l">
              <a:spcAft>
                <a:spcPts val="0"/>
              </a:spcAft>
            </a:pPr>
            <a:r>
              <a:rPr sz="1400" b="0" i="0">
                <a:solidFill>
                  <a:srgbClr val="EEF3FA"/>
                </a:solidFill>
                <a:latin typeface="Calibri"/>
              </a:rPr>
              <a:t>coupling
= pull toward neighbours</a:t>
            </a:r>
          </a:p>
        </p:txBody>
      </p:sp>
      <p:sp>
        <p:nvSpPr>
          <p:cNvPr id="14" name="Rounded Rectangle 13"/>
          <p:cNvSpPr/>
          <p:nvPr/>
        </p:nvSpPr>
        <p:spPr>
          <a:xfrm>
            <a:off x="685800" y="3538728"/>
            <a:ext cx="3383280" cy="896112"/>
          </a:xfrm>
          <a:prstGeom prst="roundRect">
            <a:avLst>
              <a:gd name="adj" fmla="val 6000"/>
            </a:avLst>
          </a:prstGeom>
          <a:solidFill>
            <a:srgbClr val="12223C"/>
          </a:solidFill>
          <a:ln w="15875">
            <a:solidFill>
              <a:srgbClr val="2A3D5E"/>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09728" bIns="109728"/>
          <a:lstStyle/>
          <a:p>
            <a:pPr algn="l"/>
          </a:p>
        </p:txBody>
      </p:sp>
      <p:pic>
        <p:nvPicPr>
          <p:cNvPr id="15" name="Picture 14" descr="9255c6a4144431ec.png"/>
          <p:cNvPicPr>
            <a:picLocks noChangeAspect="1"/>
          </p:cNvPicPr>
          <p:nvPr/>
        </p:nvPicPr>
        <p:blipFill>
          <a:blip r:embed="rId7"/>
          <a:stretch>
            <a:fillRect/>
          </a:stretch>
        </p:blipFill>
        <p:spPr>
          <a:xfrm>
            <a:off x="1014412" y="3721608"/>
            <a:ext cx="257175" cy="394334"/>
          </a:xfrm>
          <a:prstGeom prst="rect">
            <a:avLst/>
          </a:prstGeom>
        </p:spPr>
      </p:pic>
      <p:sp>
        <p:nvSpPr>
          <p:cNvPr id="16" name="TextBox 15"/>
          <p:cNvSpPr txBox="1"/>
          <p:nvPr/>
        </p:nvSpPr>
        <p:spPr>
          <a:xfrm>
            <a:off x="1554480" y="3648456"/>
            <a:ext cx="2468880" cy="731520"/>
          </a:xfrm>
          <a:prstGeom prst="rect">
            <a:avLst/>
          </a:prstGeom>
          <a:noFill/>
        </p:spPr>
        <p:txBody>
          <a:bodyPr wrap="square" anchor="ctr">
            <a:spAutoFit/>
          </a:bodyPr>
          <a:lstStyle/>
          <a:p>
            <a:pPr algn="l">
              <a:spcAft>
                <a:spcPts val="0"/>
              </a:spcAft>
            </a:pPr>
            <a:r>
              <a:rPr sz="1400" b="0" i="0">
                <a:solidFill>
                  <a:srgbClr val="EEF3FA"/>
                </a:solidFill>
                <a:latin typeface="Calibri"/>
              </a:rPr>
              <a:t>inverse temperature
= how firmly people follow</a:t>
            </a:r>
          </a:p>
        </p:txBody>
      </p:sp>
      <p:sp>
        <p:nvSpPr>
          <p:cNvPr id="17" name="Rounded Rectangle 16"/>
          <p:cNvSpPr/>
          <p:nvPr/>
        </p:nvSpPr>
        <p:spPr>
          <a:xfrm>
            <a:off x="4206240" y="3538728"/>
            <a:ext cx="3383280" cy="896112"/>
          </a:xfrm>
          <a:prstGeom prst="roundRect">
            <a:avLst>
              <a:gd name="adj" fmla="val 6000"/>
            </a:avLst>
          </a:prstGeom>
          <a:solidFill>
            <a:srgbClr val="12223C"/>
          </a:solidFill>
          <a:ln w="25400">
            <a:solidFill>
              <a:srgbClr val="F5B83D"/>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09728" bIns="109728"/>
          <a:lstStyle/>
          <a:p>
            <a:pPr algn="l"/>
          </a:p>
        </p:txBody>
      </p:sp>
      <p:pic>
        <p:nvPicPr>
          <p:cNvPr id="18" name="Picture 17" descr="20c93cf97540e448.png"/>
          <p:cNvPicPr>
            <a:picLocks noChangeAspect="1"/>
          </p:cNvPicPr>
          <p:nvPr/>
        </p:nvPicPr>
        <p:blipFill>
          <a:blip r:embed="rId8"/>
          <a:stretch>
            <a:fillRect/>
          </a:stretch>
        </p:blipFill>
        <p:spPr>
          <a:xfrm>
            <a:off x="4543424" y="3721608"/>
            <a:ext cx="240030" cy="390906"/>
          </a:xfrm>
          <a:prstGeom prst="rect">
            <a:avLst/>
          </a:prstGeom>
        </p:spPr>
      </p:pic>
      <p:sp>
        <p:nvSpPr>
          <p:cNvPr id="19" name="TextBox 18"/>
          <p:cNvSpPr txBox="1"/>
          <p:nvPr/>
        </p:nvSpPr>
        <p:spPr>
          <a:xfrm>
            <a:off x="5074920" y="3648456"/>
            <a:ext cx="2468880" cy="731520"/>
          </a:xfrm>
          <a:prstGeom prst="rect">
            <a:avLst/>
          </a:prstGeom>
          <a:noFill/>
        </p:spPr>
        <p:txBody>
          <a:bodyPr wrap="square" anchor="ctr">
            <a:spAutoFit/>
          </a:bodyPr>
          <a:lstStyle/>
          <a:p>
            <a:pPr algn="l">
              <a:spcAft>
                <a:spcPts val="0"/>
              </a:spcAft>
            </a:pPr>
            <a:r>
              <a:rPr sz="1400" b="0" i="0">
                <a:solidFill>
                  <a:srgbClr val="EEF3FA"/>
                </a:solidFill>
                <a:latin typeface="Calibri"/>
              </a:rPr>
              <a:t>external field
= media's push on everyone</a:t>
            </a:r>
          </a:p>
        </p:txBody>
      </p:sp>
      <p:sp>
        <p:nvSpPr>
          <p:cNvPr id="20" name="Up Arrow 19"/>
          <p:cNvSpPr/>
          <p:nvPr/>
        </p:nvSpPr>
        <p:spPr>
          <a:xfrm>
            <a:off x="8317903" y="1735988"/>
            <a:ext cx="143432" cy="231343"/>
          </a:xfrm>
          <a:prstGeom prst="upArrow">
            <a:avLst/>
          </a:prstGeom>
          <a:solidFill>
            <a:srgbClr val="7CC4FF">
              <a:alpha val="1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Up Arrow 20"/>
          <p:cNvSpPr/>
          <p:nvPr/>
        </p:nvSpPr>
        <p:spPr>
          <a:xfrm>
            <a:off x="8820823" y="1735988"/>
            <a:ext cx="143432" cy="231343"/>
          </a:xfrm>
          <a:prstGeom prst="upArrow">
            <a:avLst/>
          </a:prstGeom>
          <a:solidFill>
            <a:srgbClr val="7CC4FF">
              <a:alpha val="32399"/>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Up Arrow 21"/>
          <p:cNvSpPr/>
          <p:nvPr/>
        </p:nvSpPr>
        <p:spPr>
          <a:xfrm>
            <a:off x="9323743" y="1735988"/>
            <a:ext cx="143432" cy="231343"/>
          </a:xfrm>
          <a:prstGeom prst="upArrow">
            <a:avLst/>
          </a:prstGeom>
          <a:solidFill>
            <a:srgbClr val="7CC4FF">
              <a:alpha val="468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Up Arrow 22"/>
          <p:cNvSpPr/>
          <p:nvPr/>
        </p:nvSpPr>
        <p:spPr>
          <a:xfrm>
            <a:off x="9826663" y="1735988"/>
            <a:ext cx="143432" cy="231343"/>
          </a:xfrm>
          <a:prstGeom prst="upArrow">
            <a:avLst/>
          </a:prstGeom>
          <a:solidFill>
            <a:srgbClr val="7CC4FF">
              <a:alpha val="612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Up Arrow 23"/>
          <p:cNvSpPr/>
          <p:nvPr/>
        </p:nvSpPr>
        <p:spPr>
          <a:xfrm>
            <a:off x="10329583" y="1735988"/>
            <a:ext cx="143432" cy="231343"/>
          </a:xfrm>
          <a:prstGeom prst="upArrow">
            <a:avLst/>
          </a:prstGeom>
          <a:solidFill>
            <a:srgbClr val="7CC4FF">
              <a:alpha val="756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Up Arrow 24"/>
          <p:cNvSpPr/>
          <p:nvPr/>
        </p:nvSpPr>
        <p:spPr>
          <a:xfrm>
            <a:off x="10832503" y="1735988"/>
            <a:ext cx="143432" cy="231343"/>
          </a:xfrm>
          <a:prstGeom prst="upArrow">
            <a:avLst/>
          </a:prstGeom>
          <a:solidFill>
            <a:srgbClr val="7CC4FF">
              <a:alpha val="89999"/>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Up Arrow 25"/>
          <p:cNvSpPr/>
          <p:nvPr/>
        </p:nvSpPr>
        <p:spPr>
          <a:xfrm>
            <a:off x="8317903" y="2238908"/>
            <a:ext cx="143432" cy="231343"/>
          </a:xfrm>
          <a:prstGeom prst="upArrow">
            <a:avLst/>
          </a:prstGeom>
          <a:solidFill>
            <a:srgbClr val="7CC4FF">
              <a:alpha val="1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Down Arrow 26"/>
          <p:cNvSpPr/>
          <p:nvPr/>
        </p:nvSpPr>
        <p:spPr>
          <a:xfrm>
            <a:off x="8820823" y="2238908"/>
            <a:ext cx="143432" cy="231343"/>
          </a:xfrm>
          <a:prstGeom prst="downArrow">
            <a:avLst/>
          </a:prstGeom>
          <a:solidFill>
            <a:srgbClr val="FF7A59">
              <a:alpha val="32399"/>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Up Arrow 27"/>
          <p:cNvSpPr/>
          <p:nvPr/>
        </p:nvSpPr>
        <p:spPr>
          <a:xfrm>
            <a:off x="9323743" y="2238908"/>
            <a:ext cx="143432" cy="231343"/>
          </a:xfrm>
          <a:prstGeom prst="upArrow">
            <a:avLst/>
          </a:prstGeom>
          <a:solidFill>
            <a:srgbClr val="7CC4FF">
              <a:alpha val="468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Up Arrow 28"/>
          <p:cNvSpPr/>
          <p:nvPr/>
        </p:nvSpPr>
        <p:spPr>
          <a:xfrm>
            <a:off x="9826663" y="2238908"/>
            <a:ext cx="143432" cy="231343"/>
          </a:xfrm>
          <a:prstGeom prst="upArrow">
            <a:avLst/>
          </a:prstGeom>
          <a:solidFill>
            <a:srgbClr val="7CC4FF">
              <a:alpha val="612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Down Arrow 29"/>
          <p:cNvSpPr/>
          <p:nvPr/>
        </p:nvSpPr>
        <p:spPr>
          <a:xfrm>
            <a:off x="10329583" y="2238908"/>
            <a:ext cx="143432" cy="231343"/>
          </a:xfrm>
          <a:prstGeom prst="downArrow">
            <a:avLst/>
          </a:prstGeom>
          <a:solidFill>
            <a:srgbClr val="FF7A59">
              <a:alpha val="756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Up Arrow 30"/>
          <p:cNvSpPr/>
          <p:nvPr/>
        </p:nvSpPr>
        <p:spPr>
          <a:xfrm>
            <a:off x="10832503" y="2238908"/>
            <a:ext cx="143432" cy="231343"/>
          </a:xfrm>
          <a:prstGeom prst="upArrow">
            <a:avLst/>
          </a:prstGeom>
          <a:solidFill>
            <a:srgbClr val="7CC4FF">
              <a:alpha val="89999"/>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Down Arrow 31"/>
          <p:cNvSpPr/>
          <p:nvPr/>
        </p:nvSpPr>
        <p:spPr>
          <a:xfrm>
            <a:off x="8317903" y="2741828"/>
            <a:ext cx="143432" cy="231343"/>
          </a:xfrm>
          <a:prstGeom prst="downArrow">
            <a:avLst/>
          </a:prstGeom>
          <a:solidFill>
            <a:srgbClr val="FF7A59">
              <a:alpha val="1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Up Arrow 32"/>
          <p:cNvSpPr/>
          <p:nvPr/>
        </p:nvSpPr>
        <p:spPr>
          <a:xfrm>
            <a:off x="8820823" y="2741828"/>
            <a:ext cx="143432" cy="231343"/>
          </a:xfrm>
          <a:prstGeom prst="upArrow">
            <a:avLst/>
          </a:prstGeom>
          <a:solidFill>
            <a:srgbClr val="7CC4FF">
              <a:alpha val="32399"/>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Up Arrow 33"/>
          <p:cNvSpPr/>
          <p:nvPr/>
        </p:nvSpPr>
        <p:spPr>
          <a:xfrm>
            <a:off x="9323743" y="2741828"/>
            <a:ext cx="143432" cy="231343"/>
          </a:xfrm>
          <a:prstGeom prst="upArrow">
            <a:avLst/>
          </a:prstGeom>
          <a:solidFill>
            <a:srgbClr val="7CC4FF">
              <a:alpha val="468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Up Arrow 34"/>
          <p:cNvSpPr/>
          <p:nvPr/>
        </p:nvSpPr>
        <p:spPr>
          <a:xfrm>
            <a:off x="9826663" y="2741828"/>
            <a:ext cx="143432" cy="231343"/>
          </a:xfrm>
          <a:prstGeom prst="upArrow">
            <a:avLst/>
          </a:prstGeom>
          <a:solidFill>
            <a:srgbClr val="7CC4FF">
              <a:alpha val="612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Up Arrow 35"/>
          <p:cNvSpPr/>
          <p:nvPr/>
        </p:nvSpPr>
        <p:spPr>
          <a:xfrm>
            <a:off x="10329583" y="2741828"/>
            <a:ext cx="143432" cy="231343"/>
          </a:xfrm>
          <a:prstGeom prst="upArrow">
            <a:avLst/>
          </a:prstGeom>
          <a:solidFill>
            <a:srgbClr val="7CC4FF">
              <a:alpha val="756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Down Arrow 36"/>
          <p:cNvSpPr/>
          <p:nvPr/>
        </p:nvSpPr>
        <p:spPr>
          <a:xfrm>
            <a:off x="10832503" y="2741828"/>
            <a:ext cx="143432" cy="231343"/>
          </a:xfrm>
          <a:prstGeom prst="downArrow">
            <a:avLst/>
          </a:prstGeom>
          <a:solidFill>
            <a:srgbClr val="FF7A59">
              <a:alpha val="89999"/>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Up Arrow 37"/>
          <p:cNvSpPr/>
          <p:nvPr/>
        </p:nvSpPr>
        <p:spPr>
          <a:xfrm>
            <a:off x="8317903" y="3244748"/>
            <a:ext cx="143432" cy="231343"/>
          </a:xfrm>
          <a:prstGeom prst="upArrow">
            <a:avLst/>
          </a:prstGeom>
          <a:solidFill>
            <a:srgbClr val="7CC4FF">
              <a:alpha val="1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Down Arrow 38"/>
          <p:cNvSpPr/>
          <p:nvPr/>
        </p:nvSpPr>
        <p:spPr>
          <a:xfrm>
            <a:off x="8820823" y="3244748"/>
            <a:ext cx="143432" cy="231343"/>
          </a:xfrm>
          <a:prstGeom prst="downArrow">
            <a:avLst/>
          </a:prstGeom>
          <a:solidFill>
            <a:srgbClr val="FF7A59">
              <a:alpha val="32399"/>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Down Arrow 39"/>
          <p:cNvSpPr/>
          <p:nvPr/>
        </p:nvSpPr>
        <p:spPr>
          <a:xfrm>
            <a:off x="9323743" y="3244748"/>
            <a:ext cx="143432" cy="231343"/>
          </a:xfrm>
          <a:prstGeom prst="downArrow">
            <a:avLst/>
          </a:prstGeom>
          <a:solidFill>
            <a:srgbClr val="FF7A59">
              <a:alpha val="468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Up Arrow 40"/>
          <p:cNvSpPr/>
          <p:nvPr/>
        </p:nvSpPr>
        <p:spPr>
          <a:xfrm>
            <a:off x="9826663" y="3244748"/>
            <a:ext cx="143432" cy="231343"/>
          </a:xfrm>
          <a:prstGeom prst="upArrow">
            <a:avLst/>
          </a:prstGeom>
          <a:solidFill>
            <a:srgbClr val="7CC4FF">
              <a:alpha val="612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Down Arrow 41"/>
          <p:cNvSpPr/>
          <p:nvPr/>
        </p:nvSpPr>
        <p:spPr>
          <a:xfrm>
            <a:off x="10329583" y="3244748"/>
            <a:ext cx="143432" cy="231343"/>
          </a:xfrm>
          <a:prstGeom prst="downArrow">
            <a:avLst/>
          </a:prstGeom>
          <a:solidFill>
            <a:srgbClr val="FF7A59">
              <a:alpha val="756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Up Arrow 42"/>
          <p:cNvSpPr/>
          <p:nvPr/>
        </p:nvSpPr>
        <p:spPr>
          <a:xfrm>
            <a:off x="10832503" y="3244748"/>
            <a:ext cx="143432" cy="231343"/>
          </a:xfrm>
          <a:prstGeom prst="upArrow">
            <a:avLst/>
          </a:prstGeom>
          <a:solidFill>
            <a:srgbClr val="7CC4FF">
              <a:alpha val="89999"/>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Up Arrow 43"/>
          <p:cNvSpPr/>
          <p:nvPr/>
        </p:nvSpPr>
        <p:spPr>
          <a:xfrm>
            <a:off x="8317903" y="3747668"/>
            <a:ext cx="143432" cy="231343"/>
          </a:xfrm>
          <a:prstGeom prst="upArrow">
            <a:avLst/>
          </a:prstGeom>
          <a:solidFill>
            <a:srgbClr val="7CC4FF">
              <a:alpha val="1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Up Arrow 44"/>
          <p:cNvSpPr/>
          <p:nvPr/>
        </p:nvSpPr>
        <p:spPr>
          <a:xfrm>
            <a:off x="8820823" y="3747668"/>
            <a:ext cx="143432" cy="231343"/>
          </a:xfrm>
          <a:prstGeom prst="upArrow">
            <a:avLst/>
          </a:prstGeom>
          <a:solidFill>
            <a:srgbClr val="7CC4FF">
              <a:alpha val="32399"/>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Down Arrow 45"/>
          <p:cNvSpPr/>
          <p:nvPr/>
        </p:nvSpPr>
        <p:spPr>
          <a:xfrm>
            <a:off x="9323743" y="3747668"/>
            <a:ext cx="143432" cy="231343"/>
          </a:xfrm>
          <a:prstGeom prst="downArrow">
            <a:avLst/>
          </a:prstGeom>
          <a:solidFill>
            <a:srgbClr val="FF7A59">
              <a:alpha val="468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Up Arrow 46"/>
          <p:cNvSpPr/>
          <p:nvPr/>
        </p:nvSpPr>
        <p:spPr>
          <a:xfrm>
            <a:off x="9826663" y="3747668"/>
            <a:ext cx="143432" cy="231343"/>
          </a:xfrm>
          <a:prstGeom prst="upArrow">
            <a:avLst/>
          </a:prstGeom>
          <a:solidFill>
            <a:srgbClr val="7CC4FF">
              <a:alpha val="612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Down Arrow 47"/>
          <p:cNvSpPr/>
          <p:nvPr/>
        </p:nvSpPr>
        <p:spPr>
          <a:xfrm>
            <a:off x="10329583" y="3747668"/>
            <a:ext cx="143432" cy="231343"/>
          </a:xfrm>
          <a:prstGeom prst="downArrow">
            <a:avLst/>
          </a:prstGeom>
          <a:solidFill>
            <a:srgbClr val="FF7A59">
              <a:alpha val="756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Down Arrow 48"/>
          <p:cNvSpPr/>
          <p:nvPr/>
        </p:nvSpPr>
        <p:spPr>
          <a:xfrm>
            <a:off x="10832503" y="3747668"/>
            <a:ext cx="143432" cy="231343"/>
          </a:xfrm>
          <a:prstGeom prst="downArrow">
            <a:avLst/>
          </a:prstGeom>
          <a:solidFill>
            <a:srgbClr val="FF7A59">
              <a:alpha val="89999"/>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Down Arrow 49"/>
          <p:cNvSpPr/>
          <p:nvPr/>
        </p:nvSpPr>
        <p:spPr>
          <a:xfrm>
            <a:off x="8317903" y="4250588"/>
            <a:ext cx="143432" cy="231343"/>
          </a:xfrm>
          <a:prstGeom prst="downArrow">
            <a:avLst/>
          </a:prstGeom>
          <a:solidFill>
            <a:srgbClr val="FF7A59">
              <a:alpha val="1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Down Arrow 50"/>
          <p:cNvSpPr/>
          <p:nvPr/>
        </p:nvSpPr>
        <p:spPr>
          <a:xfrm>
            <a:off x="8820823" y="4250588"/>
            <a:ext cx="143432" cy="231343"/>
          </a:xfrm>
          <a:prstGeom prst="downArrow">
            <a:avLst/>
          </a:prstGeom>
          <a:solidFill>
            <a:srgbClr val="FF7A59">
              <a:alpha val="32399"/>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Up Arrow 51"/>
          <p:cNvSpPr/>
          <p:nvPr/>
        </p:nvSpPr>
        <p:spPr>
          <a:xfrm>
            <a:off x="9323743" y="4250588"/>
            <a:ext cx="143432" cy="231343"/>
          </a:xfrm>
          <a:prstGeom prst="upArrow">
            <a:avLst/>
          </a:prstGeom>
          <a:solidFill>
            <a:srgbClr val="7CC4FF">
              <a:alpha val="468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Down Arrow 52"/>
          <p:cNvSpPr/>
          <p:nvPr/>
        </p:nvSpPr>
        <p:spPr>
          <a:xfrm>
            <a:off x="9826663" y="4250588"/>
            <a:ext cx="143432" cy="231343"/>
          </a:xfrm>
          <a:prstGeom prst="downArrow">
            <a:avLst/>
          </a:prstGeom>
          <a:solidFill>
            <a:srgbClr val="FF7A59">
              <a:alpha val="612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Up Arrow 53"/>
          <p:cNvSpPr/>
          <p:nvPr/>
        </p:nvSpPr>
        <p:spPr>
          <a:xfrm>
            <a:off x="10329583" y="4250588"/>
            <a:ext cx="143432" cy="231343"/>
          </a:xfrm>
          <a:prstGeom prst="upArrow">
            <a:avLst/>
          </a:prstGeom>
          <a:solidFill>
            <a:srgbClr val="7CC4FF">
              <a:alpha val="756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Down Arrow 54"/>
          <p:cNvSpPr/>
          <p:nvPr/>
        </p:nvSpPr>
        <p:spPr>
          <a:xfrm>
            <a:off x="10832503" y="4250588"/>
            <a:ext cx="143432" cy="231343"/>
          </a:xfrm>
          <a:prstGeom prst="downArrow">
            <a:avLst/>
          </a:prstGeom>
          <a:solidFill>
            <a:srgbClr val="FF7A59">
              <a:alpha val="89999"/>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Up Arrow 55"/>
          <p:cNvSpPr/>
          <p:nvPr/>
        </p:nvSpPr>
        <p:spPr>
          <a:xfrm>
            <a:off x="11338560" y="2103120"/>
            <a:ext cx="365760" cy="2011680"/>
          </a:xfrm>
          <a:prstGeom prst="upArrow">
            <a:avLst/>
          </a:prstGeom>
          <a:solidFill>
            <a:srgbClr val="F5B8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7" name="Picture 56" descr="20c93cf97540e448.png"/>
          <p:cNvPicPr>
            <a:picLocks noChangeAspect="1"/>
          </p:cNvPicPr>
          <p:nvPr/>
        </p:nvPicPr>
        <p:blipFill>
          <a:blip r:embed="rId8"/>
          <a:stretch>
            <a:fillRect/>
          </a:stretch>
        </p:blipFill>
        <p:spPr>
          <a:xfrm>
            <a:off x="11409426" y="4206240"/>
            <a:ext cx="224027" cy="364845"/>
          </a:xfrm>
          <a:prstGeom prst="rect">
            <a:avLst/>
          </a:prstGeom>
        </p:spPr>
      </p:pic>
      <p:sp>
        <p:nvSpPr>
          <p:cNvPr id="58" name="Rounded Rectangle 57"/>
          <p:cNvSpPr/>
          <p:nvPr/>
        </p:nvSpPr>
        <p:spPr>
          <a:xfrm>
            <a:off x="685800" y="4754880"/>
            <a:ext cx="10820095" cy="685800"/>
          </a:xfrm>
          <a:prstGeom prst="roundRect">
            <a:avLst>
              <a:gd name="adj" fmla="val 6000"/>
            </a:avLst>
          </a:prstGeom>
          <a:solidFill>
            <a:srgbClr val="12223C"/>
          </a:solidFill>
          <a:ln w="25400">
            <a:solidFill>
              <a:srgbClr val="FF7A59"/>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09728" bIns="109728"/>
          <a:lstStyle/>
          <a:p>
            <a:pPr algn="l">
              <a:spcAft>
                <a:spcPts val="0"/>
              </a:spcAft>
            </a:pPr>
            <a:r>
              <a:rPr sz="1600" b="1">
                <a:solidFill>
                  <a:srgbClr val="FF7A59"/>
                </a:solidFill>
                <a:latin typeface="Calibri"/>
              </a:rPr>
              <a:t>Question:  </a:t>
            </a:r>
            <a:r>
              <a:rPr sz="1600" b="0">
                <a:solidFill>
                  <a:srgbClr val="EEF3FA"/>
                </a:solidFill>
                <a:latin typeface="Calibri"/>
              </a:rPr>
              <a:t>can h be measured from the content itself?</a:t>
            </a:r>
          </a:p>
        </p:txBody>
      </p:sp>
      <p:sp>
        <p:nvSpPr>
          <p:cNvPr id="59" name="TextBox 58"/>
          <p:cNvSpPr txBox="1"/>
          <p:nvPr/>
        </p:nvSpPr>
        <p:spPr>
          <a:xfrm>
            <a:off x="6019495" y="6053328"/>
            <a:ext cx="5486400" cy="274320"/>
          </a:xfrm>
          <a:prstGeom prst="rect">
            <a:avLst/>
          </a:prstGeom>
          <a:noFill/>
        </p:spPr>
        <p:txBody>
          <a:bodyPr wrap="square" anchor="t">
            <a:spAutoFit/>
          </a:bodyPr>
          <a:lstStyle/>
          <a:p>
            <a:pPr algn="r">
              <a:spcAft>
                <a:spcPts val="0"/>
              </a:spcAft>
            </a:pPr>
            <a:r>
              <a:rPr sz="1200" b="1" i="0">
                <a:solidFill>
                  <a:srgbClr val="F5B83D"/>
                </a:solidFill>
                <a:latin typeface="Calibri"/>
              </a:rPr>
              <a:t>Next: what testing the tools changed  →</a:t>
            </a:r>
          </a:p>
        </p:txBody>
      </p:sp>
      <p:sp>
        <p:nvSpPr>
          <p:cNvPr id="60" name="TextBox 59"/>
          <p:cNvSpPr txBox="1"/>
          <p:nvPr/>
        </p:nvSpPr>
        <p:spPr>
          <a:xfrm>
            <a:off x="685800" y="6355080"/>
            <a:ext cx="4572000" cy="320040"/>
          </a:xfrm>
          <a:prstGeom prst="rect">
            <a:avLst/>
          </a:prstGeom>
          <a:noFill/>
        </p:spPr>
        <p:txBody>
          <a:bodyPr wrap="square" anchor="t">
            <a:spAutoFit/>
          </a:bodyPr>
          <a:lstStyle/>
          <a:p>
            <a:pPr algn="l">
              <a:spcAft>
                <a:spcPts val="0"/>
              </a:spcAft>
            </a:pPr>
            <a:r>
              <a:rPr sz="1000" b="1" i="0">
                <a:solidFill>
                  <a:srgbClr val="9AABC4"/>
                </a:solidFill>
                <a:latin typeface="Calibri"/>
              </a:rPr>
              <a:t>THE IDEA</a:t>
            </a:r>
          </a:p>
        </p:txBody>
      </p:sp>
      <p:sp>
        <p:nvSpPr>
          <p:cNvPr id="61" name="Rectangle 60"/>
          <p:cNvSpPr/>
          <p:nvPr/>
        </p:nvSpPr>
        <p:spPr>
          <a:xfrm>
            <a:off x="4692243" y="6473952"/>
            <a:ext cx="502920" cy="36576"/>
          </a:xfrm>
          <a:prstGeom prst="rect">
            <a:avLst/>
          </a:prstGeom>
          <a:solidFill>
            <a:srgbClr val="7CC4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ectangle 61"/>
          <p:cNvSpPr/>
          <p:nvPr/>
        </p:nvSpPr>
        <p:spPr>
          <a:xfrm>
            <a:off x="5268315" y="6473952"/>
            <a:ext cx="502920" cy="36576"/>
          </a:xfrm>
          <a:prstGeom prst="rect">
            <a:avLst/>
          </a:prstGeom>
          <a:solidFill>
            <a:srgbClr val="2A3D5E">
              <a:alpha val="8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5844387" y="6473952"/>
            <a:ext cx="502920" cy="36576"/>
          </a:xfrm>
          <a:prstGeom prst="rect">
            <a:avLst/>
          </a:prstGeom>
          <a:solidFill>
            <a:srgbClr val="2A3D5E">
              <a:alpha val="8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ectangle 63"/>
          <p:cNvSpPr/>
          <p:nvPr/>
        </p:nvSpPr>
        <p:spPr>
          <a:xfrm>
            <a:off x="6420459" y="6473952"/>
            <a:ext cx="502920" cy="36576"/>
          </a:xfrm>
          <a:prstGeom prst="rect">
            <a:avLst/>
          </a:prstGeom>
          <a:solidFill>
            <a:srgbClr val="2A3D5E">
              <a:alpha val="8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ectangle 64"/>
          <p:cNvSpPr/>
          <p:nvPr/>
        </p:nvSpPr>
        <p:spPr>
          <a:xfrm>
            <a:off x="6996531" y="6473952"/>
            <a:ext cx="502920" cy="36576"/>
          </a:xfrm>
          <a:prstGeom prst="rect">
            <a:avLst/>
          </a:prstGeom>
          <a:solidFill>
            <a:srgbClr val="2A3D5E">
              <a:alpha val="8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10591495" y="6355080"/>
            <a:ext cx="914400" cy="320040"/>
          </a:xfrm>
          <a:prstGeom prst="rect">
            <a:avLst/>
          </a:prstGeom>
          <a:noFill/>
        </p:spPr>
        <p:txBody>
          <a:bodyPr wrap="square" anchor="t">
            <a:spAutoFit/>
          </a:bodyPr>
          <a:lstStyle/>
          <a:p>
            <a:pPr algn="r">
              <a:spcAft>
                <a:spcPts val="0"/>
              </a:spcAft>
            </a:pPr>
            <a:r>
              <a:rPr sz="1100" b="1" i="0">
                <a:solidFill>
                  <a:srgbClr val="9AABC4"/>
                </a:solidFill>
                <a:latin typeface="Calibri"/>
              </a:rPr>
              <a:t>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Oval 1"/>
          <p:cNvSpPr/>
          <p:nvPr/>
        </p:nvSpPr>
        <p:spPr>
          <a:xfrm>
            <a:off x="8214055" y="-3794760"/>
            <a:ext cx="6858000" cy="6858000"/>
          </a:xfrm>
          <a:prstGeom prst="ellipse">
            <a:avLst/>
          </a:prstGeom>
          <a:gradFill rotWithShape="1">
            <a:gsLst>
              <a:gs pos="0">
                <a:srgbClr val="3E8EDE">
                  <a:alpha val="28000"/>
                </a:srgbClr>
              </a:gs>
              <a:gs pos="100000">
                <a:srgbClr val="3E8EDE">
                  <a:alpha val="0"/>
                </a:srgbClr>
              </a:gs>
            </a:gsLst>
            <a:path path="circle">
              <a:fillToRect l="50000" t="50000" r="50000" b="50000"/>
            </a:path>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3474720" y="4663440"/>
            <a:ext cx="5486400" cy="5486400"/>
          </a:xfrm>
          <a:prstGeom prst="ellipse">
            <a:avLst/>
          </a:prstGeom>
          <a:gradFill rotWithShape="1">
            <a:gsLst>
              <a:gs pos="0">
                <a:srgbClr val="FF7A59">
                  <a:alpha val="10000"/>
                </a:srgbClr>
              </a:gs>
              <a:gs pos="100000">
                <a:srgbClr val="FF7A59">
                  <a:alpha val="0"/>
                </a:srgbClr>
              </a:gs>
            </a:gsLst>
            <a:path path="circle">
              <a:fillToRect l="50000" t="50000" r="50000" b="50000"/>
            </a:path>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magnifying-glass.png"/>
          <p:cNvPicPr>
            <a:picLocks noChangeAspect="1"/>
          </p:cNvPicPr>
          <p:nvPr/>
        </p:nvPicPr>
        <p:blipFill>
          <a:blip r:embed="rId3"/>
          <a:stretch>
            <a:fillRect/>
          </a:stretch>
        </p:blipFill>
        <p:spPr>
          <a:xfrm>
            <a:off x="685800" y="457200"/>
            <a:ext cx="420624" cy="420624"/>
          </a:xfrm>
          <a:prstGeom prst="rect">
            <a:avLst/>
          </a:prstGeom>
        </p:spPr>
      </p:pic>
      <p:sp>
        <p:nvSpPr>
          <p:cNvPr id="5" name="TextBox 4"/>
          <p:cNvSpPr txBox="1"/>
          <p:nvPr/>
        </p:nvSpPr>
        <p:spPr>
          <a:xfrm>
            <a:off x="1289304" y="201168"/>
            <a:ext cx="10216591" cy="320040"/>
          </a:xfrm>
          <a:prstGeom prst="rect">
            <a:avLst/>
          </a:prstGeom>
          <a:noFill/>
        </p:spPr>
        <p:txBody>
          <a:bodyPr wrap="square" anchor="t">
            <a:spAutoFit/>
          </a:bodyPr>
          <a:lstStyle/>
          <a:p>
            <a:pPr algn="l">
              <a:spcAft>
                <a:spcPts val="0"/>
              </a:spcAft>
            </a:pPr>
            <a:r>
              <a:rPr sz="1200" b="1" i="0">
                <a:solidFill>
                  <a:srgbClr val="FF7A59"/>
                </a:solidFill>
                <a:latin typeface="Calibri"/>
              </a:rPr>
              <a:t>THE IDEA</a:t>
            </a:r>
          </a:p>
        </p:txBody>
      </p:sp>
      <p:sp>
        <p:nvSpPr>
          <p:cNvPr id="6" name="TextBox 5"/>
          <p:cNvSpPr txBox="1"/>
          <p:nvPr/>
        </p:nvSpPr>
        <p:spPr>
          <a:xfrm>
            <a:off x="1289304" y="420624"/>
            <a:ext cx="10216591" cy="822960"/>
          </a:xfrm>
          <a:prstGeom prst="rect">
            <a:avLst/>
          </a:prstGeom>
          <a:noFill/>
        </p:spPr>
        <p:txBody>
          <a:bodyPr wrap="square" anchor="t">
            <a:spAutoFit/>
          </a:bodyPr>
          <a:lstStyle/>
          <a:p>
            <a:pPr algn="l">
              <a:spcAft>
                <a:spcPts val="0"/>
              </a:spcAft>
            </a:pPr>
            <a:r>
              <a:rPr sz="2600" b="1" i="0">
                <a:solidFill>
                  <a:srgbClr val="7CC4FF"/>
                </a:solidFill>
                <a:latin typeface="Calibri"/>
              </a:rPr>
              <a:t>Testing the tools changed five assumptions</a:t>
            </a:r>
          </a:p>
        </p:txBody>
      </p:sp>
      <p:sp>
        <p:nvSpPr>
          <p:cNvPr id="7" name="TextBox 6"/>
          <p:cNvSpPr txBox="1"/>
          <p:nvPr/>
        </p:nvSpPr>
        <p:spPr>
          <a:xfrm>
            <a:off x="685800" y="1325880"/>
            <a:ext cx="3657600" cy="274320"/>
          </a:xfrm>
          <a:prstGeom prst="rect">
            <a:avLst/>
          </a:prstGeom>
          <a:noFill/>
        </p:spPr>
        <p:txBody>
          <a:bodyPr wrap="square" anchor="t">
            <a:spAutoFit/>
          </a:bodyPr>
          <a:lstStyle/>
          <a:p>
            <a:pPr algn="l">
              <a:spcAft>
                <a:spcPts val="0"/>
              </a:spcAft>
            </a:pPr>
            <a:r>
              <a:rPr sz="1100" b="1" i="0">
                <a:solidFill>
                  <a:srgbClr val="9AABC4"/>
                </a:solidFill>
                <a:latin typeface="Calibri"/>
              </a:rPr>
              <a:t>WE PLANNED</a:t>
            </a:r>
          </a:p>
        </p:txBody>
      </p:sp>
      <p:sp>
        <p:nvSpPr>
          <p:cNvPr id="8" name="TextBox 7"/>
          <p:cNvSpPr txBox="1"/>
          <p:nvPr/>
        </p:nvSpPr>
        <p:spPr>
          <a:xfrm>
            <a:off x="5074920" y="1325880"/>
            <a:ext cx="3657600" cy="274320"/>
          </a:xfrm>
          <a:prstGeom prst="rect">
            <a:avLst/>
          </a:prstGeom>
          <a:noFill/>
        </p:spPr>
        <p:txBody>
          <a:bodyPr wrap="square" anchor="t">
            <a:spAutoFit/>
          </a:bodyPr>
          <a:lstStyle/>
          <a:p>
            <a:pPr algn="l">
              <a:spcAft>
                <a:spcPts val="0"/>
              </a:spcAft>
            </a:pPr>
            <a:r>
              <a:rPr sz="1100" b="1" i="0">
                <a:solidFill>
                  <a:srgbClr val="7CC4FF"/>
                </a:solidFill>
                <a:latin typeface="Calibri"/>
              </a:rPr>
              <a:t>WE FOUND</a:t>
            </a:r>
          </a:p>
        </p:txBody>
      </p:sp>
      <p:sp>
        <p:nvSpPr>
          <p:cNvPr id="9" name="Rounded Rectangle 8"/>
          <p:cNvSpPr/>
          <p:nvPr/>
        </p:nvSpPr>
        <p:spPr>
          <a:xfrm>
            <a:off x="685800" y="1645920"/>
            <a:ext cx="3749039" cy="658368"/>
          </a:xfrm>
          <a:prstGeom prst="roundRect">
            <a:avLst>
              <a:gd name="adj" fmla="val 6000"/>
            </a:avLst>
          </a:prstGeom>
          <a:solidFill>
            <a:srgbClr val="12223C"/>
          </a:solidFill>
          <a:ln w="15875">
            <a:solidFill>
              <a:srgbClr val="2A3D5E"/>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0" rIns="201168" tIns="109728" bIns="109728"/>
          <a:lstStyle/>
          <a:p>
            <a:pPr algn="l">
              <a:spcAft>
                <a:spcPts val="0"/>
              </a:spcAft>
            </a:pPr>
            <a:r>
              <a:rPr sz="1500" b="0" i="0">
                <a:solidFill>
                  <a:srgbClr val="9AABC4"/>
                </a:solidFill>
                <a:latin typeface="Calibri"/>
              </a:rPr>
              <a:t>Measure the amygdala</a:t>
            </a:r>
          </a:p>
        </p:txBody>
      </p:sp>
      <p:pic>
        <p:nvPicPr>
          <p:cNvPr id="10" name="Picture 9" descr="x-circle.png"/>
          <p:cNvPicPr>
            <a:picLocks noChangeAspect="1"/>
          </p:cNvPicPr>
          <p:nvPr/>
        </p:nvPicPr>
        <p:blipFill>
          <a:blip r:embed="rId4"/>
          <a:stretch>
            <a:fillRect/>
          </a:stretch>
        </p:blipFill>
        <p:spPr>
          <a:xfrm>
            <a:off x="850392" y="1837944"/>
            <a:ext cx="274320" cy="274320"/>
          </a:xfrm>
          <a:prstGeom prst="rect">
            <a:avLst/>
          </a:prstGeom>
        </p:spPr>
      </p:pic>
      <p:sp>
        <p:nvSpPr>
          <p:cNvPr id="11" name="Right Arrow 10"/>
          <p:cNvSpPr/>
          <p:nvPr/>
        </p:nvSpPr>
        <p:spPr>
          <a:xfrm>
            <a:off x="4526280" y="1911095"/>
            <a:ext cx="457200" cy="146304"/>
          </a:xfrm>
          <a:prstGeom prst="rightArrow">
            <a:avLst/>
          </a:prstGeom>
          <a:solidFill>
            <a:srgbClr val="FF7A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5074920" y="1645920"/>
            <a:ext cx="6428232" cy="658368"/>
          </a:xfrm>
          <a:prstGeom prst="roundRect">
            <a:avLst>
              <a:gd name="adj" fmla="val 6000"/>
            </a:avLst>
          </a:prstGeom>
          <a:solidFill>
            <a:srgbClr val="12223C"/>
          </a:solidFill>
          <a:ln w="25400">
            <a:solidFill>
              <a:srgbClr val="7CC4FF"/>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0" rIns="201168" tIns="109728" bIns="109728"/>
          <a:lstStyle/>
          <a:p>
            <a:pPr algn="l">
              <a:spcAft>
                <a:spcPts val="0"/>
              </a:spcAft>
            </a:pPr>
            <a:r>
              <a:rPr sz="1500" b="0" i="0">
                <a:solidFill>
                  <a:srgbClr val="EEF3FA"/>
                </a:solidFill>
                <a:latin typeface="Calibri"/>
              </a:rPr>
              <a:t>Model predicts the brain surface only, so we used surface areas</a:t>
            </a:r>
          </a:p>
        </p:txBody>
      </p:sp>
      <p:pic>
        <p:nvPicPr>
          <p:cNvPr id="13" name="Picture 12" descr="check-circle.png"/>
          <p:cNvPicPr>
            <a:picLocks noChangeAspect="1"/>
          </p:cNvPicPr>
          <p:nvPr/>
        </p:nvPicPr>
        <p:blipFill>
          <a:blip r:embed="rId5"/>
          <a:stretch>
            <a:fillRect/>
          </a:stretch>
        </p:blipFill>
        <p:spPr>
          <a:xfrm>
            <a:off x="5239512" y="1837944"/>
            <a:ext cx="274320" cy="274320"/>
          </a:xfrm>
          <a:prstGeom prst="rect">
            <a:avLst/>
          </a:prstGeom>
        </p:spPr>
      </p:pic>
      <p:sp>
        <p:nvSpPr>
          <p:cNvPr id="14" name="Rounded Rectangle 13"/>
          <p:cNvSpPr/>
          <p:nvPr/>
        </p:nvSpPr>
        <p:spPr>
          <a:xfrm>
            <a:off x="685800" y="2432304"/>
            <a:ext cx="3749039" cy="658368"/>
          </a:xfrm>
          <a:prstGeom prst="roundRect">
            <a:avLst>
              <a:gd name="adj" fmla="val 6000"/>
            </a:avLst>
          </a:prstGeom>
          <a:solidFill>
            <a:srgbClr val="12223C"/>
          </a:solidFill>
          <a:ln w="15875">
            <a:solidFill>
              <a:srgbClr val="2A3D5E"/>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0" rIns="201168" tIns="109728" bIns="109728"/>
          <a:lstStyle/>
          <a:p>
            <a:pPr algn="l">
              <a:spcAft>
                <a:spcPts val="0"/>
              </a:spcAft>
            </a:pPr>
            <a:r>
              <a:rPr sz="1500" b="0" i="0">
                <a:solidFill>
                  <a:srgbClr val="9AABC4"/>
                </a:solidFill>
                <a:latin typeface="Calibri"/>
              </a:rPr>
              <a:t>Score as a ratio</a:t>
            </a:r>
          </a:p>
        </p:txBody>
      </p:sp>
      <p:pic>
        <p:nvPicPr>
          <p:cNvPr id="15" name="Picture 14" descr="x-circle.png"/>
          <p:cNvPicPr>
            <a:picLocks noChangeAspect="1"/>
          </p:cNvPicPr>
          <p:nvPr/>
        </p:nvPicPr>
        <p:blipFill>
          <a:blip r:embed="rId4"/>
          <a:stretch>
            <a:fillRect/>
          </a:stretch>
        </p:blipFill>
        <p:spPr>
          <a:xfrm>
            <a:off x="850392" y="2624328"/>
            <a:ext cx="274320" cy="274320"/>
          </a:xfrm>
          <a:prstGeom prst="rect">
            <a:avLst/>
          </a:prstGeom>
        </p:spPr>
      </p:pic>
      <p:sp>
        <p:nvSpPr>
          <p:cNvPr id="16" name="Right Arrow 15"/>
          <p:cNvSpPr/>
          <p:nvPr/>
        </p:nvSpPr>
        <p:spPr>
          <a:xfrm>
            <a:off x="4526280" y="2697480"/>
            <a:ext cx="457200" cy="146304"/>
          </a:xfrm>
          <a:prstGeom prst="rightArrow">
            <a:avLst/>
          </a:prstGeom>
          <a:solidFill>
            <a:srgbClr val="FF7A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5074920" y="2432304"/>
            <a:ext cx="6428232" cy="658368"/>
          </a:xfrm>
          <a:prstGeom prst="roundRect">
            <a:avLst>
              <a:gd name="adj" fmla="val 6000"/>
            </a:avLst>
          </a:prstGeom>
          <a:solidFill>
            <a:srgbClr val="12223C"/>
          </a:solidFill>
          <a:ln w="25400">
            <a:solidFill>
              <a:srgbClr val="7CC4FF"/>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0" rIns="201168" tIns="109728" bIns="109728"/>
          <a:lstStyle/>
          <a:p>
            <a:pPr algn="l">
              <a:spcAft>
                <a:spcPts val="0"/>
              </a:spcAft>
            </a:pPr>
            <a:r>
              <a:rPr sz="1500" b="0" i="0">
                <a:solidFill>
                  <a:srgbClr val="EEF3FA"/>
                </a:solidFill>
                <a:latin typeface="Calibri"/>
              </a:rPr>
              <a:t>Ratio undefined for 69 of 400, so we used a difference</a:t>
            </a:r>
          </a:p>
        </p:txBody>
      </p:sp>
      <p:pic>
        <p:nvPicPr>
          <p:cNvPr id="18" name="Picture 17" descr="check-circle.png"/>
          <p:cNvPicPr>
            <a:picLocks noChangeAspect="1"/>
          </p:cNvPicPr>
          <p:nvPr/>
        </p:nvPicPr>
        <p:blipFill>
          <a:blip r:embed="rId5"/>
          <a:stretch>
            <a:fillRect/>
          </a:stretch>
        </p:blipFill>
        <p:spPr>
          <a:xfrm>
            <a:off x="5239512" y="2624328"/>
            <a:ext cx="274320" cy="274320"/>
          </a:xfrm>
          <a:prstGeom prst="rect">
            <a:avLst/>
          </a:prstGeom>
        </p:spPr>
      </p:pic>
      <p:sp>
        <p:nvSpPr>
          <p:cNvPr id="19" name="Rounded Rectangle 18"/>
          <p:cNvSpPr/>
          <p:nvPr/>
        </p:nvSpPr>
        <p:spPr>
          <a:xfrm>
            <a:off x="685800" y="3218688"/>
            <a:ext cx="3749039" cy="658368"/>
          </a:xfrm>
          <a:prstGeom prst="roundRect">
            <a:avLst>
              <a:gd name="adj" fmla="val 6000"/>
            </a:avLst>
          </a:prstGeom>
          <a:solidFill>
            <a:srgbClr val="12223C"/>
          </a:solidFill>
          <a:ln w="15875">
            <a:solidFill>
              <a:srgbClr val="2A3D5E"/>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0" rIns="201168" tIns="109728" bIns="109728"/>
          <a:lstStyle/>
          <a:p>
            <a:pPr algn="l">
              <a:spcAft>
                <a:spcPts val="0"/>
              </a:spcAft>
            </a:pPr>
            <a:r>
              <a:rPr sz="1500" b="0" i="0">
                <a:solidFill>
                  <a:srgbClr val="9AABC4"/>
                </a:solidFill>
                <a:latin typeface="Calibri"/>
              </a:rPr>
              <a:t>Outrage stands out most</a:t>
            </a:r>
          </a:p>
        </p:txBody>
      </p:sp>
      <p:pic>
        <p:nvPicPr>
          <p:cNvPr id="20" name="Picture 19" descr="x-circle.png"/>
          <p:cNvPicPr>
            <a:picLocks noChangeAspect="1"/>
          </p:cNvPicPr>
          <p:nvPr/>
        </p:nvPicPr>
        <p:blipFill>
          <a:blip r:embed="rId4"/>
          <a:stretch>
            <a:fillRect/>
          </a:stretch>
        </p:blipFill>
        <p:spPr>
          <a:xfrm>
            <a:off x="850392" y="3410712"/>
            <a:ext cx="274320" cy="274320"/>
          </a:xfrm>
          <a:prstGeom prst="rect">
            <a:avLst/>
          </a:prstGeom>
        </p:spPr>
      </p:pic>
      <p:sp>
        <p:nvSpPr>
          <p:cNvPr id="21" name="Right Arrow 20"/>
          <p:cNvSpPr/>
          <p:nvPr/>
        </p:nvSpPr>
        <p:spPr>
          <a:xfrm>
            <a:off x="4526280" y="3483864"/>
            <a:ext cx="457200" cy="146304"/>
          </a:xfrm>
          <a:prstGeom prst="rightArrow">
            <a:avLst/>
          </a:prstGeom>
          <a:solidFill>
            <a:srgbClr val="FF7A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5074920" y="3218688"/>
            <a:ext cx="6428232" cy="658368"/>
          </a:xfrm>
          <a:prstGeom prst="roundRect">
            <a:avLst>
              <a:gd name="adj" fmla="val 6000"/>
            </a:avLst>
          </a:prstGeom>
          <a:solidFill>
            <a:srgbClr val="12223C"/>
          </a:solidFill>
          <a:ln w="25400">
            <a:solidFill>
              <a:srgbClr val="7CC4FF"/>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0" rIns="201168" tIns="109728" bIns="109728"/>
          <a:lstStyle/>
          <a:p>
            <a:pPr algn="l">
              <a:spcAft>
                <a:spcPts val="0"/>
              </a:spcAft>
            </a:pPr>
            <a:r>
              <a:rPr sz="1500" b="0" i="0">
                <a:solidFill>
                  <a:srgbClr val="EEF3FA"/>
                </a:solidFill>
                <a:latin typeface="Calibri"/>
              </a:rPr>
              <a:t>Fear stands out; outrage lifts both areas equally</a:t>
            </a:r>
          </a:p>
        </p:txBody>
      </p:sp>
      <p:pic>
        <p:nvPicPr>
          <p:cNvPr id="23" name="Picture 22" descr="check-circle.png"/>
          <p:cNvPicPr>
            <a:picLocks noChangeAspect="1"/>
          </p:cNvPicPr>
          <p:nvPr/>
        </p:nvPicPr>
        <p:blipFill>
          <a:blip r:embed="rId5"/>
          <a:stretch>
            <a:fillRect/>
          </a:stretch>
        </p:blipFill>
        <p:spPr>
          <a:xfrm>
            <a:off x="5239512" y="3410712"/>
            <a:ext cx="274320" cy="274320"/>
          </a:xfrm>
          <a:prstGeom prst="rect">
            <a:avLst/>
          </a:prstGeom>
        </p:spPr>
      </p:pic>
      <p:sp>
        <p:nvSpPr>
          <p:cNvPr id="24" name="Rounded Rectangle 23"/>
          <p:cNvSpPr/>
          <p:nvPr/>
        </p:nvSpPr>
        <p:spPr>
          <a:xfrm>
            <a:off x="685800" y="4005072"/>
            <a:ext cx="3749039" cy="658368"/>
          </a:xfrm>
          <a:prstGeom prst="roundRect">
            <a:avLst>
              <a:gd name="adj" fmla="val 6000"/>
            </a:avLst>
          </a:prstGeom>
          <a:solidFill>
            <a:srgbClr val="12223C"/>
          </a:solidFill>
          <a:ln w="15875">
            <a:solidFill>
              <a:srgbClr val="2A3D5E"/>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0" rIns="201168" tIns="109728" bIns="109728"/>
          <a:lstStyle/>
          <a:p>
            <a:pPr algn="l">
              <a:spcAft>
                <a:spcPts val="0"/>
              </a:spcAft>
            </a:pPr>
            <a:r>
              <a:rPr sz="1500" b="0" i="0">
                <a:solidFill>
                  <a:srgbClr val="9AABC4"/>
                </a:solidFill>
                <a:latin typeface="Calibri"/>
              </a:rPr>
              <a:t>Measure α, media's strength</a:t>
            </a:r>
          </a:p>
        </p:txBody>
      </p:sp>
      <p:pic>
        <p:nvPicPr>
          <p:cNvPr id="25" name="Picture 24" descr="x-circle.png"/>
          <p:cNvPicPr>
            <a:picLocks noChangeAspect="1"/>
          </p:cNvPicPr>
          <p:nvPr/>
        </p:nvPicPr>
        <p:blipFill>
          <a:blip r:embed="rId4"/>
          <a:stretch>
            <a:fillRect/>
          </a:stretch>
        </p:blipFill>
        <p:spPr>
          <a:xfrm>
            <a:off x="850392" y="4197096"/>
            <a:ext cx="274320" cy="274320"/>
          </a:xfrm>
          <a:prstGeom prst="rect">
            <a:avLst/>
          </a:prstGeom>
        </p:spPr>
      </p:pic>
      <p:sp>
        <p:nvSpPr>
          <p:cNvPr id="26" name="Right Arrow 25"/>
          <p:cNvSpPr/>
          <p:nvPr/>
        </p:nvSpPr>
        <p:spPr>
          <a:xfrm>
            <a:off x="4526280" y="4270248"/>
            <a:ext cx="457200" cy="146304"/>
          </a:xfrm>
          <a:prstGeom prst="rightArrow">
            <a:avLst/>
          </a:prstGeom>
          <a:solidFill>
            <a:srgbClr val="FF7A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5074920" y="4005072"/>
            <a:ext cx="6428232" cy="658368"/>
          </a:xfrm>
          <a:prstGeom prst="roundRect">
            <a:avLst>
              <a:gd name="adj" fmla="val 6000"/>
            </a:avLst>
          </a:prstGeom>
          <a:solidFill>
            <a:srgbClr val="12223C"/>
          </a:solidFill>
          <a:ln w="25400">
            <a:solidFill>
              <a:srgbClr val="7CC4FF"/>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0" rIns="201168" tIns="109728" bIns="109728"/>
          <a:lstStyle/>
          <a:p>
            <a:pPr algn="l">
              <a:spcAft>
                <a:spcPts val="0"/>
              </a:spcAft>
            </a:pPr>
            <a:r>
              <a:rPr sz="1500" b="0" i="0">
                <a:solidFill>
                  <a:srgbClr val="EEF3FA"/>
                </a:solidFill>
                <a:latin typeface="Calibri"/>
              </a:rPr>
              <a:t>Data can't pin α, so we derived its minimum</a:t>
            </a:r>
          </a:p>
        </p:txBody>
      </p:sp>
      <p:pic>
        <p:nvPicPr>
          <p:cNvPr id="28" name="Picture 27" descr="check-circle.png"/>
          <p:cNvPicPr>
            <a:picLocks noChangeAspect="1"/>
          </p:cNvPicPr>
          <p:nvPr/>
        </p:nvPicPr>
        <p:blipFill>
          <a:blip r:embed="rId5"/>
          <a:stretch>
            <a:fillRect/>
          </a:stretch>
        </p:blipFill>
        <p:spPr>
          <a:xfrm>
            <a:off x="5239512" y="4197096"/>
            <a:ext cx="274320" cy="274320"/>
          </a:xfrm>
          <a:prstGeom prst="rect">
            <a:avLst/>
          </a:prstGeom>
        </p:spPr>
      </p:pic>
      <p:sp>
        <p:nvSpPr>
          <p:cNvPr id="29" name="Rounded Rectangle 28"/>
          <p:cNvSpPr/>
          <p:nvPr/>
        </p:nvSpPr>
        <p:spPr>
          <a:xfrm>
            <a:off x="685800" y="4791456"/>
            <a:ext cx="3749039" cy="658368"/>
          </a:xfrm>
          <a:prstGeom prst="roundRect">
            <a:avLst>
              <a:gd name="adj" fmla="val 6000"/>
            </a:avLst>
          </a:prstGeom>
          <a:solidFill>
            <a:srgbClr val="12223C"/>
          </a:solidFill>
          <a:ln w="15875">
            <a:solidFill>
              <a:srgbClr val="2A3D5E"/>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0" rIns="201168" tIns="109728" bIns="109728"/>
          <a:lstStyle/>
          <a:p>
            <a:pPr algn="l">
              <a:spcAft>
                <a:spcPts val="0"/>
              </a:spcAft>
            </a:pPr>
            <a:r>
              <a:rPr sz="1500" b="0" i="0">
                <a:solidFill>
                  <a:srgbClr val="9AABC4"/>
                </a:solidFill>
                <a:latin typeface="Calibri"/>
              </a:rPr>
              <a:t>A manipulation detector</a:t>
            </a:r>
          </a:p>
        </p:txBody>
      </p:sp>
      <p:pic>
        <p:nvPicPr>
          <p:cNvPr id="30" name="Picture 29" descr="x-circle.png"/>
          <p:cNvPicPr>
            <a:picLocks noChangeAspect="1"/>
          </p:cNvPicPr>
          <p:nvPr/>
        </p:nvPicPr>
        <p:blipFill>
          <a:blip r:embed="rId4"/>
          <a:stretch>
            <a:fillRect/>
          </a:stretch>
        </p:blipFill>
        <p:spPr>
          <a:xfrm>
            <a:off x="850392" y="4983480"/>
            <a:ext cx="274320" cy="274320"/>
          </a:xfrm>
          <a:prstGeom prst="rect">
            <a:avLst/>
          </a:prstGeom>
        </p:spPr>
      </p:pic>
      <p:sp>
        <p:nvSpPr>
          <p:cNvPr id="31" name="Right Arrow 30"/>
          <p:cNvSpPr/>
          <p:nvPr/>
        </p:nvSpPr>
        <p:spPr>
          <a:xfrm>
            <a:off x="4526280" y="5056632"/>
            <a:ext cx="457200" cy="146304"/>
          </a:xfrm>
          <a:prstGeom prst="rightArrow">
            <a:avLst/>
          </a:prstGeom>
          <a:solidFill>
            <a:srgbClr val="FF7A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5074920" y="4791456"/>
            <a:ext cx="6428232" cy="658368"/>
          </a:xfrm>
          <a:prstGeom prst="roundRect">
            <a:avLst>
              <a:gd name="adj" fmla="val 6000"/>
            </a:avLst>
          </a:prstGeom>
          <a:solidFill>
            <a:srgbClr val="12223C"/>
          </a:solidFill>
          <a:ln w="25400">
            <a:solidFill>
              <a:srgbClr val="7CC4FF"/>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0" rIns="201168" tIns="109728" bIns="109728"/>
          <a:lstStyle/>
          <a:p>
            <a:pPr algn="l">
              <a:spcAft>
                <a:spcPts val="0"/>
              </a:spcAft>
            </a:pPr>
            <a:r>
              <a:rPr sz="1500" b="0" i="0">
                <a:solidFill>
                  <a:srgbClr val="EEF3FA"/>
                </a:solidFill>
                <a:latin typeface="Calibri"/>
              </a:rPr>
              <a:t>Word counting 0.98 vs our 0.63, so it's a measurement</a:t>
            </a:r>
          </a:p>
        </p:txBody>
      </p:sp>
      <p:pic>
        <p:nvPicPr>
          <p:cNvPr id="33" name="Picture 32" descr="check-circle.png"/>
          <p:cNvPicPr>
            <a:picLocks noChangeAspect="1"/>
          </p:cNvPicPr>
          <p:nvPr/>
        </p:nvPicPr>
        <p:blipFill>
          <a:blip r:embed="rId5"/>
          <a:stretch>
            <a:fillRect/>
          </a:stretch>
        </p:blipFill>
        <p:spPr>
          <a:xfrm>
            <a:off x="5239512" y="4983480"/>
            <a:ext cx="274320" cy="274320"/>
          </a:xfrm>
          <a:prstGeom prst="rect">
            <a:avLst/>
          </a:prstGeom>
        </p:spPr>
      </p:pic>
      <p:sp>
        <p:nvSpPr>
          <p:cNvPr id="34" name="TextBox 33"/>
          <p:cNvSpPr txBox="1"/>
          <p:nvPr/>
        </p:nvSpPr>
        <p:spPr>
          <a:xfrm>
            <a:off x="685800" y="5623560"/>
            <a:ext cx="5486400" cy="320040"/>
          </a:xfrm>
          <a:prstGeom prst="rect">
            <a:avLst/>
          </a:prstGeom>
          <a:noFill/>
        </p:spPr>
        <p:txBody>
          <a:bodyPr wrap="square" anchor="t">
            <a:spAutoFit/>
          </a:bodyPr>
          <a:lstStyle/>
          <a:p>
            <a:pPr algn="l">
              <a:spcAft>
                <a:spcPts val="0"/>
              </a:spcAft>
            </a:pPr>
            <a:r>
              <a:rPr sz="1300" b="0" i="0">
                <a:solidFill>
                  <a:srgbClr val="9AABC4"/>
                </a:solidFill>
                <a:latin typeface="Calibri"/>
              </a:rPr>
              <a:t>All five are in the approved amendment.</a:t>
            </a:r>
          </a:p>
        </p:txBody>
      </p:sp>
      <p:sp>
        <p:nvSpPr>
          <p:cNvPr id="35" name="TextBox 34"/>
          <p:cNvSpPr txBox="1"/>
          <p:nvPr/>
        </p:nvSpPr>
        <p:spPr>
          <a:xfrm>
            <a:off x="6019495" y="6053328"/>
            <a:ext cx="5486400" cy="274320"/>
          </a:xfrm>
          <a:prstGeom prst="rect">
            <a:avLst/>
          </a:prstGeom>
          <a:noFill/>
        </p:spPr>
        <p:txBody>
          <a:bodyPr wrap="square" anchor="t">
            <a:spAutoFit/>
          </a:bodyPr>
          <a:lstStyle/>
          <a:p>
            <a:pPr algn="r">
              <a:spcAft>
                <a:spcPts val="0"/>
              </a:spcAft>
            </a:pPr>
            <a:r>
              <a:rPr sz="1200" b="1" i="0">
                <a:solidFill>
                  <a:srgbClr val="F5B83D"/>
                </a:solidFill>
                <a:latin typeface="Calibri"/>
              </a:rPr>
              <a:t>Next: how the measurement works  →</a:t>
            </a:r>
          </a:p>
        </p:txBody>
      </p:sp>
      <p:sp>
        <p:nvSpPr>
          <p:cNvPr id="36" name="TextBox 35"/>
          <p:cNvSpPr txBox="1"/>
          <p:nvPr/>
        </p:nvSpPr>
        <p:spPr>
          <a:xfrm>
            <a:off x="685800" y="6355080"/>
            <a:ext cx="4572000" cy="320040"/>
          </a:xfrm>
          <a:prstGeom prst="rect">
            <a:avLst/>
          </a:prstGeom>
          <a:noFill/>
        </p:spPr>
        <p:txBody>
          <a:bodyPr wrap="square" anchor="t">
            <a:spAutoFit/>
          </a:bodyPr>
          <a:lstStyle/>
          <a:p>
            <a:pPr algn="l">
              <a:spcAft>
                <a:spcPts val="0"/>
              </a:spcAft>
            </a:pPr>
            <a:r>
              <a:rPr sz="1000" b="1" i="0">
                <a:solidFill>
                  <a:srgbClr val="9AABC4"/>
                </a:solidFill>
                <a:latin typeface="Calibri"/>
              </a:rPr>
              <a:t>THE IDEA</a:t>
            </a:r>
          </a:p>
        </p:txBody>
      </p:sp>
      <p:sp>
        <p:nvSpPr>
          <p:cNvPr id="37" name="Rectangle 36"/>
          <p:cNvSpPr/>
          <p:nvPr/>
        </p:nvSpPr>
        <p:spPr>
          <a:xfrm>
            <a:off x="4692243" y="6473952"/>
            <a:ext cx="502920" cy="36576"/>
          </a:xfrm>
          <a:prstGeom prst="rect">
            <a:avLst/>
          </a:prstGeom>
          <a:solidFill>
            <a:srgbClr val="7CC4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5268315" y="6473952"/>
            <a:ext cx="502920" cy="36576"/>
          </a:xfrm>
          <a:prstGeom prst="rect">
            <a:avLst/>
          </a:prstGeom>
          <a:solidFill>
            <a:srgbClr val="2A3D5E">
              <a:alpha val="8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5844387" y="6473952"/>
            <a:ext cx="502920" cy="36576"/>
          </a:xfrm>
          <a:prstGeom prst="rect">
            <a:avLst/>
          </a:prstGeom>
          <a:solidFill>
            <a:srgbClr val="2A3D5E">
              <a:alpha val="8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6420459" y="6473952"/>
            <a:ext cx="502920" cy="36576"/>
          </a:xfrm>
          <a:prstGeom prst="rect">
            <a:avLst/>
          </a:prstGeom>
          <a:solidFill>
            <a:srgbClr val="2A3D5E">
              <a:alpha val="8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6996531" y="6473952"/>
            <a:ext cx="502920" cy="36576"/>
          </a:xfrm>
          <a:prstGeom prst="rect">
            <a:avLst/>
          </a:prstGeom>
          <a:solidFill>
            <a:srgbClr val="2A3D5E">
              <a:alpha val="8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10591495" y="6355080"/>
            <a:ext cx="914400" cy="320040"/>
          </a:xfrm>
          <a:prstGeom prst="rect">
            <a:avLst/>
          </a:prstGeom>
          <a:noFill/>
        </p:spPr>
        <p:txBody>
          <a:bodyPr wrap="square" anchor="t">
            <a:spAutoFit/>
          </a:bodyPr>
          <a:lstStyle/>
          <a:p>
            <a:pPr algn="r">
              <a:spcAft>
                <a:spcPts val="0"/>
              </a:spcAft>
            </a:pPr>
            <a:r>
              <a:rPr sz="1100" b="1" i="0">
                <a:solidFill>
                  <a:srgbClr val="9AABC4"/>
                </a:solidFill>
                <a:latin typeface="Calibri"/>
              </a:rPr>
              <a:t>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Oval 1"/>
          <p:cNvSpPr/>
          <p:nvPr/>
        </p:nvSpPr>
        <p:spPr>
          <a:xfrm>
            <a:off x="8214055" y="-3794760"/>
            <a:ext cx="6858000" cy="6858000"/>
          </a:xfrm>
          <a:prstGeom prst="ellipse">
            <a:avLst/>
          </a:prstGeom>
          <a:gradFill rotWithShape="1">
            <a:gsLst>
              <a:gs pos="0">
                <a:srgbClr val="3E8EDE">
                  <a:alpha val="28000"/>
                </a:srgbClr>
              </a:gs>
              <a:gs pos="100000">
                <a:srgbClr val="3E8EDE">
                  <a:alpha val="0"/>
                </a:srgbClr>
              </a:gs>
            </a:gsLst>
            <a:path path="circle">
              <a:fillToRect l="50000" t="50000" r="50000" b="50000"/>
            </a:path>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3474720" y="4663440"/>
            <a:ext cx="5486400" cy="5486400"/>
          </a:xfrm>
          <a:prstGeom prst="ellipse">
            <a:avLst/>
          </a:prstGeom>
          <a:gradFill rotWithShape="1">
            <a:gsLst>
              <a:gs pos="0">
                <a:srgbClr val="FF7A59">
                  <a:alpha val="10000"/>
                </a:srgbClr>
              </a:gs>
              <a:gs pos="100000">
                <a:srgbClr val="FF7A59">
                  <a:alpha val="0"/>
                </a:srgbClr>
              </a:gs>
            </a:gsLst>
            <a:path path="circle">
              <a:fillToRect l="50000" t="50000" r="50000" b="50000"/>
            </a:path>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rain.png"/>
          <p:cNvPicPr>
            <a:picLocks noChangeAspect="1"/>
          </p:cNvPicPr>
          <p:nvPr/>
        </p:nvPicPr>
        <p:blipFill>
          <a:blip r:embed="rId3"/>
          <a:stretch>
            <a:fillRect/>
          </a:stretch>
        </p:blipFill>
        <p:spPr>
          <a:xfrm>
            <a:off x="685800" y="457200"/>
            <a:ext cx="420624" cy="420624"/>
          </a:xfrm>
          <a:prstGeom prst="rect">
            <a:avLst/>
          </a:prstGeom>
        </p:spPr>
      </p:pic>
      <p:sp>
        <p:nvSpPr>
          <p:cNvPr id="5" name="TextBox 4"/>
          <p:cNvSpPr txBox="1"/>
          <p:nvPr/>
        </p:nvSpPr>
        <p:spPr>
          <a:xfrm>
            <a:off x="1289304" y="201168"/>
            <a:ext cx="10216591" cy="320040"/>
          </a:xfrm>
          <a:prstGeom prst="rect">
            <a:avLst/>
          </a:prstGeom>
          <a:noFill/>
        </p:spPr>
        <p:txBody>
          <a:bodyPr wrap="square" anchor="t">
            <a:spAutoFit/>
          </a:bodyPr>
          <a:lstStyle/>
          <a:p>
            <a:pPr algn="l">
              <a:spcAft>
                <a:spcPts val="0"/>
              </a:spcAft>
            </a:pPr>
            <a:r>
              <a:rPr sz="1200" b="1" i="0">
                <a:solidFill>
                  <a:srgbClr val="FF7A59"/>
                </a:solidFill>
                <a:latin typeface="Calibri"/>
              </a:rPr>
              <a:t>THE METHOD</a:t>
            </a:r>
          </a:p>
        </p:txBody>
      </p:sp>
      <p:sp>
        <p:nvSpPr>
          <p:cNvPr id="6" name="TextBox 5"/>
          <p:cNvSpPr txBox="1"/>
          <p:nvPr/>
        </p:nvSpPr>
        <p:spPr>
          <a:xfrm>
            <a:off x="1289304" y="420624"/>
            <a:ext cx="10216591" cy="822960"/>
          </a:xfrm>
          <a:prstGeom prst="rect">
            <a:avLst/>
          </a:prstGeom>
          <a:noFill/>
        </p:spPr>
        <p:txBody>
          <a:bodyPr wrap="square" anchor="t">
            <a:spAutoFit/>
          </a:bodyPr>
          <a:lstStyle/>
          <a:p>
            <a:pPr algn="l">
              <a:spcAft>
                <a:spcPts val="0"/>
              </a:spcAft>
            </a:pPr>
            <a:r>
              <a:rPr sz="2600" b="1" i="0">
                <a:solidFill>
                  <a:srgbClr val="7CC4FF"/>
                </a:solidFill>
                <a:latin typeface="Calibri"/>
              </a:rPr>
              <a:t>How one article becomes one number</a:t>
            </a:r>
          </a:p>
        </p:txBody>
      </p:sp>
      <p:sp>
        <p:nvSpPr>
          <p:cNvPr id="7" name="Rounded Rectangle 6"/>
          <p:cNvSpPr/>
          <p:nvPr/>
        </p:nvSpPr>
        <p:spPr>
          <a:xfrm>
            <a:off x="685800" y="1325880"/>
            <a:ext cx="1938528" cy="1188720"/>
          </a:xfrm>
          <a:prstGeom prst="roundRect">
            <a:avLst>
              <a:gd name="adj" fmla="val 6000"/>
            </a:avLst>
          </a:prstGeom>
          <a:solidFill>
            <a:srgbClr val="12223C"/>
          </a:solidFill>
          <a:ln w="15875">
            <a:solidFill>
              <a:srgbClr val="2A3D5E"/>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09728" bIns="109728"/>
          <a:lstStyle/>
          <a:p>
            <a:pPr algn="l"/>
          </a:p>
        </p:txBody>
      </p:sp>
      <p:pic>
        <p:nvPicPr>
          <p:cNvPr id="8" name="Picture 7" descr="newspaper.png"/>
          <p:cNvPicPr>
            <a:picLocks noChangeAspect="1"/>
          </p:cNvPicPr>
          <p:nvPr/>
        </p:nvPicPr>
        <p:blipFill>
          <a:blip r:embed="rId4"/>
          <a:stretch>
            <a:fillRect/>
          </a:stretch>
        </p:blipFill>
        <p:spPr>
          <a:xfrm>
            <a:off x="1472184" y="1417320"/>
            <a:ext cx="365760" cy="365760"/>
          </a:xfrm>
          <a:prstGeom prst="rect">
            <a:avLst/>
          </a:prstGeom>
        </p:spPr>
      </p:pic>
      <p:sp>
        <p:nvSpPr>
          <p:cNvPr id="9" name="TextBox 8"/>
          <p:cNvSpPr txBox="1"/>
          <p:nvPr/>
        </p:nvSpPr>
        <p:spPr>
          <a:xfrm>
            <a:off x="685800" y="1810512"/>
            <a:ext cx="1938528" cy="685800"/>
          </a:xfrm>
          <a:prstGeom prst="rect">
            <a:avLst/>
          </a:prstGeom>
          <a:noFill/>
        </p:spPr>
        <p:txBody>
          <a:bodyPr wrap="square" anchor="t">
            <a:spAutoFit/>
          </a:bodyPr>
          <a:lstStyle/>
          <a:p>
            <a:pPr algn="ctr">
              <a:spcAft>
                <a:spcPts val="0"/>
              </a:spcAft>
            </a:pPr>
            <a:r>
              <a:rPr sz="1500" b="1" i="0">
                <a:solidFill>
                  <a:srgbClr val="EEF3FA"/>
                </a:solidFill>
                <a:latin typeface="Calibri"/>
              </a:rPr>
              <a:t>Article</a:t>
            </a:r>
          </a:p>
          <a:p>
            <a:pPr algn="ctr">
              <a:spcAft>
                <a:spcPts val="0"/>
              </a:spcAft>
            </a:pPr>
            <a:r>
              <a:rPr sz="1200" b="0" i="0">
                <a:solidFill>
                  <a:srgbClr val="9AABC4"/>
                </a:solidFill>
                <a:latin typeface="Calibri"/>
              </a:rPr>
              <a:t>400 news texts</a:t>
            </a:r>
          </a:p>
        </p:txBody>
      </p:sp>
      <p:sp>
        <p:nvSpPr>
          <p:cNvPr id="10" name="Right Arrow 9"/>
          <p:cNvSpPr/>
          <p:nvPr/>
        </p:nvSpPr>
        <p:spPr>
          <a:xfrm>
            <a:off x="2670048" y="1847088"/>
            <a:ext cx="192024" cy="146304"/>
          </a:xfrm>
          <a:prstGeom prst="rightArrow">
            <a:avLst/>
          </a:prstGeom>
          <a:solidFill>
            <a:srgbClr val="3E8E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2907792" y="1325880"/>
            <a:ext cx="1938528" cy="1188720"/>
          </a:xfrm>
          <a:prstGeom prst="roundRect">
            <a:avLst>
              <a:gd name="adj" fmla="val 6000"/>
            </a:avLst>
          </a:prstGeom>
          <a:solidFill>
            <a:srgbClr val="12223C"/>
          </a:solidFill>
          <a:ln w="15875">
            <a:solidFill>
              <a:srgbClr val="2A3D5E"/>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09728" bIns="109728"/>
          <a:lstStyle/>
          <a:p>
            <a:pPr algn="l"/>
          </a:p>
        </p:txBody>
      </p:sp>
      <p:pic>
        <p:nvPicPr>
          <p:cNvPr id="12" name="Picture 11" descr="waveform.png"/>
          <p:cNvPicPr>
            <a:picLocks noChangeAspect="1"/>
          </p:cNvPicPr>
          <p:nvPr/>
        </p:nvPicPr>
        <p:blipFill>
          <a:blip r:embed="rId5"/>
          <a:stretch>
            <a:fillRect/>
          </a:stretch>
        </p:blipFill>
        <p:spPr>
          <a:xfrm>
            <a:off x="3694176" y="1417320"/>
            <a:ext cx="365760" cy="365760"/>
          </a:xfrm>
          <a:prstGeom prst="rect">
            <a:avLst/>
          </a:prstGeom>
        </p:spPr>
      </p:pic>
      <p:sp>
        <p:nvSpPr>
          <p:cNvPr id="13" name="TextBox 12"/>
          <p:cNvSpPr txBox="1"/>
          <p:nvPr/>
        </p:nvSpPr>
        <p:spPr>
          <a:xfrm>
            <a:off x="2907792" y="1810512"/>
            <a:ext cx="1938528" cy="685800"/>
          </a:xfrm>
          <a:prstGeom prst="rect">
            <a:avLst/>
          </a:prstGeom>
          <a:noFill/>
        </p:spPr>
        <p:txBody>
          <a:bodyPr wrap="square" anchor="t">
            <a:spAutoFit/>
          </a:bodyPr>
          <a:lstStyle/>
          <a:p>
            <a:pPr algn="ctr">
              <a:spcAft>
                <a:spcPts val="0"/>
              </a:spcAft>
            </a:pPr>
            <a:r>
              <a:rPr sz="1500" b="1" i="0">
                <a:solidFill>
                  <a:srgbClr val="EEF3FA"/>
                </a:solidFill>
                <a:latin typeface="Calibri"/>
              </a:rPr>
              <a:t>Read aloud</a:t>
            </a:r>
          </a:p>
          <a:p>
            <a:pPr algn="ctr">
              <a:spcAft>
                <a:spcPts val="0"/>
              </a:spcAft>
            </a:pPr>
            <a:r>
              <a:rPr sz="1200" b="0" i="0">
                <a:solidFill>
                  <a:srgbClr val="9AABC4"/>
                </a:solidFill>
                <a:latin typeface="Calibri"/>
              </a:rPr>
              <a:t>text-to-speech</a:t>
            </a:r>
          </a:p>
        </p:txBody>
      </p:sp>
      <p:sp>
        <p:nvSpPr>
          <p:cNvPr id="14" name="Right Arrow 13"/>
          <p:cNvSpPr/>
          <p:nvPr/>
        </p:nvSpPr>
        <p:spPr>
          <a:xfrm>
            <a:off x="4892040" y="1847088"/>
            <a:ext cx="192024" cy="146304"/>
          </a:xfrm>
          <a:prstGeom prst="rightArrow">
            <a:avLst/>
          </a:prstGeom>
          <a:solidFill>
            <a:srgbClr val="3E8E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5129784" y="1325880"/>
            <a:ext cx="1938528" cy="1188720"/>
          </a:xfrm>
          <a:prstGeom prst="roundRect">
            <a:avLst>
              <a:gd name="adj" fmla="val 6000"/>
            </a:avLst>
          </a:prstGeom>
          <a:solidFill>
            <a:srgbClr val="12223C"/>
          </a:solidFill>
          <a:ln w="15875">
            <a:solidFill>
              <a:srgbClr val="2A3D5E"/>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09728" bIns="109728"/>
          <a:lstStyle/>
          <a:p>
            <a:pPr algn="l"/>
          </a:p>
        </p:txBody>
      </p:sp>
      <p:pic>
        <p:nvPicPr>
          <p:cNvPr id="16" name="Picture 15" descr="text-aa.png"/>
          <p:cNvPicPr>
            <a:picLocks noChangeAspect="1"/>
          </p:cNvPicPr>
          <p:nvPr/>
        </p:nvPicPr>
        <p:blipFill>
          <a:blip r:embed="rId6"/>
          <a:stretch>
            <a:fillRect/>
          </a:stretch>
        </p:blipFill>
        <p:spPr>
          <a:xfrm>
            <a:off x="5916168" y="1417320"/>
            <a:ext cx="365760" cy="365760"/>
          </a:xfrm>
          <a:prstGeom prst="rect">
            <a:avLst/>
          </a:prstGeom>
        </p:spPr>
      </p:pic>
      <p:sp>
        <p:nvSpPr>
          <p:cNvPr id="17" name="TextBox 16"/>
          <p:cNvSpPr txBox="1"/>
          <p:nvPr/>
        </p:nvSpPr>
        <p:spPr>
          <a:xfrm>
            <a:off x="5129784" y="1810512"/>
            <a:ext cx="1938528" cy="685800"/>
          </a:xfrm>
          <a:prstGeom prst="rect">
            <a:avLst/>
          </a:prstGeom>
          <a:noFill/>
        </p:spPr>
        <p:txBody>
          <a:bodyPr wrap="square" anchor="t">
            <a:spAutoFit/>
          </a:bodyPr>
          <a:lstStyle/>
          <a:p>
            <a:pPr algn="ctr">
              <a:spcAft>
                <a:spcPts val="0"/>
              </a:spcAft>
            </a:pPr>
            <a:r>
              <a:rPr sz="1500" b="1" i="0">
                <a:solidFill>
                  <a:srgbClr val="EEF3FA"/>
                </a:solidFill>
                <a:latin typeface="Calibri"/>
              </a:rPr>
              <a:t>Word timings</a:t>
            </a:r>
          </a:p>
          <a:p>
            <a:pPr algn="ctr">
              <a:spcAft>
                <a:spcPts val="0"/>
              </a:spcAft>
            </a:pPr>
            <a:r>
              <a:rPr sz="1200" b="0" i="0">
                <a:solidFill>
                  <a:srgbClr val="9AABC4"/>
                </a:solidFill>
                <a:latin typeface="Calibri"/>
              </a:rPr>
              <a:t>timing tool</a:t>
            </a:r>
          </a:p>
        </p:txBody>
      </p:sp>
      <p:sp>
        <p:nvSpPr>
          <p:cNvPr id="18" name="Right Arrow 17"/>
          <p:cNvSpPr/>
          <p:nvPr/>
        </p:nvSpPr>
        <p:spPr>
          <a:xfrm>
            <a:off x="7114032" y="1847088"/>
            <a:ext cx="192024" cy="146304"/>
          </a:xfrm>
          <a:prstGeom prst="rightArrow">
            <a:avLst/>
          </a:prstGeom>
          <a:solidFill>
            <a:srgbClr val="3E8E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7351776" y="1325880"/>
            <a:ext cx="1938528" cy="1188720"/>
          </a:xfrm>
          <a:prstGeom prst="roundRect">
            <a:avLst>
              <a:gd name="adj" fmla="val 6000"/>
            </a:avLst>
          </a:prstGeom>
          <a:solidFill>
            <a:srgbClr val="12223C"/>
          </a:solidFill>
          <a:ln w="25400">
            <a:solidFill>
              <a:srgbClr val="7CC4FF"/>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09728" bIns="109728"/>
          <a:lstStyle/>
          <a:p>
            <a:pPr algn="l"/>
          </a:p>
        </p:txBody>
      </p:sp>
      <p:pic>
        <p:nvPicPr>
          <p:cNvPr id="20" name="Picture 19" descr="brain.png"/>
          <p:cNvPicPr>
            <a:picLocks noChangeAspect="1"/>
          </p:cNvPicPr>
          <p:nvPr/>
        </p:nvPicPr>
        <p:blipFill>
          <a:blip r:embed="rId3"/>
          <a:stretch>
            <a:fillRect/>
          </a:stretch>
        </p:blipFill>
        <p:spPr>
          <a:xfrm>
            <a:off x="8138160" y="1417320"/>
            <a:ext cx="365760" cy="365760"/>
          </a:xfrm>
          <a:prstGeom prst="rect">
            <a:avLst/>
          </a:prstGeom>
        </p:spPr>
      </p:pic>
      <p:sp>
        <p:nvSpPr>
          <p:cNvPr id="21" name="TextBox 20"/>
          <p:cNvSpPr txBox="1"/>
          <p:nvPr/>
        </p:nvSpPr>
        <p:spPr>
          <a:xfrm>
            <a:off x="7351776" y="1810512"/>
            <a:ext cx="1938528" cy="685800"/>
          </a:xfrm>
          <a:prstGeom prst="rect">
            <a:avLst/>
          </a:prstGeom>
          <a:noFill/>
        </p:spPr>
        <p:txBody>
          <a:bodyPr wrap="square" anchor="t">
            <a:spAutoFit/>
          </a:bodyPr>
          <a:lstStyle/>
          <a:p>
            <a:pPr algn="ctr">
              <a:spcAft>
                <a:spcPts val="0"/>
              </a:spcAft>
            </a:pPr>
            <a:r>
              <a:rPr sz="1500" b="1" i="0">
                <a:solidFill>
                  <a:srgbClr val="EEF3FA"/>
                </a:solidFill>
                <a:latin typeface="Calibri"/>
              </a:rPr>
              <a:t>TRIBE v2</a:t>
            </a:r>
          </a:p>
          <a:p>
            <a:pPr algn="ctr">
              <a:spcAft>
                <a:spcPts val="0"/>
              </a:spcAft>
            </a:pPr>
            <a:r>
              <a:rPr sz="1200" b="0" i="0">
                <a:solidFill>
                  <a:srgbClr val="9AABC4"/>
                </a:solidFill>
                <a:latin typeface="Calibri"/>
              </a:rPr>
              <a:t>20,484 surface points</a:t>
            </a:r>
          </a:p>
        </p:txBody>
      </p:sp>
      <p:sp>
        <p:nvSpPr>
          <p:cNvPr id="22" name="Right Arrow 21"/>
          <p:cNvSpPr/>
          <p:nvPr/>
        </p:nvSpPr>
        <p:spPr>
          <a:xfrm>
            <a:off x="9336024" y="1847088"/>
            <a:ext cx="192024" cy="146304"/>
          </a:xfrm>
          <a:prstGeom prst="rightArrow">
            <a:avLst/>
          </a:prstGeom>
          <a:solidFill>
            <a:srgbClr val="3E8E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9573768" y="1325880"/>
            <a:ext cx="1938528" cy="1188720"/>
          </a:xfrm>
          <a:prstGeom prst="roundRect">
            <a:avLst>
              <a:gd name="adj" fmla="val 6000"/>
            </a:avLst>
          </a:prstGeom>
          <a:solidFill>
            <a:srgbClr val="12223C"/>
          </a:solidFill>
          <a:ln w="15875">
            <a:solidFill>
              <a:srgbClr val="2A3D5E"/>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09728" bIns="109728"/>
          <a:lstStyle/>
          <a:p>
            <a:pPr algn="l"/>
          </a:p>
        </p:txBody>
      </p:sp>
      <p:pic>
        <p:nvPicPr>
          <p:cNvPr id="24" name="Picture 23" descr="target.png"/>
          <p:cNvPicPr>
            <a:picLocks noChangeAspect="1"/>
          </p:cNvPicPr>
          <p:nvPr/>
        </p:nvPicPr>
        <p:blipFill>
          <a:blip r:embed="rId7"/>
          <a:stretch>
            <a:fillRect/>
          </a:stretch>
        </p:blipFill>
        <p:spPr>
          <a:xfrm>
            <a:off x="10360152" y="1417320"/>
            <a:ext cx="365760" cy="365760"/>
          </a:xfrm>
          <a:prstGeom prst="rect">
            <a:avLst/>
          </a:prstGeom>
        </p:spPr>
      </p:pic>
      <p:sp>
        <p:nvSpPr>
          <p:cNvPr id="25" name="TextBox 24"/>
          <p:cNvSpPr txBox="1"/>
          <p:nvPr/>
        </p:nvSpPr>
        <p:spPr>
          <a:xfrm>
            <a:off x="9573768" y="1810512"/>
            <a:ext cx="1938528" cy="685800"/>
          </a:xfrm>
          <a:prstGeom prst="rect">
            <a:avLst/>
          </a:prstGeom>
          <a:noFill/>
        </p:spPr>
        <p:txBody>
          <a:bodyPr wrap="square" anchor="t">
            <a:spAutoFit/>
          </a:bodyPr>
          <a:lstStyle/>
          <a:p>
            <a:pPr algn="ctr">
              <a:spcAft>
                <a:spcPts val="0"/>
              </a:spcAft>
            </a:pPr>
            <a:r>
              <a:rPr sz="1500" b="1" i="0">
                <a:solidFill>
                  <a:srgbClr val="EEF3FA"/>
                </a:solidFill>
                <a:latin typeface="Calibri"/>
              </a:rPr>
              <a:t>Brain map</a:t>
            </a:r>
          </a:p>
          <a:p>
            <a:pPr algn="ctr">
              <a:spcAft>
                <a:spcPts val="0"/>
              </a:spcAft>
            </a:pPr>
            <a:r>
              <a:rPr sz="1200" b="0" i="0">
                <a:solidFill>
                  <a:srgbClr val="9AABC4"/>
                </a:solidFill>
                <a:latin typeface="Calibri"/>
              </a:rPr>
              <a:t>1,030 + 851 points</a:t>
            </a:r>
          </a:p>
        </p:txBody>
      </p:sp>
      <p:sp>
        <p:nvSpPr>
          <p:cNvPr id="26" name="Rounded Rectangle 25"/>
          <p:cNvSpPr/>
          <p:nvPr/>
        </p:nvSpPr>
        <p:spPr>
          <a:xfrm>
            <a:off x="685800" y="2697480"/>
            <a:ext cx="4846320" cy="2880360"/>
          </a:xfrm>
          <a:prstGeom prst="roundRect">
            <a:avLst>
              <a:gd name="adj" fmla="val 6000"/>
            </a:avLst>
          </a:prstGeom>
          <a:solidFill>
            <a:srgbClr val="12223C"/>
          </a:solidFill>
          <a:ln w="25400">
            <a:solidFill>
              <a:srgbClr val="7CC4FF"/>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09728" bIns="109728"/>
          <a:lstStyle/>
          <a:p>
            <a:pPr algn="l"/>
          </a:p>
        </p:txBody>
      </p:sp>
      <p:pic>
        <p:nvPicPr>
          <p:cNvPr id="27" name="Picture 26" descr="instrument_article.png"/>
          <p:cNvPicPr>
            <a:picLocks noChangeAspect="1"/>
          </p:cNvPicPr>
          <p:nvPr/>
        </p:nvPicPr>
        <p:blipFill>
          <a:blip r:embed="rId8"/>
          <a:stretch>
            <a:fillRect/>
          </a:stretch>
        </p:blipFill>
        <p:spPr>
          <a:xfrm>
            <a:off x="777240" y="2770632"/>
            <a:ext cx="4663440" cy="2772856"/>
          </a:xfrm>
          <a:prstGeom prst="rect">
            <a:avLst/>
          </a:prstGeom>
        </p:spPr>
      </p:pic>
      <p:sp>
        <p:nvSpPr>
          <p:cNvPr id="28" name="TextBox 27"/>
          <p:cNvSpPr txBox="1"/>
          <p:nvPr/>
        </p:nvSpPr>
        <p:spPr>
          <a:xfrm>
            <a:off x="685800" y="5605272"/>
            <a:ext cx="4937760" cy="457200"/>
          </a:xfrm>
          <a:prstGeom prst="rect">
            <a:avLst/>
          </a:prstGeom>
          <a:noFill/>
        </p:spPr>
        <p:txBody>
          <a:bodyPr wrap="square" anchor="t">
            <a:spAutoFit/>
          </a:bodyPr>
          <a:lstStyle/>
          <a:p>
            <a:pPr algn="l">
              <a:spcAft>
                <a:spcPts val="0"/>
              </a:spcAft>
            </a:pPr>
            <a:r>
              <a:rPr sz="1100" b="1">
                <a:solidFill>
                  <a:srgbClr val="EEF3FA"/>
                </a:solidFill>
                <a:latin typeface="Calibri"/>
              </a:rPr>
              <a:t>One article: </a:t>
            </a:r>
            <a:r>
              <a:rPr sz="1100" b="0">
                <a:solidFill>
                  <a:srgbClr val="9AABC4"/>
                </a:solidFill>
                <a:latin typeface="Calibri"/>
              </a:rPr>
              <a:t>emotional +0.109 − deliberate +0.055 = score +0.054, highest of 400</a:t>
            </a:r>
          </a:p>
        </p:txBody>
      </p:sp>
      <p:sp>
        <p:nvSpPr>
          <p:cNvPr id="29" name="Rounded Rectangle 28"/>
          <p:cNvSpPr/>
          <p:nvPr/>
        </p:nvSpPr>
        <p:spPr>
          <a:xfrm>
            <a:off x="5760720" y="2697480"/>
            <a:ext cx="5742432" cy="1783080"/>
          </a:xfrm>
          <a:prstGeom prst="roundRect">
            <a:avLst>
              <a:gd name="adj" fmla="val 6000"/>
            </a:avLst>
          </a:prstGeom>
          <a:solidFill>
            <a:srgbClr val="12223C"/>
          </a:solidFill>
          <a:ln w="25400">
            <a:solidFill>
              <a:srgbClr val="7CC4FF"/>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09728" bIns="109728"/>
          <a:lstStyle/>
          <a:p>
            <a:pPr algn="l"/>
          </a:p>
        </p:txBody>
      </p:sp>
      <p:sp>
        <p:nvSpPr>
          <p:cNvPr id="30" name="TextBox 29"/>
          <p:cNvSpPr txBox="1"/>
          <p:nvPr/>
        </p:nvSpPr>
        <p:spPr>
          <a:xfrm>
            <a:off x="5943600" y="2770632"/>
            <a:ext cx="4572000" cy="274320"/>
          </a:xfrm>
          <a:prstGeom prst="rect">
            <a:avLst/>
          </a:prstGeom>
          <a:noFill/>
        </p:spPr>
        <p:txBody>
          <a:bodyPr wrap="square" anchor="t">
            <a:spAutoFit/>
          </a:bodyPr>
          <a:lstStyle/>
          <a:p>
            <a:pPr algn="l">
              <a:spcAft>
                <a:spcPts val="0"/>
              </a:spcAft>
            </a:pPr>
            <a:r>
              <a:rPr sz="1100" b="1" i="0">
                <a:solidFill>
                  <a:srgbClr val="9AABC4"/>
                </a:solidFill>
                <a:latin typeface="Calibri"/>
              </a:rPr>
              <a:t>THE SCORE, X</a:t>
            </a:r>
          </a:p>
        </p:txBody>
      </p:sp>
      <p:pic>
        <p:nvPicPr>
          <p:cNvPr id="31" name="Picture 30" descr="52c90d50f004ef1d.png"/>
          <p:cNvPicPr>
            <a:picLocks noChangeAspect="1"/>
          </p:cNvPicPr>
          <p:nvPr/>
        </p:nvPicPr>
        <p:blipFill>
          <a:blip r:embed="rId9"/>
          <a:stretch>
            <a:fillRect/>
          </a:stretch>
        </p:blipFill>
        <p:spPr>
          <a:xfrm>
            <a:off x="7125690" y="3017520"/>
            <a:ext cx="3012490" cy="324383"/>
          </a:xfrm>
          <a:prstGeom prst="rect">
            <a:avLst/>
          </a:prstGeom>
        </p:spPr>
      </p:pic>
      <p:sp>
        <p:nvSpPr>
          <p:cNvPr id="32" name="Rectangle 31"/>
          <p:cNvSpPr/>
          <p:nvPr/>
        </p:nvSpPr>
        <p:spPr>
          <a:xfrm>
            <a:off x="6035040" y="3767328"/>
            <a:ext cx="2560320" cy="91440"/>
          </a:xfrm>
          <a:prstGeom prst="rect">
            <a:avLst/>
          </a:prstGeom>
          <a:solidFill>
            <a:srgbClr val="7CC4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622792" y="3767328"/>
            <a:ext cx="2560320" cy="91440"/>
          </a:xfrm>
          <a:prstGeom prst="rect">
            <a:avLst/>
          </a:prstGeom>
          <a:solidFill>
            <a:srgbClr val="FF7A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8595360" y="3648456"/>
            <a:ext cx="27432" cy="329184"/>
          </a:xfrm>
          <a:prstGeom prst="rect">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035040" y="3877056"/>
            <a:ext cx="2560320" cy="274320"/>
          </a:xfrm>
          <a:prstGeom prst="rect">
            <a:avLst/>
          </a:prstGeom>
          <a:noFill/>
        </p:spPr>
        <p:txBody>
          <a:bodyPr wrap="square" anchor="t">
            <a:spAutoFit/>
          </a:bodyPr>
          <a:lstStyle/>
          <a:p>
            <a:pPr algn="l">
              <a:spcAft>
                <a:spcPts val="0"/>
              </a:spcAft>
            </a:pPr>
            <a:r>
              <a:rPr sz="1200" b="1" i="0">
                <a:solidFill>
                  <a:srgbClr val="7CC4FF"/>
                </a:solidFill>
                <a:latin typeface="Calibri"/>
              </a:rPr>
              <a:t>X &lt; 0: reasoning leads</a:t>
            </a:r>
          </a:p>
        </p:txBody>
      </p:sp>
      <p:sp>
        <p:nvSpPr>
          <p:cNvPr id="36" name="TextBox 35"/>
          <p:cNvSpPr txBox="1"/>
          <p:nvPr/>
        </p:nvSpPr>
        <p:spPr>
          <a:xfrm>
            <a:off x="8622792" y="3877056"/>
            <a:ext cx="2560320" cy="274320"/>
          </a:xfrm>
          <a:prstGeom prst="rect">
            <a:avLst/>
          </a:prstGeom>
          <a:noFill/>
        </p:spPr>
        <p:txBody>
          <a:bodyPr wrap="square" anchor="t">
            <a:spAutoFit/>
          </a:bodyPr>
          <a:lstStyle/>
          <a:p>
            <a:pPr algn="r">
              <a:spcAft>
                <a:spcPts val="0"/>
              </a:spcAft>
            </a:pPr>
            <a:r>
              <a:rPr sz="1200" b="1" i="0">
                <a:solidFill>
                  <a:srgbClr val="FF7A59"/>
                </a:solidFill>
                <a:latin typeface="Calibri"/>
              </a:rPr>
              <a:t>X &gt; 0: emotion leads</a:t>
            </a:r>
          </a:p>
        </p:txBody>
      </p:sp>
      <p:sp>
        <p:nvSpPr>
          <p:cNvPr id="37" name="TextBox 36"/>
          <p:cNvSpPr txBox="1"/>
          <p:nvPr/>
        </p:nvSpPr>
        <p:spPr>
          <a:xfrm>
            <a:off x="5943600" y="4133087"/>
            <a:ext cx="5394960" cy="274320"/>
          </a:xfrm>
          <a:prstGeom prst="rect">
            <a:avLst/>
          </a:prstGeom>
          <a:noFill/>
        </p:spPr>
        <p:txBody>
          <a:bodyPr wrap="square" anchor="t">
            <a:spAutoFit/>
          </a:bodyPr>
          <a:lstStyle/>
          <a:p>
            <a:pPr algn="ctr">
              <a:spcAft>
                <a:spcPts val="0"/>
              </a:spcAft>
            </a:pPr>
            <a:r>
              <a:rPr sz="1100" b="0" i="0">
                <a:solidFill>
                  <a:srgbClr val="9AABC4"/>
                </a:solidFill>
                <a:latin typeface="Calibri"/>
              </a:rPr>
              <a:t>Ā = average predicted activity; standardised, no unit  ·  nobody scanned</a:t>
            </a:r>
          </a:p>
        </p:txBody>
      </p:sp>
      <p:sp>
        <p:nvSpPr>
          <p:cNvPr id="38" name="Rounded Rectangle 37">
            <a:hlinkClick r:id="rId10"/>
          </p:cNvPr>
          <p:cNvSpPr/>
          <p:nvPr/>
        </p:nvSpPr>
        <p:spPr>
          <a:xfrm>
            <a:off x="5760720" y="4617720"/>
            <a:ext cx="5742432" cy="960120"/>
          </a:xfrm>
          <a:prstGeom prst="roundRect">
            <a:avLst>
              <a:gd name="adj" fmla="val 6000"/>
            </a:avLst>
          </a:prstGeom>
          <a:solidFill>
            <a:srgbClr val="12223C"/>
          </a:solidFill>
          <a:ln w="25400">
            <a:solidFill>
              <a:srgbClr val="F5B83D"/>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09728" bIns="109728"/>
          <a:lstStyle/>
          <a:p>
            <a:pPr algn="l"/>
          </a:p>
        </p:txBody>
      </p:sp>
      <p:pic>
        <p:nvPicPr>
          <p:cNvPr id="39" name="Picture 38" descr="target.png"/>
          <p:cNvPicPr>
            <a:picLocks noChangeAspect="1"/>
          </p:cNvPicPr>
          <p:nvPr/>
        </p:nvPicPr>
        <p:blipFill>
          <a:blip r:embed="rId7"/>
          <a:stretch>
            <a:fillRect/>
          </a:stretch>
        </p:blipFill>
        <p:spPr>
          <a:xfrm>
            <a:off x="5943600" y="4873752"/>
            <a:ext cx="420624" cy="420624"/>
          </a:xfrm>
          <a:prstGeom prst="rect">
            <a:avLst/>
          </a:prstGeom>
        </p:spPr>
      </p:pic>
      <p:sp>
        <p:nvSpPr>
          <p:cNvPr id="40" name="TextBox 39"/>
          <p:cNvSpPr txBox="1"/>
          <p:nvPr/>
        </p:nvSpPr>
        <p:spPr>
          <a:xfrm>
            <a:off x="6537960" y="4663440"/>
            <a:ext cx="4846320" cy="914400"/>
          </a:xfrm>
          <a:prstGeom prst="rect">
            <a:avLst/>
          </a:prstGeom>
          <a:noFill/>
        </p:spPr>
        <p:txBody>
          <a:bodyPr wrap="square" anchor="ctr">
            <a:spAutoFit/>
          </a:bodyPr>
          <a:lstStyle/>
          <a:p>
            <a:pPr algn="l">
              <a:spcAft>
                <a:spcPts val="0"/>
              </a:spcAft>
            </a:pPr>
            <a:r>
              <a:rPr sz="1100" b="1" i="0">
                <a:solidFill>
                  <a:srgbClr val="F5B83D"/>
                </a:solidFill>
                <a:latin typeface="Calibri"/>
              </a:rPr>
              <a:t>TRY THE INSTRUMENT LIVE</a:t>
            </a:r>
          </a:p>
          <a:p>
            <a:pPr algn="l">
              <a:spcAft>
                <a:spcPts val="0"/>
              </a:spcAft>
            </a:pPr>
            <a:r>
              <a:rPr sz="2200" b="1" i="0">
                <a:solidFill>
                  <a:srgbClr val="EEF3FA"/>
                </a:solidFill>
                <a:latin typeface="Calibri"/>
              </a:rPr>
              <a:t>monarch-4iy.pages.dev</a:t>
            </a:r>
          </a:p>
          <a:p>
            <a:pPr algn="l">
              <a:spcAft>
                <a:spcPts val="0"/>
              </a:spcAft>
            </a:pPr>
            <a:r>
              <a:rPr sz="1100" b="0" i="0">
                <a:solidFill>
                  <a:srgbClr val="9AABC4"/>
                </a:solidFill>
                <a:latin typeface="Calibri"/>
              </a:rPr>
              <a:t>code and data: github.com/brn-mwai/monarch</a:t>
            </a:r>
          </a:p>
        </p:txBody>
      </p:sp>
      <p:sp>
        <p:nvSpPr>
          <p:cNvPr id="41" name="TextBox 40"/>
          <p:cNvSpPr txBox="1"/>
          <p:nvPr/>
        </p:nvSpPr>
        <p:spPr>
          <a:xfrm>
            <a:off x="6019495" y="6053328"/>
            <a:ext cx="5486400" cy="274320"/>
          </a:xfrm>
          <a:prstGeom prst="rect">
            <a:avLst/>
          </a:prstGeom>
          <a:noFill/>
        </p:spPr>
        <p:txBody>
          <a:bodyPr wrap="square" anchor="t">
            <a:spAutoFit/>
          </a:bodyPr>
          <a:lstStyle/>
          <a:p>
            <a:pPr algn="r">
              <a:spcAft>
                <a:spcPts val="0"/>
              </a:spcAft>
            </a:pPr>
            <a:r>
              <a:rPr sz="1200" b="1" i="0">
                <a:solidFill>
                  <a:srgbClr val="F5B83D"/>
                </a:solidFill>
                <a:latin typeface="Calibri"/>
              </a:rPr>
              <a:t>Next: the 400 articles  →</a:t>
            </a:r>
          </a:p>
        </p:txBody>
      </p:sp>
      <p:sp>
        <p:nvSpPr>
          <p:cNvPr id="42" name="TextBox 41"/>
          <p:cNvSpPr txBox="1"/>
          <p:nvPr/>
        </p:nvSpPr>
        <p:spPr>
          <a:xfrm>
            <a:off x="685800" y="6355080"/>
            <a:ext cx="4572000" cy="320040"/>
          </a:xfrm>
          <a:prstGeom prst="rect">
            <a:avLst/>
          </a:prstGeom>
          <a:noFill/>
        </p:spPr>
        <p:txBody>
          <a:bodyPr wrap="square" anchor="t">
            <a:spAutoFit/>
          </a:bodyPr>
          <a:lstStyle/>
          <a:p>
            <a:pPr algn="l">
              <a:spcAft>
                <a:spcPts val="0"/>
              </a:spcAft>
            </a:pPr>
            <a:r>
              <a:rPr sz="1000" b="1" i="0">
                <a:solidFill>
                  <a:srgbClr val="9AABC4"/>
                </a:solidFill>
                <a:latin typeface="Calibri"/>
              </a:rPr>
              <a:t>THE METHOD</a:t>
            </a:r>
          </a:p>
        </p:txBody>
      </p:sp>
      <p:sp>
        <p:nvSpPr>
          <p:cNvPr id="43" name="Rectangle 42"/>
          <p:cNvSpPr/>
          <p:nvPr/>
        </p:nvSpPr>
        <p:spPr>
          <a:xfrm>
            <a:off x="4692243" y="6473952"/>
            <a:ext cx="502920" cy="36576"/>
          </a:xfrm>
          <a:prstGeom prst="rect">
            <a:avLst/>
          </a:prstGeom>
          <a:solidFill>
            <a:srgbClr val="2A3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5268315" y="6473952"/>
            <a:ext cx="502920" cy="36576"/>
          </a:xfrm>
          <a:prstGeom prst="rect">
            <a:avLst/>
          </a:prstGeom>
          <a:solidFill>
            <a:srgbClr val="7CC4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5844387" y="6473952"/>
            <a:ext cx="502920" cy="36576"/>
          </a:xfrm>
          <a:prstGeom prst="rect">
            <a:avLst/>
          </a:prstGeom>
          <a:solidFill>
            <a:srgbClr val="2A3D5E">
              <a:alpha val="8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6420459" y="6473952"/>
            <a:ext cx="502920" cy="36576"/>
          </a:xfrm>
          <a:prstGeom prst="rect">
            <a:avLst/>
          </a:prstGeom>
          <a:solidFill>
            <a:srgbClr val="2A3D5E">
              <a:alpha val="8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6996531" y="6473952"/>
            <a:ext cx="502920" cy="36576"/>
          </a:xfrm>
          <a:prstGeom prst="rect">
            <a:avLst/>
          </a:prstGeom>
          <a:solidFill>
            <a:srgbClr val="2A3D5E">
              <a:alpha val="8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10591495" y="6355080"/>
            <a:ext cx="914400" cy="320040"/>
          </a:xfrm>
          <a:prstGeom prst="rect">
            <a:avLst/>
          </a:prstGeom>
          <a:noFill/>
        </p:spPr>
        <p:txBody>
          <a:bodyPr wrap="square" anchor="t">
            <a:spAutoFit/>
          </a:bodyPr>
          <a:lstStyle/>
          <a:p>
            <a:pPr algn="r">
              <a:spcAft>
                <a:spcPts val="0"/>
              </a:spcAft>
            </a:pPr>
            <a:r>
              <a:rPr sz="1100" b="1" i="0">
                <a:solidFill>
                  <a:srgbClr val="9AABC4"/>
                </a:solidFill>
                <a:latin typeface="Calibri"/>
              </a:rPr>
              <a:t>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Oval 1"/>
          <p:cNvSpPr/>
          <p:nvPr/>
        </p:nvSpPr>
        <p:spPr>
          <a:xfrm>
            <a:off x="8214055" y="-3794760"/>
            <a:ext cx="6858000" cy="6858000"/>
          </a:xfrm>
          <a:prstGeom prst="ellipse">
            <a:avLst/>
          </a:prstGeom>
          <a:gradFill rotWithShape="1">
            <a:gsLst>
              <a:gs pos="0">
                <a:srgbClr val="3E8EDE">
                  <a:alpha val="28000"/>
                </a:srgbClr>
              </a:gs>
              <a:gs pos="100000">
                <a:srgbClr val="3E8EDE">
                  <a:alpha val="0"/>
                </a:srgbClr>
              </a:gs>
            </a:gsLst>
            <a:path path="circle">
              <a:fillToRect l="50000" t="50000" r="50000" b="50000"/>
            </a:path>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3474720" y="4663440"/>
            <a:ext cx="5486400" cy="5486400"/>
          </a:xfrm>
          <a:prstGeom prst="ellipse">
            <a:avLst/>
          </a:prstGeom>
          <a:gradFill rotWithShape="1">
            <a:gsLst>
              <a:gs pos="0">
                <a:srgbClr val="FF7A59">
                  <a:alpha val="10000"/>
                </a:srgbClr>
              </a:gs>
              <a:gs pos="100000">
                <a:srgbClr val="FF7A59">
                  <a:alpha val="0"/>
                </a:srgbClr>
              </a:gs>
            </a:gsLst>
            <a:path path="circle">
              <a:fillToRect l="50000" t="50000" r="50000" b="50000"/>
            </a:path>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newspaper.png"/>
          <p:cNvPicPr>
            <a:picLocks noChangeAspect="1"/>
          </p:cNvPicPr>
          <p:nvPr/>
        </p:nvPicPr>
        <p:blipFill>
          <a:blip r:embed="rId3"/>
          <a:stretch>
            <a:fillRect/>
          </a:stretch>
        </p:blipFill>
        <p:spPr>
          <a:xfrm>
            <a:off x="685800" y="457200"/>
            <a:ext cx="420624" cy="420624"/>
          </a:xfrm>
          <a:prstGeom prst="rect">
            <a:avLst/>
          </a:prstGeom>
        </p:spPr>
      </p:pic>
      <p:sp>
        <p:nvSpPr>
          <p:cNvPr id="5" name="TextBox 4"/>
          <p:cNvSpPr txBox="1"/>
          <p:nvPr/>
        </p:nvSpPr>
        <p:spPr>
          <a:xfrm>
            <a:off x="1289304" y="201168"/>
            <a:ext cx="10216591" cy="320040"/>
          </a:xfrm>
          <a:prstGeom prst="rect">
            <a:avLst/>
          </a:prstGeom>
          <a:noFill/>
        </p:spPr>
        <p:txBody>
          <a:bodyPr wrap="square" anchor="t">
            <a:spAutoFit/>
          </a:bodyPr>
          <a:lstStyle/>
          <a:p>
            <a:pPr algn="l">
              <a:spcAft>
                <a:spcPts val="0"/>
              </a:spcAft>
            </a:pPr>
            <a:r>
              <a:rPr sz="1200" b="1" i="0">
                <a:solidFill>
                  <a:srgbClr val="FF7A59"/>
                </a:solidFill>
                <a:latin typeface="Calibri"/>
              </a:rPr>
              <a:t>THE METHOD</a:t>
            </a:r>
          </a:p>
        </p:txBody>
      </p:sp>
      <p:sp>
        <p:nvSpPr>
          <p:cNvPr id="6" name="TextBox 5"/>
          <p:cNvSpPr txBox="1"/>
          <p:nvPr/>
        </p:nvSpPr>
        <p:spPr>
          <a:xfrm>
            <a:off x="1289304" y="420624"/>
            <a:ext cx="10216591" cy="822960"/>
          </a:xfrm>
          <a:prstGeom prst="rect">
            <a:avLst/>
          </a:prstGeom>
          <a:noFill/>
        </p:spPr>
        <p:txBody>
          <a:bodyPr wrap="square" anchor="t">
            <a:spAutoFit/>
          </a:bodyPr>
          <a:lstStyle/>
          <a:p>
            <a:pPr algn="l">
              <a:spcAft>
                <a:spcPts val="0"/>
              </a:spcAft>
            </a:pPr>
            <a:r>
              <a:rPr sz="2600" b="1" i="0">
                <a:solidFill>
                  <a:srgbClr val="7CC4FF"/>
                </a:solidFill>
                <a:latin typeface="Calibri"/>
              </a:rPr>
              <a:t>400 articles, four groups, matched in length</a:t>
            </a:r>
          </a:p>
        </p:txBody>
      </p:sp>
      <p:sp>
        <p:nvSpPr>
          <p:cNvPr id="7" name="Rounded Rectangle 6"/>
          <p:cNvSpPr/>
          <p:nvPr/>
        </p:nvSpPr>
        <p:spPr>
          <a:xfrm>
            <a:off x="685800" y="1417320"/>
            <a:ext cx="2487168" cy="1737360"/>
          </a:xfrm>
          <a:prstGeom prst="roundRect">
            <a:avLst>
              <a:gd name="adj" fmla="val 6000"/>
            </a:avLst>
          </a:prstGeom>
          <a:solidFill>
            <a:srgbClr val="12223C"/>
          </a:solidFill>
          <a:ln w="15875">
            <a:solidFill>
              <a:srgbClr val="2A3D5E"/>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09728" bIns="109728"/>
          <a:lstStyle/>
          <a:p>
            <a:pPr algn="l"/>
          </a:p>
        </p:txBody>
      </p:sp>
      <p:sp>
        <p:nvSpPr>
          <p:cNvPr id="8" name="Rectangle 7"/>
          <p:cNvSpPr/>
          <p:nvPr/>
        </p:nvSpPr>
        <p:spPr>
          <a:xfrm>
            <a:off x="685800" y="1417320"/>
            <a:ext cx="2487168" cy="64008"/>
          </a:xfrm>
          <a:prstGeom prst="rect">
            <a:avLst/>
          </a:prstGeom>
          <a:solidFill>
            <a:srgbClr val="FF7A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600200"/>
            <a:ext cx="2487168" cy="1463040"/>
          </a:xfrm>
          <a:prstGeom prst="rect">
            <a:avLst/>
          </a:prstGeom>
          <a:noFill/>
        </p:spPr>
        <p:txBody>
          <a:bodyPr wrap="square" anchor="t">
            <a:spAutoFit/>
          </a:bodyPr>
          <a:lstStyle/>
          <a:p>
            <a:pPr algn="ctr">
              <a:spcAft>
                <a:spcPts val="0"/>
              </a:spcAft>
            </a:pPr>
            <a:r>
              <a:rPr sz="4000" b="1" i="0">
                <a:solidFill>
                  <a:srgbClr val="FF7A59"/>
                </a:solidFill>
                <a:latin typeface="Calibri"/>
              </a:rPr>
              <a:t>100</a:t>
            </a:r>
          </a:p>
          <a:p>
            <a:pPr algn="ctr">
              <a:spcAft>
                <a:spcPts val="0"/>
              </a:spcAft>
            </a:pPr>
            <a:r>
              <a:rPr sz="1700" b="1" i="0">
                <a:solidFill>
                  <a:srgbClr val="EEF3FA"/>
                </a:solidFill>
                <a:latin typeface="Calibri"/>
              </a:rPr>
              <a:t>Fear-activating</a:t>
            </a:r>
          </a:p>
          <a:p>
            <a:pPr algn="ctr">
              <a:spcAft>
                <a:spcPts val="0"/>
              </a:spcAft>
            </a:pPr>
            <a:r>
              <a:rPr sz="1200" b="0" i="0">
                <a:solidFill>
                  <a:srgbClr val="9AABC4"/>
                </a:solidFill>
                <a:latin typeface="Calibri"/>
              </a:rPr>
              <a:t>fake news (ISOT)</a:t>
            </a:r>
          </a:p>
        </p:txBody>
      </p:sp>
      <p:sp>
        <p:nvSpPr>
          <p:cNvPr id="10" name="Rounded Rectangle 9"/>
          <p:cNvSpPr/>
          <p:nvPr/>
        </p:nvSpPr>
        <p:spPr>
          <a:xfrm>
            <a:off x="3462832" y="1417320"/>
            <a:ext cx="2487168" cy="1737360"/>
          </a:xfrm>
          <a:prstGeom prst="roundRect">
            <a:avLst>
              <a:gd name="adj" fmla="val 6000"/>
            </a:avLst>
          </a:prstGeom>
          <a:solidFill>
            <a:srgbClr val="12223C"/>
          </a:solidFill>
          <a:ln w="15875">
            <a:solidFill>
              <a:srgbClr val="2A3D5E"/>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09728" bIns="109728"/>
          <a:lstStyle/>
          <a:p>
            <a:pPr algn="l"/>
          </a:p>
        </p:txBody>
      </p:sp>
      <p:sp>
        <p:nvSpPr>
          <p:cNvPr id="11" name="Rectangle 10"/>
          <p:cNvSpPr/>
          <p:nvPr/>
        </p:nvSpPr>
        <p:spPr>
          <a:xfrm>
            <a:off x="3462832" y="1417320"/>
            <a:ext cx="2487168" cy="64008"/>
          </a:xfrm>
          <a:prstGeom prst="rect">
            <a:avLst/>
          </a:prstGeom>
          <a:solidFill>
            <a:srgbClr val="F5B8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462832" y="1600200"/>
            <a:ext cx="2487168" cy="1463040"/>
          </a:xfrm>
          <a:prstGeom prst="rect">
            <a:avLst/>
          </a:prstGeom>
          <a:noFill/>
        </p:spPr>
        <p:txBody>
          <a:bodyPr wrap="square" anchor="t">
            <a:spAutoFit/>
          </a:bodyPr>
          <a:lstStyle/>
          <a:p>
            <a:pPr algn="ctr">
              <a:spcAft>
                <a:spcPts val="0"/>
              </a:spcAft>
            </a:pPr>
            <a:r>
              <a:rPr sz="4000" b="1" i="0">
                <a:solidFill>
                  <a:srgbClr val="F5B83D"/>
                </a:solidFill>
                <a:latin typeface="Calibri"/>
              </a:rPr>
              <a:t>100</a:t>
            </a:r>
          </a:p>
          <a:p>
            <a:pPr algn="ctr">
              <a:spcAft>
                <a:spcPts val="0"/>
              </a:spcAft>
            </a:pPr>
            <a:r>
              <a:rPr sz="1700" b="1" i="0">
                <a:solidFill>
                  <a:srgbClr val="EEF3FA"/>
                </a:solidFill>
                <a:latin typeface="Calibri"/>
              </a:rPr>
              <a:t>High outrage</a:t>
            </a:r>
          </a:p>
          <a:p>
            <a:pPr algn="ctr">
              <a:spcAft>
                <a:spcPts val="0"/>
              </a:spcAft>
            </a:pPr>
            <a:r>
              <a:rPr sz="1200" b="0" i="0">
                <a:solidFill>
                  <a:srgbClr val="9AABC4"/>
                </a:solidFill>
                <a:latin typeface="Calibri"/>
              </a:rPr>
              <a:t>partisan news (SemEval)</a:t>
            </a:r>
          </a:p>
        </p:txBody>
      </p:sp>
      <p:sp>
        <p:nvSpPr>
          <p:cNvPr id="13" name="Rounded Rectangle 12"/>
          <p:cNvSpPr/>
          <p:nvPr/>
        </p:nvSpPr>
        <p:spPr>
          <a:xfrm>
            <a:off x="6239865" y="1417320"/>
            <a:ext cx="2487168" cy="1737360"/>
          </a:xfrm>
          <a:prstGeom prst="roundRect">
            <a:avLst>
              <a:gd name="adj" fmla="val 6000"/>
            </a:avLst>
          </a:prstGeom>
          <a:solidFill>
            <a:srgbClr val="12223C"/>
          </a:solidFill>
          <a:ln w="15875">
            <a:solidFill>
              <a:srgbClr val="2A3D5E"/>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09728" bIns="109728"/>
          <a:lstStyle/>
          <a:p>
            <a:pPr algn="l"/>
          </a:p>
        </p:txBody>
      </p:sp>
      <p:sp>
        <p:nvSpPr>
          <p:cNvPr id="14" name="Rectangle 13"/>
          <p:cNvSpPr/>
          <p:nvPr/>
        </p:nvSpPr>
        <p:spPr>
          <a:xfrm>
            <a:off x="6239865" y="1417320"/>
            <a:ext cx="2487168" cy="64008"/>
          </a:xfrm>
          <a:prstGeom prst="rect">
            <a:avLst/>
          </a:prstGeom>
          <a:solidFill>
            <a:srgbClr val="3E8E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239865" y="1600200"/>
            <a:ext cx="2487168" cy="1463040"/>
          </a:xfrm>
          <a:prstGeom prst="rect">
            <a:avLst/>
          </a:prstGeom>
          <a:noFill/>
        </p:spPr>
        <p:txBody>
          <a:bodyPr wrap="square" anchor="t">
            <a:spAutoFit/>
          </a:bodyPr>
          <a:lstStyle/>
          <a:p>
            <a:pPr algn="ctr">
              <a:spcAft>
                <a:spcPts val="0"/>
              </a:spcAft>
            </a:pPr>
            <a:r>
              <a:rPr sz="4000" b="1" i="0">
                <a:solidFill>
                  <a:srgbClr val="3E8EDE"/>
                </a:solidFill>
                <a:latin typeface="Calibri"/>
              </a:rPr>
              <a:t>100</a:t>
            </a:r>
          </a:p>
          <a:p>
            <a:pPr algn="ctr">
              <a:spcAft>
                <a:spcPts val="0"/>
              </a:spcAft>
            </a:pPr>
            <a:r>
              <a:rPr sz="1700" b="1" i="0">
                <a:solidFill>
                  <a:srgbClr val="EEF3FA"/>
                </a:solidFill>
                <a:latin typeface="Calibri"/>
              </a:rPr>
              <a:t>Reward hook</a:t>
            </a:r>
          </a:p>
          <a:p>
            <a:pPr algn="ctr">
              <a:spcAft>
                <a:spcPts val="0"/>
              </a:spcAft>
            </a:pPr>
            <a:r>
              <a:rPr sz="1200" b="0" i="0">
                <a:solidFill>
                  <a:srgbClr val="9AABC4"/>
                </a:solidFill>
                <a:latin typeface="Calibri"/>
              </a:rPr>
              <a:t>clickbait (Webis)</a:t>
            </a:r>
          </a:p>
        </p:txBody>
      </p:sp>
      <p:sp>
        <p:nvSpPr>
          <p:cNvPr id="16" name="Rounded Rectangle 15"/>
          <p:cNvSpPr/>
          <p:nvPr/>
        </p:nvSpPr>
        <p:spPr>
          <a:xfrm>
            <a:off x="9016898" y="1417320"/>
            <a:ext cx="2487168" cy="1737360"/>
          </a:xfrm>
          <a:prstGeom prst="roundRect">
            <a:avLst>
              <a:gd name="adj" fmla="val 6000"/>
            </a:avLst>
          </a:prstGeom>
          <a:solidFill>
            <a:srgbClr val="12223C"/>
          </a:solidFill>
          <a:ln w="15875">
            <a:solidFill>
              <a:srgbClr val="2A3D5E"/>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09728" bIns="109728"/>
          <a:lstStyle/>
          <a:p>
            <a:pPr algn="l"/>
          </a:p>
        </p:txBody>
      </p:sp>
      <p:sp>
        <p:nvSpPr>
          <p:cNvPr id="17" name="Rectangle 16"/>
          <p:cNvSpPr/>
          <p:nvPr/>
        </p:nvSpPr>
        <p:spPr>
          <a:xfrm>
            <a:off x="9016898" y="1417320"/>
            <a:ext cx="2487168" cy="64008"/>
          </a:xfrm>
          <a:prstGeom prst="rect">
            <a:avLst/>
          </a:prstGeom>
          <a:solidFill>
            <a:srgbClr val="9AAB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016898" y="1600200"/>
            <a:ext cx="2487168" cy="1463040"/>
          </a:xfrm>
          <a:prstGeom prst="rect">
            <a:avLst/>
          </a:prstGeom>
          <a:noFill/>
        </p:spPr>
        <p:txBody>
          <a:bodyPr wrap="square" anchor="t">
            <a:spAutoFit/>
          </a:bodyPr>
          <a:lstStyle/>
          <a:p>
            <a:pPr algn="ctr">
              <a:spcAft>
                <a:spcPts val="0"/>
              </a:spcAft>
            </a:pPr>
            <a:r>
              <a:rPr sz="4000" b="1" i="0">
                <a:solidFill>
                  <a:srgbClr val="9AABC4"/>
                </a:solidFill>
                <a:latin typeface="Calibri"/>
              </a:rPr>
              <a:t>100</a:t>
            </a:r>
          </a:p>
          <a:p>
            <a:pPr algn="ctr">
              <a:spcAft>
                <a:spcPts val="0"/>
              </a:spcAft>
            </a:pPr>
            <a:r>
              <a:rPr sz="1700" b="1" i="0">
                <a:solidFill>
                  <a:srgbClr val="EEF3FA"/>
                </a:solidFill>
                <a:latin typeface="Calibri"/>
              </a:rPr>
              <a:t>Neutral</a:t>
            </a:r>
          </a:p>
          <a:p>
            <a:pPr algn="ctr">
              <a:spcAft>
                <a:spcPts val="0"/>
              </a:spcAft>
            </a:pPr>
            <a:r>
              <a:rPr sz="1200" b="0" i="0">
                <a:solidFill>
                  <a:srgbClr val="9AABC4"/>
                </a:solidFill>
                <a:latin typeface="Calibri"/>
              </a:rPr>
              <a:t>medical + real news</a:t>
            </a:r>
          </a:p>
        </p:txBody>
      </p:sp>
      <p:sp>
        <p:nvSpPr>
          <p:cNvPr id="19" name="Rounded Rectangle 18"/>
          <p:cNvSpPr/>
          <p:nvPr/>
        </p:nvSpPr>
        <p:spPr>
          <a:xfrm>
            <a:off x="685800" y="3474720"/>
            <a:ext cx="3429000" cy="1600200"/>
          </a:xfrm>
          <a:prstGeom prst="roundRect">
            <a:avLst>
              <a:gd name="adj" fmla="val 6000"/>
            </a:avLst>
          </a:prstGeom>
          <a:solidFill>
            <a:srgbClr val="12223C"/>
          </a:solidFill>
          <a:ln w="25400">
            <a:solidFill>
              <a:srgbClr val="7CC4FF"/>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09728" bIns="109728"/>
          <a:lstStyle/>
          <a:p>
            <a:pPr algn="ctr">
              <a:spcAft>
                <a:spcPts val="0"/>
              </a:spcAft>
            </a:pPr>
            <a:r>
              <a:rPr sz="4000" b="1" i="0">
                <a:solidFill>
                  <a:srgbClr val="7CC4FF"/>
                </a:solidFill>
                <a:latin typeface="Calibri"/>
              </a:rPr>
              <a:t>162–167</a:t>
            </a:r>
          </a:p>
          <a:p>
            <a:pPr algn="ctr">
              <a:spcAft>
                <a:spcPts val="0"/>
              </a:spcAft>
            </a:pPr>
            <a:r>
              <a:rPr sz="1300" b="0" i="0">
                <a:solidFill>
                  <a:srgbClr val="EEF3FA"/>
                </a:solidFill>
                <a:latin typeface="Calibri"/>
              </a:rPr>
              <a:t>average words per article,
lowest to highest group</a:t>
            </a:r>
          </a:p>
        </p:txBody>
      </p:sp>
      <p:sp>
        <p:nvSpPr>
          <p:cNvPr id="20" name="Rounded Rectangle 19"/>
          <p:cNvSpPr/>
          <p:nvPr/>
        </p:nvSpPr>
        <p:spPr>
          <a:xfrm>
            <a:off x="4379976" y="3474720"/>
            <a:ext cx="3429000" cy="1600200"/>
          </a:xfrm>
          <a:prstGeom prst="roundRect">
            <a:avLst>
              <a:gd name="adj" fmla="val 6000"/>
            </a:avLst>
          </a:prstGeom>
          <a:solidFill>
            <a:srgbClr val="12223C"/>
          </a:solidFill>
          <a:ln w="25400">
            <a:solidFill>
              <a:srgbClr val="5FD09A"/>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09728" bIns="109728"/>
          <a:lstStyle/>
          <a:p>
            <a:pPr algn="ctr">
              <a:spcAft>
                <a:spcPts val="0"/>
              </a:spcAft>
            </a:pPr>
            <a:r>
              <a:rPr sz="4000" b="1" i="0">
                <a:solidFill>
                  <a:srgbClr val="5FD09A"/>
                </a:solidFill>
                <a:latin typeface="Calibri"/>
              </a:rPr>
              <a:t>0.027</a:t>
            </a:r>
          </a:p>
          <a:p>
            <a:pPr algn="ctr">
              <a:spcAft>
                <a:spcPts val="0"/>
              </a:spcAft>
            </a:pPr>
            <a:r>
              <a:rPr sz="1300" b="0" i="0">
                <a:solidFill>
                  <a:srgbClr val="EEF3FA"/>
                </a:solidFill>
                <a:latin typeface="Calibri"/>
              </a:rPr>
              <a:t>smallest η² 400 articles can
detect, set before scanning</a:t>
            </a:r>
          </a:p>
        </p:txBody>
      </p:sp>
      <p:sp>
        <p:nvSpPr>
          <p:cNvPr id="21" name="Rounded Rectangle 20"/>
          <p:cNvSpPr/>
          <p:nvPr/>
        </p:nvSpPr>
        <p:spPr>
          <a:xfrm>
            <a:off x="8074152" y="3474720"/>
            <a:ext cx="3429000" cy="1600200"/>
          </a:xfrm>
          <a:prstGeom prst="roundRect">
            <a:avLst>
              <a:gd name="adj" fmla="val 6000"/>
            </a:avLst>
          </a:prstGeom>
          <a:solidFill>
            <a:srgbClr val="12223C"/>
          </a:solidFill>
          <a:ln w="25400">
            <a:solidFill>
              <a:srgbClr val="F5B83D"/>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09728" bIns="109728"/>
          <a:lstStyle/>
          <a:p>
            <a:pPr algn="ctr">
              <a:spcAft>
                <a:spcPts val="0"/>
              </a:spcAft>
            </a:pPr>
            <a:r>
              <a:rPr sz="4000" b="1" i="0">
                <a:solidFill>
                  <a:srgbClr val="F5B83D"/>
                </a:solidFill>
                <a:latin typeface="Calibri"/>
              </a:rPr>
              <a:t>× 2</a:t>
            </a:r>
          </a:p>
          <a:p>
            <a:pPr algn="ctr">
              <a:spcAft>
                <a:spcPts val="0"/>
              </a:spcAft>
            </a:pPr>
            <a:r>
              <a:rPr sz="1300" b="0" i="0">
                <a:solidFill>
                  <a:srgbClr val="EEF3FA"/>
                </a:solidFill>
                <a:latin typeface="Calibri"/>
              </a:rPr>
              <a:t>every article
scanned twice</a:t>
            </a:r>
          </a:p>
        </p:txBody>
      </p:sp>
      <p:sp>
        <p:nvSpPr>
          <p:cNvPr id="22" name="TextBox 21"/>
          <p:cNvSpPr txBox="1"/>
          <p:nvPr/>
        </p:nvSpPr>
        <p:spPr>
          <a:xfrm>
            <a:off x="685800" y="5303520"/>
            <a:ext cx="10820095" cy="320040"/>
          </a:xfrm>
          <a:prstGeom prst="rect">
            <a:avLst/>
          </a:prstGeom>
          <a:noFill/>
        </p:spPr>
        <p:txBody>
          <a:bodyPr wrap="square" anchor="t">
            <a:spAutoFit/>
          </a:bodyPr>
          <a:lstStyle/>
          <a:p>
            <a:pPr algn="l">
              <a:spcAft>
                <a:spcPts val="0"/>
              </a:spcAft>
            </a:pPr>
            <a:r>
              <a:rPr sz="1400" b="1">
                <a:solidFill>
                  <a:srgbClr val="EEF3FA"/>
                </a:solidFill>
                <a:latin typeface="Calibri"/>
              </a:rPr>
              <a:t>All 400, with scores:  </a:t>
            </a:r>
            <a:r>
              <a:rPr sz="1400" b="1">
                <a:solidFill>
                  <a:srgbClr val="F5B83D"/>
                </a:solidFill>
                <a:latin typeface="Calibri"/>
              </a:rPr>
              <a:t>monarch-4iy.pages.dev/corpus</a:t>
            </a:r>
          </a:p>
        </p:txBody>
      </p:sp>
      <p:sp>
        <p:nvSpPr>
          <p:cNvPr id="23" name="TextBox 22"/>
          <p:cNvSpPr txBox="1"/>
          <p:nvPr/>
        </p:nvSpPr>
        <p:spPr>
          <a:xfrm>
            <a:off x="6019495" y="6053328"/>
            <a:ext cx="5486400" cy="274320"/>
          </a:xfrm>
          <a:prstGeom prst="rect">
            <a:avLst/>
          </a:prstGeom>
          <a:noFill/>
        </p:spPr>
        <p:txBody>
          <a:bodyPr wrap="square" anchor="t">
            <a:spAutoFit/>
          </a:bodyPr>
          <a:lstStyle/>
          <a:p>
            <a:pPr algn="r">
              <a:spcAft>
                <a:spcPts val="0"/>
              </a:spcAft>
            </a:pPr>
            <a:r>
              <a:rPr sz="1200" b="1" i="0">
                <a:solidFill>
                  <a:srgbClr val="F5B83D"/>
                </a:solidFill>
                <a:latin typeface="Calibri"/>
              </a:rPr>
              <a:t>Next: reading the corpus page  →</a:t>
            </a:r>
          </a:p>
        </p:txBody>
      </p:sp>
      <p:sp>
        <p:nvSpPr>
          <p:cNvPr id="24" name="TextBox 23"/>
          <p:cNvSpPr txBox="1"/>
          <p:nvPr/>
        </p:nvSpPr>
        <p:spPr>
          <a:xfrm>
            <a:off x="685800" y="6355080"/>
            <a:ext cx="4572000" cy="320040"/>
          </a:xfrm>
          <a:prstGeom prst="rect">
            <a:avLst/>
          </a:prstGeom>
          <a:noFill/>
        </p:spPr>
        <p:txBody>
          <a:bodyPr wrap="square" anchor="t">
            <a:spAutoFit/>
          </a:bodyPr>
          <a:lstStyle/>
          <a:p>
            <a:pPr algn="l">
              <a:spcAft>
                <a:spcPts val="0"/>
              </a:spcAft>
            </a:pPr>
            <a:r>
              <a:rPr sz="1000" b="1" i="0">
                <a:solidFill>
                  <a:srgbClr val="9AABC4"/>
                </a:solidFill>
                <a:latin typeface="Calibri"/>
              </a:rPr>
              <a:t>THE METHOD</a:t>
            </a:r>
          </a:p>
        </p:txBody>
      </p:sp>
      <p:sp>
        <p:nvSpPr>
          <p:cNvPr id="25" name="Rectangle 24"/>
          <p:cNvSpPr/>
          <p:nvPr/>
        </p:nvSpPr>
        <p:spPr>
          <a:xfrm>
            <a:off x="4692243" y="6473952"/>
            <a:ext cx="502920" cy="36576"/>
          </a:xfrm>
          <a:prstGeom prst="rect">
            <a:avLst/>
          </a:prstGeom>
          <a:solidFill>
            <a:srgbClr val="2A3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268315" y="6473952"/>
            <a:ext cx="502920" cy="36576"/>
          </a:xfrm>
          <a:prstGeom prst="rect">
            <a:avLst/>
          </a:prstGeom>
          <a:solidFill>
            <a:srgbClr val="7CC4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844387" y="6473952"/>
            <a:ext cx="502920" cy="36576"/>
          </a:xfrm>
          <a:prstGeom prst="rect">
            <a:avLst/>
          </a:prstGeom>
          <a:solidFill>
            <a:srgbClr val="2A3D5E">
              <a:alpha val="8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420459" y="6473952"/>
            <a:ext cx="502920" cy="36576"/>
          </a:xfrm>
          <a:prstGeom prst="rect">
            <a:avLst/>
          </a:prstGeom>
          <a:solidFill>
            <a:srgbClr val="2A3D5E">
              <a:alpha val="8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996531" y="6473952"/>
            <a:ext cx="502920" cy="36576"/>
          </a:xfrm>
          <a:prstGeom prst="rect">
            <a:avLst/>
          </a:prstGeom>
          <a:solidFill>
            <a:srgbClr val="2A3D5E">
              <a:alpha val="8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591495" y="6355080"/>
            <a:ext cx="914400" cy="320040"/>
          </a:xfrm>
          <a:prstGeom prst="rect">
            <a:avLst/>
          </a:prstGeom>
          <a:noFill/>
        </p:spPr>
        <p:txBody>
          <a:bodyPr wrap="square" anchor="t">
            <a:spAutoFit/>
          </a:bodyPr>
          <a:lstStyle/>
          <a:p>
            <a:pPr algn="r">
              <a:spcAft>
                <a:spcPts val="0"/>
              </a:spcAft>
            </a:pPr>
            <a:r>
              <a:rPr sz="1100" b="1" i="0">
                <a:solidFill>
                  <a:srgbClr val="9AABC4"/>
                </a:solidFill>
                <a:latin typeface="Calibri"/>
              </a:rPr>
              <a:t>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Oval 1"/>
          <p:cNvSpPr/>
          <p:nvPr/>
        </p:nvSpPr>
        <p:spPr>
          <a:xfrm>
            <a:off x="8214055" y="-3794760"/>
            <a:ext cx="6858000" cy="6858000"/>
          </a:xfrm>
          <a:prstGeom prst="ellipse">
            <a:avLst/>
          </a:prstGeom>
          <a:gradFill rotWithShape="1">
            <a:gsLst>
              <a:gs pos="0">
                <a:srgbClr val="3E8EDE">
                  <a:alpha val="28000"/>
                </a:srgbClr>
              </a:gs>
              <a:gs pos="100000">
                <a:srgbClr val="3E8EDE">
                  <a:alpha val="0"/>
                </a:srgbClr>
              </a:gs>
            </a:gsLst>
            <a:path path="circle">
              <a:fillToRect l="50000" t="50000" r="50000" b="50000"/>
            </a:path>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3474720" y="4663440"/>
            <a:ext cx="5486400" cy="5486400"/>
          </a:xfrm>
          <a:prstGeom prst="ellipse">
            <a:avLst/>
          </a:prstGeom>
          <a:gradFill rotWithShape="1">
            <a:gsLst>
              <a:gs pos="0">
                <a:srgbClr val="FF7A59">
                  <a:alpha val="10000"/>
                </a:srgbClr>
              </a:gs>
              <a:gs pos="100000">
                <a:srgbClr val="FF7A59">
                  <a:alpha val="0"/>
                </a:srgbClr>
              </a:gs>
            </a:gsLst>
            <a:path path="circle">
              <a:fillToRect l="50000" t="50000" r="50000" b="50000"/>
            </a:path>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newspaper.png"/>
          <p:cNvPicPr>
            <a:picLocks noChangeAspect="1"/>
          </p:cNvPicPr>
          <p:nvPr/>
        </p:nvPicPr>
        <p:blipFill>
          <a:blip r:embed="rId3"/>
          <a:stretch>
            <a:fillRect/>
          </a:stretch>
        </p:blipFill>
        <p:spPr>
          <a:xfrm>
            <a:off x="685800" y="457200"/>
            <a:ext cx="420624" cy="420624"/>
          </a:xfrm>
          <a:prstGeom prst="rect">
            <a:avLst/>
          </a:prstGeom>
        </p:spPr>
      </p:pic>
      <p:sp>
        <p:nvSpPr>
          <p:cNvPr id="5" name="TextBox 4"/>
          <p:cNvSpPr txBox="1"/>
          <p:nvPr/>
        </p:nvSpPr>
        <p:spPr>
          <a:xfrm>
            <a:off x="1289304" y="201168"/>
            <a:ext cx="10216591" cy="320040"/>
          </a:xfrm>
          <a:prstGeom prst="rect">
            <a:avLst/>
          </a:prstGeom>
          <a:noFill/>
        </p:spPr>
        <p:txBody>
          <a:bodyPr wrap="square" anchor="t">
            <a:spAutoFit/>
          </a:bodyPr>
          <a:lstStyle/>
          <a:p>
            <a:pPr algn="l">
              <a:spcAft>
                <a:spcPts val="0"/>
              </a:spcAft>
            </a:pPr>
            <a:r>
              <a:rPr sz="1200" b="1" i="0">
                <a:solidFill>
                  <a:srgbClr val="FF7A59"/>
                </a:solidFill>
                <a:latin typeface="Calibri"/>
              </a:rPr>
              <a:t>THE METHOD</a:t>
            </a:r>
          </a:p>
        </p:txBody>
      </p:sp>
      <p:sp>
        <p:nvSpPr>
          <p:cNvPr id="6" name="TextBox 5"/>
          <p:cNvSpPr txBox="1"/>
          <p:nvPr/>
        </p:nvSpPr>
        <p:spPr>
          <a:xfrm>
            <a:off x="1289304" y="420624"/>
            <a:ext cx="10216591" cy="822960"/>
          </a:xfrm>
          <a:prstGeom prst="rect">
            <a:avLst/>
          </a:prstGeom>
          <a:noFill/>
        </p:spPr>
        <p:txBody>
          <a:bodyPr wrap="square" anchor="t">
            <a:spAutoFit/>
          </a:bodyPr>
          <a:lstStyle/>
          <a:p>
            <a:pPr algn="l">
              <a:spcAft>
                <a:spcPts val="0"/>
              </a:spcAft>
            </a:pPr>
            <a:r>
              <a:rPr sz="2600" b="1" i="0">
                <a:solidFill>
                  <a:srgbClr val="7CC4FF"/>
                </a:solidFill>
                <a:latin typeface="Calibri"/>
              </a:rPr>
              <a:t>Reading the corpus page: what each number means</a:t>
            </a:r>
          </a:p>
        </p:txBody>
      </p:sp>
      <p:sp>
        <p:nvSpPr>
          <p:cNvPr id="7" name="Rounded Rectangle 6"/>
          <p:cNvSpPr/>
          <p:nvPr/>
        </p:nvSpPr>
        <p:spPr>
          <a:xfrm>
            <a:off x="685800" y="1325880"/>
            <a:ext cx="5669280" cy="4206240"/>
          </a:xfrm>
          <a:prstGeom prst="roundRect">
            <a:avLst>
              <a:gd name="adj" fmla="val 6000"/>
            </a:avLst>
          </a:prstGeom>
          <a:solidFill>
            <a:srgbClr val="12223C"/>
          </a:solidFill>
          <a:ln w="25400">
            <a:solidFill>
              <a:srgbClr val="7CC4FF"/>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09728" bIns="109728"/>
          <a:lstStyle/>
          <a:p>
            <a:pPr algn="l"/>
          </a:p>
        </p:txBody>
      </p:sp>
      <p:sp>
        <p:nvSpPr>
          <p:cNvPr id="8" name="TextBox 7"/>
          <p:cNvSpPr txBox="1"/>
          <p:nvPr/>
        </p:nvSpPr>
        <p:spPr>
          <a:xfrm>
            <a:off x="914400" y="1417320"/>
            <a:ext cx="5303520" cy="274320"/>
          </a:xfrm>
          <a:prstGeom prst="rect">
            <a:avLst/>
          </a:prstGeom>
          <a:noFill/>
        </p:spPr>
        <p:txBody>
          <a:bodyPr wrap="square" anchor="t">
            <a:spAutoFit/>
          </a:bodyPr>
          <a:lstStyle/>
          <a:p>
            <a:pPr algn="l">
              <a:spcAft>
                <a:spcPts val="0"/>
              </a:spcAft>
            </a:pPr>
            <a:r>
              <a:rPr sz="1100" b="1" i="0">
                <a:solidFill>
                  <a:srgbClr val="9AABC4"/>
                </a:solidFill>
                <a:latin typeface="Calibri"/>
              </a:rPr>
              <a:t>COLUMN   →   MEANING</a:t>
            </a:r>
          </a:p>
        </p:txBody>
      </p:sp>
      <p:sp>
        <p:nvSpPr>
          <p:cNvPr id="9" name="Rounded Rectangle 8"/>
          <p:cNvSpPr/>
          <p:nvPr/>
        </p:nvSpPr>
        <p:spPr>
          <a:xfrm>
            <a:off x="868680" y="1783080"/>
            <a:ext cx="1737360" cy="493776"/>
          </a:xfrm>
          <a:prstGeom prst="roundRect">
            <a:avLst>
              <a:gd name="adj" fmla="val 6000"/>
            </a:avLst>
          </a:prstGeom>
          <a:solidFill>
            <a:srgbClr val="12223C"/>
          </a:solidFill>
          <a:ln w="15875">
            <a:solidFill>
              <a:srgbClr val="2A3D5E"/>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09728" bIns="109728"/>
          <a:lstStyle/>
          <a:p>
            <a:pPr algn="ctr">
              <a:spcAft>
                <a:spcPts val="0"/>
              </a:spcAft>
            </a:pPr>
            <a:r>
              <a:rPr sz="1400" b="1" i="0">
                <a:solidFill>
                  <a:srgbClr val="F5B83D"/>
                </a:solidFill>
                <a:latin typeface="Calibri"/>
              </a:rPr>
              <a:t>Emotional</a:t>
            </a:r>
          </a:p>
        </p:txBody>
      </p:sp>
      <p:sp>
        <p:nvSpPr>
          <p:cNvPr id="10" name="TextBox 9"/>
          <p:cNvSpPr txBox="1"/>
          <p:nvPr/>
        </p:nvSpPr>
        <p:spPr>
          <a:xfrm>
            <a:off x="2743200" y="1783080"/>
            <a:ext cx="3474720" cy="493776"/>
          </a:xfrm>
          <a:prstGeom prst="rect">
            <a:avLst/>
          </a:prstGeom>
          <a:noFill/>
        </p:spPr>
        <p:txBody>
          <a:bodyPr wrap="square" anchor="ctr">
            <a:spAutoFit/>
          </a:bodyPr>
          <a:lstStyle/>
          <a:p>
            <a:pPr algn="l">
              <a:spcAft>
                <a:spcPts val="0"/>
              </a:spcAft>
            </a:pPr>
            <a:r>
              <a:rPr sz="1300" b="0" i="0">
                <a:solidFill>
                  <a:srgbClr val="EEF3FA"/>
                </a:solidFill>
                <a:latin typeface="Calibri"/>
              </a:rPr>
              <a:t>average predicted activity, 1,030 emotional points</a:t>
            </a:r>
          </a:p>
        </p:txBody>
      </p:sp>
      <p:sp>
        <p:nvSpPr>
          <p:cNvPr id="11" name="Rounded Rectangle 10"/>
          <p:cNvSpPr/>
          <p:nvPr/>
        </p:nvSpPr>
        <p:spPr>
          <a:xfrm>
            <a:off x="868680" y="2386584"/>
            <a:ext cx="1737360" cy="493776"/>
          </a:xfrm>
          <a:prstGeom prst="roundRect">
            <a:avLst>
              <a:gd name="adj" fmla="val 6000"/>
            </a:avLst>
          </a:prstGeom>
          <a:solidFill>
            <a:srgbClr val="12223C"/>
          </a:solidFill>
          <a:ln w="15875">
            <a:solidFill>
              <a:srgbClr val="2A3D5E"/>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09728" bIns="109728"/>
          <a:lstStyle/>
          <a:p>
            <a:pPr algn="ctr">
              <a:spcAft>
                <a:spcPts val="0"/>
              </a:spcAft>
            </a:pPr>
            <a:r>
              <a:rPr sz="1400" b="1" i="0">
                <a:solidFill>
                  <a:srgbClr val="F5B83D"/>
                </a:solidFill>
                <a:latin typeface="Calibri"/>
              </a:rPr>
              <a:t>Deliberate</a:t>
            </a:r>
          </a:p>
        </p:txBody>
      </p:sp>
      <p:sp>
        <p:nvSpPr>
          <p:cNvPr id="12" name="TextBox 11"/>
          <p:cNvSpPr txBox="1"/>
          <p:nvPr/>
        </p:nvSpPr>
        <p:spPr>
          <a:xfrm>
            <a:off x="2743200" y="2386584"/>
            <a:ext cx="3474720" cy="493776"/>
          </a:xfrm>
          <a:prstGeom prst="rect">
            <a:avLst/>
          </a:prstGeom>
          <a:noFill/>
        </p:spPr>
        <p:txBody>
          <a:bodyPr wrap="square" anchor="ctr">
            <a:spAutoFit/>
          </a:bodyPr>
          <a:lstStyle/>
          <a:p>
            <a:pPr algn="l">
              <a:spcAft>
                <a:spcPts val="0"/>
              </a:spcAft>
            </a:pPr>
            <a:r>
              <a:rPr sz="1300" b="0" i="0">
                <a:solidFill>
                  <a:srgbClr val="EEF3FA"/>
                </a:solidFill>
                <a:latin typeface="Calibri"/>
              </a:rPr>
              <a:t>average predicted activity, 851 reasoning points</a:t>
            </a:r>
          </a:p>
        </p:txBody>
      </p:sp>
      <p:sp>
        <p:nvSpPr>
          <p:cNvPr id="13" name="Rounded Rectangle 12"/>
          <p:cNvSpPr/>
          <p:nvPr/>
        </p:nvSpPr>
        <p:spPr>
          <a:xfrm>
            <a:off x="868680" y="2990088"/>
            <a:ext cx="1737360" cy="493776"/>
          </a:xfrm>
          <a:prstGeom prst="roundRect">
            <a:avLst>
              <a:gd name="adj" fmla="val 6000"/>
            </a:avLst>
          </a:prstGeom>
          <a:solidFill>
            <a:srgbClr val="12223C"/>
          </a:solidFill>
          <a:ln w="15875">
            <a:solidFill>
              <a:srgbClr val="2A3D5E"/>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09728" bIns="109728"/>
          <a:lstStyle/>
          <a:p>
            <a:pPr algn="ctr">
              <a:spcAft>
                <a:spcPts val="0"/>
              </a:spcAft>
            </a:pPr>
            <a:r>
              <a:rPr sz="1400" b="1" i="0">
                <a:solidFill>
                  <a:srgbClr val="F5B83D"/>
                </a:solidFill>
                <a:latin typeface="Calibri"/>
              </a:rPr>
              <a:t>Score</a:t>
            </a:r>
          </a:p>
        </p:txBody>
      </p:sp>
      <p:sp>
        <p:nvSpPr>
          <p:cNvPr id="14" name="TextBox 13"/>
          <p:cNvSpPr txBox="1"/>
          <p:nvPr/>
        </p:nvSpPr>
        <p:spPr>
          <a:xfrm>
            <a:off x="2743200" y="2990088"/>
            <a:ext cx="3474720" cy="493776"/>
          </a:xfrm>
          <a:prstGeom prst="rect">
            <a:avLst/>
          </a:prstGeom>
          <a:noFill/>
        </p:spPr>
        <p:txBody>
          <a:bodyPr wrap="square" anchor="ctr">
            <a:spAutoFit/>
          </a:bodyPr>
          <a:lstStyle/>
          <a:p>
            <a:pPr algn="l">
              <a:spcAft>
                <a:spcPts val="0"/>
              </a:spcAft>
            </a:pPr>
            <a:r>
              <a:rPr sz="1300" b="0" i="0">
                <a:solidFill>
                  <a:srgbClr val="EEF3FA"/>
                </a:solidFill>
                <a:latin typeface="Calibri"/>
              </a:rPr>
              <a:t>Emotional − Deliberate = X</a:t>
            </a:r>
          </a:p>
        </p:txBody>
      </p:sp>
      <p:sp>
        <p:nvSpPr>
          <p:cNvPr id="15" name="Rounded Rectangle 14"/>
          <p:cNvSpPr/>
          <p:nvPr/>
        </p:nvSpPr>
        <p:spPr>
          <a:xfrm>
            <a:off x="868680" y="3593591"/>
            <a:ext cx="1737360" cy="493776"/>
          </a:xfrm>
          <a:prstGeom prst="roundRect">
            <a:avLst>
              <a:gd name="adj" fmla="val 6000"/>
            </a:avLst>
          </a:prstGeom>
          <a:solidFill>
            <a:srgbClr val="12223C"/>
          </a:solidFill>
          <a:ln w="15875">
            <a:solidFill>
              <a:srgbClr val="2A3D5E"/>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09728" bIns="109728"/>
          <a:lstStyle/>
          <a:p>
            <a:pPr algn="ctr">
              <a:spcAft>
                <a:spcPts val="0"/>
              </a:spcAft>
            </a:pPr>
            <a:r>
              <a:rPr sz="1400" b="1" i="0">
                <a:solidFill>
                  <a:srgbClr val="F5B83D"/>
                </a:solidFill>
                <a:latin typeface="Calibri"/>
              </a:rPr>
              <a:t>Pre-scan label</a:t>
            </a:r>
          </a:p>
        </p:txBody>
      </p:sp>
      <p:sp>
        <p:nvSpPr>
          <p:cNvPr id="16" name="TextBox 15"/>
          <p:cNvSpPr txBox="1"/>
          <p:nvPr/>
        </p:nvSpPr>
        <p:spPr>
          <a:xfrm>
            <a:off x="2743200" y="3593591"/>
            <a:ext cx="3474720" cy="493776"/>
          </a:xfrm>
          <a:prstGeom prst="rect">
            <a:avLst/>
          </a:prstGeom>
          <a:noFill/>
        </p:spPr>
        <p:txBody>
          <a:bodyPr wrap="square" anchor="ctr">
            <a:spAutoFit/>
          </a:bodyPr>
          <a:lstStyle/>
          <a:p>
            <a:pPr algn="l">
              <a:spcAft>
                <a:spcPts val="0"/>
              </a:spcAft>
            </a:pPr>
            <a:r>
              <a:rPr sz="1300" b="0" i="0">
                <a:solidFill>
                  <a:srgbClr val="EEF3FA"/>
                </a:solidFill>
                <a:latin typeface="Calibri"/>
              </a:rPr>
              <a:t>label from its source, given before any scan</a:t>
            </a:r>
          </a:p>
        </p:txBody>
      </p:sp>
      <p:sp>
        <p:nvSpPr>
          <p:cNvPr id="17" name="Rounded Rectangle 16"/>
          <p:cNvSpPr/>
          <p:nvPr/>
        </p:nvSpPr>
        <p:spPr>
          <a:xfrm>
            <a:off x="868680" y="4197096"/>
            <a:ext cx="1737360" cy="493776"/>
          </a:xfrm>
          <a:prstGeom prst="roundRect">
            <a:avLst>
              <a:gd name="adj" fmla="val 6000"/>
            </a:avLst>
          </a:prstGeom>
          <a:solidFill>
            <a:srgbClr val="12223C"/>
          </a:solidFill>
          <a:ln w="15875">
            <a:solidFill>
              <a:srgbClr val="2A3D5E"/>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09728" bIns="109728"/>
          <a:lstStyle/>
          <a:p>
            <a:pPr algn="ctr">
              <a:spcAft>
                <a:spcPts val="0"/>
              </a:spcAft>
            </a:pPr>
            <a:r>
              <a:rPr sz="1400" b="1" i="0">
                <a:solidFill>
                  <a:srgbClr val="F5B83D"/>
                </a:solidFill>
                <a:latin typeface="Calibri"/>
              </a:rPr>
              <a:t>Words</a:t>
            </a:r>
          </a:p>
        </p:txBody>
      </p:sp>
      <p:sp>
        <p:nvSpPr>
          <p:cNvPr id="18" name="TextBox 17"/>
          <p:cNvSpPr txBox="1"/>
          <p:nvPr/>
        </p:nvSpPr>
        <p:spPr>
          <a:xfrm>
            <a:off x="2743200" y="4197096"/>
            <a:ext cx="3474720" cy="493776"/>
          </a:xfrm>
          <a:prstGeom prst="rect">
            <a:avLst/>
          </a:prstGeom>
          <a:noFill/>
        </p:spPr>
        <p:txBody>
          <a:bodyPr wrap="square" anchor="ctr">
            <a:spAutoFit/>
          </a:bodyPr>
          <a:lstStyle/>
          <a:p>
            <a:pPr algn="l">
              <a:spcAft>
                <a:spcPts val="0"/>
              </a:spcAft>
            </a:pPr>
            <a:r>
              <a:rPr sz="1300" b="0" i="0">
                <a:solidFill>
                  <a:srgbClr val="EEF3FA"/>
                </a:solidFill>
                <a:latin typeface="Calibri"/>
              </a:rPr>
              <a:t>article length</a:t>
            </a:r>
          </a:p>
        </p:txBody>
      </p:sp>
      <p:sp>
        <p:nvSpPr>
          <p:cNvPr id="19" name="TextBox 18"/>
          <p:cNvSpPr txBox="1"/>
          <p:nvPr/>
        </p:nvSpPr>
        <p:spPr>
          <a:xfrm>
            <a:off x="914400" y="4846320"/>
            <a:ext cx="5303520" cy="640080"/>
          </a:xfrm>
          <a:prstGeom prst="rect">
            <a:avLst/>
          </a:prstGeom>
          <a:noFill/>
        </p:spPr>
        <p:txBody>
          <a:bodyPr wrap="square" anchor="t">
            <a:spAutoFit/>
          </a:bodyPr>
          <a:lstStyle/>
          <a:p>
            <a:pPr algn="l">
              <a:spcAft>
                <a:spcPts val="200"/>
              </a:spcAft>
            </a:pPr>
            <a:r>
              <a:rPr sz="1300" b="1">
                <a:solidFill>
                  <a:srgbClr val="EEF3FA"/>
                </a:solidFill>
                <a:latin typeface="Calibri"/>
              </a:rPr>
              <a:t>All 400 scores: </a:t>
            </a:r>
            <a:r>
              <a:rPr sz="1300" b="0">
                <a:solidFill>
                  <a:srgbClr val="EEF3FA"/>
                </a:solidFill>
                <a:latin typeface="Calibri"/>
              </a:rPr>
              <a:t>−0.070 to +0.054, spread ΔX = 0.124</a:t>
            </a:r>
          </a:p>
          <a:p>
            <a:pPr algn="l">
              <a:spcAft>
                <a:spcPts val="0"/>
              </a:spcAft>
            </a:pPr>
            <a:r>
              <a:rPr sz="1100" b="0" i="0">
                <a:solidFill>
                  <a:srgbClr val="9AABC4"/>
                </a:solidFill>
                <a:latin typeface="Calibri"/>
              </a:rPr>
              <a:t>Units: standardised activity, no physical unit</a:t>
            </a:r>
          </a:p>
        </p:txBody>
      </p:sp>
      <p:sp>
        <p:nvSpPr>
          <p:cNvPr id="20" name="Rounded Rectangle 19"/>
          <p:cNvSpPr/>
          <p:nvPr/>
        </p:nvSpPr>
        <p:spPr>
          <a:xfrm>
            <a:off x="6583680" y="1325880"/>
            <a:ext cx="4919472" cy="4206240"/>
          </a:xfrm>
          <a:prstGeom prst="roundRect">
            <a:avLst>
              <a:gd name="adj" fmla="val 6000"/>
            </a:avLst>
          </a:prstGeom>
          <a:solidFill>
            <a:srgbClr val="12223C"/>
          </a:solidFill>
          <a:ln w="15875">
            <a:solidFill>
              <a:srgbClr val="2A3D5E"/>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09728" bIns="109728"/>
          <a:lstStyle/>
          <a:p>
            <a:pPr algn="l"/>
          </a:p>
        </p:txBody>
      </p:sp>
      <p:sp>
        <p:nvSpPr>
          <p:cNvPr id="21" name="TextBox 20"/>
          <p:cNvSpPr txBox="1"/>
          <p:nvPr/>
        </p:nvSpPr>
        <p:spPr>
          <a:xfrm>
            <a:off x="6766560" y="1417320"/>
            <a:ext cx="4572000" cy="274320"/>
          </a:xfrm>
          <a:prstGeom prst="rect">
            <a:avLst/>
          </a:prstGeom>
          <a:noFill/>
        </p:spPr>
        <p:txBody>
          <a:bodyPr wrap="square" anchor="t">
            <a:spAutoFit/>
          </a:bodyPr>
          <a:lstStyle/>
          <a:p>
            <a:pPr algn="l">
              <a:spcAft>
                <a:spcPts val="0"/>
              </a:spcAft>
            </a:pPr>
            <a:r>
              <a:rPr sz="1100" b="1" i="0">
                <a:solidFill>
                  <a:srgbClr val="9AABC4"/>
                </a:solidFill>
                <a:latin typeface="Calibri"/>
              </a:rPr>
              <a:t>AVERAGE SCORE X PER GROUP</a:t>
            </a:r>
          </a:p>
        </p:txBody>
      </p:sp>
      <p:sp>
        <p:nvSpPr>
          <p:cNvPr id="22" name="Rectangle 21"/>
          <p:cNvSpPr/>
          <p:nvPr/>
        </p:nvSpPr>
        <p:spPr>
          <a:xfrm>
            <a:off x="11064240" y="1783080"/>
            <a:ext cx="18288" cy="2834640"/>
          </a:xfrm>
          <a:prstGeom prst="rect">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607040" y="4617720"/>
            <a:ext cx="914400" cy="274320"/>
          </a:xfrm>
          <a:prstGeom prst="rect">
            <a:avLst/>
          </a:prstGeom>
          <a:noFill/>
        </p:spPr>
        <p:txBody>
          <a:bodyPr wrap="square" anchor="t">
            <a:spAutoFit/>
          </a:bodyPr>
          <a:lstStyle/>
          <a:p>
            <a:pPr algn="ctr">
              <a:spcAft>
                <a:spcPts val="0"/>
              </a:spcAft>
            </a:pPr>
            <a:r>
              <a:rPr sz="1200" b="1" i="0">
                <a:solidFill>
                  <a:srgbClr val="EEF3FA"/>
                </a:solidFill>
                <a:latin typeface="Calibri"/>
              </a:rPr>
              <a:t>0</a:t>
            </a:r>
          </a:p>
        </p:txBody>
      </p:sp>
      <p:sp>
        <p:nvSpPr>
          <p:cNvPr id="24" name="Rectangle 23"/>
          <p:cNvSpPr/>
          <p:nvPr/>
        </p:nvSpPr>
        <p:spPr>
          <a:xfrm>
            <a:off x="10800892" y="2148839"/>
            <a:ext cx="263347" cy="274320"/>
          </a:xfrm>
          <a:prstGeom prst="rect">
            <a:avLst/>
          </a:prstGeom>
          <a:solidFill>
            <a:srgbClr val="FF7A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766560" y="1856231"/>
            <a:ext cx="2926080" cy="274320"/>
          </a:xfrm>
          <a:prstGeom prst="rect">
            <a:avLst/>
          </a:prstGeom>
          <a:noFill/>
        </p:spPr>
        <p:txBody>
          <a:bodyPr wrap="square" anchor="t">
            <a:spAutoFit/>
          </a:bodyPr>
          <a:lstStyle/>
          <a:p>
            <a:pPr algn="l">
              <a:spcAft>
                <a:spcPts val="0"/>
              </a:spcAft>
            </a:pPr>
            <a:r>
              <a:rPr sz="1300" b="1" i="0">
                <a:solidFill>
                  <a:srgbClr val="EEF3FA"/>
                </a:solidFill>
                <a:latin typeface="Calibri"/>
              </a:rPr>
              <a:t>Fear-activating</a:t>
            </a:r>
          </a:p>
        </p:txBody>
      </p:sp>
      <p:sp>
        <p:nvSpPr>
          <p:cNvPr id="26" name="TextBox 25"/>
          <p:cNvSpPr txBox="1"/>
          <p:nvPr/>
        </p:nvSpPr>
        <p:spPr>
          <a:xfrm>
            <a:off x="9657892" y="2112263"/>
            <a:ext cx="1097280" cy="320040"/>
          </a:xfrm>
          <a:prstGeom prst="rect">
            <a:avLst/>
          </a:prstGeom>
          <a:noFill/>
        </p:spPr>
        <p:txBody>
          <a:bodyPr wrap="square" anchor="t">
            <a:spAutoFit/>
          </a:bodyPr>
          <a:lstStyle/>
          <a:p>
            <a:pPr algn="r">
              <a:spcAft>
                <a:spcPts val="0"/>
              </a:spcAft>
            </a:pPr>
            <a:r>
              <a:rPr sz="1300" b="1" i="0">
                <a:solidFill>
                  <a:srgbClr val="FF7A59"/>
                </a:solidFill>
                <a:latin typeface="Calibri"/>
              </a:rPr>
              <a:t>-0.002</a:t>
            </a:r>
          </a:p>
        </p:txBody>
      </p:sp>
      <p:sp>
        <p:nvSpPr>
          <p:cNvPr id="27" name="Rectangle 26"/>
          <p:cNvSpPr/>
          <p:nvPr/>
        </p:nvSpPr>
        <p:spPr>
          <a:xfrm>
            <a:off x="9191548" y="2834639"/>
            <a:ext cx="1872691" cy="274320"/>
          </a:xfrm>
          <a:prstGeom prst="rect">
            <a:avLst/>
          </a:prstGeom>
          <a:solidFill>
            <a:srgbClr val="3E8E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766560" y="2542032"/>
            <a:ext cx="2926080" cy="274320"/>
          </a:xfrm>
          <a:prstGeom prst="rect">
            <a:avLst/>
          </a:prstGeom>
          <a:noFill/>
        </p:spPr>
        <p:txBody>
          <a:bodyPr wrap="square" anchor="t">
            <a:spAutoFit/>
          </a:bodyPr>
          <a:lstStyle/>
          <a:p>
            <a:pPr algn="l">
              <a:spcAft>
                <a:spcPts val="0"/>
              </a:spcAft>
            </a:pPr>
            <a:r>
              <a:rPr sz="1300" b="1" i="0">
                <a:solidFill>
                  <a:srgbClr val="EEF3FA"/>
                </a:solidFill>
                <a:latin typeface="Calibri"/>
              </a:rPr>
              <a:t>Reward hook</a:t>
            </a:r>
          </a:p>
        </p:txBody>
      </p:sp>
      <p:sp>
        <p:nvSpPr>
          <p:cNvPr id="29" name="TextBox 28"/>
          <p:cNvSpPr txBox="1"/>
          <p:nvPr/>
        </p:nvSpPr>
        <p:spPr>
          <a:xfrm>
            <a:off x="8048548" y="2798063"/>
            <a:ext cx="1097280" cy="320040"/>
          </a:xfrm>
          <a:prstGeom prst="rect">
            <a:avLst/>
          </a:prstGeom>
          <a:noFill/>
        </p:spPr>
        <p:txBody>
          <a:bodyPr wrap="square" anchor="t">
            <a:spAutoFit/>
          </a:bodyPr>
          <a:lstStyle/>
          <a:p>
            <a:pPr algn="r">
              <a:spcAft>
                <a:spcPts val="0"/>
              </a:spcAft>
            </a:pPr>
            <a:r>
              <a:rPr sz="1300" b="1" i="0">
                <a:solidFill>
                  <a:srgbClr val="3E8EDE"/>
                </a:solidFill>
                <a:latin typeface="Calibri"/>
              </a:rPr>
              <a:t>-0.013</a:t>
            </a:r>
          </a:p>
        </p:txBody>
      </p:sp>
      <p:sp>
        <p:nvSpPr>
          <p:cNvPr id="30" name="Rectangle 29"/>
          <p:cNvSpPr/>
          <p:nvPr/>
        </p:nvSpPr>
        <p:spPr>
          <a:xfrm>
            <a:off x="8357616" y="3520439"/>
            <a:ext cx="2706624" cy="274320"/>
          </a:xfrm>
          <a:prstGeom prst="rect">
            <a:avLst/>
          </a:prstGeom>
          <a:solidFill>
            <a:srgbClr val="F5B8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766560" y="3227832"/>
            <a:ext cx="2926080" cy="274320"/>
          </a:xfrm>
          <a:prstGeom prst="rect">
            <a:avLst/>
          </a:prstGeom>
          <a:noFill/>
        </p:spPr>
        <p:txBody>
          <a:bodyPr wrap="square" anchor="t">
            <a:spAutoFit/>
          </a:bodyPr>
          <a:lstStyle/>
          <a:p>
            <a:pPr algn="l">
              <a:spcAft>
                <a:spcPts val="0"/>
              </a:spcAft>
            </a:pPr>
            <a:r>
              <a:rPr sz="1300" b="1" i="0">
                <a:solidFill>
                  <a:srgbClr val="EEF3FA"/>
                </a:solidFill>
                <a:latin typeface="Calibri"/>
              </a:rPr>
              <a:t>High outrage</a:t>
            </a:r>
          </a:p>
        </p:txBody>
      </p:sp>
      <p:sp>
        <p:nvSpPr>
          <p:cNvPr id="32" name="TextBox 31"/>
          <p:cNvSpPr txBox="1"/>
          <p:nvPr/>
        </p:nvSpPr>
        <p:spPr>
          <a:xfrm>
            <a:off x="7214616" y="3483863"/>
            <a:ext cx="1097280" cy="320040"/>
          </a:xfrm>
          <a:prstGeom prst="rect">
            <a:avLst/>
          </a:prstGeom>
          <a:noFill/>
        </p:spPr>
        <p:txBody>
          <a:bodyPr wrap="square" anchor="t">
            <a:spAutoFit/>
          </a:bodyPr>
          <a:lstStyle/>
          <a:p>
            <a:pPr algn="r">
              <a:spcAft>
                <a:spcPts val="0"/>
              </a:spcAft>
            </a:pPr>
            <a:r>
              <a:rPr sz="1300" b="1" i="0">
                <a:solidFill>
                  <a:srgbClr val="F5B83D"/>
                </a:solidFill>
                <a:latin typeface="Calibri"/>
              </a:rPr>
              <a:t>-0.018</a:t>
            </a:r>
          </a:p>
        </p:txBody>
      </p:sp>
      <p:sp>
        <p:nvSpPr>
          <p:cNvPr id="33" name="Rectangle 32"/>
          <p:cNvSpPr/>
          <p:nvPr/>
        </p:nvSpPr>
        <p:spPr>
          <a:xfrm>
            <a:off x="8269833" y="4206240"/>
            <a:ext cx="2794406" cy="274320"/>
          </a:xfrm>
          <a:prstGeom prst="rect">
            <a:avLst/>
          </a:prstGeom>
          <a:solidFill>
            <a:srgbClr val="9AAB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766560" y="3913632"/>
            <a:ext cx="2926080" cy="274320"/>
          </a:xfrm>
          <a:prstGeom prst="rect">
            <a:avLst/>
          </a:prstGeom>
          <a:noFill/>
        </p:spPr>
        <p:txBody>
          <a:bodyPr wrap="square" anchor="t">
            <a:spAutoFit/>
          </a:bodyPr>
          <a:lstStyle/>
          <a:p>
            <a:pPr algn="l">
              <a:spcAft>
                <a:spcPts val="0"/>
              </a:spcAft>
            </a:pPr>
            <a:r>
              <a:rPr sz="1300" b="1" i="0">
                <a:solidFill>
                  <a:srgbClr val="EEF3FA"/>
                </a:solidFill>
                <a:latin typeface="Calibri"/>
              </a:rPr>
              <a:t>Neutral</a:t>
            </a:r>
          </a:p>
        </p:txBody>
      </p:sp>
      <p:sp>
        <p:nvSpPr>
          <p:cNvPr id="35" name="TextBox 34"/>
          <p:cNvSpPr txBox="1"/>
          <p:nvPr/>
        </p:nvSpPr>
        <p:spPr>
          <a:xfrm>
            <a:off x="7126833" y="4169663"/>
            <a:ext cx="1097280" cy="320040"/>
          </a:xfrm>
          <a:prstGeom prst="rect">
            <a:avLst/>
          </a:prstGeom>
          <a:noFill/>
        </p:spPr>
        <p:txBody>
          <a:bodyPr wrap="square" anchor="t">
            <a:spAutoFit/>
          </a:bodyPr>
          <a:lstStyle/>
          <a:p>
            <a:pPr algn="r">
              <a:spcAft>
                <a:spcPts val="0"/>
              </a:spcAft>
            </a:pPr>
            <a:r>
              <a:rPr sz="1300" b="1" i="0">
                <a:solidFill>
                  <a:srgbClr val="9AABC4"/>
                </a:solidFill>
                <a:latin typeface="Calibri"/>
              </a:rPr>
              <a:t>-0.019</a:t>
            </a:r>
          </a:p>
        </p:txBody>
      </p:sp>
      <p:sp>
        <p:nvSpPr>
          <p:cNvPr id="36" name="TextBox 35"/>
          <p:cNvSpPr txBox="1"/>
          <p:nvPr/>
        </p:nvSpPr>
        <p:spPr>
          <a:xfrm>
            <a:off x="6766560" y="4892040"/>
            <a:ext cx="4572000" cy="548640"/>
          </a:xfrm>
          <a:prstGeom prst="rect">
            <a:avLst/>
          </a:prstGeom>
          <a:noFill/>
        </p:spPr>
        <p:txBody>
          <a:bodyPr wrap="square" anchor="t">
            <a:spAutoFit/>
          </a:bodyPr>
          <a:lstStyle/>
          <a:p>
            <a:pPr algn="l">
              <a:spcAft>
                <a:spcPts val="0"/>
              </a:spcAft>
            </a:pPr>
            <a:r>
              <a:rPr sz="1200" b="0" i="0">
                <a:solidFill>
                  <a:srgbClr val="9AABC4"/>
                </a:solidFill>
                <a:latin typeface="Calibri"/>
              </a:rPr>
              <a:t>All four below 0: the deliberate areas respond more in every group.</a:t>
            </a:r>
          </a:p>
        </p:txBody>
      </p:sp>
      <p:sp>
        <p:nvSpPr>
          <p:cNvPr id="37" name="TextBox 36"/>
          <p:cNvSpPr txBox="1"/>
          <p:nvPr/>
        </p:nvSpPr>
        <p:spPr>
          <a:xfrm>
            <a:off x="685800" y="5669280"/>
            <a:ext cx="5943600" cy="320040"/>
          </a:xfrm>
          <a:prstGeom prst="rect">
            <a:avLst/>
          </a:prstGeom>
          <a:noFill/>
        </p:spPr>
        <p:txBody>
          <a:bodyPr wrap="square" anchor="t">
            <a:spAutoFit/>
          </a:bodyPr>
          <a:lstStyle/>
          <a:p>
            <a:pPr algn="l">
              <a:spcAft>
                <a:spcPts val="0"/>
              </a:spcAft>
            </a:pPr>
            <a:r>
              <a:rPr sz="1300" b="1">
                <a:solidFill>
                  <a:srgbClr val="EEF3FA"/>
                </a:solidFill>
                <a:latin typeface="Calibri"/>
              </a:rPr>
              <a:t>Live: </a:t>
            </a:r>
            <a:r>
              <a:rPr sz="1300" b="1">
                <a:solidFill>
                  <a:srgbClr val="F5B83D"/>
                </a:solidFill>
                <a:latin typeface="Calibri"/>
              </a:rPr>
              <a:t>monarch-4iy.pages.dev/corpus</a:t>
            </a:r>
          </a:p>
        </p:txBody>
      </p:sp>
      <p:sp>
        <p:nvSpPr>
          <p:cNvPr id="38" name="TextBox 37"/>
          <p:cNvSpPr txBox="1"/>
          <p:nvPr/>
        </p:nvSpPr>
        <p:spPr>
          <a:xfrm>
            <a:off x="6019495" y="6053328"/>
            <a:ext cx="5486400" cy="274320"/>
          </a:xfrm>
          <a:prstGeom prst="rect">
            <a:avLst/>
          </a:prstGeom>
          <a:noFill/>
        </p:spPr>
        <p:txBody>
          <a:bodyPr wrap="square" anchor="t">
            <a:spAutoFit/>
          </a:bodyPr>
          <a:lstStyle/>
          <a:p>
            <a:pPr algn="r">
              <a:spcAft>
                <a:spcPts val="0"/>
              </a:spcAft>
            </a:pPr>
            <a:r>
              <a:rPr sz="1200" b="1" i="0">
                <a:solidFill>
                  <a:srgbClr val="F5B83D"/>
                </a:solidFill>
                <a:latin typeface="Calibri"/>
              </a:rPr>
              <a:t>Next: are these differences real?  →</a:t>
            </a:r>
          </a:p>
        </p:txBody>
      </p:sp>
      <p:sp>
        <p:nvSpPr>
          <p:cNvPr id="39" name="TextBox 38"/>
          <p:cNvSpPr txBox="1"/>
          <p:nvPr/>
        </p:nvSpPr>
        <p:spPr>
          <a:xfrm>
            <a:off x="685800" y="6355080"/>
            <a:ext cx="4572000" cy="320040"/>
          </a:xfrm>
          <a:prstGeom prst="rect">
            <a:avLst/>
          </a:prstGeom>
          <a:noFill/>
        </p:spPr>
        <p:txBody>
          <a:bodyPr wrap="square" anchor="t">
            <a:spAutoFit/>
          </a:bodyPr>
          <a:lstStyle/>
          <a:p>
            <a:pPr algn="l">
              <a:spcAft>
                <a:spcPts val="0"/>
              </a:spcAft>
            </a:pPr>
            <a:r>
              <a:rPr sz="1000" b="1" i="0">
                <a:solidFill>
                  <a:srgbClr val="9AABC4"/>
                </a:solidFill>
                <a:latin typeface="Calibri"/>
              </a:rPr>
              <a:t>THE METHOD</a:t>
            </a:r>
          </a:p>
        </p:txBody>
      </p:sp>
      <p:sp>
        <p:nvSpPr>
          <p:cNvPr id="40" name="Rectangle 39"/>
          <p:cNvSpPr/>
          <p:nvPr/>
        </p:nvSpPr>
        <p:spPr>
          <a:xfrm>
            <a:off x="4692243" y="6473952"/>
            <a:ext cx="502920" cy="36576"/>
          </a:xfrm>
          <a:prstGeom prst="rect">
            <a:avLst/>
          </a:prstGeom>
          <a:solidFill>
            <a:srgbClr val="2A3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5268315" y="6473952"/>
            <a:ext cx="502920" cy="36576"/>
          </a:xfrm>
          <a:prstGeom prst="rect">
            <a:avLst/>
          </a:prstGeom>
          <a:solidFill>
            <a:srgbClr val="7CC4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5844387" y="6473952"/>
            <a:ext cx="502920" cy="36576"/>
          </a:xfrm>
          <a:prstGeom prst="rect">
            <a:avLst/>
          </a:prstGeom>
          <a:solidFill>
            <a:srgbClr val="2A3D5E">
              <a:alpha val="8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6420459" y="6473952"/>
            <a:ext cx="502920" cy="36576"/>
          </a:xfrm>
          <a:prstGeom prst="rect">
            <a:avLst/>
          </a:prstGeom>
          <a:solidFill>
            <a:srgbClr val="2A3D5E">
              <a:alpha val="8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6996531" y="6473952"/>
            <a:ext cx="502920" cy="36576"/>
          </a:xfrm>
          <a:prstGeom prst="rect">
            <a:avLst/>
          </a:prstGeom>
          <a:solidFill>
            <a:srgbClr val="2A3D5E">
              <a:alpha val="8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10591495" y="6355080"/>
            <a:ext cx="914400" cy="320040"/>
          </a:xfrm>
          <a:prstGeom prst="rect">
            <a:avLst/>
          </a:prstGeom>
          <a:noFill/>
        </p:spPr>
        <p:txBody>
          <a:bodyPr wrap="square" anchor="t">
            <a:spAutoFit/>
          </a:bodyPr>
          <a:lstStyle/>
          <a:p>
            <a:pPr algn="r">
              <a:spcAft>
                <a:spcPts val="0"/>
              </a:spcAft>
            </a:pPr>
            <a:r>
              <a:rPr sz="1100" b="1" i="0">
                <a:solidFill>
                  <a:srgbClr val="9AABC4"/>
                </a:solidFill>
                <a:latin typeface="Calibri"/>
              </a:rPr>
              <a:t>06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Oval 1"/>
          <p:cNvSpPr/>
          <p:nvPr/>
        </p:nvSpPr>
        <p:spPr>
          <a:xfrm>
            <a:off x="8214055" y="-3794760"/>
            <a:ext cx="6858000" cy="6858000"/>
          </a:xfrm>
          <a:prstGeom prst="ellipse">
            <a:avLst/>
          </a:prstGeom>
          <a:gradFill rotWithShape="1">
            <a:gsLst>
              <a:gs pos="0">
                <a:srgbClr val="3E8EDE">
                  <a:alpha val="28000"/>
                </a:srgbClr>
              </a:gs>
              <a:gs pos="100000">
                <a:srgbClr val="3E8EDE">
                  <a:alpha val="0"/>
                </a:srgbClr>
              </a:gs>
            </a:gsLst>
            <a:path path="circle">
              <a:fillToRect l="50000" t="50000" r="50000" b="50000"/>
            </a:path>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3474720" y="4663440"/>
            <a:ext cx="5486400" cy="5486400"/>
          </a:xfrm>
          <a:prstGeom prst="ellipse">
            <a:avLst/>
          </a:prstGeom>
          <a:gradFill rotWithShape="1">
            <a:gsLst>
              <a:gs pos="0">
                <a:srgbClr val="FF7A59">
                  <a:alpha val="10000"/>
                </a:srgbClr>
              </a:gs>
              <a:gs pos="100000">
                <a:srgbClr val="FF7A59">
                  <a:alpha val="0"/>
                </a:srgbClr>
              </a:gs>
            </a:gsLst>
            <a:path path="circle">
              <a:fillToRect l="50000" t="50000" r="50000" b="50000"/>
            </a:path>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hart-bar.png"/>
          <p:cNvPicPr>
            <a:picLocks noChangeAspect="1"/>
          </p:cNvPicPr>
          <p:nvPr/>
        </p:nvPicPr>
        <p:blipFill>
          <a:blip r:embed="rId3"/>
          <a:stretch>
            <a:fillRect/>
          </a:stretch>
        </p:blipFill>
        <p:spPr>
          <a:xfrm>
            <a:off x="685800" y="457200"/>
            <a:ext cx="420624" cy="420624"/>
          </a:xfrm>
          <a:prstGeom prst="rect">
            <a:avLst/>
          </a:prstGeom>
        </p:spPr>
      </p:pic>
      <p:sp>
        <p:nvSpPr>
          <p:cNvPr id="5" name="TextBox 4"/>
          <p:cNvSpPr txBox="1"/>
          <p:nvPr/>
        </p:nvSpPr>
        <p:spPr>
          <a:xfrm>
            <a:off x="1289304" y="201168"/>
            <a:ext cx="10216591" cy="320040"/>
          </a:xfrm>
          <a:prstGeom prst="rect">
            <a:avLst/>
          </a:prstGeom>
          <a:noFill/>
        </p:spPr>
        <p:txBody>
          <a:bodyPr wrap="square" anchor="t">
            <a:spAutoFit/>
          </a:bodyPr>
          <a:lstStyle/>
          <a:p>
            <a:pPr algn="l">
              <a:spcAft>
                <a:spcPts val="0"/>
              </a:spcAft>
            </a:pPr>
            <a:r>
              <a:rPr sz="1200" b="1" i="0">
                <a:solidFill>
                  <a:srgbClr val="FF7A59"/>
                </a:solidFill>
                <a:latin typeface="Calibri"/>
              </a:rPr>
              <a:t>THE RESULTS</a:t>
            </a:r>
          </a:p>
        </p:txBody>
      </p:sp>
      <p:sp>
        <p:nvSpPr>
          <p:cNvPr id="6" name="TextBox 5"/>
          <p:cNvSpPr txBox="1"/>
          <p:nvPr/>
        </p:nvSpPr>
        <p:spPr>
          <a:xfrm>
            <a:off x="1289304" y="420624"/>
            <a:ext cx="10216591" cy="822960"/>
          </a:xfrm>
          <a:prstGeom prst="rect">
            <a:avLst/>
          </a:prstGeom>
          <a:noFill/>
        </p:spPr>
        <p:txBody>
          <a:bodyPr wrap="square" anchor="t">
            <a:spAutoFit/>
          </a:bodyPr>
          <a:lstStyle/>
          <a:p>
            <a:pPr algn="l">
              <a:spcAft>
                <a:spcPts val="0"/>
              </a:spcAft>
            </a:pPr>
            <a:r>
              <a:rPr sz="2600" b="1" i="0">
                <a:solidFill>
                  <a:srgbClr val="7CC4FF"/>
                </a:solidFill>
                <a:latin typeface="Calibri"/>
              </a:rPr>
              <a:t>Result 1: the four groups differ, η² = 0.107</a:t>
            </a:r>
          </a:p>
        </p:txBody>
      </p:sp>
      <p:graphicFrame>
        <p:nvGraphicFramePr>
          <p:cNvPr id="7" name="Chart 6"/>
          <p:cNvGraphicFramePr>
            <a:graphicFrameLocks noGrp="1"/>
          </p:cNvGraphicFramePr>
          <p:nvPr/>
        </p:nvGraphicFramePr>
        <p:xfrm>
          <a:off x="685800" y="1325880"/>
          <a:ext cx="3383280" cy="3383280"/>
        </p:xfrm>
        <a:graphic>
          <a:graphicData uri="http://schemas.openxmlformats.org/drawingml/2006/chart">
            <c:chart xmlns:c="http://schemas.openxmlformats.org/drawingml/2006/chart" r:id="rId4"/>
          </a:graphicData>
        </a:graphic>
      </p:graphicFrame>
      <p:sp>
        <p:nvSpPr>
          <p:cNvPr id="8" name="TextBox 7"/>
          <p:cNvSpPr txBox="1"/>
          <p:nvPr/>
        </p:nvSpPr>
        <p:spPr>
          <a:xfrm>
            <a:off x="685800" y="2560320"/>
            <a:ext cx="3383280" cy="914400"/>
          </a:xfrm>
          <a:prstGeom prst="rect">
            <a:avLst/>
          </a:prstGeom>
          <a:noFill/>
        </p:spPr>
        <p:txBody>
          <a:bodyPr wrap="square" anchor="t">
            <a:spAutoFit/>
          </a:bodyPr>
          <a:lstStyle/>
          <a:p>
            <a:pPr algn="ctr">
              <a:spcAft>
                <a:spcPts val="0"/>
              </a:spcAft>
            </a:pPr>
            <a:r>
              <a:rPr sz="4000" b="1" i="0">
                <a:solidFill>
                  <a:srgbClr val="EEF3FA"/>
                </a:solidFill>
                <a:latin typeface="Calibri"/>
              </a:rPr>
              <a:t>10.7%</a:t>
            </a:r>
          </a:p>
        </p:txBody>
      </p:sp>
      <p:sp>
        <p:nvSpPr>
          <p:cNvPr id="9" name="TextBox 8"/>
          <p:cNvSpPr txBox="1"/>
          <p:nvPr/>
        </p:nvSpPr>
        <p:spPr>
          <a:xfrm>
            <a:off x="685800" y="4709160"/>
            <a:ext cx="3383280" cy="822960"/>
          </a:xfrm>
          <a:prstGeom prst="rect">
            <a:avLst/>
          </a:prstGeom>
          <a:noFill/>
        </p:spPr>
        <p:txBody>
          <a:bodyPr wrap="square" anchor="t">
            <a:spAutoFit/>
          </a:bodyPr>
          <a:lstStyle/>
          <a:p>
            <a:pPr algn="ctr">
              <a:spcAft>
                <a:spcPts val="0"/>
              </a:spcAft>
            </a:pPr>
            <a:r>
              <a:rPr sz="1400" b="1">
                <a:solidFill>
                  <a:srgbClr val="7CC4FF"/>
                </a:solidFill>
                <a:latin typeface="Calibri"/>
              </a:rPr>
              <a:t>10.7% </a:t>
            </a:r>
            <a:r>
              <a:rPr sz="1400" b="0">
                <a:solidFill>
                  <a:srgbClr val="EEF3FA"/>
                </a:solidFill>
                <a:latin typeface="Calibri"/>
              </a:rPr>
              <a:t>of the variation in the score is due to the group</a:t>
            </a:r>
          </a:p>
        </p:txBody>
      </p:sp>
      <p:pic>
        <p:nvPicPr>
          <p:cNvPr id="10" name="Picture 9" descr="77685d6b0a4c6bfb.png"/>
          <p:cNvPicPr>
            <a:picLocks noChangeAspect="1"/>
          </p:cNvPicPr>
          <p:nvPr/>
        </p:nvPicPr>
        <p:blipFill>
          <a:blip r:embed="rId5"/>
          <a:stretch>
            <a:fillRect/>
          </a:stretch>
        </p:blipFill>
        <p:spPr>
          <a:xfrm>
            <a:off x="4343400" y="1371600"/>
            <a:ext cx="2768574" cy="490347"/>
          </a:xfrm>
          <a:prstGeom prst="rect">
            <a:avLst/>
          </a:prstGeom>
        </p:spPr>
      </p:pic>
      <p:sp>
        <p:nvSpPr>
          <p:cNvPr id="11" name="TextBox 10"/>
          <p:cNvSpPr txBox="1"/>
          <p:nvPr/>
        </p:nvSpPr>
        <p:spPr>
          <a:xfrm>
            <a:off x="4343400" y="2331720"/>
            <a:ext cx="7132320" cy="274320"/>
          </a:xfrm>
          <a:prstGeom prst="rect">
            <a:avLst/>
          </a:prstGeom>
          <a:noFill/>
        </p:spPr>
        <p:txBody>
          <a:bodyPr wrap="square" anchor="t">
            <a:spAutoFit/>
          </a:bodyPr>
          <a:lstStyle/>
          <a:p>
            <a:pPr algn="l">
              <a:spcAft>
                <a:spcPts val="0"/>
              </a:spcAft>
            </a:pPr>
            <a:r>
              <a:rPr sz="1100" b="1" i="0">
                <a:solidFill>
                  <a:srgbClr val="9AABC4"/>
                </a:solidFill>
                <a:latin typeface="Calibri"/>
              </a:rPr>
              <a:t>η² ON EACH RUN (one-way ANOVA), AGAINST THE SMALLEST WE COULD DETECT</a:t>
            </a:r>
          </a:p>
        </p:txBody>
      </p:sp>
      <p:sp>
        <p:nvSpPr>
          <p:cNvPr id="12" name="TextBox 11"/>
          <p:cNvSpPr txBox="1"/>
          <p:nvPr/>
        </p:nvSpPr>
        <p:spPr>
          <a:xfrm>
            <a:off x="4343399" y="2679192"/>
            <a:ext cx="1325880" cy="411480"/>
          </a:xfrm>
          <a:prstGeom prst="rect">
            <a:avLst/>
          </a:prstGeom>
          <a:noFill/>
        </p:spPr>
        <p:txBody>
          <a:bodyPr wrap="square" anchor="t">
            <a:spAutoFit/>
          </a:bodyPr>
          <a:lstStyle/>
          <a:p>
            <a:pPr algn="r">
              <a:spcAft>
                <a:spcPts val="0"/>
              </a:spcAft>
            </a:pPr>
            <a:r>
              <a:rPr sz="1400" b="0" i="0">
                <a:solidFill>
                  <a:srgbClr val="9AABC4"/>
                </a:solidFill>
                <a:latin typeface="Calibri"/>
              </a:rPr>
              <a:t>first run</a:t>
            </a:r>
          </a:p>
        </p:txBody>
      </p:sp>
      <p:sp>
        <p:nvSpPr>
          <p:cNvPr id="13" name="Rectangle 12"/>
          <p:cNvSpPr/>
          <p:nvPr/>
        </p:nvSpPr>
        <p:spPr>
          <a:xfrm>
            <a:off x="5806440" y="2743200"/>
            <a:ext cx="4206240" cy="274320"/>
          </a:xfrm>
          <a:prstGeom prst="rect">
            <a:avLst/>
          </a:prstGeom>
          <a:solidFill>
            <a:srgbClr val="2A3D5E">
              <a:alpha val="5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806440" y="2743200"/>
            <a:ext cx="3743553" cy="274320"/>
          </a:xfrm>
          <a:prstGeom prst="rect">
            <a:avLst/>
          </a:prstGeom>
          <a:solidFill>
            <a:srgbClr val="7CC4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149840" y="2679192"/>
            <a:ext cx="2926080" cy="411480"/>
          </a:xfrm>
          <a:prstGeom prst="rect">
            <a:avLst/>
          </a:prstGeom>
          <a:noFill/>
        </p:spPr>
        <p:txBody>
          <a:bodyPr wrap="square" anchor="t">
            <a:spAutoFit/>
          </a:bodyPr>
          <a:lstStyle/>
          <a:p>
            <a:pPr algn="l">
              <a:spcAft>
                <a:spcPts val="0"/>
              </a:spcAft>
            </a:pPr>
            <a:r>
              <a:rPr sz="1400" b="1" i="0">
                <a:solidFill>
                  <a:srgbClr val="7CC4FF"/>
                </a:solidFill>
                <a:latin typeface="Calibri"/>
              </a:rPr>
              <a:t>0.107</a:t>
            </a:r>
          </a:p>
        </p:txBody>
      </p:sp>
      <p:sp>
        <p:nvSpPr>
          <p:cNvPr id="16" name="TextBox 15"/>
          <p:cNvSpPr txBox="1"/>
          <p:nvPr/>
        </p:nvSpPr>
        <p:spPr>
          <a:xfrm>
            <a:off x="4343399" y="3182112"/>
            <a:ext cx="1325880" cy="411480"/>
          </a:xfrm>
          <a:prstGeom prst="rect">
            <a:avLst/>
          </a:prstGeom>
          <a:noFill/>
        </p:spPr>
        <p:txBody>
          <a:bodyPr wrap="square" anchor="t">
            <a:spAutoFit/>
          </a:bodyPr>
          <a:lstStyle/>
          <a:p>
            <a:pPr algn="r">
              <a:spcAft>
                <a:spcPts val="0"/>
              </a:spcAft>
            </a:pPr>
            <a:r>
              <a:rPr sz="1400" b="0" i="0">
                <a:solidFill>
                  <a:srgbClr val="9AABC4"/>
                </a:solidFill>
                <a:latin typeface="Calibri"/>
              </a:rPr>
              <a:t>second run</a:t>
            </a:r>
          </a:p>
        </p:txBody>
      </p:sp>
      <p:sp>
        <p:nvSpPr>
          <p:cNvPr id="17" name="Rectangle 16"/>
          <p:cNvSpPr/>
          <p:nvPr/>
        </p:nvSpPr>
        <p:spPr>
          <a:xfrm>
            <a:off x="5806440" y="3246120"/>
            <a:ext cx="4206240" cy="274320"/>
          </a:xfrm>
          <a:prstGeom prst="rect">
            <a:avLst/>
          </a:prstGeom>
          <a:solidFill>
            <a:srgbClr val="2A3D5E">
              <a:alpha val="5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806440" y="3246120"/>
            <a:ext cx="3112617" cy="274320"/>
          </a:xfrm>
          <a:prstGeom prst="rect">
            <a:avLst/>
          </a:prstGeom>
          <a:solidFill>
            <a:srgbClr val="3E8E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149840" y="3182112"/>
            <a:ext cx="2926080" cy="411480"/>
          </a:xfrm>
          <a:prstGeom prst="rect">
            <a:avLst/>
          </a:prstGeom>
          <a:noFill/>
        </p:spPr>
        <p:txBody>
          <a:bodyPr wrap="square" anchor="t">
            <a:spAutoFit/>
          </a:bodyPr>
          <a:lstStyle/>
          <a:p>
            <a:pPr algn="l">
              <a:spcAft>
                <a:spcPts val="0"/>
              </a:spcAft>
            </a:pPr>
            <a:r>
              <a:rPr sz="1400" b="1" i="0">
                <a:solidFill>
                  <a:srgbClr val="3E8EDE"/>
                </a:solidFill>
                <a:latin typeface="Calibri"/>
              </a:rPr>
              <a:t>0.089</a:t>
            </a:r>
          </a:p>
        </p:txBody>
      </p:sp>
      <p:sp>
        <p:nvSpPr>
          <p:cNvPr id="20" name="TextBox 19"/>
          <p:cNvSpPr txBox="1"/>
          <p:nvPr/>
        </p:nvSpPr>
        <p:spPr>
          <a:xfrm>
            <a:off x="4343399" y="3685031"/>
            <a:ext cx="1325880" cy="411480"/>
          </a:xfrm>
          <a:prstGeom prst="rect">
            <a:avLst/>
          </a:prstGeom>
          <a:noFill/>
        </p:spPr>
        <p:txBody>
          <a:bodyPr wrap="square" anchor="t">
            <a:spAutoFit/>
          </a:bodyPr>
          <a:lstStyle/>
          <a:p>
            <a:pPr algn="r">
              <a:spcAft>
                <a:spcPts val="0"/>
              </a:spcAft>
            </a:pPr>
            <a:r>
              <a:rPr sz="1400" b="0" i="0">
                <a:solidFill>
                  <a:srgbClr val="9AABC4"/>
                </a:solidFill>
                <a:latin typeface="Calibri"/>
              </a:rPr>
              <a:t>detectable</a:t>
            </a:r>
          </a:p>
        </p:txBody>
      </p:sp>
      <p:sp>
        <p:nvSpPr>
          <p:cNvPr id="21" name="Rectangle 20"/>
          <p:cNvSpPr/>
          <p:nvPr/>
        </p:nvSpPr>
        <p:spPr>
          <a:xfrm>
            <a:off x="5806440" y="3749039"/>
            <a:ext cx="4206240" cy="274320"/>
          </a:xfrm>
          <a:prstGeom prst="rect">
            <a:avLst/>
          </a:prstGeom>
          <a:solidFill>
            <a:srgbClr val="2A3D5E">
              <a:alpha val="5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806440" y="3749039"/>
            <a:ext cx="939393" cy="274320"/>
          </a:xfrm>
          <a:prstGeom prst="rect">
            <a:avLst/>
          </a:prstGeom>
          <a:solidFill>
            <a:srgbClr val="9AAB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149840" y="3685031"/>
            <a:ext cx="2926080" cy="411480"/>
          </a:xfrm>
          <a:prstGeom prst="rect">
            <a:avLst/>
          </a:prstGeom>
          <a:noFill/>
        </p:spPr>
        <p:txBody>
          <a:bodyPr wrap="square" anchor="t">
            <a:spAutoFit/>
          </a:bodyPr>
          <a:lstStyle/>
          <a:p>
            <a:pPr algn="l">
              <a:spcAft>
                <a:spcPts val="0"/>
              </a:spcAft>
            </a:pPr>
            <a:r>
              <a:rPr sz="1400" b="1" i="0">
                <a:solidFill>
                  <a:srgbClr val="9AABC4"/>
                </a:solidFill>
                <a:latin typeface="Calibri"/>
              </a:rPr>
              <a:t>0.027</a:t>
            </a:r>
          </a:p>
        </p:txBody>
      </p:sp>
      <p:sp>
        <p:nvSpPr>
          <p:cNvPr id="24" name="Rounded Rectangle 23"/>
          <p:cNvSpPr/>
          <p:nvPr/>
        </p:nvSpPr>
        <p:spPr>
          <a:xfrm>
            <a:off x="4343400" y="4343400"/>
            <a:ext cx="3474720" cy="1188720"/>
          </a:xfrm>
          <a:prstGeom prst="roundRect">
            <a:avLst>
              <a:gd name="adj" fmla="val 6000"/>
            </a:avLst>
          </a:prstGeom>
          <a:solidFill>
            <a:srgbClr val="12223C"/>
          </a:solidFill>
          <a:ln w="25400">
            <a:solidFill>
              <a:srgbClr val="3E8EDE"/>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09728" bIns="109728"/>
          <a:lstStyle/>
          <a:p>
            <a:pPr algn="ctr">
              <a:spcAft>
                <a:spcPts val="0"/>
              </a:spcAft>
            </a:pPr>
            <a:r>
              <a:rPr sz="2400" b="1" i="0">
                <a:solidFill>
                  <a:srgbClr val="3E8EDE"/>
                </a:solidFill>
                <a:latin typeface="Calibri"/>
              </a:rPr>
              <a:t>F = 15.779</a:t>
            </a:r>
          </a:p>
          <a:p>
            <a:pPr algn="ctr">
              <a:spcAft>
                <a:spcPts val="0"/>
              </a:spcAft>
            </a:pPr>
            <a:r>
              <a:rPr sz="1200" b="0" i="0">
                <a:solidFill>
                  <a:srgbClr val="EEF3FA"/>
                </a:solidFill>
                <a:latin typeface="Calibri"/>
              </a:rPr>
              <a:t>between-group spread ÷ within-group spread</a:t>
            </a:r>
          </a:p>
        </p:txBody>
      </p:sp>
      <p:sp>
        <p:nvSpPr>
          <p:cNvPr id="25" name="Rounded Rectangle 24"/>
          <p:cNvSpPr/>
          <p:nvPr/>
        </p:nvSpPr>
        <p:spPr>
          <a:xfrm>
            <a:off x="8028431" y="4343400"/>
            <a:ext cx="3474720" cy="1188720"/>
          </a:xfrm>
          <a:prstGeom prst="roundRect">
            <a:avLst>
              <a:gd name="adj" fmla="val 6000"/>
            </a:avLst>
          </a:prstGeom>
          <a:solidFill>
            <a:srgbClr val="12223C"/>
          </a:solidFill>
          <a:ln w="25400">
            <a:solidFill>
              <a:srgbClr val="5FD09A"/>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09728" bIns="109728"/>
          <a:lstStyle/>
          <a:p>
            <a:pPr algn="ctr">
              <a:spcAft>
                <a:spcPts val="0"/>
              </a:spcAft>
            </a:pPr>
            <a:r>
              <a:rPr sz="2400" b="1" i="0">
                <a:solidFill>
                  <a:srgbClr val="5FD09A"/>
                </a:solidFill>
                <a:latin typeface="Calibri"/>
              </a:rPr>
              <a:t>p = 1.0 × 10⁻⁹</a:t>
            </a:r>
          </a:p>
          <a:p>
            <a:pPr algn="ctr">
              <a:spcAft>
                <a:spcPts val="0"/>
              </a:spcAft>
            </a:pPr>
            <a:r>
              <a:rPr sz="1200" b="0" i="0">
                <a:solidFill>
                  <a:srgbClr val="EEF3FA"/>
                </a:solidFill>
                <a:latin typeface="Calibri"/>
              </a:rPr>
              <a:t>probability of F this large if all 4 groups were equal</a:t>
            </a:r>
          </a:p>
        </p:txBody>
      </p:sp>
      <p:sp>
        <p:nvSpPr>
          <p:cNvPr id="26" name="TextBox 25"/>
          <p:cNvSpPr txBox="1"/>
          <p:nvPr/>
        </p:nvSpPr>
        <p:spPr>
          <a:xfrm>
            <a:off x="685800" y="5623560"/>
            <a:ext cx="5486400" cy="320040"/>
          </a:xfrm>
          <a:prstGeom prst="rect">
            <a:avLst/>
          </a:prstGeom>
          <a:noFill/>
        </p:spPr>
        <p:txBody>
          <a:bodyPr wrap="square" anchor="t">
            <a:spAutoFit/>
          </a:bodyPr>
          <a:lstStyle/>
          <a:p>
            <a:pPr algn="l">
              <a:spcAft>
                <a:spcPts val="0"/>
              </a:spcAft>
            </a:pPr>
            <a:r>
              <a:rPr sz="1200" b="0" i="0">
                <a:solidFill>
                  <a:srgbClr val="9AABC4"/>
                </a:solidFill>
                <a:latin typeface="Calibri"/>
              </a:rPr>
              <a:t>SS = sum of squares. The other 89.3% is article to article.</a:t>
            </a:r>
          </a:p>
        </p:txBody>
      </p:sp>
      <p:sp>
        <p:nvSpPr>
          <p:cNvPr id="27" name="TextBox 26"/>
          <p:cNvSpPr txBox="1"/>
          <p:nvPr/>
        </p:nvSpPr>
        <p:spPr>
          <a:xfrm>
            <a:off x="6019495" y="6053328"/>
            <a:ext cx="5486400" cy="274320"/>
          </a:xfrm>
          <a:prstGeom prst="rect">
            <a:avLst/>
          </a:prstGeom>
          <a:noFill/>
        </p:spPr>
        <p:txBody>
          <a:bodyPr wrap="square" anchor="t">
            <a:spAutoFit/>
          </a:bodyPr>
          <a:lstStyle/>
          <a:p>
            <a:pPr algn="r">
              <a:spcAft>
                <a:spcPts val="0"/>
              </a:spcAft>
            </a:pPr>
            <a:r>
              <a:rPr sz="1200" b="1" i="0">
                <a:solidFill>
                  <a:srgbClr val="F5B83D"/>
                </a:solidFill>
                <a:latin typeface="Calibri"/>
              </a:rPr>
              <a:t>Next: which group drives it?  →</a:t>
            </a:r>
          </a:p>
        </p:txBody>
      </p:sp>
      <p:sp>
        <p:nvSpPr>
          <p:cNvPr id="28" name="TextBox 27"/>
          <p:cNvSpPr txBox="1"/>
          <p:nvPr/>
        </p:nvSpPr>
        <p:spPr>
          <a:xfrm>
            <a:off x="685800" y="6355080"/>
            <a:ext cx="4572000" cy="320040"/>
          </a:xfrm>
          <a:prstGeom prst="rect">
            <a:avLst/>
          </a:prstGeom>
          <a:noFill/>
        </p:spPr>
        <p:txBody>
          <a:bodyPr wrap="square" anchor="t">
            <a:spAutoFit/>
          </a:bodyPr>
          <a:lstStyle/>
          <a:p>
            <a:pPr algn="l">
              <a:spcAft>
                <a:spcPts val="0"/>
              </a:spcAft>
            </a:pPr>
            <a:r>
              <a:rPr sz="1000" b="1" i="0">
                <a:solidFill>
                  <a:srgbClr val="9AABC4"/>
                </a:solidFill>
                <a:latin typeface="Calibri"/>
              </a:rPr>
              <a:t>THE RESULTS</a:t>
            </a:r>
          </a:p>
        </p:txBody>
      </p:sp>
      <p:sp>
        <p:nvSpPr>
          <p:cNvPr id="29" name="Rectangle 28"/>
          <p:cNvSpPr/>
          <p:nvPr/>
        </p:nvSpPr>
        <p:spPr>
          <a:xfrm>
            <a:off x="4692243" y="6473952"/>
            <a:ext cx="502920" cy="36576"/>
          </a:xfrm>
          <a:prstGeom prst="rect">
            <a:avLst/>
          </a:prstGeom>
          <a:solidFill>
            <a:srgbClr val="2A3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5268315" y="6473952"/>
            <a:ext cx="502920" cy="36576"/>
          </a:xfrm>
          <a:prstGeom prst="rect">
            <a:avLst/>
          </a:prstGeom>
          <a:solidFill>
            <a:srgbClr val="2A3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844387" y="6473952"/>
            <a:ext cx="502920" cy="36576"/>
          </a:xfrm>
          <a:prstGeom prst="rect">
            <a:avLst/>
          </a:prstGeom>
          <a:solidFill>
            <a:srgbClr val="7CC4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420459" y="6473952"/>
            <a:ext cx="502920" cy="36576"/>
          </a:xfrm>
          <a:prstGeom prst="rect">
            <a:avLst/>
          </a:prstGeom>
          <a:solidFill>
            <a:srgbClr val="2A3D5E">
              <a:alpha val="8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996531" y="6473952"/>
            <a:ext cx="502920" cy="36576"/>
          </a:xfrm>
          <a:prstGeom prst="rect">
            <a:avLst/>
          </a:prstGeom>
          <a:solidFill>
            <a:srgbClr val="2A3D5E">
              <a:alpha val="8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0591495" y="6355080"/>
            <a:ext cx="914400" cy="320040"/>
          </a:xfrm>
          <a:prstGeom prst="rect">
            <a:avLst/>
          </a:prstGeom>
          <a:noFill/>
        </p:spPr>
        <p:txBody>
          <a:bodyPr wrap="square" anchor="t">
            <a:spAutoFit/>
          </a:bodyPr>
          <a:lstStyle/>
          <a:p>
            <a:pPr algn="r">
              <a:spcAft>
                <a:spcPts val="0"/>
              </a:spcAft>
            </a:pPr>
            <a:r>
              <a:rPr sz="1100" b="1" i="0">
                <a:solidFill>
                  <a:srgbClr val="9AABC4"/>
                </a:solidFill>
                <a:latin typeface="Calibri"/>
              </a:rPr>
              <a:t>07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Oval 1"/>
          <p:cNvSpPr/>
          <p:nvPr/>
        </p:nvSpPr>
        <p:spPr>
          <a:xfrm>
            <a:off x="8214055" y="-3794760"/>
            <a:ext cx="6858000" cy="6858000"/>
          </a:xfrm>
          <a:prstGeom prst="ellipse">
            <a:avLst/>
          </a:prstGeom>
          <a:gradFill rotWithShape="1">
            <a:gsLst>
              <a:gs pos="0">
                <a:srgbClr val="3E8EDE">
                  <a:alpha val="28000"/>
                </a:srgbClr>
              </a:gs>
              <a:gs pos="100000">
                <a:srgbClr val="3E8EDE">
                  <a:alpha val="0"/>
                </a:srgbClr>
              </a:gs>
            </a:gsLst>
            <a:path path="circle">
              <a:fillToRect l="50000" t="50000" r="50000" b="50000"/>
            </a:path>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3474720" y="4663440"/>
            <a:ext cx="5486400" cy="5486400"/>
          </a:xfrm>
          <a:prstGeom prst="ellipse">
            <a:avLst/>
          </a:prstGeom>
          <a:gradFill rotWithShape="1">
            <a:gsLst>
              <a:gs pos="0">
                <a:srgbClr val="FF7A59">
                  <a:alpha val="10000"/>
                </a:srgbClr>
              </a:gs>
              <a:gs pos="100000">
                <a:srgbClr val="FF7A59">
                  <a:alpha val="0"/>
                </a:srgbClr>
              </a:gs>
            </a:gsLst>
            <a:path path="circle">
              <a:fillToRect l="50000" t="50000" r="50000" b="50000"/>
            </a:path>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hart-bar.png"/>
          <p:cNvPicPr>
            <a:picLocks noChangeAspect="1"/>
          </p:cNvPicPr>
          <p:nvPr/>
        </p:nvPicPr>
        <p:blipFill>
          <a:blip r:embed="rId3"/>
          <a:stretch>
            <a:fillRect/>
          </a:stretch>
        </p:blipFill>
        <p:spPr>
          <a:xfrm>
            <a:off x="685800" y="457200"/>
            <a:ext cx="420624" cy="420624"/>
          </a:xfrm>
          <a:prstGeom prst="rect">
            <a:avLst/>
          </a:prstGeom>
        </p:spPr>
      </p:pic>
      <p:sp>
        <p:nvSpPr>
          <p:cNvPr id="5" name="TextBox 4"/>
          <p:cNvSpPr txBox="1"/>
          <p:nvPr/>
        </p:nvSpPr>
        <p:spPr>
          <a:xfrm>
            <a:off x="1289304" y="201168"/>
            <a:ext cx="10216591" cy="320040"/>
          </a:xfrm>
          <a:prstGeom prst="rect">
            <a:avLst/>
          </a:prstGeom>
          <a:noFill/>
        </p:spPr>
        <p:txBody>
          <a:bodyPr wrap="square" anchor="t">
            <a:spAutoFit/>
          </a:bodyPr>
          <a:lstStyle/>
          <a:p>
            <a:pPr algn="l">
              <a:spcAft>
                <a:spcPts val="0"/>
              </a:spcAft>
            </a:pPr>
            <a:r>
              <a:rPr sz="1200" b="1" i="0">
                <a:solidFill>
                  <a:srgbClr val="FF7A59"/>
                </a:solidFill>
                <a:latin typeface="Calibri"/>
              </a:rPr>
              <a:t>THE RESULTS</a:t>
            </a:r>
          </a:p>
        </p:txBody>
      </p:sp>
      <p:sp>
        <p:nvSpPr>
          <p:cNvPr id="6" name="TextBox 5"/>
          <p:cNvSpPr txBox="1"/>
          <p:nvPr/>
        </p:nvSpPr>
        <p:spPr>
          <a:xfrm>
            <a:off x="1289304" y="420624"/>
            <a:ext cx="10216591" cy="822960"/>
          </a:xfrm>
          <a:prstGeom prst="rect">
            <a:avLst/>
          </a:prstGeom>
          <a:noFill/>
        </p:spPr>
        <p:txBody>
          <a:bodyPr wrap="square" anchor="t">
            <a:spAutoFit/>
          </a:bodyPr>
          <a:lstStyle/>
          <a:p>
            <a:pPr algn="l">
              <a:spcAft>
                <a:spcPts val="0"/>
              </a:spcAft>
            </a:pPr>
            <a:r>
              <a:rPr sz="2600" b="1" i="0">
                <a:solidFill>
                  <a:srgbClr val="7CC4FF"/>
                </a:solidFill>
                <a:latin typeface="Calibri"/>
              </a:rPr>
              <a:t>Result 2: fear drives it, d = 0.94; outrage lifts both sides equally</a:t>
            </a:r>
          </a:p>
        </p:txBody>
      </p:sp>
      <p:pic>
        <p:nvPicPr>
          <p:cNvPr id="7" name="Picture 6" descr="75fb8530cacd19fd.png"/>
          <p:cNvPicPr>
            <a:picLocks noChangeAspect="1"/>
          </p:cNvPicPr>
          <p:nvPr/>
        </p:nvPicPr>
        <p:blipFill>
          <a:blip r:embed="rId4"/>
          <a:stretch>
            <a:fillRect/>
          </a:stretch>
        </p:blipFill>
        <p:spPr>
          <a:xfrm>
            <a:off x="685800" y="1325880"/>
            <a:ext cx="1673352" cy="393192"/>
          </a:xfrm>
          <a:prstGeom prst="rect">
            <a:avLst/>
          </a:prstGeom>
        </p:spPr>
      </p:pic>
      <p:sp>
        <p:nvSpPr>
          <p:cNvPr id="8" name="TextBox 7"/>
          <p:cNvSpPr txBox="1"/>
          <p:nvPr/>
        </p:nvSpPr>
        <p:spPr>
          <a:xfrm>
            <a:off x="3566160" y="1417320"/>
            <a:ext cx="7772400" cy="457200"/>
          </a:xfrm>
          <a:prstGeom prst="rect">
            <a:avLst/>
          </a:prstGeom>
          <a:noFill/>
        </p:spPr>
        <p:txBody>
          <a:bodyPr wrap="square" anchor="t">
            <a:spAutoFit/>
          </a:bodyPr>
          <a:lstStyle/>
          <a:p>
            <a:pPr algn="l">
              <a:spcAft>
                <a:spcPts val="0"/>
              </a:spcAft>
            </a:pPr>
            <a:r>
              <a:rPr sz="1200" b="0" i="0">
                <a:solidFill>
                  <a:srgbClr val="9AABC4"/>
                </a:solidFill>
                <a:latin typeface="Calibri"/>
              </a:rPr>
              <a:t>d = distance from neutral in standard deviations (s). Reference marks 0.2, 0.5, 0.8.</a:t>
            </a:r>
          </a:p>
        </p:txBody>
      </p:sp>
      <p:sp>
        <p:nvSpPr>
          <p:cNvPr id="9" name="Rectangle 8"/>
          <p:cNvSpPr/>
          <p:nvPr/>
        </p:nvSpPr>
        <p:spPr>
          <a:xfrm>
            <a:off x="3858768" y="2103120"/>
            <a:ext cx="13716" cy="1554480"/>
          </a:xfrm>
          <a:prstGeom prst="rect">
            <a:avLst/>
          </a:prstGeom>
          <a:solidFill>
            <a:srgbClr val="2A3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310127" y="1901952"/>
            <a:ext cx="1097280" cy="228600"/>
          </a:xfrm>
          <a:prstGeom prst="rect">
            <a:avLst/>
          </a:prstGeom>
          <a:noFill/>
        </p:spPr>
        <p:txBody>
          <a:bodyPr wrap="square" anchor="t">
            <a:spAutoFit/>
          </a:bodyPr>
          <a:lstStyle/>
          <a:p>
            <a:pPr algn="ctr">
              <a:spcAft>
                <a:spcPts val="0"/>
              </a:spcAft>
            </a:pPr>
            <a:r>
              <a:rPr sz="1100" b="0" i="0">
                <a:solidFill>
                  <a:srgbClr val="9AABC4"/>
                </a:solidFill>
                <a:latin typeface="Calibri"/>
              </a:rPr>
              <a:t>0.2</a:t>
            </a:r>
          </a:p>
        </p:txBody>
      </p:sp>
      <p:sp>
        <p:nvSpPr>
          <p:cNvPr id="11" name="Rectangle 10"/>
          <p:cNvSpPr/>
          <p:nvPr/>
        </p:nvSpPr>
        <p:spPr>
          <a:xfrm>
            <a:off x="5669279" y="2103120"/>
            <a:ext cx="13716" cy="1554480"/>
          </a:xfrm>
          <a:prstGeom prst="rect">
            <a:avLst/>
          </a:prstGeom>
          <a:solidFill>
            <a:srgbClr val="2A3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120640" y="1901952"/>
            <a:ext cx="1097280" cy="228600"/>
          </a:xfrm>
          <a:prstGeom prst="rect">
            <a:avLst/>
          </a:prstGeom>
          <a:noFill/>
        </p:spPr>
        <p:txBody>
          <a:bodyPr wrap="square" anchor="t">
            <a:spAutoFit/>
          </a:bodyPr>
          <a:lstStyle/>
          <a:p>
            <a:pPr algn="ctr">
              <a:spcAft>
                <a:spcPts val="0"/>
              </a:spcAft>
            </a:pPr>
            <a:r>
              <a:rPr sz="1100" b="0" i="0">
                <a:solidFill>
                  <a:srgbClr val="9AABC4"/>
                </a:solidFill>
                <a:latin typeface="Calibri"/>
              </a:rPr>
              <a:t>0.5</a:t>
            </a:r>
          </a:p>
        </p:txBody>
      </p:sp>
      <p:sp>
        <p:nvSpPr>
          <p:cNvPr id="13" name="Rectangle 12"/>
          <p:cNvSpPr/>
          <p:nvPr/>
        </p:nvSpPr>
        <p:spPr>
          <a:xfrm>
            <a:off x="7479792" y="2103120"/>
            <a:ext cx="13716" cy="1554480"/>
          </a:xfrm>
          <a:prstGeom prst="rect">
            <a:avLst/>
          </a:prstGeom>
          <a:solidFill>
            <a:srgbClr val="2A3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931152" y="1901952"/>
            <a:ext cx="1097280" cy="228600"/>
          </a:xfrm>
          <a:prstGeom prst="rect">
            <a:avLst/>
          </a:prstGeom>
          <a:noFill/>
        </p:spPr>
        <p:txBody>
          <a:bodyPr wrap="square" anchor="t">
            <a:spAutoFit/>
          </a:bodyPr>
          <a:lstStyle/>
          <a:p>
            <a:pPr algn="ctr">
              <a:spcAft>
                <a:spcPts val="0"/>
              </a:spcAft>
            </a:pPr>
            <a:r>
              <a:rPr sz="1100" b="0" i="0">
                <a:solidFill>
                  <a:srgbClr val="9AABC4"/>
                </a:solidFill>
                <a:latin typeface="Calibri"/>
              </a:rPr>
              <a:t>0.8</a:t>
            </a:r>
          </a:p>
        </p:txBody>
      </p:sp>
      <p:sp>
        <p:nvSpPr>
          <p:cNvPr id="15" name="TextBox 14"/>
          <p:cNvSpPr txBox="1"/>
          <p:nvPr/>
        </p:nvSpPr>
        <p:spPr>
          <a:xfrm>
            <a:off x="685799" y="2176272"/>
            <a:ext cx="1828800" cy="411480"/>
          </a:xfrm>
          <a:prstGeom prst="rect">
            <a:avLst/>
          </a:prstGeom>
          <a:noFill/>
        </p:spPr>
        <p:txBody>
          <a:bodyPr wrap="square" anchor="t">
            <a:spAutoFit/>
          </a:bodyPr>
          <a:lstStyle/>
          <a:p>
            <a:pPr algn="r">
              <a:spcAft>
                <a:spcPts val="0"/>
              </a:spcAft>
            </a:pPr>
            <a:r>
              <a:rPr sz="1500" b="0" i="0">
                <a:solidFill>
                  <a:srgbClr val="9AABC4"/>
                </a:solidFill>
                <a:latin typeface="Calibri"/>
              </a:rPr>
              <a:t>fear-activating</a:t>
            </a:r>
          </a:p>
        </p:txBody>
      </p:sp>
      <p:sp>
        <p:nvSpPr>
          <p:cNvPr id="16" name="Rectangle 15"/>
          <p:cNvSpPr/>
          <p:nvPr/>
        </p:nvSpPr>
        <p:spPr>
          <a:xfrm>
            <a:off x="2651760" y="2240280"/>
            <a:ext cx="6035040" cy="274320"/>
          </a:xfrm>
          <a:prstGeom prst="rect">
            <a:avLst/>
          </a:prstGeom>
          <a:solidFill>
            <a:srgbClr val="2A3D5E">
              <a:alpha val="5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2651760" y="2240280"/>
            <a:ext cx="5666902" cy="274320"/>
          </a:xfrm>
          <a:prstGeom prst="rect">
            <a:avLst/>
          </a:prstGeom>
          <a:solidFill>
            <a:srgbClr val="FF7A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823960" y="2176272"/>
            <a:ext cx="2926080" cy="411480"/>
          </a:xfrm>
          <a:prstGeom prst="rect">
            <a:avLst/>
          </a:prstGeom>
          <a:noFill/>
        </p:spPr>
        <p:txBody>
          <a:bodyPr wrap="square" anchor="t">
            <a:spAutoFit/>
          </a:bodyPr>
          <a:lstStyle/>
          <a:p>
            <a:pPr algn="l">
              <a:spcAft>
                <a:spcPts val="0"/>
              </a:spcAft>
            </a:pPr>
            <a:r>
              <a:rPr sz="1500" b="1" i="0">
                <a:solidFill>
                  <a:srgbClr val="FF7A59"/>
                </a:solidFill>
                <a:latin typeface="Calibri"/>
              </a:rPr>
              <a:t>0.94</a:t>
            </a:r>
          </a:p>
        </p:txBody>
      </p:sp>
      <p:sp>
        <p:nvSpPr>
          <p:cNvPr id="19" name="TextBox 18"/>
          <p:cNvSpPr txBox="1"/>
          <p:nvPr/>
        </p:nvSpPr>
        <p:spPr>
          <a:xfrm>
            <a:off x="685799" y="2679192"/>
            <a:ext cx="1828800" cy="411480"/>
          </a:xfrm>
          <a:prstGeom prst="rect">
            <a:avLst/>
          </a:prstGeom>
          <a:noFill/>
        </p:spPr>
        <p:txBody>
          <a:bodyPr wrap="square" anchor="t">
            <a:spAutoFit/>
          </a:bodyPr>
          <a:lstStyle/>
          <a:p>
            <a:pPr algn="r">
              <a:spcAft>
                <a:spcPts val="0"/>
              </a:spcAft>
            </a:pPr>
            <a:r>
              <a:rPr sz="1500" b="0" i="0">
                <a:solidFill>
                  <a:srgbClr val="9AABC4"/>
                </a:solidFill>
                <a:latin typeface="Calibri"/>
              </a:rPr>
              <a:t>reward hook</a:t>
            </a:r>
          </a:p>
        </p:txBody>
      </p:sp>
      <p:sp>
        <p:nvSpPr>
          <p:cNvPr id="20" name="Rectangle 19"/>
          <p:cNvSpPr/>
          <p:nvPr/>
        </p:nvSpPr>
        <p:spPr>
          <a:xfrm>
            <a:off x="2651760" y="2743200"/>
            <a:ext cx="6035040" cy="274320"/>
          </a:xfrm>
          <a:prstGeom prst="rect">
            <a:avLst/>
          </a:prstGeom>
          <a:solidFill>
            <a:srgbClr val="2A3D5E">
              <a:alpha val="5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2651760" y="2743200"/>
            <a:ext cx="1925177" cy="274320"/>
          </a:xfrm>
          <a:prstGeom prst="rect">
            <a:avLst/>
          </a:prstGeom>
          <a:solidFill>
            <a:srgbClr val="3E8E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823960" y="2679192"/>
            <a:ext cx="2926080" cy="411480"/>
          </a:xfrm>
          <a:prstGeom prst="rect">
            <a:avLst/>
          </a:prstGeom>
          <a:noFill/>
        </p:spPr>
        <p:txBody>
          <a:bodyPr wrap="square" anchor="t">
            <a:spAutoFit/>
          </a:bodyPr>
          <a:lstStyle/>
          <a:p>
            <a:pPr algn="l">
              <a:spcAft>
                <a:spcPts val="0"/>
              </a:spcAft>
            </a:pPr>
            <a:r>
              <a:rPr sz="1500" b="1" i="0">
                <a:solidFill>
                  <a:srgbClr val="3E8EDE"/>
                </a:solidFill>
                <a:latin typeface="Calibri"/>
              </a:rPr>
              <a:t>0.32</a:t>
            </a:r>
          </a:p>
        </p:txBody>
      </p:sp>
      <p:sp>
        <p:nvSpPr>
          <p:cNvPr id="23" name="TextBox 22"/>
          <p:cNvSpPr txBox="1"/>
          <p:nvPr/>
        </p:nvSpPr>
        <p:spPr>
          <a:xfrm>
            <a:off x="685799" y="3182112"/>
            <a:ext cx="1828800" cy="411480"/>
          </a:xfrm>
          <a:prstGeom prst="rect">
            <a:avLst/>
          </a:prstGeom>
          <a:noFill/>
        </p:spPr>
        <p:txBody>
          <a:bodyPr wrap="square" anchor="t">
            <a:spAutoFit/>
          </a:bodyPr>
          <a:lstStyle/>
          <a:p>
            <a:pPr algn="r">
              <a:spcAft>
                <a:spcPts val="0"/>
              </a:spcAft>
            </a:pPr>
            <a:r>
              <a:rPr sz="1500" b="0" i="0">
                <a:solidFill>
                  <a:srgbClr val="9AABC4"/>
                </a:solidFill>
                <a:latin typeface="Calibri"/>
              </a:rPr>
              <a:t>high outrage</a:t>
            </a:r>
          </a:p>
        </p:txBody>
      </p:sp>
      <p:sp>
        <p:nvSpPr>
          <p:cNvPr id="24" name="Rectangle 23"/>
          <p:cNvSpPr/>
          <p:nvPr/>
        </p:nvSpPr>
        <p:spPr>
          <a:xfrm>
            <a:off x="2651760" y="3246120"/>
            <a:ext cx="6035040" cy="274320"/>
          </a:xfrm>
          <a:prstGeom prst="rect">
            <a:avLst/>
          </a:prstGeom>
          <a:solidFill>
            <a:srgbClr val="2A3D5E">
              <a:alpha val="5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2651760" y="3246120"/>
            <a:ext cx="181051" cy="274320"/>
          </a:xfrm>
          <a:prstGeom prst="rect">
            <a:avLst/>
          </a:prstGeom>
          <a:solidFill>
            <a:srgbClr val="F5B8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823960" y="3182112"/>
            <a:ext cx="2926080" cy="411480"/>
          </a:xfrm>
          <a:prstGeom prst="rect">
            <a:avLst/>
          </a:prstGeom>
          <a:noFill/>
        </p:spPr>
        <p:txBody>
          <a:bodyPr wrap="square" anchor="t">
            <a:spAutoFit/>
          </a:bodyPr>
          <a:lstStyle/>
          <a:p>
            <a:pPr algn="l">
              <a:spcAft>
                <a:spcPts val="0"/>
              </a:spcAft>
            </a:pPr>
            <a:r>
              <a:rPr sz="1500" b="1" i="0">
                <a:solidFill>
                  <a:srgbClr val="F5B83D"/>
                </a:solidFill>
                <a:latin typeface="Calibri"/>
              </a:rPr>
              <a:t>0.03</a:t>
            </a:r>
          </a:p>
        </p:txBody>
      </p:sp>
      <p:sp>
        <p:nvSpPr>
          <p:cNvPr id="27" name="Rounded Rectangle 26"/>
          <p:cNvSpPr/>
          <p:nvPr/>
        </p:nvSpPr>
        <p:spPr>
          <a:xfrm>
            <a:off x="685800" y="3840480"/>
            <a:ext cx="5257800" cy="1828800"/>
          </a:xfrm>
          <a:prstGeom prst="roundRect">
            <a:avLst>
              <a:gd name="adj" fmla="val 6000"/>
            </a:avLst>
          </a:prstGeom>
          <a:solidFill>
            <a:srgbClr val="12223C"/>
          </a:solidFill>
          <a:ln w="25400">
            <a:solidFill>
              <a:srgbClr val="FF7A59"/>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09728" bIns="109728"/>
          <a:lstStyle/>
          <a:p>
            <a:pPr algn="l"/>
          </a:p>
        </p:txBody>
      </p:sp>
      <p:sp>
        <p:nvSpPr>
          <p:cNvPr id="28" name="TextBox 27"/>
          <p:cNvSpPr txBox="1"/>
          <p:nvPr/>
        </p:nvSpPr>
        <p:spPr>
          <a:xfrm>
            <a:off x="3429000" y="3977639"/>
            <a:ext cx="2377440" cy="274320"/>
          </a:xfrm>
          <a:prstGeom prst="rect">
            <a:avLst/>
          </a:prstGeom>
          <a:noFill/>
        </p:spPr>
        <p:txBody>
          <a:bodyPr wrap="square" anchor="t">
            <a:spAutoFit/>
          </a:bodyPr>
          <a:lstStyle/>
          <a:p>
            <a:pPr algn="l">
              <a:spcAft>
                <a:spcPts val="0"/>
              </a:spcAft>
            </a:pPr>
            <a:r>
              <a:rPr sz="1200" b="1" i="0">
                <a:solidFill>
                  <a:srgbClr val="FF7A59"/>
                </a:solidFill>
                <a:latin typeface="Calibri"/>
              </a:rPr>
              <a:t>FEAR, d per region</a:t>
            </a:r>
          </a:p>
        </p:txBody>
      </p:sp>
      <p:sp>
        <p:nvSpPr>
          <p:cNvPr id="29" name="Rectangle 28"/>
          <p:cNvSpPr/>
          <p:nvPr/>
        </p:nvSpPr>
        <p:spPr>
          <a:xfrm>
            <a:off x="960120" y="5074920"/>
            <a:ext cx="2194560" cy="18288"/>
          </a:xfrm>
          <a:prstGeom prst="rect">
            <a:avLst/>
          </a:prstGeom>
          <a:solidFill>
            <a:srgbClr val="9AAB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43000" y="4178076"/>
            <a:ext cx="640080" cy="896843"/>
          </a:xfrm>
          <a:prstGeom prst="rect">
            <a:avLst/>
          </a:prstGeom>
          <a:solidFill>
            <a:srgbClr val="FF7A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60120" y="3903756"/>
            <a:ext cx="1005840" cy="274320"/>
          </a:xfrm>
          <a:prstGeom prst="rect">
            <a:avLst/>
          </a:prstGeom>
          <a:noFill/>
        </p:spPr>
        <p:txBody>
          <a:bodyPr wrap="square" anchor="t">
            <a:spAutoFit/>
          </a:bodyPr>
          <a:lstStyle/>
          <a:p>
            <a:pPr algn="ctr">
              <a:spcAft>
                <a:spcPts val="0"/>
              </a:spcAft>
            </a:pPr>
            <a:r>
              <a:rPr sz="1200" b="1" i="0">
                <a:solidFill>
                  <a:srgbClr val="FF7A59"/>
                </a:solidFill>
                <a:latin typeface="Calibri"/>
              </a:rPr>
              <a:t>+0.61</a:t>
            </a:r>
          </a:p>
        </p:txBody>
      </p:sp>
      <p:sp>
        <p:nvSpPr>
          <p:cNvPr id="32" name="TextBox 31"/>
          <p:cNvSpPr txBox="1"/>
          <p:nvPr/>
        </p:nvSpPr>
        <p:spPr>
          <a:xfrm>
            <a:off x="960120" y="5257800"/>
            <a:ext cx="1005840" cy="274320"/>
          </a:xfrm>
          <a:prstGeom prst="rect">
            <a:avLst/>
          </a:prstGeom>
          <a:noFill/>
        </p:spPr>
        <p:txBody>
          <a:bodyPr wrap="square" anchor="t">
            <a:spAutoFit/>
          </a:bodyPr>
          <a:lstStyle/>
          <a:p>
            <a:pPr algn="ctr">
              <a:spcAft>
                <a:spcPts val="0"/>
              </a:spcAft>
            </a:pPr>
            <a:r>
              <a:rPr sz="1100" b="0" i="0">
                <a:solidFill>
                  <a:srgbClr val="9AABC4"/>
                </a:solidFill>
                <a:latin typeface="Calibri"/>
              </a:rPr>
              <a:t>emotional</a:t>
            </a:r>
          </a:p>
        </p:txBody>
      </p:sp>
      <p:sp>
        <p:nvSpPr>
          <p:cNvPr id="33" name="Rectangle 32"/>
          <p:cNvSpPr/>
          <p:nvPr/>
        </p:nvSpPr>
        <p:spPr>
          <a:xfrm>
            <a:off x="2103120" y="5074920"/>
            <a:ext cx="640080" cy="143377"/>
          </a:xfrm>
          <a:prstGeom prst="rect">
            <a:avLst/>
          </a:prstGeom>
          <a:solidFill>
            <a:srgbClr val="7CC4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920239" y="4800600"/>
            <a:ext cx="1005840" cy="274320"/>
          </a:xfrm>
          <a:prstGeom prst="rect">
            <a:avLst/>
          </a:prstGeom>
          <a:noFill/>
        </p:spPr>
        <p:txBody>
          <a:bodyPr wrap="square" anchor="t">
            <a:spAutoFit/>
          </a:bodyPr>
          <a:lstStyle/>
          <a:p>
            <a:pPr algn="ctr">
              <a:spcAft>
                <a:spcPts val="0"/>
              </a:spcAft>
            </a:pPr>
            <a:r>
              <a:rPr sz="1200" b="1" i="0">
                <a:solidFill>
                  <a:srgbClr val="7CC4FF"/>
                </a:solidFill>
                <a:latin typeface="Calibri"/>
              </a:rPr>
              <a:t>-0.10</a:t>
            </a:r>
          </a:p>
        </p:txBody>
      </p:sp>
      <p:sp>
        <p:nvSpPr>
          <p:cNvPr id="35" name="TextBox 34"/>
          <p:cNvSpPr txBox="1"/>
          <p:nvPr/>
        </p:nvSpPr>
        <p:spPr>
          <a:xfrm>
            <a:off x="1920239" y="5257800"/>
            <a:ext cx="1005840" cy="274320"/>
          </a:xfrm>
          <a:prstGeom prst="rect">
            <a:avLst/>
          </a:prstGeom>
          <a:noFill/>
        </p:spPr>
        <p:txBody>
          <a:bodyPr wrap="square" anchor="t">
            <a:spAutoFit/>
          </a:bodyPr>
          <a:lstStyle/>
          <a:p>
            <a:pPr algn="ctr">
              <a:spcAft>
                <a:spcPts val="0"/>
              </a:spcAft>
            </a:pPr>
            <a:r>
              <a:rPr sz="1100" b="0" i="0">
                <a:solidFill>
                  <a:srgbClr val="9AABC4"/>
                </a:solidFill>
                <a:latin typeface="Calibri"/>
              </a:rPr>
              <a:t>deliberate</a:t>
            </a:r>
          </a:p>
        </p:txBody>
      </p:sp>
      <p:sp>
        <p:nvSpPr>
          <p:cNvPr id="36" name="TextBox 35"/>
          <p:cNvSpPr txBox="1"/>
          <p:nvPr/>
        </p:nvSpPr>
        <p:spPr>
          <a:xfrm>
            <a:off x="3429000" y="4343400"/>
            <a:ext cx="2377440" cy="1097280"/>
          </a:xfrm>
          <a:prstGeom prst="rect">
            <a:avLst/>
          </a:prstGeom>
          <a:noFill/>
        </p:spPr>
        <p:txBody>
          <a:bodyPr wrap="square" anchor="ctr">
            <a:spAutoFit/>
          </a:bodyPr>
          <a:lstStyle/>
          <a:p>
            <a:pPr algn="l">
              <a:spcAft>
                <a:spcPts val="0"/>
              </a:spcAft>
            </a:pPr>
            <a:r>
              <a:rPr sz="1700" b="1" i="0">
                <a:solidFill>
                  <a:srgbClr val="FF7A59"/>
                </a:solidFill>
                <a:latin typeface="Calibri"/>
              </a:rPr>
              <a:t>score moves:
d = 0.94</a:t>
            </a:r>
          </a:p>
        </p:txBody>
      </p:sp>
      <p:sp>
        <p:nvSpPr>
          <p:cNvPr id="37" name="Rounded Rectangle 36"/>
          <p:cNvSpPr/>
          <p:nvPr/>
        </p:nvSpPr>
        <p:spPr>
          <a:xfrm>
            <a:off x="6245352" y="3840480"/>
            <a:ext cx="5257800" cy="1828800"/>
          </a:xfrm>
          <a:prstGeom prst="roundRect">
            <a:avLst>
              <a:gd name="adj" fmla="val 6000"/>
            </a:avLst>
          </a:prstGeom>
          <a:solidFill>
            <a:srgbClr val="12223C"/>
          </a:solidFill>
          <a:ln w="25400">
            <a:solidFill>
              <a:srgbClr val="F5B83D"/>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09728" bIns="109728"/>
          <a:lstStyle/>
          <a:p>
            <a:pPr algn="l"/>
          </a:p>
        </p:txBody>
      </p:sp>
      <p:sp>
        <p:nvSpPr>
          <p:cNvPr id="38" name="TextBox 37"/>
          <p:cNvSpPr txBox="1"/>
          <p:nvPr/>
        </p:nvSpPr>
        <p:spPr>
          <a:xfrm>
            <a:off x="8988552" y="3977639"/>
            <a:ext cx="2377440" cy="274320"/>
          </a:xfrm>
          <a:prstGeom prst="rect">
            <a:avLst/>
          </a:prstGeom>
          <a:noFill/>
        </p:spPr>
        <p:txBody>
          <a:bodyPr wrap="square" anchor="t">
            <a:spAutoFit/>
          </a:bodyPr>
          <a:lstStyle/>
          <a:p>
            <a:pPr algn="l">
              <a:spcAft>
                <a:spcPts val="0"/>
              </a:spcAft>
            </a:pPr>
            <a:r>
              <a:rPr sz="1200" b="1" i="0">
                <a:solidFill>
                  <a:srgbClr val="F5B83D"/>
                </a:solidFill>
                <a:latin typeface="Calibri"/>
              </a:rPr>
              <a:t>OUTRAGE, d per region</a:t>
            </a:r>
          </a:p>
        </p:txBody>
      </p:sp>
      <p:sp>
        <p:nvSpPr>
          <p:cNvPr id="39" name="Rectangle 38"/>
          <p:cNvSpPr/>
          <p:nvPr/>
        </p:nvSpPr>
        <p:spPr>
          <a:xfrm>
            <a:off x="6519672" y="5074920"/>
            <a:ext cx="2194560" cy="18288"/>
          </a:xfrm>
          <a:prstGeom prst="rect">
            <a:avLst/>
          </a:prstGeom>
          <a:solidFill>
            <a:srgbClr val="9AAB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6702552" y="4333158"/>
            <a:ext cx="640080" cy="741761"/>
          </a:xfrm>
          <a:prstGeom prst="rect">
            <a:avLst/>
          </a:prstGeom>
          <a:solidFill>
            <a:srgbClr val="FF7A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519672" y="4058838"/>
            <a:ext cx="1005840" cy="274320"/>
          </a:xfrm>
          <a:prstGeom prst="rect">
            <a:avLst/>
          </a:prstGeom>
          <a:noFill/>
        </p:spPr>
        <p:txBody>
          <a:bodyPr wrap="square" anchor="t">
            <a:spAutoFit/>
          </a:bodyPr>
          <a:lstStyle/>
          <a:p>
            <a:pPr algn="ctr">
              <a:spcAft>
                <a:spcPts val="0"/>
              </a:spcAft>
            </a:pPr>
            <a:r>
              <a:rPr sz="1200" b="1" i="0">
                <a:solidFill>
                  <a:srgbClr val="FF7A59"/>
                </a:solidFill>
                <a:latin typeface="Calibri"/>
              </a:rPr>
              <a:t>+0.51</a:t>
            </a:r>
          </a:p>
        </p:txBody>
      </p:sp>
      <p:sp>
        <p:nvSpPr>
          <p:cNvPr id="42" name="TextBox 41"/>
          <p:cNvSpPr txBox="1"/>
          <p:nvPr/>
        </p:nvSpPr>
        <p:spPr>
          <a:xfrm>
            <a:off x="6519672" y="5257800"/>
            <a:ext cx="1005840" cy="274320"/>
          </a:xfrm>
          <a:prstGeom prst="rect">
            <a:avLst/>
          </a:prstGeom>
          <a:noFill/>
        </p:spPr>
        <p:txBody>
          <a:bodyPr wrap="square" anchor="t">
            <a:spAutoFit/>
          </a:bodyPr>
          <a:lstStyle/>
          <a:p>
            <a:pPr algn="ctr">
              <a:spcAft>
                <a:spcPts val="0"/>
              </a:spcAft>
            </a:pPr>
            <a:r>
              <a:rPr sz="1100" b="0" i="0">
                <a:solidFill>
                  <a:srgbClr val="9AABC4"/>
                </a:solidFill>
                <a:latin typeface="Calibri"/>
              </a:rPr>
              <a:t>emotional</a:t>
            </a:r>
          </a:p>
        </p:txBody>
      </p:sp>
      <p:sp>
        <p:nvSpPr>
          <p:cNvPr id="43" name="Rectangle 42"/>
          <p:cNvSpPr/>
          <p:nvPr/>
        </p:nvSpPr>
        <p:spPr>
          <a:xfrm>
            <a:off x="7662672" y="4356567"/>
            <a:ext cx="640080" cy="718352"/>
          </a:xfrm>
          <a:prstGeom prst="rect">
            <a:avLst/>
          </a:prstGeom>
          <a:solidFill>
            <a:srgbClr val="7CC4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7479792" y="4082247"/>
            <a:ext cx="1005840" cy="274320"/>
          </a:xfrm>
          <a:prstGeom prst="rect">
            <a:avLst/>
          </a:prstGeom>
          <a:noFill/>
        </p:spPr>
        <p:txBody>
          <a:bodyPr wrap="square" anchor="t">
            <a:spAutoFit/>
          </a:bodyPr>
          <a:lstStyle/>
          <a:p>
            <a:pPr algn="ctr">
              <a:spcAft>
                <a:spcPts val="0"/>
              </a:spcAft>
            </a:pPr>
            <a:r>
              <a:rPr sz="1200" b="1" i="0">
                <a:solidFill>
                  <a:srgbClr val="7CC4FF"/>
                </a:solidFill>
                <a:latin typeface="Calibri"/>
              </a:rPr>
              <a:t>+0.49</a:t>
            </a:r>
          </a:p>
        </p:txBody>
      </p:sp>
      <p:sp>
        <p:nvSpPr>
          <p:cNvPr id="45" name="TextBox 44"/>
          <p:cNvSpPr txBox="1"/>
          <p:nvPr/>
        </p:nvSpPr>
        <p:spPr>
          <a:xfrm>
            <a:off x="7479792" y="5257800"/>
            <a:ext cx="1005840" cy="274320"/>
          </a:xfrm>
          <a:prstGeom prst="rect">
            <a:avLst/>
          </a:prstGeom>
          <a:noFill/>
        </p:spPr>
        <p:txBody>
          <a:bodyPr wrap="square" anchor="t">
            <a:spAutoFit/>
          </a:bodyPr>
          <a:lstStyle/>
          <a:p>
            <a:pPr algn="ctr">
              <a:spcAft>
                <a:spcPts val="0"/>
              </a:spcAft>
            </a:pPr>
            <a:r>
              <a:rPr sz="1100" b="0" i="0">
                <a:solidFill>
                  <a:srgbClr val="9AABC4"/>
                </a:solidFill>
                <a:latin typeface="Calibri"/>
              </a:rPr>
              <a:t>deliberate</a:t>
            </a:r>
          </a:p>
        </p:txBody>
      </p:sp>
      <p:sp>
        <p:nvSpPr>
          <p:cNvPr id="46" name="TextBox 45"/>
          <p:cNvSpPr txBox="1"/>
          <p:nvPr/>
        </p:nvSpPr>
        <p:spPr>
          <a:xfrm>
            <a:off x="8988552" y="4343400"/>
            <a:ext cx="2377440" cy="1097280"/>
          </a:xfrm>
          <a:prstGeom prst="rect">
            <a:avLst/>
          </a:prstGeom>
          <a:noFill/>
        </p:spPr>
        <p:txBody>
          <a:bodyPr wrap="square" anchor="ctr">
            <a:spAutoFit/>
          </a:bodyPr>
          <a:lstStyle/>
          <a:p>
            <a:pPr algn="l">
              <a:spcAft>
                <a:spcPts val="0"/>
              </a:spcAft>
            </a:pPr>
            <a:r>
              <a:rPr sz="1700" b="1" i="0">
                <a:solidFill>
                  <a:srgbClr val="F5B83D"/>
                </a:solidFill>
                <a:latin typeface="Calibri"/>
              </a:rPr>
              <a:t>score flat:
d = 0.03</a:t>
            </a:r>
          </a:p>
        </p:txBody>
      </p:sp>
      <p:sp>
        <p:nvSpPr>
          <p:cNvPr id="47" name="TextBox 46"/>
          <p:cNvSpPr txBox="1"/>
          <p:nvPr/>
        </p:nvSpPr>
        <p:spPr>
          <a:xfrm>
            <a:off x="6019495" y="6053328"/>
            <a:ext cx="5486400" cy="274320"/>
          </a:xfrm>
          <a:prstGeom prst="rect">
            <a:avLst/>
          </a:prstGeom>
          <a:noFill/>
        </p:spPr>
        <p:txBody>
          <a:bodyPr wrap="square" anchor="t">
            <a:spAutoFit/>
          </a:bodyPr>
          <a:lstStyle/>
          <a:p>
            <a:pPr algn="r">
              <a:spcAft>
                <a:spcPts val="0"/>
              </a:spcAft>
            </a:pPr>
            <a:r>
              <a:rPr sz="1200" b="1" i="0">
                <a:solidFill>
                  <a:srgbClr val="F5B83D"/>
                </a:solidFill>
                <a:latin typeface="Calibri"/>
              </a:rPr>
              <a:t>Next: can we trust the scores?  →</a:t>
            </a:r>
          </a:p>
        </p:txBody>
      </p:sp>
      <p:sp>
        <p:nvSpPr>
          <p:cNvPr id="48" name="TextBox 47"/>
          <p:cNvSpPr txBox="1"/>
          <p:nvPr/>
        </p:nvSpPr>
        <p:spPr>
          <a:xfrm>
            <a:off x="685800" y="6355080"/>
            <a:ext cx="4572000" cy="320040"/>
          </a:xfrm>
          <a:prstGeom prst="rect">
            <a:avLst/>
          </a:prstGeom>
          <a:noFill/>
        </p:spPr>
        <p:txBody>
          <a:bodyPr wrap="square" anchor="t">
            <a:spAutoFit/>
          </a:bodyPr>
          <a:lstStyle/>
          <a:p>
            <a:pPr algn="l">
              <a:spcAft>
                <a:spcPts val="0"/>
              </a:spcAft>
            </a:pPr>
            <a:r>
              <a:rPr sz="1000" b="1" i="0">
                <a:solidFill>
                  <a:srgbClr val="9AABC4"/>
                </a:solidFill>
                <a:latin typeface="Calibri"/>
              </a:rPr>
              <a:t>THE RESULTS</a:t>
            </a:r>
          </a:p>
        </p:txBody>
      </p:sp>
      <p:sp>
        <p:nvSpPr>
          <p:cNvPr id="49" name="Rectangle 48"/>
          <p:cNvSpPr/>
          <p:nvPr/>
        </p:nvSpPr>
        <p:spPr>
          <a:xfrm>
            <a:off x="4692243" y="6473952"/>
            <a:ext cx="502920" cy="36576"/>
          </a:xfrm>
          <a:prstGeom prst="rect">
            <a:avLst/>
          </a:prstGeom>
          <a:solidFill>
            <a:srgbClr val="2A3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5268315" y="6473952"/>
            <a:ext cx="502920" cy="36576"/>
          </a:xfrm>
          <a:prstGeom prst="rect">
            <a:avLst/>
          </a:prstGeom>
          <a:solidFill>
            <a:srgbClr val="2A3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5844387" y="6473952"/>
            <a:ext cx="502920" cy="36576"/>
          </a:xfrm>
          <a:prstGeom prst="rect">
            <a:avLst/>
          </a:prstGeom>
          <a:solidFill>
            <a:srgbClr val="7CC4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6420459" y="6473952"/>
            <a:ext cx="502920" cy="36576"/>
          </a:xfrm>
          <a:prstGeom prst="rect">
            <a:avLst/>
          </a:prstGeom>
          <a:solidFill>
            <a:srgbClr val="2A3D5E">
              <a:alpha val="8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6996531" y="6473952"/>
            <a:ext cx="502920" cy="36576"/>
          </a:xfrm>
          <a:prstGeom prst="rect">
            <a:avLst/>
          </a:prstGeom>
          <a:solidFill>
            <a:srgbClr val="2A3D5E">
              <a:alpha val="8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10591495" y="6355080"/>
            <a:ext cx="914400" cy="320040"/>
          </a:xfrm>
          <a:prstGeom prst="rect">
            <a:avLst/>
          </a:prstGeom>
          <a:noFill/>
        </p:spPr>
        <p:txBody>
          <a:bodyPr wrap="square" anchor="t">
            <a:spAutoFit/>
          </a:bodyPr>
          <a:lstStyle/>
          <a:p>
            <a:pPr algn="r">
              <a:spcAft>
                <a:spcPts val="0"/>
              </a:spcAft>
            </a:pPr>
            <a:r>
              <a:rPr sz="1100" b="1" i="0">
                <a:solidFill>
                  <a:srgbClr val="9AABC4"/>
                </a:solidFill>
                <a:latin typeface="Calibri"/>
              </a:rPr>
              <a:t>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Oval 1"/>
          <p:cNvSpPr/>
          <p:nvPr/>
        </p:nvSpPr>
        <p:spPr>
          <a:xfrm>
            <a:off x="8214055" y="-3794760"/>
            <a:ext cx="6858000" cy="6858000"/>
          </a:xfrm>
          <a:prstGeom prst="ellipse">
            <a:avLst/>
          </a:prstGeom>
          <a:gradFill rotWithShape="1">
            <a:gsLst>
              <a:gs pos="0">
                <a:srgbClr val="3E8EDE">
                  <a:alpha val="28000"/>
                </a:srgbClr>
              </a:gs>
              <a:gs pos="100000">
                <a:srgbClr val="3E8EDE">
                  <a:alpha val="0"/>
                </a:srgbClr>
              </a:gs>
            </a:gsLst>
            <a:path path="circle">
              <a:fillToRect l="50000" t="50000" r="50000" b="50000"/>
            </a:path>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3474720" y="4663440"/>
            <a:ext cx="5486400" cy="5486400"/>
          </a:xfrm>
          <a:prstGeom prst="ellipse">
            <a:avLst/>
          </a:prstGeom>
          <a:gradFill rotWithShape="1">
            <a:gsLst>
              <a:gs pos="0">
                <a:srgbClr val="FF7A59">
                  <a:alpha val="10000"/>
                </a:srgbClr>
              </a:gs>
              <a:gs pos="100000">
                <a:srgbClr val="FF7A59">
                  <a:alpha val="0"/>
                </a:srgbClr>
              </a:gs>
            </a:gsLst>
            <a:path path="circle">
              <a:fillToRect l="50000" t="50000" r="50000" b="50000"/>
            </a:path>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arrows-clockwise.png"/>
          <p:cNvPicPr>
            <a:picLocks noChangeAspect="1"/>
          </p:cNvPicPr>
          <p:nvPr/>
        </p:nvPicPr>
        <p:blipFill>
          <a:blip r:embed="rId3"/>
          <a:stretch>
            <a:fillRect/>
          </a:stretch>
        </p:blipFill>
        <p:spPr>
          <a:xfrm>
            <a:off x="685800" y="457200"/>
            <a:ext cx="420624" cy="420624"/>
          </a:xfrm>
          <a:prstGeom prst="rect">
            <a:avLst/>
          </a:prstGeom>
        </p:spPr>
      </p:pic>
      <p:sp>
        <p:nvSpPr>
          <p:cNvPr id="5" name="TextBox 4"/>
          <p:cNvSpPr txBox="1"/>
          <p:nvPr/>
        </p:nvSpPr>
        <p:spPr>
          <a:xfrm>
            <a:off x="1289304" y="201168"/>
            <a:ext cx="10216591" cy="320040"/>
          </a:xfrm>
          <a:prstGeom prst="rect">
            <a:avLst/>
          </a:prstGeom>
          <a:noFill/>
        </p:spPr>
        <p:txBody>
          <a:bodyPr wrap="square" anchor="t">
            <a:spAutoFit/>
          </a:bodyPr>
          <a:lstStyle/>
          <a:p>
            <a:pPr algn="l">
              <a:spcAft>
                <a:spcPts val="0"/>
              </a:spcAft>
            </a:pPr>
            <a:r>
              <a:rPr sz="1200" b="1" i="0">
                <a:solidFill>
                  <a:srgbClr val="FF7A59"/>
                </a:solidFill>
                <a:latin typeface="Calibri"/>
              </a:rPr>
              <a:t>THE RESULTS</a:t>
            </a:r>
          </a:p>
        </p:txBody>
      </p:sp>
      <p:sp>
        <p:nvSpPr>
          <p:cNvPr id="6" name="TextBox 5"/>
          <p:cNvSpPr txBox="1"/>
          <p:nvPr/>
        </p:nvSpPr>
        <p:spPr>
          <a:xfrm>
            <a:off x="1289304" y="420624"/>
            <a:ext cx="10216591" cy="822960"/>
          </a:xfrm>
          <a:prstGeom prst="rect">
            <a:avLst/>
          </a:prstGeom>
          <a:noFill/>
        </p:spPr>
        <p:txBody>
          <a:bodyPr wrap="square" anchor="t">
            <a:spAutoFit/>
          </a:bodyPr>
          <a:lstStyle/>
          <a:p>
            <a:pPr algn="l">
              <a:spcAft>
                <a:spcPts val="0"/>
              </a:spcAft>
            </a:pPr>
            <a:r>
              <a:rPr sz="2600" b="1" i="0">
                <a:solidFill>
                  <a:srgbClr val="7CC4FF"/>
                </a:solidFill>
                <a:latin typeface="Calibri"/>
              </a:rPr>
              <a:t>Result 3: scores repeat for groups, not single articles</a:t>
            </a:r>
          </a:p>
        </p:txBody>
      </p:sp>
      <p:sp>
        <p:nvSpPr>
          <p:cNvPr id="7" name="Rounded Rectangle 6"/>
          <p:cNvSpPr/>
          <p:nvPr/>
        </p:nvSpPr>
        <p:spPr>
          <a:xfrm>
            <a:off x="685800" y="1371600"/>
            <a:ext cx="5257800" cy="3108960"/>
          </a:xfrm>
          <a:prstGeom prst="roundRect">
            <a:avLst>
              <a:gd name="adj" fmla="val 6000"/>
            </a:avLst>
          </a:prstGeom>
          <a:solidFill>
            <a:srgbClr val="12223C"/>
          </a:solidFill>
          <a:ln w="25400">
            <a:solidFill>
              <a:srgbClr val="7CC4FF"/>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09728" bIns="109728"/>
          <a:lstStyle/>
          <a:p>
            <a:pPr algn="l"/>
          </a:p>
        </p:txBody>
      </p:sp>
      <p:sp>
        <p:nvSpPr>
          <p:cNvPr id="8" name="TextBox 7"/>
          <p:cNvSpPr txBox="1"/>
          <p:nvPr/>
        </p:nvSpPr>
        <p:spPr>
          <a:xfrm>
            <a:off x="685800" y="1508760"/>
            <a:ext cx="5257800" cy="1097280"/>
          </a:xfrm>
          <a:prstGeom prst="rect">
            <a:avLst/>
          </a:prstGeom>
          <a:noFill/>
        </p:spPr>
        <p:txBody>
          <a:bodyPr wrap="square" anchor="t">
            <a:spAutoFit/>
          </a:bodyPr>
          <a:lstStyle/>
          <a:p>
            <a:pPr algn="ctr">
              <a:spcAft>
                <a:spcPts val="0"/>
              </a:spcAft>
            </a:pPr>
            <a:r>
              <a:rPr sz="5400" b="1" i="0">
                <a:solidFill>
                  <a:srgbClr val="7CC4FF"/>
                </a:solidFill>
                <a:latin typeface="Calibri"/>
              </a:rPr>
              <a:t>0.8725</a:t>
            </a:r>
          </a:p>
          <a:p>
            <a:pPr algn="ctr">
              <a:spcAft>
                <a:spcPts val="0"/>
              </a:spcAft>
            </a:pPr>
            <a:r>
              <a:rPr sz="1400" b="0" i="0">
                <a:solidFill>
                  <a:srgbClr val="EEF3FA"/>
                </a:solidFill>
                <a:latin typeface="Calibri"/>
              </a:rPr>
              <a:t>ICC: agreement between two runs</a:t>
            </a:r>
          </a:p>
        </p:txBody>
      </p:sp>
      <p:sp>
        <p:nvSpPr>
          <p:cNvPr id="9" name="Rectangle 8"/>
          <p:cNvSpPr/>
          <p:nvPr/>
        </p:nvSpPr>
        <p:spPr>
          <a:xfrm>
            <a:off x="1051560" y="3200400"/>
            <a:ext cx="4526280" cy="274320"/>
          </a:xfrm>
          <a:prstGeom prst="rect">
            <a:avLst/>
          </a:prstGeom>
          <a:solidFill>
            <a:srgbClr val="2A3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051560" y="3200400"/>
            <a:ext cx="3949179" cy="274320"/>
          </a:xfrm>
          <a:prstGeom prst="rect">
            <a:avLst/>
          </a:prstGeom>
          <a:solidFill>
            <a:srgbClr val="7CC4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8680" y="3566160"/>
            <a:ext cx="1280160" cy="274320"/>
          </a:xfrm>
          <a:prstGeom prst="rect">
            <a:avLst/>
          </a:prstGeom>
          <a:noFill/>
        </p:spPr>
        <p:txBody>
          <a:bodyPr wrap="square" anchor="t">
            <a:spAutoFit/>
          </a:bodyPr>
          <a:lstStyle/>
          <a:p>
            <a:pPr algn="ctr">
              <a:spcAft>
                <a:spcPts val="0"/>
              </a:spcAft>
            </a:pPr>
            <a:r>
              <a:rPr sz="1200" b="0" i="0">
                <a:solidFill>
                  <a:srgbClr val="9AABC4"/>
                </a:solidFill>
                <a:latin typeface="Calibri"/>
              </a:rPr>
              <a:t>0 = none</a:t>
            </a:r>
          </a:p>
        </p:txBody>
      </p:sp>
      <p:sp>
        <p:nvSpPr>
          <p:cNvPr id="12" name="TextBox 11"/>
          <p:cNvSpPr txBox="1"/>
          <p:nvPr/>
        </p:nvSpPr>
        <p:spPr>
          <a:xfrm>
            <a:off x="4480559" y="3566160"/>
            <a:ext cx="1280160" cy="274320"/>
          </a:xfrm>
          <a:prstGeom prst="rect">
            <a:avLst/>
          </a:prstGeom>
          <a:noFill/>
        </p:spPr>
        <p:txBody>
          <a:bodyPr wrap="square" anchor="t">
            <a:spAutoFit/>
          </a:bodyPr>
          <a:lstStyle/>
          <a:p>
            <a:pPr algn="ctr">
              <a:spcAft>
                <a:spcPts val="0"/>
              </a:spcAft>
            </a:pPr>
            <a:r>
              <a:rPr sz="1200" b="0" i="0">
                <a:solidFill>
                  <a:srgbClr val="9AABC4"/>
                </a:solidFill>
                <a:latin typeface="Calibri"/>
              </a:rPr>
              <a:t>1 = identical</a:t>
            </a:r>
          </a:p>
        </p:txBody>
      </p:sp>
      <p:sp>
        <p:nvSpPr>
          <p:cNvPr id="13" name="Rounded Rectangle 12"/>
          <p:cNvSpPr/>
          <p:nvPr/>
        </p:nvSpPr>
        <p:spPr>
          <a:xfrm>
            <a:off x="6245352" y="1371600"/>
            <a:ext cx="5257800" cy="3108960"/>
          </a:xfrm>
          <a:prstGeom prst="roundRect">
            <a:avLst>
              <a:gd name="adj" fmla="val 6000"/>
            </a:avLst>
          </a:prstGeom>
          <a:solidFill>
            <a:srgbClr val="12223C"/>
          </a:solidFill>
          <a:ln w="25400">
            <a:solidFill>
              <a:srgbClr val="FF7A59"/>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09728" bIns="109728"/>
          <a:lstStyle/>
          <a:p>
            <a:pPr algn="l"/>
          </a:p>
        </p:txBody>
      </p:sp>
      <p:sp>
        <p:nvSpPr>
          <p:cNvPr id="14" name="TextBox 13"/>
          <p:cNvSpPr txBox="1"/>
          <p:nvPr/>
        </p:nvSpPr>
        <p:spPr>
          <a:xfrm>
            <a:off x="6245352" y="1508760"/>
            <a:ext cx="5257800" cy="1097280"/>
          </a:xfrm>
          <a:prstGeom prst="rect">
            <a:avLst/>
          </a:prstGeom>
          <a:noFill/>
        </p:spPr>
        <p:txBody>
          <a:bodyPr wrap="square" anchor="t">
            <a:spAutoFit/>
          </a:bodyPr>
          <a:lstStyle/>
          <a:p>
            <a:pPr algn="ctr">
              <a:spcAft>
                <a:spcPts val="0"/>
              </a:spcAft>
            </a:pPr>
            <a:r>
              <a:rPr sz="5400" b="1" i="0">
                <a:solidFill>
                  <a:srgbClr val="FF7A59"/>
                </a:solidFill>
                <a:latin typeface="Calibri"/>
              </a:rPr>
              <a:t>51 of 400</a:t>
            </a:r>
          </a:p>
          <a:p>
            <a:pPr algn="ctr">
              <a:spcAft>
                <a:spcPts val="0"/>
              </a:spcAft>
            </a:pPr>
            <a:r>
              <a:rPr sz="1400" b="0" i="0">
                <a:solidFill>
                  <a:srgbClr val="EEF3FA"/>
                </a:solidFill>
                <a:latin typeface="Calibri"/>
              </a:rPr>
              <a:t>changed sign between runs (12.8%)</a:t>
            </a:r>
          </a:p>
        </p:txBody>
      </p:sp>
      <p:sp>
        <p:nvSpPr>
          <p:cNvPr id="15" name="Rectangle 14"/>
          <p:cNvSpPr/>
          <p:nvPr/>
        </p:nvSpPr>
        <p:spPr>
          <a:xfrm>
            <a:off x="6583680" y="3337560"/>
            <a:ext cx="4572000" cy="18288"/>
          </a:xfrm>
          <a:prstGeom prst="rect">
            <a:avLst/>
          </a:prstGeom>
          <a:solidFill>
            <a:srgbClr val="9AAB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193280" y="3200400"/>
            <a:ext cx="3505199" cy="292608"/>
          </a:xfrm>
          <a:prstGeom prst="rect">
            <a:avLst/>
          </a:prstGeom>
          <a:solidFill>
            <a:srgbClr val="3E8EDE">
              <a:alpha val="4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897112" y="3108960"/>
            <a:ext cx="36576" cy="475488"/>
          </a:xfrm>
          <a:prstGeom prst="rect">
            <a:avLst/>
          </a:prstGeom>
          <a:solidFill>
            <a:srgbClr val="7CC4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8150352" y="3236976"/>
            <a:ext cx="219456" cy="219456"/>
          </a:xfrm>
          <a:prstGeom prst="ellipse">
            <a:avLst/>
          </a:prstGeom>
          <a:solidFill>
            <a:srgbClr val="FF7A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245352" y="3749039"/>
            <a:ext cx="5257800" cy="548640"/>
          </a:xfrm>
          <a:prstGeom prst="rect">
            <a:avLst/>
          </a:prstGeom>
          <a:noFill/>
        </p:spPr>
        <p:txBody>
          <a:bodyPr wrap="square" anchor="t">
            <a:spAutoFit/>
          </a:bodyPr>
          <a:lstStyle/>
          <a:p>
            <a:pPr algn="ctr">
              <a:spcAft>
                <a:spcPts val="0"/>
              </a:spcAft>
            </a:pPr>
            <a:r>
              <a:rPr sz="1200" b="1">
                <a:solidFill>
                  <a:srgbClr val="FF7A59"/>
                </a:solidFill>
                <a:latin typeface="Calibri"/>
              </a:rPr>
              <a:t>● observed 51   </a:t>
            </a:r>
            <a:r>
              <a:rPr sz="1200" b="1">
                <a:solidFill>
                  <a:srgbClr val="7CC4FF"/>
                </a:solidFill>
                <a:latin typeface="Calibri"/>
              </a:rPr>
              <a:t>▌noise predicts 55 (95%: 44 to 67)</a:t>
            </a:r>
          </a:p>
        </p:txBody>
      </p:sp>
      <p:sp>
        <p:nvSpPr>
          <p:cNvPr id="20" name="Rounded Rectangle 19"/>
          <p:cNvSpPr/>
          <p:nvPr/>
        </p:nvSpPr>
        <p:spPr>
          <a:xfrm>
            <a:off x="685800" y="4754880"/>
            <a:ext cx="10820095" cy="566928"/>
          </a:xfrm>
          <a:prstGeom prst="roundRect">
            <a:avLst>
              <a:gd name="adj" fmla="val 6000"/>
            </a:avLst>
          </a:prstGeom>
          <a:solidFill>
            <a:srgbClr val="12223C"/>
          </a:solidFill>
          <a:ln w="25400">
            <a:solidFill>
              <a:srgbClr val="F5B83D"/>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09728" bIns="109728"/>
          <a:lstStyle/>
          <a:p>
            <a:pPr algn="l">
              <a:spcAft>
                <a:spcPts val="0"/>
              </a:spcAft>
            </a:pPr>
            <a:r>
              <a:rPr sz="1500" b="1">
                <a:solidFill>
                  <a:srgbClr val="F5B83D"/>
                </a:solidFill>
                <a:latin typeface="Calibri"/>
              </a:rPr>
              <a:t>Meaning:  </a:t>
            </a:r>
            <a:r>
              <a:rPr sz="1500" b="0">
                <a:solidFill>
                  <a:srgbClr val="EEF3FA"/>
                </a:solidFill>
                <a:latin typeface="Calibri"/>
              </a:rPr>
              <a:t>flipped articles average |X| = 0.003 against 0.022 for the rest, so we report group averages only.</a:t>
            </a:r>
          </a:p>
        </p:txBody>
      </p:sp>
      <p:sp>
        <p:nvSpPr>
          <p:cNvPr id="21" name="TextBox 20"/>
          <p:cNvSpPr txBox="1"/>
          <p:nvPr/>
        </p:nvSpPr>
        <p:spPr>
          <a:xfrm>
            <a:off x="6019495" y="6053328"/>
            <a:ext cx="5486400" cy="274320"/>
          </a:xfrm>
          <a:prstGeom prst="rect">
            <a:avLst/>
          </a:prstGeom>
          <a:noFill/>
        </p:spPr>
        <p:txBody>
          <a:bodyPr wrap="square" anchor="t">
            <a:spAutoFit/>
          </a:bodyPr>
          <a:lstStyle/>
          <a:p>
            <a:pPr algn="r">
              <a:spcAft>
                <a:spcPts val="0"/>
              </a:spcAft>
            </a:pPr>
            <a:r>
              <a:rPr sz="1200" b="1" i="0">
                <a:solidFill>
                  <a:srgbClr val="F5B83D"/>
                </a:solidFill>
                <a:latin typeface="Calibri"/>
              </a:rPr>
              <a:t>Next: does the score detect manipulation?  →</a:t>
            </a:r>
          </a:p>
        </p:txBody>
      </p:sp>
      <p:sp>
        <p:nvSpPr>
          <p:cNvPr id="22" name="TextBox 21"/>
          <p:cNvSpPr txBox="1"/>
          <p:nvPr/>
        </p:nvSpPr>
        <p:spPr>
          <a:xfrm>
            <a:off x="685800" y="6355080"/>
            <a:ext cx="4572000" cy="320040"/>
          </a:xfrm>
          <a:prstGeom prst="rect">
            <a:avLst/>
          </a:prstGeom>
          <a:noFill/>
        </p:spPr>
        <p:txBody>
          <a:bodyPr wrap="square" anchor="t">
            <a:spAutoFit/>
          </a:bodyPr>
          <a:lstStyle/>
          <a:p>
            <a:pPr algn="l">
              <a:spcAft>
                <a:spcPts val="0"/>
              </a:spcAft>
            </a:pPr>
            <a:r>
              <a:rPr sz="1000" b="1" i="0">
                <a:solidFill>
                  <a:srgbClr val="9AABC4"/>
                </a:solidFill>
                <a:latin typeface="Calibri"/>
              </a:rPr>
              <a:t>THE RESULTS</a:t>
            </a:r>
          </a:p>
        </p:txBody>
      </p:sp>
      <p:sp>
        <p:nvSpPr>
          <p:cNvPr id="23" name="Rectangle 22"/>
          <p:cNvSpPr/>
          <p:nvPr/>
        </p:nvSpPr>
        <p:spPr>
          <a:xfrm>
            <a:off x="4692243" y="6473952"/>
            <a:ext cx="502920" cy="36576"/>
          </a:xfrm>
          <a:prstGeom prst="rect">
            <a:avLst/>
          </a:prstGeom>
          <a:solidFill>
            <a:srgbClr val="2A3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268315" y="6473952"/>
            <a:ext cx="502920" cy="36576"/>
          </a:xfrm>
          <a:prstGeom prst="rect">
            <a:avLst/>
          </a:prstGeom>
          <a:solidFill>
            <a:srgbClr val="2A3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844387" y="6473952"/>
            <a:ext cx="502920" cy="36576"/>
          </a:xfrm>
          <a:prstGeom prst="rect">
            <a:avLst/>
          </a:prstGeom>
          <a:solidFill>
            <a:srgbClr val="7CC4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420459" y="6473952"/>
            <a:ext cx="502920" cy="36576"/>
          </a:xfrm>
          <a:prstGeom prst="rect">
            <a:avLst/>
          </a:prstGeom>
          <a:solidFill>
            <a:srgbClr val="2A3D5E">
              <a:alpha val="8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996531" y="6473952"/>
            <a:ext cx="502920" cy="36576"/>
          </a:xfrm>
          <a:prstGeom prst="rect">
            <a:avLst/>
          </a:prstGeom>
          <a:solidFill>
            <a:srgbClr val="2A3D5E">
              <a:alpha val="8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591495" y="6355080"/>
            <a:ext cx="914400" cy="320040"/>
          </a:xfrm>
          <a:prstGeom prst="rect">
            <a:avLst/>
          </a:prstGeom>
          <a:noFill/>
        </p:spPr>
        <p:txBody>
          <a:bodyPr wrap="square" anchor="t">
            <a:spAutoFit/>
          </a:bodyPr>
          <a:lstStyle/>
          <a:p>
            <a:pPr algn="r">
              <a:spcAft>
                <a:spcPts val="0"/>
              </a:spcAft>
            </a:pPr>
            <a:r>
              <a:rPr sz="1100" b="1" i="0">
                <a:solidFill>
                  <a:srgbClr val="9AABC4"/>
                </a:solidFill>
                <a:latin typeface="Calibri"/>
              </a:rPr>
              <a:t>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Oval 1"/>
          <p:cNvSpPr/>
          <p:nvPr/>
        </p:nvSpPr>
        <p:spPr>
          <a:xfrm>
            <a:off x="8214055" y="-3794760"/>
            <a:ext cx="6858000" cy="6858000"/>
          </a:xfrm>
          <a:prstGeom prst="ellipse">
            <a:avLst/>
          </a:prstGeom>
          <a:gradFill rotWithShape="1">
            <a:gsLst>
              <a:gs pos="0">
                <a:srgbClr val="3E8EDE">
                  <a:alpha val="28000"/>
                </a:srgbClr>
              </a:gs>
              <a:gs pos="100000">
                <a:srgbClr val="3E8EDE">
                  <a:alpha val="0"/>
                </a:srgbClr>
              </a:gs>
            </a:gsLst>
            <a:path path="circle">
              <a:fillToRect l="50000" t="50000" r="50000" b="50000"/>
            </a:path>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3474720" y="4663440"/>
            <a:ext cx="5486400" cy="5486400"/>
          </a:xfrm>
          <a:prstGeom prst="ellipse">
            <a:avLst/>
          </a:prstGeom>
          <a:gradFill rotWithShape="1">
            <a:gsLst>
              <a:gs pos="0">
                <a:srgbClr val="FF7A59">
                  <a:alpha val="10000"/>
                </a:srgbClr>
              </a:gs>
              <a:gs pos="100000">
                <a:srgbClr val="FF7A59">
                  <a:alpha val="0"/>
                </a:srgbClr>
              </a:gs>
            </a:gsLst>
            <a:path path="circle">
              <a:fillToRect l="50000" t="50000" r="50000" b="50000"/>
            </a:path>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warning.png"/>
          <p:cNvPicPr>
            <a:picLocks noChangeAspect="1"/>
          </p:cNvPicPr>
          <p:nvPr/>
        </p:nvPicPr>
        <p:blipFill>
          <a:blip r:embed="rId3"/>
          <a:stretch>
            <a:fillRect/>
          </a:stretch>
        </p:blipFill>
        <p:spPr>
          <a:xfrm>
            <a:off x="685800" y="457200"/>
            <a:ext cx="420624" cy="420624"/>
          </a:xfrm>
          <a:prstGeom prst="rect">
            <a:avLst/>
          </a:prstGeom>
        </p:spPr>
      </p:pic>
      <p:sp>
        <p:nvSpPr>
          <p:cNvPr id="5" name="TextBox 4"/>
          <p:cNvSpPr txBox="1"/>
          <p:nvPr/>
        </p:nvSpPr>
        <p:spPr>
          <a:xfrm>
            <a:off x="1289304" y="201168"/>
            <a:ext cx="10216591" cy="320040"/>
          </a:xfrm>
          <a:prstGeom prst="rect">
            <a:avLst/>
          </a:prstGeom>
          <a:noFill/>
        </p:spPr>
        <p:txBody>
          <a:bodyPr wrap="square" anchor="t">
            <a:spAutoFit/>
          </a:bodyPr>
          <a:lstStyle/>
          <a:p>
            <a:pPr algn="l">
              <a:spcAft>
                <a:spcPts val="0"/>
              </a:spcAft>
            </a:pPr>
            <a:r>
              <a:rPr sz="1200" b="1" i="0">
                <a:solidFill>
                  <a:srgbClr val="FF7A59"/>
                </a:solidFill>
                <a:latin typeface="Calibri"/>
              </a:rPr>
              <a:t>THE RESULTS</a:t>
            </a:r>
          </a:p>
        </p:txBody>
      </p:sp>
      <p:sp>
        <p:nvSpPr>
          <p:cNvPr id="6" name="TextBox 5"/>
          <p:cNvSpPr txBox="1"/>
          <p:nvPr/>
        </p:nvSpPr>
        <p:spPr>
          <a:xfrm>
            <a:off x="1289304" y="420624"/>
            <a:ext cx="10216591" cy="822960"/>
          </a:xfrm>
          <a:prstGeom prst="rect">
            <a:avLst/>
          </a:prstGeom>
          <a:noFill/>
        </p:spPr>
        <p:txBody>
          <a:bodyPr wrap="square" anchor="t">
            <a:spAutoFit/>
          </a:bodyPr>
          <a:lstStyle/>
          <a:p>
            <a:pPr algn="l">
              <a:spcAft>
                <a:spcPts val="0"/>
              </a:spcAft>
            </a:pPr>
            <a:r>
              <a:rPr sz="2600" b="1" i="0">
                <a:solidFill>
                  <a:srgbClr val="7CC4FF"/>
                </a:solidFill>
                <a:latin typeface="Calibri"/>
              </a:rPr>
              <a:t>Honest check: word counting beats our score, 0.98 vs 0.63</a:t>
            </a:r>
          </a:p>
        </p:txBody>
      </p:sp>
      <p:sp>
        <p:nvSpPr>
          <p:cNvPr id="7" name="TextBox 6"/>
          <p:cNvSpPr txBox="1"/>
          <p:nvPr/>
        </p:nvSpPr>
        <p:spPr>
          <a:xfrm>
            <a:off x="685800" y="1325880"/>
            <a:ext cx="10820095" cy="320040"/>
          </a:xfrm>
          <a:prstGeom prst="rect">
            <a:avLst/>
          </a:prstGeom>
          <a:noFill/>
        </p:spPr>
        <p:txBody>
          <a:bodyPr wrap="square" anchor="t">
            <a:spAutoFit/>
          </a:bodyPr>
          <a:lstStyle/>
          <a:p>
            <a:pPr algn="l">
              <a:spcAft>
                <a:spcPts val="0"/>
              </a:spcAft>
            </a:pPr>
            <a:r>
              <a:rPr sz="1300" b="0" i="0">
                <a:solidFill>
                  <a:srgbClr val="9AABC4"/>
                </a:solidFill>
                <a:latin typeface="Calibri"/>
              </a:rPr>
              <a:t>AUC = chance a random manipulative article scores above a random neutral one</a:t>
            </a:r>
          </a:p>
        </p:txBody>
      </p:sp>
      <p:sp>
        <p:nvSpPr>
          <p:cNvPr id="8" name="Rectangle 7"/>
          <p:cNvSpPr/>
          <p:nvPr/>
        </p:nvSpPr>
        <p:spPr>
          <a:xfrm>
            <a:off x="1188720" y="2514600"/>
            <a:ext cx="9784080" cy="54864"/>
          </a:xfrm>
          <a:prstGeom prst="rect">
            <a:avLst/>
          </a:prstGeom>
          <a:solidFill>
            <a:srgbClr val="2A3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65760" y="2697480"/>
            <a:ext cx="1645920" cy="274320"/>
          </a:xfrm>
          <a:prstGeom prst="rect">
            <a:avLst/>
          </a:prstGeom>
          <a:noFill/>
        </p:spPr>
        <p:txBody>
          <a:bodyPr wrap="square" anchor="t">
            <a:spAutoFit/>
          </a:bodyPr>
          <a:lstStyle/>
          <a:p>
            <a:pPr algn="ctr">
              <a:spcAft>
                <a:spcPts val="0"/>
              </a:spcAft>
            </a:pPr>
            <a:r>
              <a:rPr sz="1200" b="0" i="0">
                <a:solidFill>
                  <a:srgbClr val="9AABC4"/>
                </a:solidFill>
                <a:latin typeface="Calibri"/>
              </a:rPr>
              <a:t>0.5 = coin toss</a:t>
            </a:r>
          </a:p>
        </p:txBody>
      </p:sp>
      <p:sp>
        <p:nvSpPr>
          <p:cNvPr id="10" name="TextBox 9"/>
          <p:cNvSpPr txBox="1"/>
          <p:nvPr/>
        </p:nvSpPr>
        <p:spPr>
          <a:xfrm>
            <a:off x="10149840" y="2697480"/>
            <a:ext cx="1645920" cy="274320"/>
          </a:xfrm>
          <a:prstGeom prst="rect">
            <a:avLst/>
          </a:prstGeom>
          <a:noFill/>
        </p:spPr>
        <p:txBody>
          <a:bodyPr wrap="square" anchor="t">
            <a:spAutoFit/>
          </a:bodyPr>
          <a:lstStyle/>
          <a:p>
            <a:pPr algn="ctr">
              <a:spcAft>
                <a:spcPts val="0"/>
              </a:spcAft>
            </a:pPr>
            <a:r>
              <a:rPr sz="1200" b="0" i="0">
                <a:solidFill>
                  <a:srgbClr val="9AABC4"/>
                </a:solidFill>
                <a:latin typeface="Calibri"/>
              </a:rPr>
              <a:t>1.0 = perfect</a:t>
            </a:r>
          </a:p>
        </p:txBody>
      </p:sp>
      <p:sp>
        <p:nvSpPr>
          <p:cNvPr id="11" name="Oval 10"/>
          <p:cNvSpPr/>
          <p:nvPr/>
        </p:nvSpPr>
        <p:spPr>
          <a:xfrm>
            <a:off x="1809487" y="2395728"/>
            <a:ext cx="292608" cy="292608"/>
          </a:xfrm>
          <a:prstGeom prst="ellipse">
            <a:avLst/>
          </a:prstGeom>
          <a:solidFill>
            <a:srgbClr val="9AAB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67071" y="2971800"/>
            <a:ext cx="2377440" cy="365760"/>
          </a:xfrm>
          <a:prstGeom prst="rect">
            <a:avLst/>
          </a:prstGeom>
          <a:noFill/>
        </p:spPr>
        <p:txBody>
          <a:bodyPr wrap="square" anchor="t">
            <a:spAutoFit/>
          </a:bodyPr>
          <a:lstStyle/>
          <a:p>
            <a:pPr algn="ctr">
              <a:spcAft>
                <a:spcPts val="0"/>
              </a:spcAft>
            </a:pPr>
            <a:r>
              <a:rPr sz="1600" b="1" i="0">
                <a:solidFill>
                  <a:srgbClr val="9AABC4"/>
                </a:solidFill>
                <a:latin typeface="Calibri"/>
              </a:rPr>
              <a:t>sentiment 0.54</a:t>
            </a:r>
          </a:p>
        </p:txBody>
      </p:sp>
      <p:sp>
        <p:nvSpPr>
          <p:cNvPr id="13" name="Oval 12"/>
          <p:cNvSpPr/>
          <p:nvPr/>
        </p:nvSpPr>
        <p:spPr>
          <a:xfrm>
            <a:off x="3535399" y="2395728"/>
            <a:ext cx="292608" cy="292608"/>
          </a:xfrm>
          <a:prstGeom prst="ellipse">
            <a:avLst/>
          </a:prstGeom>
          <a:solidFill>
            <a:srgbClr val="7CC4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492983" y="1947672"/>
            <a:ext cx="2377440" cy="365760"/>
          </a:xfrm>
          <a:prstGeom prst="rect">
            <a:avLst/>
          </a:prstGeom>
          <a:noFill/>
        </p:spPr>
        <p:txBody>
          <a:bodyPr wrap="square" anchor="t">
            <a:spAutoFit/>
          </a:bodyPr>
          <a:lstStyle/>
          <a:p>
            <a:pPr algn="ctr">
              <a:spcAft>
                <a:spcPts val="0"/>
              </a:spcAft>
            </a:pPr>
            <a:r>
              <a:rPr sz="1600" b="1" i="0">
                <a:solidFill>
                  <a:srgbClr val="7CC4FF"/>
                </a:solidFill>
                <a:latin typeface="Calibri"/>
              </a:rPr>
              <a:t>our score 0.63</a:t>
            </a:r>
          </a:p>
        </p:txBody>
      </p:sp>
      <p:sp>
        <p:nvSpPr>
          <p:cNvPr id="15" name="Oval 14"/>
          <p:cNvSpPr/>
          <p:nvPr/>
        </p:nvSpPr>
        <p:spPr>
          <a:xfrm>
            <a:off x="10352946" y="2395728"/>
            <a:ext cx="292608" cy="292608"/>
          </a:xfrm>
          <a:prstGeom prst="ellipse">
            <a:avLst/>
          </a:prstGeom>
          <a:solidFill>
            <a:srgbClr val="FF7A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310530" y="1947672"/>
            <a:ext cx="2377440" cy="365760"/>
          </a:xfrm>
          <a:prstGeom prst="rect">
            <a:avLst/>
          </a:prstGeom>
          <a:noFill/>
        </p:spPr>
        <p:txBody>
          <a:bodyPr wrap="square" anchor="t">
            <a:spAutoFit/>
          </a:bodyPr>
          <a:lstStyle/>
          <a:p>
            <a:pPr algn="ctr">
              <a:spcAft>
                <a:spcPts val="0"/>
              </a:spcAft>
            </a:pPr>
            <a:r>
              <a:rPr sz="1600" b="1" i="0">
                <a:solidFill>
                  <a:srgbClr val="FF7A59"/>
                </a:solidFill>
                <a:latin typeface="Calibri"/>
              </a:rPr>
              <a:t>word counting 0.98</a:t>
            </a:r>
          </a:p>
        </p:txBody>
      </p:sp>
      <p:sp>
        <p:nvSpPr>
          <p:cNvPr id="17" name="TextBox 16"/>
          <p:cNvSpPr txBox="1"/>
          <p:nvPr/>
        </p:nvSpPr>
        <p:spPr>
          <a:xfrm>
            <a:off x="685800" y="3337560"/>
            <a:ext cx="5029200" cy="274320"/>
          </a:xfrm>
          <a:prstGeom prst="rect">
            <a:avLst/>
          </a:prstGeom>
          <a:noFill/>
        </p:spPr>
        <p:txBody>
          <a:bodyPr wrap="square" anchor="t">
            <a:spAutoFit/>
          </a:bodyPr>
          <a:lstStyle/>
          <a:p>
            <a:pPr algn="l">
              <a:spcAft>
                <a:spcPts val="0"/>
              </a:spcAft>
            </a:pPr>
            <a:r>
              <a:rPr sz="1100" b="1" i="0">
                <a:solidFill>
                  <a:srgbClr val="9AABC4"/>
                </a:solidFill>
                <a:latin typeface="Calibri"/>
              </a:rPr>
              <a:t>WHY: EACH GROUP CAME FROM ONE SOURCE</a:t>
            </a:r>
          </a:p>
        </p:txBody>
      </p:sp>
      <p:sp>
        <p:nvSpPr>
          <p:cNvPr id="18" name="Rounded Rectangle 17"/>
          <p:cNvSpPr/>
          <p:nvPr/>
        </p:nvSpPr>
        <p:spPr>
          <a:xfrm>
            <a:off x="685800" y="3657600"/>
            <a:ext cx="1920240" cy="384048"/>
          </a:xfrm>
          <a:prstGeom prst="roundRect">
            <a:avLst>
              <a:gd name="adj" fmla="val 6000"/>
            </a:avLst>
          </a:prstGeom>
          <a:solidFill>
            <a:srgbClr val="12223C"/>
          </a:solidFill>
          <a:ln w="15875">
            <a:solidFill>
              <a:srgbClr val="2A3D5E"/>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09728" bIns="109728"/>
          <a:lstStyle/>
          <a:p>
            <a:pPr algn="ctr">
              <a:spcAft>
                <a:spcPts val="0"/>
              </a:spcAft>
            </a:pPr>
            <a:r>
              <a:rPr sz="1300" b="0" i="0">
                <a:solidFill>
                  <a:srgbClr val="EEF3FA"/>
                </a:solidFill>
                <a:latin typeface="Calibri"/>
              </a:rPr>
              <a:t>fear</a:t>
            </a:r>
          </a:p>
        </p:txBody>
      </p:sp>
      <p:sp>
        <p:nvSpPr>
          <p:cNvPr id="19" name="Right Arrow 18"/>
          <p:cNvSpPr/>
          <p:nvPr/>
        </p:nvSpPr>
        <p:spPr>
          <a:xfrm>
            <a:off x="2697480" y="3785615"/>
            <a:ext cx="457200" cy="128016"/>
          </a:xfrm>
          <a:prstGeom prst="rightArrow">
            <a:avLst/>
          </a:prstGeom>
          <a:solidFill>
            <a:srgbClr val="FF7A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3246120" y="3657600"/>
            <a:ext cx="2286000" cy="384048"/>
          </a:xfrm>
          <a:prstGeom prst="roundRect">
            <a:avLst>
              <a:gd name="adj" fmla="val 6000"/>
            </a:avLst>
          </a:prstGeom>
          <a:solidFill>
            <a:srgbClr val="12223C"/>
          </a:solidFill>
          <a:ln w="15875">
            <a:solidFill>
              <a:srgbClr val="2A3D5E"/>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09728" bIns="109728"/>
          <a:lstStyle/>
          <a:p>
            <a:pPr algn="ctr">
              <a:spcAft>
                <a:spcPts val="0"/>
              </a:spcAft>
            </a:pPr>
            <a:r>
              <a:rPr sz="1300" b="0" i="0">
                <a:solidFill>
                  <a:srgbClr val="EEF3FA"/>
                </a:solidFill>
                <a:latin typeface="Calibri"/>
              </a:rPr>
              <a:t>ISOT fake</a:t>
            </a:r>
          </a:p>
        </p:txBody>
      </p:sp>
      <p:sp>
        <p:nvSpPr>
          <p:cNvPr id="21" name="Rounded Rectangle 20"/>
          <p:cNvSpPr/>
          <p:nvPr/>
        </p:nvSpPr>
        <p:spPr>
          <a:xfrm>
            <a:off x="685800" y="4114800"/>
            <a:ext cx="1920240" cy="384048"/>
          </a:xfrm>
          <a:prstGeom prst="roundRect">
            <a:avLst>
              <a:gd name="adj" fmla="val 6000"/>
            </a:avLst>
          </a:prstGeom>
          <a:solidFill>
            <a:srgbClr val="12223C"/>
          </a:solidFill>
          <a:ln w="15875">
            <a:solidFill>
              <a:srgbClr val="2A3D5E"/>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09728" bIns="109728"/>
          <a:lstStyle/>
          <a:p>
            <a:pPr algn="ctr">
              <a:spcAft>
                <a:spcPts val="0"/>
              </a:spcAft>
            </a:pPr>
            <a:r>
              <a:rPr sz="1300" b="0" i="0">
                <a:solidFill>
                  <a:srgbClr val="EEF3FA"/>
                </a:solidFill>
                <a:latin typeface="Calibri"/>
              </a:rPr>
              <a:t>outrage</a:t>
            </a:r>
          </a:p>
        </p:txBody>
      </p:sp>
      <p:sp>
        <p:nvSpPr>
          <p:cNvPr id="22" name="Right Arrow 21"/>
          <p:cNvSpPr/>
          <p:nvPr/>
        </p:nvSpPr>
        <p:spPr>
          <a:xfrm>
            <a:off x="2697480" y="4242816"/>
            <a:ext cx="457200" cy="128016"/>
          </a:xfrm>
          <a:prstGeom prst="rightArrow">
            <a:avLst/>
          </a:prstGeom>
          <a:solidFill>
            <a:srgbClr val="FF7A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3246120" y="4114800"/>
            <a:ext cx="2286000" cy="384048"/>
          </a:xfrm>
          <a:prstGeom prst="roundRect">
            <a:avLst>
              <a:gd name="adj" fmla="val 6000"/>
            </a:avLst>
          </a:prstGeom>
          <a:solidFill>
            <a:srgbClr val="12223C"/>
          </a:solidFill>
          <a:ln w="15875">
            <a:solidFill>
              <a:srgbClr val="2A3D5E"/>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09728" bIns="109728"/>
          <a:lstStyle/>
          <a:p>
            <a:pPr algn="ctr">
              <a:spcAft>
                <a:spcPts val="0"/>
              </a:spcAft>
            </a:pPr>
            <a:r>
              <a:rPr sz="1300" b="0" i="0">
                <a:solidFill>
                  <a:srgbClr val="EEF3FA"/>
                </a:solidFill>
                <a:latin typeface="Calibri"/>
              </a:rPr>
              <a:t>SemEval</a:t>
            </a:r>
          </a:p>
        </p:txBody>
      </p:sp>
      <p:sp>
        <p:nvSpPr>
          <p:cNvPr id="24" name="Rounded Rectangle 23"/>
          <p:cNvSpPr/>
          <p:nvPr/>
        </p:nvSpPr>
        <p:spPr>
          <a:xfrm>
            <a:off x="685800" y="4572000"/>
            <a:ext cx="1920240" cy="384048"/>
          </a:xfrm>
          <a:prstGeom prst="roundRect">
            <a:avLst>
              <a:gd name="adj" fmla="val 6000"/>
            </a:avLst>
          </a:prstGeom>
          <a:solidFill>
            <a:srgbClr val="12223C"/>
          </a:solidFill>
          <a:ln w="15875">
            <a:solidFill>
              <a:srgbClr val="2A3D5E"/>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09728" bIns="109728"/>
          <a:lstStyle/>
          <a:p>
            <a:pPr algn="ctr">
              <a:spcAft>
                <a:spcPts val="0"/>
              </a:spcAft>
            </a:pPr>
            <a:r>
              <a:rPr sz="1300" b="0" i="0">
                <a:solidFill>
                  <a:srgbClr val="EEF3FA"/>
                </a:solidFill>
                <a:latin typeface="Calibri"/>
              </a:rPr>
              <a:t>reward hook</a:t>
            </a:r>
          </a:p>
        </p:txBody>
      </p:sp>
      <p:sp>
        <p:nvSpPr>
          <p:cNvPr id="25" name="Right Arrow 24"/>
          <p:cNvSpPr/>
          <p:nvPr/>
        </p:nvSpPr>
        <p:spPr>
          <a:xfrm>
            <a:off x="2697480" y="4700016"/>
            <a:ext cx="457200" cy="128016"/>
          </a:xfrm>
          <a:prstGeom prst="rightArrow">
            <a:avLst/>
          </a:prstGeom>
          <a:solidFill>
            <a:srgbClr val="FF7A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3246120" y="4572000"/>
            <a:ext cx="2286000" cy="384048"/>
          </a:xfrm>
          <a:prstGeom prst="roundRect">
            <a:avLst>
              <a:gd name="adj" fmla="val 6000"/>
            </a:avLst>
          </a:prstGeom>
          <a:solidFill>
            <a:srgbClr val="12223C"/>
          </a:solidFill>
          <a:ln w="15875">
            <a:solidFill>
              <a:srgbClr val="2A3D5E"/>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09728" bIns="109728"/>
          <a:lstStyle/>
          <a:p>
            <a:pPr algn="ctr">
              <a:spcAft>
                <a:spcPts val="0"/>
              </a:spcAft>
            </a:pPr>
            <a:r>
              <a:rPr sz="1300" b="0" i="0">
                <a:solidFill>
                  <a:srgbClr val="EEF3FA"/>
                </a:solidFill>
                <a:latin typeface="Calibri"/>
              </a:rPr>
              <a:t>Webis</a:t>
            </a:r>
          </a:p>
        </p:txBody>
      </p:sp>
      <p:sp>
        <p:nvSpPr>
          <p:cNvPr id="27" name="Rounded Rectangle 26"/>
          <p:cNvSpPr/>
          <p:nvPr/>
        </p:nvSpPr>
        <p:spPr>
          <a:xfrm>
            <a:off x="685800" y="5029200"/>
            <a:ext cx="1920240" cy="384048"/>
          </a:xfrm>
          <a:prstGeom prst="roundRect">
            <a:avLst>
              <a:gd name="adj" fmla="val 6000"/>
            </a:avLst>
          </a:prstGeom>
          <a:solidFill>
            <a:srgbClr val="12223C"/>
          </a:solidFill>
          <a:ln w="15875">
            <a:solidFill>
              <a:srgbClr val="2A3D5E"/>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09728" bIns="109728"/>
          <a:lstStyle/>
          <a:p>
            <a:pPr algn="ctr">
              <a:spcAft>
                <a:spcPts val="0"/>
              </a:spcAft>
            </a:pPr>
            <a:r>
              <a:rPr sz="1300" b="0" i="0">
                <a:solidFill>
                  <a:srgbClr val="EEF3FA"/>
                </a:solidFill>
                <a:latin typeface="Calibri"/>
              </a:rPr>
              <a:t>neutral</a:t>
            </a:r>
          </a:p>
        </p:txBody>
      </p:sp>
      <p:sp>
        <p:nvSpPr>
          <p:cNvPr id="28" name="Right Arrow 27"/>
          <p:cNvSpPr/>
          <p:nvPr/>
        </p:nvSpPr>
        <p:spPr>
          <a:xfrm>
            <a:off x="2697480" y="5157216"/>
            <a:ext cx="457200" cy="128016"/>
          </a:xfrm>
          <a:prstGeom prst="rightArrow">
            <a:avLst/>
          </a:prstGeom>
          <a:solidFill>
            <a:srgbClr val="FF7A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3246120" y="5029200"/>
            <a:ext cx="2286000" cy="384048"/>
          </a:xfrm>
          <a:prstGeom prst="roundRect">
            <a:avLst>
              <a:gd name="adj" fmla="val 6000"/>
            </a:avLst>
          </a:prstGeom>
          <a:solidFill>
            <a:srgbClr val="12223C"/>
          </a:solidFill>
          <a:ln w="15875">
            <a:solidFill>
              <a:srgbClr val="2A3D5E"/>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09728" bIns="109728"/>
          <a:lstStyle/>
          <a:p>
            <a:pPr algn="ctr">
              <a:spcAft>
                <a:spcPts val="0"/>
              </a:spcAft>
            </a:pPr>
            <a:r>
              <a:rPr sz="1300" b="0" i="0">
                <a:solidFill>
                  <a:srgbClr val="EEF3FA"/>
                </a:solidFill>
                <a:latin typeface="Calibri"/>
              </a:rPr>
              <a:t>PubMed + ISOT</a:t>
            </a:r>
          </a:p>
        </p:txBody>
      </p:sp>
      <p:sp>
        <p:nvSpPr>
          <p:cNvPr id="30" name="Rounded Rectangle 29"/>
          <p:cNvSpPr/>
          <p:nvPr/>
        </p:nvSpPr>
        <p:spPr>
          <a:xfrm>
            <a:off x="6035040" y="3383280"/>
            <a:ext cx="2560320" cy="1691640"/>
          </a:xfrm>
          <a:prstGeom prst="roundRect">
            <a:avLst>
              <a:gd name="adj" fmla="val 6000"/>
            </a:avLst>
          </a:prstGeom>
          <a:solidFill>
            <a:srgbClr val="12223C"/>
          </a:solidFill>
          <a:ln w="25400">
            <a:solidFill>
              <a:srgbClr val="FF7A59"/>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09728" bIns="109728"/>
          <a:lstStyle/>
          <a:p>
            <a:pPr algn="ctr">
              <a:spcAft>
                <a:spcPts val="0"/>
              </a:spcAft>
            </a:pPr>
            <a:r>
              <a:rPr sz="3600" b="1" i="0">
                <a:solidFill>
                  <a:srgbClr val="FF7A59"/>
                </a:solidFill>
                <a:latin typeface="Calibri"/>
              </a:rPr>
              <a:t>66%</a:t>
            </a:r>
          </a:p>
          <a:p>
            <a:pPr algn="ctr">
              <a:spcAft>
                <a:spcPts val="0"/>
              </a:spcAft>
            </a:pPr>
            <a:r>
              <a:rPr sz="1300" b="0" i="0">
                <a:solidFill>
                  <a:srgbClr val="EEF3FA"/>
                </a:solidFill>
                <a:latin typeface="Calibri"/>
              </a:rPr>
              <a:t>of articles: words identify
the source (chance 25%)</a:t>
            </a:r>
          </a:p>
        </p:txBody>
      </p:sp>
      <p:sp>
        <p:nvSpPr>
          <p:cNvPr id="31" name="Rounded Rectangle 30"/>
          <p:cNvSpPr/>
          <p:nvPr/>
        </p:nvSpPr>
        <p:spPr>
          <a:xfrm>
            <a:off x="8778240" y="3383280"/>
            <a:ext cx="2724912" cy="1691640"/>
          </a:xfrm>
          <a:prstGeom prst="roundRect">
            <a:avLst>
              <a:gd name="adj" fmla="val 6000"/>
            </a:avLst>
          </a:prstGeom>
          <a:solidFill>
            <a:srgbClr val="12223C"/>
          </a:solidFill>
          <a:ln w="25400">
            <a:solidFill>
              <a:srgbClr val="7CC4FF"/>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09728" bIns="109728"/>
          <a:lstStyle/>
          <a:p>
            <a:pPr algn="l"/>
          </a:p>
        </p:txBody>
      </p:sp>
      <p:sp>
        <p:nvSpPr>
          <p:cNvPr id="32" name="TextBox 31"/>
          <p:cNvSpPr txBox="1"/>
          <p:nvPr/>
        </p:nvSpPr>
        <p:spPr>
          <a:xfrm>
            <a:off x="8915400" y="3474720"/>
            <a:ext cx="2468880" cy="1554480"/>
          </a:xfrm>
          <a:prstGeom prst="rect">
            <a:avLst/>
          </a:prstGeom>
          <a:noFill/>
        </p:spPr>
        <p:txBody>
          <a:bodyPr wrap="square" anchor="ctr">
            <a:spAutoFit/>
          </a:bodyPr>
          <a:lstStyle/>
          <a:p>
            <a:pPr algn="l">
              <a:spcAft>
                <a:spcPts val="0"/>
              </a:spcAft>
            </a:pPr>
            <a:r>
              <a:rPr sz="1500" b="1" i="0">
                <a:solidFill>
                  <a:srgbClr val="7CC4FF"/>
                </a:solidFill>
                <a:latin typeface="Calibri"/>
              </a:rPr>
              <a:t>So our score is a measurement for the physics, not a detector.</a:t>
            </a:r>
          </a:p>
        </p:txBody>
      </p:sp>
      <p:sp>
        <p:nvSpPr>
          <p:cNvPr id="33" name="TextBox 32"/>
          <p:cNvSpPr txBox="1"/>
          <p:nvPr/>
        </p:nvSpPr>
        <p:spPr>
          <a:xfrm>
            <a:off x="6019495" y="6053328"/>
            <a:ext cx="5486400" cy="274320"/>
          </a:xfrm>
          <a:prstGeom prst="rect">
            <a:avLst/>
          </a:prstGeom>
          <a:noFill/>
        </p:spPr>
        <p:txBody>
          <a:bodyPr wrap="square" anchor="t">
            <a:spAutoFit/>
          </a:bodyPr>
          <a:lstStyle/>
          <a:p>
            <a:pPr algn="r">
              <a:spcAft>
                <a:spcPts val="0"/>
              </a:spcAft>
            </a:pPr>
            <a:r>
              <a:rPr sz="1200" b="1" i="0">
                <a:solidFill>
                  <a:srgbClr val="F5B83D"/>
                </a:solidFill>
                <a:latin typeface="Calibri"/>
              </a:rPr>
              <a:t>Next: does the brain model match real brains?  →</a:t>
            </a:r>
          </a:p>
        </p:txBody>
      </p:sp>
      <p:sp>
        <p:nvSpPr>
          <p:cNvPr id="34" name="TextBox 33"/>
          <p:cNvSpPr txBox="1"/>
          <p:nvPr/>
        </p:nvSpPr>
        <p:spPr>
          <a:xfrm>
            <a:off x="685800" y="6355080"/>
            <a:ext cx="4572000" cy="320040"/>
          </a:xfrm>
          <a:prstGeom prst="rect">
            <a:avLst/>
          </a:prstGeom>
          <a:noFill/>
        </p:spPr>
        <p:txBody>
          <a:bodyPr wrap="square" anchor="t">
            <a:spAutoFit/>
          </a:bodyPr>
          <a:lstStyle/>
          <a:p>
            <a:pPr algn="l">
              <a:spcAft>
                <a:spcPts val="0"/>
              </a:spcAft>
            </a:pPr>
            <a:r>
              <a:rPr sz="1000" b="1" i="0">
                <a:solidFill>
                  <a:srgbClr val="9AABC4"/>
                </a:solidFill>
                <a:latin typeface="Calibri"/>
              </a:rPr>
              <a:t>THE RESULTS</a:t>
            </a:r>
          </a:p>
        </p:txBody>
      </p:sp>
      <p:sp>
        <p:nvSpPr>
          <p:cNvPr id="35" name="Rectangle 34"/>
          <p:cNvSpPr/>
          <p:nvPr/>
        </p:nvSpPr>
        <p:spPr>
          <a:xfrm>
            <a:off x="4692243" y="6473952"/>
            <a:ext cx="502920" cy="36576"/>
          </a:xfrm>
          <a:prstGeom prst="rect">
            <a:avLst/>
          </a:prstGeom>
          <a:solidFill>
            <a:srgbClr val="2A3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5268315" y="6473952"/>
            <a:ext cx="502920" cy="36576"/>
          </a:xfrm>
          <a:prstGeom prst="rect">
            <a:avLst/>
          </a:prstGeom>
          <a:solidFill>
            <a:srgbClr val="2A3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5844387" y="6473952"/>
            <a:ext cx="502920" cy="36576"/>
          </a:xfrm>
          <a:prstGeom prst="rect">
            <a:avLst/>
          </a:prstGeom>
          <a:solidFill>
            <a:srgbClr val="7CC4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6420459" y="6473952"/>
            <a:ext cx="502920" cy="36576"/>
          </a:xfrm>
          <a:prstGeom prst="rect">
            <a:avLst/>
          </a:prstGeom>
          <a:solidFill>
            <a:srgbClr val="2A3D5E">
              <a:alpha val="8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6996531" y="6473952"/>
            <a:ext cx="502920" cy="36576"/>
          </a:xfrm>
          <a:prstGeom prst="rect">
            <a:avLst/>
          </a:prstGeom>
          <a:solidFill>
            <a:srgbClr val="2A3D5E">
              <a:alpha val="8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0591495" y="6355080"/>
            <a:ext cx="914400" cy="320040"/>
          </a:xfrm>
          <a:prstGeom prst="rect">
            <a:avLst/>
          </a:prstGeom>
          <a:noFill/>
        </p:spPr>
        <p:txBody>
          <a:bodyPr wrap="square" anchor="t">
            <a:spAutoFit/>
          </a:bodyPr>
          <a:lstStyle/>
          <a:p>
            <a:pPr algn="r">
              <a:spcAft>
                <a:spcPts val="0"/>
              </a:spcAft>
            </a:pPr>
            <a:r>
              <a:rPr sz="1100" b="1" i="0">
                <a:solidFill>
                  <a:srgbClr val="9AABC4"/>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Oval 1"/>
          <p:cNvSpPr/>
          <p:nvPr/>
        </p:nvSpPr>
        <p:spPr>
          <a:xfrm>
            <a:off x="8214055" y="-3794760"/>
            <a:ext cx="6858000" cy="6858000"/>
          </a:xfrm>
          <a:prstGeom prst="ellipse">
            <a:avLst/>
          </a:prstGeom>
          <a:gradFill rotWithShape="1">
            <a:gsLst>
              <a:gs pos="0">
                <a:srgbClr val="3E8EDE">
                  <a:alpha val="28000"/>
                </a:srgbClr>
              </a:gs>
              <a:gs pos="100000">
                <a:srgbClr val="3E8EDE">
                  <a:alpha val="0"/>
                </a:srgbClr>
              </a:gs>
            </a:gsLst>
            <a:path path="circle">
              <a:fillToRect l="50000" t="50000" r="50000" b="50000"/>
            </a:path>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3474720" y="4663440"/>
            <a:ext cx="5486400" cy="5486400"/>
          </a:xfrm>
          <a:prstGeom prst="ellipse">
            <a:avLst/>
          </a:prstGeom>
          <a:gradFill rotWithShape="1">
            <a:gsLst>
              <a:gs pos="0">
                <a:srgbClr val="FF7A59">
                  <a:alpha val="10000"/>
                </a:srgbClr>
              </a:gs>
              <a:gs pos="100000">
                <a:srgbClr val="FF7A59">
                  <a:alpha val="0"/>
                </a:srgbClr>
              </a:gs>
            </a:gsLst>
            <a:path path="circle">
              <a:fillToRect l="50000" t="50000" r="50000" b="50000"/>
            </a:path>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target.png"/>
          <p:cNvPicPr>
            <a:picLocks noChangeAspect="1"/>
          </p:cNvPicPr>
          <p:nvPr/>
        </p:nvPicPr>
        <p:blipFill>
          <a:blip r:embed="rId3"/>
          <a:stretch>
            <a:fillRect/>
          </a:stretch>
        </p:blipFill>
        <p:spPr>
          <a:xfrm>
            <a:off x="685800" y="457200"/>
            <a:ext cx="420624" cy="420624"/>
          </a:xfrm>
          <a:prstGeom prst="rect">
            <a:avLst/>
          </a:prstGeom>
        </p:spPr>
      </p:pic>
      <p:sp>
        <p:nvSpPr>
          <p:cNvPr id="5" name="TextBox 4"/>
          <p:cNvSpPr txBox="1"/>
          <p:nvPr/>
        </p:nvSpPr>
        <p:spPr>
          <a:xfrm>
            <a:off x="1289304" y="201168"/>
            <a:ext cx="10216591" cy="320040"/>
          </a:xfrm>
          <a:prstGeom prst="rect">
            <a:avLst/>
          </a:prstGeom>
          <a:noFill/>
        </p:spPr>
        <p:txBody>
          <a:bodyPr wrap="square" anchor="t">
            <a:spAutoFit/>
          </a:bodyPr>
          <a:lstStyle/>
          <a:p>
            <a:pPr algn="l">
              <a:spcAft>
                <a:spcPts val="0"/>
              </a:spcAft>
            </a:pPr>
            <a:r>
              <a:rPr sz="1200" b="1" i="0">
                <a:solidFill>
                  <a:srgbClr val="FF7A59"/>
                </a:solidFill>
                <a:latin typeface="Calibri"/>
              </a:rPr>
              <a:t>THE RESULTS</a:t>
            </a:r>
          </a:p>
        </p:txBody>
      </p:sp>
      <p:sp>
        <p:nvSpPr>
          <p:cNvPr id="6" name="TextBox 5"/>
          <p:cNvSpPr txBox="1"/>
          <p:nvPr/>
        </p:nvSpPr>
        <p:spPr>
          <a:xfrm>
            <a:off x="1289304" y="420624"/>
            <a:ext cx="10216591" cy="822960"/>
          </a:xfrm>
          <a:prstGeom prst="rect">
            <a:avLst/>
          </a:prstGeom>
          <a:noFill/>
        </p:spPr>
        <p:txBody>
          <a:bodyPr wrap="square" anchor="t">
            <a:spAutoFit/>
          </a:bodyPr>
          <a:lstStyle/>
          <a:p>
            <a:pPr algn="l">
              <a:spcAft>
                <a:spcPts val="0"/>
              </a:spcAft>
            </a:pPr>
            <a:r>
              <a:rPr sz="2600" b="1" i="0">
                <a:solidFill>
                  <a:srgbClr val="7CC4FF"/>
                </a:solidFill>
                <a:latin typeface="Calibri"/>
              </a:rPr>
              <a:t>Does the brain model match real brains? r = +0.028, p = 0.048</a:t>
            </a:r>
          </a:p>
        </p:txBody>
      </p:sp>
      <p:sp>
        <p:nvSpPr>
          <p:cNvPr id="7" name="TextBox 6"/>
          <p:cNvSpPr txBox="1"/>
          <p:nvPr/>
        </p:nvSpPr>
        <p:spPr>
          <a:xfrm>
            <a:off x="685800" y="1325880"/>
            <a:ext cx="10820095" cy="320040"/>
          </a:xfrm>
          <a:prstGeom prst="rect">
            <a:avLst/>
          </a:prstGeom>
          <a:noFill/>
        </p:spPr>
        <p:txBody>
          <a:bodyPr wrap="square" anchor="t">
            <a:spAutoFit/>
          </a:bodyPr>
          <a:lstStyle/>
          <a:p>
            <a:pPr algn="l">
              <a:spcAft>
                <a:spcPts val="0"/>
              </a:spcAft>
            </a:pPr>
            <a:r>
              <a:rPr sz="1300" b="0" i="0">
                <a:solidFill>
                  <a:srgbClr val="9AABC4"/>
                </a:solidFill>
                <a:latin typeface="Calibri"/>
              </a:rPr>
              <a:t>Public brain scans of 4 people watching Friends (Algonauts 2025).  r = correlation: 0 = no match, 1 = perfect.</a:t>
            </a:r>
          </a:p>
        </p:txBody>
      </p:sp>
      <p:sp>
        <p:nvSpPr>
          <p:cNvPr id="8" name="TextBox 7"/>
          <p:cNvSpPr txBox="1"/>
          <p:nvPr/>
        </p:nvSpPr>
        <p:spPr>
          <a:xfrm>
            <a:off x="777240" y="1856232"/>
            <a:ext cx="2377440" cy="411480"/>
          </a:xfrm>
          <a:prstGeom prst="rect">
            <a:avLst/>
          </a:prstGeom>
          <a:noFill/>
        </p:spPr>
        <p:txBody>
          <a:bodyPr wrap="square" anchor="t">
            <a:spAutoFit/>
          </a:bodyPr>
          <a:lstStyle/>
          <a:p>
            <a:pPr algn="r">
              <a:spcAft>
                <a:spcPts val="0"/>
              </a:spcAft>
            </a:pPr>
            <a:r>
              <a:rPr sz="1400" b="0" i="0">
                <a:solidFill>
                  <a:srgbClr val="9AABC4"/>
                </a:solidFill>
                <a:latin typeface="Calibri"/>
              </a:rPr>
              <a:t>people vs each other,
full episode</a:t>
            </a:r>
          </a:p>
        </p:txBody>
      </p:sp>
      <p:sp>
        <p:nvSpPr>
          <p:cNvPr id="9" name="Rectangle 8"/>
          <p:cNvSpPr/>
          <p:nvPr/>
        </p:nvSpPr>
        <p:spPr>
          <a:xfrm>
            <a:off x="3291840" y="1920240"/>
            <a:ext cx="6217920" cy="274320"/>
          </a:xfrm>
          <a:prstGeom prst="rect">
            <a:avLst/>
          </a:prstGeom>
          <a:solidFill>
            <a:srgbClr val="2A3D5E">
              <a:alpha val="5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3291840" y="1920240"/>
            <a:ext cx="5548579" cy="274320"/>
          </a:xfrm>
          <a:prstGeom prst="rect">
            <a:avLst/>
          </a:prstGeom>
          <a:solidFill>
            <a:srgbClr val="9AAB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646920" y="1856232"/>
            <a:ext cx="2926080" cy="411480"/>
          </a:xfrm>
          <a:prstGeom prst="rect">
            <a:avLst/>
          </a:prstGeom>
          <a:noFill/>
        </p:spPr>
        <p:txBody>
          <a:bodyPr wrap="square" anchor="t">
            <a:spAutoFit/>
          </a:bodyPr>
          <a:lstStyle/>
          <a:p>
            <a:pPr algn="l">
              <a:spcAft>
                <a:spcPts val="0"/>
              </a:spcAft>
            </a:pPr>
            <a:r>
              <a:rPr sz="1400" b="1" i="0">
                <a:solidFill>
                  <a:srgbClr val="9AABC4"/>
                </a:solidFill>
                <a:latin typeface="Calibri"/>
              </a:rPr>
              <a:t>0.152</a:t>
            </a:r>
          </a:p>
        </p:txBody>
      </p:sp>
      <p:sp>
        <p:nvSpPr>
          <p:cNvPr id="12" name="TextBox 11"/>
          <p:cNvSpPr txBox="1"/>
          <p:nvPr/>
        </p:nvSpPr>
        <p:spPr>
          <a:xfrm>
            <a:off x="777240" y="2587752"/>
            <a:ext cx="2377440" cy="411480"/>
          </a:xfrm>
          <a:prstGeom prst="rect">
            <a:avLst/>
          </a:prstGeom>
          <a:noFill/>
        </p:spPr>
        <p:txBody>
          <a:bodyPr wrap="square" anchor="t">
            <a:spAutoFit/>
          </a:bodyPr>
          <a:lstStyle/>
          <a:p>
            <a:pPr algn="r">
              <a:spcAft>
                <a:spcPts val="0"/>
              </a:spcAft>
            </a:pPr>
            <a:r>
              <a:rPr sz="1400" b="0" i="0">
                <a:solidFill>
                  <a:srgbClr val="9AABC4"/>
                </a:solidFill>
                <a:latin typeface="Calibri"/>
              </a:rPr>
              <a:t>ceiling,
2-minute clip</a:t>
            </a:r>
          </a:p>
        </p:txBody>
      </p:sp>
      <p:sp>
        <p:nvSpPr>
          <p:cNvPr id="13" name="Rectangle 12"/>
          <p:cNvSpPr/>
          <p:nvPr/>
        </p:nvSpPr>
        <p:spPr>
          <a:xfrm>
            <a:off x="3291840" y="2651760"/>
            <a:ext cx="6217920" cy="274320"/>
          </a:xfrm>
          <a:prstGeom prst="rect">
            <a:avLst/>
          </a:prstGeom>
          <a:solidFill>
            <a:srgbClr val="2A3D5E">
              <a:alpha val="5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291840" y="2651760"/>
            <a:ext cx="3507638" cy="274320"/>
          </a:xfrm>
          <a:prstGeom prst="rect">
            <a:avLst/>
          </a:prstGeom>
          <a:solidFill>
            <a:srgbClr val="7CC4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646920" y="2587752"/>
            <a:ext cx="2926080" cy="411480"/>
          </a:xfrm>
          <a:prstGeom prst="rect">
            <a:avLst/>
          </a:prstGeom>
          <a:noFill/>
        </p:spPr>
        <p:txBody>
          <a:bodyPr wrap="square" anchor="t">
            <a:spAutoFit/>
          </a:bodyPr>
          <a:lstStyle/>
          <a:p>
            <a:pPr algn="l">
              <a:spcAft>
                <a:spcPts val="0"/>
              </a:spcAft>
            </a:pPr>
            <a:r>
              <a:rPr sz="1400" b="1" i="0">
                <a:solidFill>
                  <a:srgbClr val="7CC4FF"/>
                </a:solidFill>
                <a:latin typeface="Calibri"/>
              </a:rPr>
              <a:t>0.096</a:t>
            </a:r>
          </a:p>
        </p:txBody>
      </p:sp>
      <p:sp>
        <p:nvSpPr>
          <p:cNvPr id="16" name="TextBox 15"/>
          <p:cNvSpPr txBox="1"/>
          <p:nvPr/>
        </p:nvSpPr>
        <p:spPr>
          <a:xfrm>
            <a:off x="777240" y="3319272"/>
            <a:ext cx="2377440" cy="411480"/>
          </a:xfrm>
          <a:prstGeom prst="rect">
            <a:avLst/>
          </a:prstGeom>
          <a:noFill/>
        </p:spPr>
        <p:txBody>
          <a:bodyPr wrap="square" anchor="t">
            <a:spAutoFit/>
          </a:bodyPr>
          <a:lstStyle/>
          <a:p>
            <a:pPr algn="r">
              <a:spcAft>
                <a:spcPts val="0"/>
              </a:spcAft>
            </a:pPr>
            <a:r>
              <a:rPr sz="1400" b="0" i="0">
                <a:solidFill>
                  <a:srgbClr val="9AABC4"/>
                </a:solidFill>
                <a:latin typeface="Calibri"/>
              </a:rPr>
              <a:t>our model,
2-minute clip</a:t>
            </a:r>
          </a:p>
        </p:txBody>
      </p:sp>
      <p:sp>
        <p:nvSpPr>
          <p:cNvPr id="17" name="Rectangle 16"/>
          <p:cNvSpPr/>
          <p:nvPr/>
        </p:nvSpPr>
        <p:spPr>
          <a:xfrm>
            <a:off x="3291840" y="3383280"/>
            <a:ext cx="6217920" cy="274320"/>
          </a:xfrm>
          <a:prstGeom prst="rect">
            <a:avLst/>
          </a:prstGeom>
          <a:solidFill>
            <a:srgbClr val="2A3D5E">
              <a:alpha val="5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291840" y="3383280"/>
            <a:ext cx="1035100" cy="274320"/>
          </a:xfrm>
          <a:prstGeom prst="rect">
            <a:avLst/>
          </a:prstGeom>
          <a:solidFill>
            <a:srgbClr val="5FD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646920" y="3319272"/>
            <a:ext cx="2926080" cy="411480"/>
          </a:xfrm>
          <a:prstGeom prst="rect">
            <a:avLst/>
          </a:prstGeom>
          <a:noFill/>
        </p:spPr>
        <p:txBody>
          <a:bodyPr wrap="square" anchor="t">
            <a:spAutoFit/>
          </a:bodyPr>
          <a:lstStyle/>
          <a:p>
            <a:pPr algn="l">
              <a:spcAft>
                <a:spcPts val="0"/>
              </a:spcAft>
            </a:pPr>
            <a:r>
              <a:rPr sz="1400" b="1" i="0">
                <a:solidFill>
                  <a:srgbClr val="5FD09A"/>
                </a:solidFill>
                <a:latin typeface="Calibri"/>
              </a:rPr>
              <a:t>0.028</a:t>
            </a:r>
          </a:p>
        </p:txBody>
      </p:sp>
      <p:sp>
        <p:nvSpPr>
          <p:cNvPr id="20" name="Rounded Rectangle 19"/>
          <p:cNvSpPr/>
          <p:nvPr/>
        </p:nvSpPr>
        <p:spPr>
          <a:xfrm>
            <a:off x="685800" y="4251960"/>
            <a:ext cx="3429000" cy="1234440"/>
          </a:xfrm>
          <a:prstGeom prst="roundRect">
            <a:avLst>
              <a:gd name="adj" fmla="val 6000"/>
            </a:avLst>
          </a:prstGeom>
          <a:solidFill>
            <a:srgbClr val="12223C"/>
          </a:solidFill>
          <a:ln w="25400">
            <a:solidFill>
              <a:srgbClr val="5FD09A"/>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09728" bIns="109728"/>
          <a:lstStyle/>
          <a:p>
            <a:pPr algn="ctr">
              <a:spcAft>
                <a:spcPts val="0"/>
              </a:spcAft>
            </a:pPr>
            <a:r>
              <a:rPr sz="3000" b="1" i="0">
                <a:solidFill>
                  <a:srgbClr val="5FD09A"/>
                </a:solidFill>
                <a:latin typeface="Calibri"/>
              </a:rPr>
              <a:t>30%</a:t>
            </a:r>
          </a:p>
          <a:p>
            <a:pPr algn="ctr">
              <a:spcAft>
                <a:spcPts val="0"/>
              </a:spcAft>
            </a:pPr>
            <a:r>
              <a:rPr sz="1300" b="0" i="0">
                <a:solidFill>
                  <a:srgbClr val="EEF3FA"/>
                </a:solidFill>
                <a:latin typeface="Calibri"/>
              </a:rPr>
              <a:t>of the clip ceiling
(0.028 ÷ 0.096)</a:t>
            </a:r>
          </a:p>
        </p:txBody>
      </p:sp>
      <p:sp>
        <p:nvSpPr>
          <p:cNvPr id="21" name="Rounded Rectangle 20"/>
          <p:cNvSpPr/>
          <p:nvPr/>
        </p:nvSpPr>
        <p:spPr>
          <a:xfrm>
            <a:off x="4379976" y="4251960"/>
            <a:ext cx="3429000" cy="1234440"/>
          </a:xfrm>
          <a:prstGeom prst="roundRect">
            <a:avLst>
              <a:gd name="adj" fmla="val 6000"/>
            </a:avLst>
          </a:prstGeom>
          <a:solidFill>
            <a:srgbClr val="12223C"/>
          </a:solidFill>
          <a:ln w="25400">
            <a:solidFill>
              <a:srgbClr val="F5B83D"/>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09728" bIns="109728"/>
          <a:lstStyle/>
          <a:p>
            <a:pPr algn="ctr">
              <a:spcAft>
                <a:spcPts val="0"/>
              </a:spcAft>
            </a:pPr>
            <a:r>
              <a:rPr sz="3000" b="1" i="0">
                <a:solidFill>
                  <a:srgbClr val="F5B83D"/>
                </a:solidFill>
                <a:latin typeface="Calibri"/>
              </a:rPr>
              <a:t>p = 0.048</a:t>
            </a:r>
          </a:p>
          <a:p>
            <a:pPr algn="ctr">
              <a:spcAft>
                <a:spcPts val="0"/>
              </a:spcAft>
            </a:pPr>
            <a:r>
              <a:rPr sz="1300" b="0" i="0">
                <a:solidFill>
                  <a:srgbClr val="EEF3FA"/>
                </a:solidFill>
                <a:latin typeface="Calibri"/>
              </a:rPr>
              <a:t>against 61 time-shifted copies;
cut-off 0.05</a:t>
            </a:r>
          </a:p>
        </p:txBody>
      </p:sp>
      <p:sp>
        <p:nvSpPr>
          <p:cNvPr id="22" name="Rounded Rectangle 21"/>
          <p:cNvSpPr/>
          <p:nvPr/>
        </p:nvSpPr>
        <p:spPr>
          <a:xfrm>
            <a:off x="8074152" y="4251960"/>
            <a:ext cx="3429000" cy="1234440"/>
          </a:xfrm>
          <a:prstGeom prst="roundRect">
            <a:avLst>
              <a:gd name="adj" fmla="val 6000"/>
            </a:avLst>
          </a:prstGeom>
          <a:solidFill>
            <a:srgbClr val="12223C"/>
          </a:solidFill>
          <a:ln w="25400">
            <a:solidFill>
              <a:srgbClr val="FF7A59"/>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09728" bIns="109728"/>
          <a:lstStyle/>
          <a:p>
            <a:pPr algn="ctr">
              <a:spcAft>
                <a:spcPts val="0"/>
              </a:spcAft>
            </a:pPr>
            <a:r>
              <a:rPr sz="3000" b="1" i="0">
                <a:solidFill>
                  <a:srgbClr val="FF7A59"/>
                </a:solidFill>
                <a:latin typeface="Calibri"/>
              </a:rPr>
              <a:t>3 bugs</a:t>
            </a:r>
          </a:p>
          <a:p>
            <a:pPr algn="ctr">
              <a:spcAft>
                <a:spcPts val="0"/>
              </a:spcAft>
            </a:pPr>
            <a:r>
              <a:rPr sz="1300" b="0" i="0">
                <a:solidFill>
                  <a:srgbClr val="EEF3FA"/>
                </a:solidFill>
                <a:latin typeface="Calibri"/>
              </a:rPr>
              <a:t>found and fixed along the way</a:t>
            </a:r>
          </a:p>
        </p:txBody>
      </p:sp>
      <p:sp>
        <p:nvSpPr>
          <p:cNvPr id="23" name="Rounded Rectangle 22"/>
          <p:cNvSpPr/>
          <p:nvPr/>
        </p:nvSpPr>
        <p:spPr>
          <a:xfrm>
            <a:off x="685800" y="5577840"/>
            <a:ext cx="10820095" cy="457200"/>
          </a:xfrm>
          <a:prstGeom prst="roundRect">
            <a:avLst>
              <a:gd name="adj" fmla="val 6000"/>
            </a:avLst>
          </a:prstGeom>
          <a:solidFill>
            <a:srgbClr val="12223C"/>
          </a:solidFill>
          <a:ln w="25400">
            <a:solidFill>
              <a:srgbClr val="F5B83D"/>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09728" bIns="109728"/>
          <a:lstStyle/>
          <a:p>
            <a:pPr algn="l">
              <a:spcAft>
                <a:spcPts val="0"/>
              </a:spcAft>
            </a:pPr>
            <a:r>
              <a:rPr sz="1500" b="1">
                <a:solidFill>
                  <a:srgbClr val="F5B83D"/>
                </a:solidFill>
                <a:latin typeface="Calibri"/>
              </a:rPr>
              <a:t>Meaning:  </a:t>
            </a:r>
            <a:r>
              <a:rPr sz="1500" b="0">
                <a:solidFill>
                  <a:srgbClr val="EEF3FA"/>
                </a:solidFill>
                <a:latin typeface="Calibri"/>
              </a:rPr>
              <a:t>the sign is positive (+0.028). The full-episode run is next, in Paper 3.</a:t>
            </a:r>
          </a:p>
        </p:txBody>
      </p:sp>
      <p:sp>
        <p:nvSpPr>
          <p:cNvPr id="24" name="TextBox 23"/>
          <p:cNvSpPr txBox="1"/>
          <p:nvPr/>
        </p:nvSpPr>
        <p:spPr>
          <a:xfrm>
            <a:off x="6019495" y="6053328"/>
            <a:ext cx="5486400" cy="274320"/>
          </a:xfrm>
          <a:prstGeom prst="rect">
            <a:avLst/>
          </a:prstGeom>
          <a:noFill/>
        </p:spPr>
        <p:txBody>
          <a:bodyPr wrap="square" anchor="t">
            <a:spAutoFit/>
          </a:bodyPr>
          <a:lstStyle/>
          <a:p>
            <a:pPr algn="r">
              <a:spcAft>
                <a:spcPts val="0"/>
              </a:spcAft>
            </a:pPr>
            <a:r>
              <a:rPr sz="1200" b="1" i="0">
                <a:solidFill>
                  <a:srgbClr val="F5B83D"/>
                </a:solidFill>
                <a:latin typeface="Calibri"/>
              </a:rPr>
              <a:t>Next: the physics  →</a:t>
            </a:r>
          </a:p>
        </p:txBody>
      </p:sp>
      <p:sp>
        <p:nvSpPr>
          <p:cNvPr id="25" name="TextBox 24"/>
          <p:cNvSpPr txBox="1"/>
          <p:nvPr/>
        </p:nvSpPr>
        <p:spPr>
          <a:xfrm>
            <a:off x="685800" y="6355080"/>
            <a:ext cx="4572000" cy="320040"/>
          </a:xfrm>
          <a:prstGeom prst="rect">
            <a:avLst/>
          </a:prstGeom>
          <a:noFill/>
        </p:spPr>
        <p:txBody>
          <a:bodyPr wrap="square" anchor="t">
            <a:spAutoFit/>
          </a:bodyPr>
          <a:lstStyle/>
          <a:p>
            <a:pPr algn="l">
              <a:spcAft>
                <a:spcPts val="0"/>
              </a:spcAft>
            </a:pPr>
            <a:r>
              <a:rPr sz="1000" b="1" i="0">
                <a:solidFill>
                  <a:srgbClr val="9AABC4"/>
                </a:solidFill>
                <a:latin typeface="Calibri"/>
              </a:rPr>
              <a:t>THE RESULTS</a:t>
            </a:r>
          </a:p>
        </p:txBody>
      </p:sp>
      <p:sp>
        <p:nvSpPr>
          <p:cNvPr id="26" name="Rectangle 25"/>
          <p:cNvSpPr/>
          <p:nvPr/>
        </p:nvSpPr>
        <p:spPr>
          <a:xfrm>
            <a:off x="4692243" y="6473952"/>
            <a:ext cx="502920" cy="36576"/>
          </a:xfrm>
          <a:prstGeom prst="rect">
            <a:avLst/>
          </a:prstGeom>
          <a:solidFill>
            <a:srgbClr val="2A3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268315" y="6473952"/>
            <a:ext cx="502920" cy="36576"/>
          </a:xfrm>
          <a:prstGeom prst="rect">
            <a:avLst/>
          </a:prstGeom>
          <a:solidFill>
            <a:srgbClr val="2A3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844387" y="6473952"/>
            <a:ext cx="502920" cy="36576"/>
          </a:xfrm>
          <a:prstGeom prst="rect">
            <a:avLst/>
          </a:prstGeom>
          <a:solidFill>
            <a:srgbClr val="7CC4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420459" y="6473952"/>
            <a:ext cx="502920" cy="36576"/>
          </a:xfrm>
          <a:prstGeom prst="rect">
            <a:avLst/>
          </a:prstGeom>
          <a:solidFill>
            <a:srgbClr val="2A3D5E">
              <a:alpha val="8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996531" y="6473952"/>
            <a:ext cx="502920" cy="36576"/>
          </a:xfrm>
          <a:prstGeom prst="rect">
            <a:avLst/>
          </a:prstGeom>
          <a:solidFill>
            <a:srgbClr val="2A3D5E">
              <a:alpha val="8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591495" y="6355080"/>
            <a:ext cx="914400" cy="320040"/>
          </a:xfrm>
          <a:prstGeom prst="rect">
            <a:avLst/>
          </a:prstGeom>
          <a:noFill/>
        </p:spPr>
        <p:txBody>
          <a:bodyPr wrap="square" anchor="t">
            <a:spAutoFit/>
          </a:bodyPr>
          <a:lstStyle/>
          <a:p>
            <a:pPr algn="r">
              <a:spcAft>
                <a:spcPts val="0"/>
              </a:spcAft>
            </a:pPr>
            <a:r>
              <a:rPr sz="1100" b="1" i="0">
                <a:solidFill>
                  <a:srgbClr val="9AABC4"/>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Oval 1"/>
          <p:cNvSpPr/>
          <p:nvPr/>
        </p:nvSpPr>
        <p:spPr>
          <a:xfrm>
            <a:off x="8214055" y="-3794760"/>
            <a:ext cx="6858000" cy="6858000"/>
          </a:xfrm>
          <a:prstGeom prst="ellipse">
            <a:avLst/>
          </a:prstGeom>
          <a:gradFill rotWithShape="1">
            <a:gsLst>
              <a:gs pos="0">
                <a:srgbClr val="3E8EDE">
                  <a:alpha val="28000"/>
                </a:srgbClr>
              </a:gs>
              <a:gs pos="100000">
                <a:srgbClr val="3E8EDE">
                  <a:alpha val="0"/>
                </a:srgbClr>
              </a:gs>
            </a:gsLst>
            <a:path path="circle">
              <a:fillToRect l="50000" t="50000" r="50000" b="50000"/>
            </a:path>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3474720" y="4663440"/>
            <a:ext cx="5486400" cy="5486400"/>
          </a:xfrm>
          <a:prstGeom prst="ellipse">
            <a:avLst/>
          </a:prstGeom>
          <a:gradFill rotWithShape="1">
            <a:gsLst>
              <a:gs pos="0">
                <a:srgbClr val="FF7A59">
                  <a:alpha val="10000"/>
                </a:srgbClr>
              </a:gs>
              <a:gs pos="100000">
                <a:srgbClr val="FF7A59">
                  <a:alpha val="0"/>
                </a:srgbClr>
              </a:gs>
            </a:gsLst>
            <a:path path="circle">
              <a:fillToRect l="50000" t="50000" r="50000" b="50000"/>
            </a:path>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ruler.png"/>
          <p:cNvPicPr>
            <a:picLocks noChangeAspect="1"/>
          </p:cNvPicPr>
          <p:nvPr/>
        </p:nvPicPr>
        <p:blipFill>
          <a:blip r:embed="rId3"/>
          <a:stretch>
            <a:fillRect/>
          </a:stretch>
        </p:blipFill>
        <p:spPr>
          <a:xfrm>
            <a:off x="685800" y="457200"/>
            <a:ext cx="420624" cy="420624"/>
          </a:xfrm>
          <a:prstGeom prst="rect">
            <a:avLst/>
          </a:prstGeom>
        </p:spPr>
      </p:pic>
      <p:sp>
        <p:nvSpPr>
          <p:cNvPr id="5" name="TextBox 4"/>
          <p:cNvSpPr txBox="1"/>
          <p:nvPr/>
        </p:nvSpPr>
        <p:spPr>
          <a:xfrm>
            <a:off x="1289304" y="201168"/>
            <a:ext cx="10216591" cy="320040"/>
          </a:xfrm>
          <a:prstGeom prst="rect">
            <a:avLst/>
          </a:prstGeom>
          <a:noFill/>
        </p:spPr>
        <p:txBody>
          <a:bodyPr wrap="square" anchor="t">
            <a:spAutoFit/>
          </a:bodyPr>
          <a:lstStyle/>
          <a:p>
            <a:pPr algn="l">
              <a:spcAft>
                <a:spcPts val="0"/>
              </a:spcAft>
            </a:pPr>
            <a:r>
              <a:rPr sz="1200" b="1" i="0">
                <a:solidFill>
                  <a:srgbClr val="FF7A59"/>
                </a:solidFill>
                <a:latin typeface="Calibri"/>
              </a:rPr>
              <a:t>THE PHYSICS</a:t>
            </a:r>
          </a:p>
        </p:txBody>
      </p:sp>
      <p:sp>
        <p:nvSpPr>
          <p:cNvPr id="6" name="TextBox 5"/>
          <p:cNvSpPr txBox="1"/>
          <p:nvPr/>
        </p:nvSpPr>
        <p:spPr>
          <a:xfrm>
            <a:off x="1289304" y="420624"/>
            <a:ext cx="10216591" cy="822960"/>
          </a:xfrm>
          <a:prstGeom prst="rect">
            <a:avLst/>
          </a:prstGeom>
          <a:noFill/>
        </p:spPr>
        <p:txBody>
          <a:bodyPr wrap="square" anchor="t">
            <a:spAutoFit/>
          </a:bodyPr>
          <a:lstStyle/>
          <a:p>
            <a:pPr algn="l">
              <a:spcAft>
                <a:spcPts val="0"/>
              </a:spcAft>
            </a:pPr>
            <a:r>
              <a:rPr sz="2600" b="1" i="0">
                <a:solidFill>
                  <a:srgbClr val="7CC4FF"/>
                </a:solidFill>
                <a:latin typeface="Calibri"/>
              </a:rPr>
              <a:t>The minimum push media would need: α ≥ 4.29</a:t>
            </a:r>
          </a:p>
        </p:txBody>
      </p:sp>
      <p:sp>
        <p:nvSpPr>
          <p:cNvPr id="7" name="Rounded Rectangle 6"/>
          <p:cNvSpPr/>
          <p:nvPr/>
        </p:nvSpPr>
        <p:spPr>
          <a:xfrm>
            <a:off x="685800" y="1325880"/>
            <a:ext cx="5212080" cy="4343400"/>
          </a:xfrm>
          <a:prstGeom prst="roundRect">
            <a:avLst>
              <a:gd name="adj" fmla="val 6000"/>
            </a:avLst>
          </a:prstGeom>
          <a:solidFill>
            <a:srgbClr val="12223C"/>
          </a:solidFill>
          <a:ln w="25400">
            <a:solidFill>
              <a:srgbClr val="7CC4FF"/>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09728" bIns="109728"/>
          <a:lstStyle/>
          <a:p>
            <a:pPr algn="l"/>
          </a:p>
        </p:txBody>
      </p:sp>
      <p:pic>
        <p:nvPicPr>
          <p:cNvPr id="8" name="Picture 7" descr="1d5e9130446c2757.png"/>
          <p:cNvPicPr>
            <a:picLocks noChangeAspect="1"/>
          </p:cNvPicPr>
          <p:nvPr/>
        </p:nvPicPr>
        <p:blipFill>
          <a:blip r:embed="rId4"/>
          <a:stretch>
            <a:fillRect/>
          </a:stretch>
        </p:blipFill>
        <p:spPr>
          <a:xfrm>
            <a:off x="1718843" y="1508760"/>
            <a:ext cx="3145993" cy="579272"/>
          </a:xfrm>
          <a:prstGeom prst="rect">
            <a:avLst/>
          </a:prstGeom>
        </p:spPr>
      </p:pic>
      <p:pic>
        <p:nvPicPr>
          <p:cNvPr id="9" name="Picture 8" descr="20c93cf97540e448.png"/>
          <p:cNvPicPr>
            <a:picLocks noChangeAspect="1"/>
          </p:cNvPicPr>
          <p:nvPr/>
        </p:nvPicPr>
        <p:blipFill>
          <a:blip r:embed="rId5"/>
          <a:stretch>
            <a:fillRect/>
          </a:stretch>
        </p:blipFill>
        <p:spPr>
          <a:xfrm>
            <a:off x="1181290" y="2542032"/>
            <a:ext cx="152019" cy="247573"/>
          </a:xfrm>
          <a:prstGeom prst="rect">
            <a:avLst/>
          </a:prstGeom>
        </p:spPr>
      </p:pic>
      <p:sp>
        <p:nvSpPr>
          <p:cNvPr id="10" name="TextBox 9"/>
          <p:cNvSpPr txBox="1"/>
          <p:nvPr/>
        </p:nvSpPr>
        <p:spPr>
          <a:xfrm>
            <a:off x="1783080" y="2487168"/>
            <a:ext cx="4023360" cy="502920"/>
          </a:xfrm>
          <a:prstGeom prst="rect">
            <a:avLst/>
          </a:prstGeom>
          <a:noFill/>
        </p:spPr>
        <p:txBody>
          <a:bodyPr wrap="square" anchor="ctr">
            <a:spAutoFit/>
          </a:bodyPr>
          <a:lstStyle/>
          <a:p>
            <a:pPr algn="l">
              <a:spcAft>
                <a:spcPts val="0"/>
              </a:spcAft>
            </a:pPr>
            <a:r>
              <a:rPr sz="1300" b="1">
                <a:solidFill>
                  <a:srgbClr val="7CC4FF"/>
                </a:solidFill>
                <a:latin typeface="Calibri"/>
              </a:rPr>
              <a:t>external field  </a:t>
            </a:r>
            <a:r>
              <a:rPr sz="1300" b="0">
                <a:solidFill>
                  <a:srgbClr val="EEF3FA"/>
                </a:solidFill>
                <a:latin typeface="Calibri"/>
              </a:rPr>
              <a:t>= media's push on everyone</a:t>
            </a:r>
          </a:p>
        </p:txBody>
      </p:sp>
      <p:pic>
        <p:nvPicPr>
          <p:cNvPr id="11" name="Picture 10" descr="a2dd4f017e3f8d43.png"/>
          <p:cNvPicPr>
            <a:picLocks noChangeAspect="1"/>
          </p:cNvPicPr>
          <p:nvPr/>
        </p:nvPicPr>
        <p:blipFill>
          <a:blip r:embed="rId6"/>
          <a:stretch>
            <a:fillRect/>
          </a:stretch>
        </p:blipFill>
        <p:spPr>
          <a:xfrm>
            <a:off x="1144371" y="3063240"/>
            <a:ext cx="225856" cy="247573"/>
          </a:xfrm>
          <a:prstGeom prst="rect">
            <a:avLst/>
          </a:prstGeom>
        </p:spPr>
      </p:pic>
      <p:sp>
        <p:nvSpPr>
          <p:cNvPr id="12" name="TextBox 11"/>
          <p:cNvSpPr txBox="1"/>
          <p:nvPr/>
        </p:nvSpPr>
        <p:spPr>
          <a:xfrm>
            <a:off x="1783080" y="3008376"/>
            <a:ext cx="4023360" cy="502920"/>
          </a:xfrm>
          <a:prstGeom prst="rect">
            <a:avLst/>
          </a:prstGeom>
          <a:noFill/>
        </p:spPr>
        <p:txBody>
          <a:bodyPr wrap="square" anchor="ctr">
            <a:spAutoFit/>
          </a:bodyPr>
          <a:lstStyle/>
          <a:p>
            <a:pPr algn="l">
              <a:spcAft>
                <a:spcPts val="0"/>
              </a:spcAft>
            </a:pPr>
            <a:r>
              <a:rPr sz="1300" b="1">
                <a:solidFill>
                  <a:srgbClr val="7CC4FF"/>
                </a:solidFill>
                <a:latin typeface="Calibri"/>
              </a:rPr>
              <a:t>observable  </a:t>
            </a:r>
            <a:r>
              <a:rPr sz="1300" b="0">
                <a:solidFill>
                  <a:srgbClr val="EEF3FA"/>
                </a:solidFill>
                <a:latin typeface="Calibri"/>
              </a:rPr>
              <a:t>= our score for an article</a:t>
            </a:r>
          </a:p>
        </p:txBody>
      </p:sp>
      <p:pic>
        <p:nvPicPr>
          <p:cNvPr id="13" name="Picture 12" descr="5272f2755a3e4bf7.png"/>
          <p:cNvPicPr>
            <a:picLocks noChangeAspect="1"/>
          </p:cNvPicPr>
          <p:nvPr/>
        </p:nvPicPr>
        <p:blipFill>
          <a:blip r:embed="rId7"/>
          <a:stretch>
            <a:fillRect/>
          </a:stretch>
        </p:blipFill>
        <p:spPr>
          <a:xfrm>
            <a:off x="1174775" y="3584448"/>
            <a:ext cx="165049" cy="247573"/>
          </a:xfrm>
          <a:prstGeom prst="rect">
            <a:avLst/>
          </a:prstGeom>
        </p:spPr>
      </p:pic>
      <p:sp>
        <p:nvSpPr>
          <p:cNvPr id="14" name="TextBox 13"/>
          <p:cNvSpPr txBox="1"/>
          <p:nvPr/>
        </p:nvSpPr>
        <p:spPr>
          <a:xfrm>
            <a:off x="1783080" y="3529584"/>
            <a:ext cx="4023360" cy="502920"/>
          </a:xfrm>
          <a:prstGeom prst="rect">
            <a:avLst/>
          </a:prstGeom>
          <a:noFill/>
        </p:spPr>
        <p:txBody>
          <a:bodyPr wrap="square" anchor="ctr">
            <a:spAutoFit/>
          </a:bodyPr>
          <a:lstStyle/>
          <a:p>
            <a:pPr algn="l">
              <a:spcAft>
                <a:spcPts val="0"/>
              </a:spcAft>
            </a:pPr>
            <a:r>
              <a:rPr sz="1300" b="1">
                <a:solidFill>
                  <a:srgbClr val="7CC4FF"/>
                </a:solidFill>
                <a:latin typeface="Calibri"/>
              </a:rPr>
              <a:t>coupling constant  </a:t>
            </a:r>
            <a:r>
              <a:rPr sz="1300" b="0">
                <a:solidFill>
                  <a:srgbClr val="EEF3FA"/>
                </a:solidFill>
                <a:latin typeface="Calibri"/>
              </a:rPr>
              <a:t>= push per unit of score</a:t>
            </a:r>
          </a:p>
        </p:txBody>
      </p:sp>
      <p:pic>
        <p:nvPicPr>
          <p:cNvPr id="15" name="Picture 14" descr="3083b7f6cdc240b3.png"/>
          <p:cNvPicPr>
            <a:picLocks noChangeAspect="1"/>
          </p:cNvPicPr>
          <p:nvPr/>
        </p:nvPicPr>
        <p:blipFill>
          <a:blip r:embed="rId8"/>
          <a:stretch>
            <a:fillRect/>
          </a:stretch>
        </p:blipFill>
        <p:spPr>
          <a:xfrm>
            <a:off x="1141114" y="4105655"/>
            <a:ext cx="232371" cy="247573"/>
          </a:xfrm>
          <a:prstGeom prst="rect">
            <a:avLst/>
          </a:prstGeom>
        </p:spPr>
      </p:pic>
      <p:sp>
        <p:nvSpPr>
          <p:cNvPr id="16" name="TextBox 15"/>
          <p:cNvSpPr txBox="1"/>
          <p:nvPr/>
        </p:nvSpPr>
        <p:spPr>
          <a:xfrm>
            <a:off x="1783080" y="4050791"/>
            <a:ext cx="4023360" cy="502920"/>
          </a:xfrm>
          <a:prstGeom prst="rect">
            <a:avLst/>
          </a:prstGeom>
          <a:noFill/>
        </p:spPr>
        <p:txBody>
          <a:bodyPr wrap="square" anchor="ctr">
            <a:spAutoFit/>
          </a:bodyPr>
          <a:lstStyle/>
          <a:p>
            <a:pPr algn="l">
              <a:spcAft>
                <a:spcPts val="0"/>
              </a:spcAft>
            </a:pPr>
            <a:r>
              <a:rPr sz="1300" b="1">
                <a:solidFill>
                  <a:srgbClr val="7CC4FF"/>
                </a:solidFill>
                <a:latin typeface="Calibri"/>
              </a:rPr>
              <a:t>critical field  </a:t>
            </a:r>
            <a:r>
              <a:rPr sz="1300" b="0">
                <a:solidFill>
                  <a:srgbClr val="EEF3FA"/>
                </a:solidFill>
                <a:latin typeface="Calibri"/>
              </a:rPr>
              <a:t>= smallest push that flips the majority</a:t>
            </a:r>
          </a:p>
        </p:txBody>
      </p:sp>
      <p:pic>
        <p:nvPicPr>
          <p:cNvPr id="17" name="Picture 16" descr="92db4915de0152da.png"/>
          <p:cNvPicPr>
            <a:picLocks noChangeAspect="1"/>
          </p:cNvPicPr>
          <p:nvPr/>
        </p:nvPicPr>
        <p:blipFill>
          <a:blip r:embed="rId9"/>
          <a:stretch>
            <a:fillRect/>
          </a:stretch>
        </p:blipFill>
        <p:spPr>
          <a:xfrm>
            <a:off x="1102023" y="4626864"/>
            <a:ext cx="310553" cy="249745"/>
          </a:xfrm>
          <a:prstGeom prst="rect">
            <a:avLst/>
          </a:prstGeom>
        </p:spPr>
      </p:pic>
      <p:sp>
        <p:nvSpPr>
          <p:cNvPr id="18" name="TextBox 17"/>
          <p:cNvSpPr txBox="1"/>
          <p:nvPr/>
        </p:nvSpPr>
        <p:spPr>
          <a:xfrm>
            <a:off x="1783080" y="4572000"/>
            <a:ext cx="4023360" cy="502920"/>
          </a:xfrm>
          <a:prstGeom prst="rect">
            <a:avLst/>
          </a:prstGeom>
          <a:noFill/>
        </p:spPr>
        <p:txBody>
          <a:bodyPr wrap="square" anchor="ctr">
            <a:spAutoFit/>
          </a:bodyPr>
          <a:lstStyle/>
          <a:p>
            <a:pPr algn="l">
              <a:spcAft>
                <a:spcPts val="0"/>
              </a:spcAft>
            </a:pPr>
            <a:r>
              <a:rPr sz="1300" b="1">
                <a:solidFill>
                  <a:srgbClr val="7CC4FF"/>
                </a:solidFill>
                <a:latin typeface="Calibri"/>
              </a:rPr>
              <a:t>reduced coupling  </a:t>
            </a:r>
            <a:r>
              <a:rPr sz="1300" b="0">
                <a:solidFill>
                  <a:srgbClr val="EEF3FA"/>
                </a:solidFill>
                <a:latin typeface="Calibri"/>
              </a:rPr>
              <a:t>= how strongly people copy each other</a:t>
            </a:r>
          </a:p>
        </p:txBody>
      </p:sp>
      <p:pic>
        <p:nvPicPr>
          <p:cNvPr id="19" name="Picture 18" descr="4b880f26890debb7.png"/>
          <p:cNvPicPr>
            <a:picLocks noChangeAspect="1"/>
          </p:cNvPicPr>
          <p:nvPr/>
        </p:nvPicPr>
        <p:blipFill>
          <a:blip r:embed="rId10"/>
          <a:stretch>
            <a:fillRect/>
          </a:stretch>
        </p:blipFill>
        <p:spPr>
          <a:xfrm>
            <a:off x="1043387" y="5148072"/>
            <a:ext cx="427824" cy="247573"/>
          </a:xfrm>
          <a:prstGeom prst="rect">
            <a:avLst/>
          </a:prstGeom>
        </p:spPr>
      </p:pic>
      <p:sp>
        <p:nvSpPr>
          <p:cNvPr id="20" name="TextBox 19"/>
          <p:cNvSpPr txBox="1"/>
          <p:nvPr/>
        </p:nvSpPr>
        <p:spPr>
          <a:xfrm>
            <a:off x="1783080" y="5093208"/>
            <a:ext cx="4023360" cy="502920"/>
          </a:xfrm>
          <a:prstGeom prst="rect">
            <a:avLst/>
          </a:prstGeom>
          <a:noFill/>
        </p:spPr>
        <p:txBody>
          <a:bodyPr wrap="square" anchor="ctr">
            <a:spAutoFit/>
          </a:bodyPr>
          <a:lstStyle/>
          <a:p>
            <a:pPr algn="l">
              <a:spcAft>
                <a:spcPts val="0"/>
              </a:spcAft>
            </a:pPr>
            <a:r>
              <a:rPr sz="1300" b="1">
                <a:solidFill>
                  <a:srgbClr val="7CC4FF"/>
                </a:solidFill>
                <a:latin typeface="Calibri"/>
              </a:rPr>
              <a:t>spread  </a:t>
            </a:r>
            <a:r>
              <a:rPr sz="1300" b="0">
                <a:solidFill>
                  <a:srgbClr val="EEF3FA"/>
                </a:solidFill>
                <a:latin typeface="Calibri"/>
              </a:rPr>
              <a:t>= highest − lowest score = 0.124</a:t>
            </a:r>
          </a:p>
        </p:txBody>
      </p:sp>
      <p:graphicFrame>
        <p:nvGraphicFramePr>
          <p:cNvPr id="21" name="Chart 20"/>
          <p:cNvGraphicFramePr>
            <a:graphicFrameLocks noGrp="1"/>
          </p:cNvGraphicFramePr>
          <p:nvPr/>
        </p:nvGraphicFramePr>
        <p:xfrm>
          <a:off x="6172200" y="1280160"/>
          <a:ext cx="5394960" cy="3383280"/>
        </p:xfrm>
        <a:graphic>
          <a:graphicData uri="http://schemas.openxmlformats.org/drawingml/2006/chart">
            <c:chart xmlns:c="http://schemas.openxmlformats.org/drawingml/2006/chart" r:id="rId11"/>
          </a:graphicData>
        </a:graphic>
      </p:graphicFrame>
      <p:sp>
        <p:nvSpPr>
          <p:cNvPr id="22" name="TextBox 21"/>
          <p:cNvSpPr txBox="1"/>
          <p:nvPr/>
        </p:nvSpPr>
        <p:spPr>
          <a:xfrm>
            <a:off x="6172200" y="4572000"/>
            <a:ext cx="5394960" cy="274320"/>
          </a:xfrm>
          <a:prstGeom prst="rect">
            <a:avLst/>
          </a:prstGeom>
          <a:noFill/>
        </p:spPr>
        <p:txBody>
          <a:bodyPr wrap="square" anchor="t">
            <a:spAutoFit/>
          </a:bodyPr>
          <a:lstStyle/>
          <a:p>
            <a:pPr algn="ctr">
              <a:spcAft>
                <a:spcPts val="0"/>
              </a:spcAft>
            </a:pPr>
            <a:r>
              <a:rPr sz="1200" b="0" i="0">
                <a:solidFill>
                  <a:srgbClr val="9AABC4"/>
                </a:solidFill>
                <a:latin typeface="Calibri"/>
              </a:rPr>
              <a:t>reduced coupling βJ  →</a:t>
            </a:r>
          </a:p>
        </p:txBody>
      </p:sp>
      <p:sp>
        <p:nvSpPr>
          <p:cNvPr id="23" name="TextBox 22"/>
          <p:cNvSpPr txBox="1"/>
          <p:nvPr/>
        </p:nvSpPr>
        <p:spPr>
          <a:xfrm>
            <a:off x="6355080" y="1234440"/>
            <a:ext cx="2743200" cy="274320"/>
          </a:xfrm>
          <a:prstGeom prst="rect">
            <a:avLst/>
          </a:prstGeom>
          <a:noFill/>
        </p:spPr>
        <p:txBody>
          <a:bodyPr wrap="square" anchor="t">
            <a:spAutoFit/>
          </a:bodyPr>
          <a:lstStyle/>
          <a:p>
            <a:pPr algn="l">
              <a:spcAft>
                <a:spcPts val="0"/>
              </a:spcAft>
            </a:pPr>
            <a:r>
              <a:rPr sz="1200" b="0" i="0">
                <a:solidFill>
                  <a:srgbClr val="9AABC4"/>
                </a:solidFill>
                <a:latin typeface="Calibri"/>
              </a:rPr>
              <a:t>minimum α</a:t>
            </a:r>
          </a:p>
        </p:txBody>
      </p:sp>
      <p:sp>
        <p:nvSpPr>
          <p:cNvPr id="24" name="Rounded Rectangle 23"/>
          <p:cNvSpPr/>
          <p:nvPr/>
        </p:nvSpPr>
        <p:spPr>
          <a:xfrm>
            <a:off x="6172200" y="4892040"/>
            <a:ext cx="5330952" cy="777240"/>
          </a:xfrm>
          <a:prstGeom prst="roundRect">
            <a:avLst>
              <a:gd name="adj" fmla="val 6000"/>
            </a:avLst>
          </a:prstGeom>
          <a:solidFill>
            <a:srgbClr val="12223C"/>
          </a:solidFill>
          <a:ln w="25400">
            <a:solidFill>
              <a:srgbClr val="FF7A59"/>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09728" bIns="109728"/>
          <a:lstStyle/>
          <a:p>
            <a:pPr algn="ctr">
              <a:spcAft>
                <a:spcPts val="0"/>
              </a:spcAft>
            </a:pPr>
            <a:r>
              <a:rPr sz="2200" b="1" i="0">
                <a:solidFill>
                  <a:srgbClr val="FF7A59"/>
                </a:solidFill>
                <a:latin typeface="Calibri"/>
              </a:rPr>
              <a:t>α ≥ 0.533 ÷ 0.124 = 4.29</a:t>
            </a:r>
          </a:p>
          <a:p>
            <a:pPr algn="ctr">
              <a:spcAft>
                <a:spcPts val="0"/>
              </a:spcAft>
            </a:pPr>
            <a:r>
              <a:rPr sz="1300" b="0" i="0">
                <a:solidFill>
                  <a:srgbClr val="EEF3FA"/>
                </a:solidFill>
                <a:latin typeface="Calibri"/>
              </a:rPr>
              <a:t>at βJ = 2, where the critical field is 0.533</a:t>
            </a:r>
          </a:p>
        </p:txBody>
      </p:sp>
      <p:sp>
        <p:nvSpPr>
          <p:cNvPr id="25" name="TextBox 24"/>
          <p:cNvSpPr txBox="1"/>
          <p:nvPr/>
        </p:nvSpPr>
        <p:spPr>
          <a:xfrm>
            <a:off x="6019495" y="6053328"/>
            <a:ext cx="5486400" cy="274320"/>
          </a:xfrm>
          <a:prstGeom prst="rect">
            <a:avLst/>
          </a:prstGeom>
          <a:noFill/>
        </p:spPr>
        <p:txBody>
          <a:bodyPr wrap="square" anchor="t">
            <a:spAutoFit/>
          </a:bodyPr>
          <a:lstStyle/>
          <a:p>
            <a:pPr algn="r">
              <a:spcAft>
                <a:spcPts val="0"/>
              </a:spcAft>
            </a:pPr>
            <a:r>
              <a:rPr sz="1200" b="1" i="0">
                <a:solidFill>
                  <a:srgbClr val="F5B83D"/>
                </a:solidFill>
                <a:latin typeface="Calibri"/>
              </a:rPr>
              <a:t>Next: what it could be used for  →</a:t>
            </a:r>
          </a:p>
        </p:txBody>
      </p:sp>
      <p:sp>
        <p:nvSpPr>
          <p:cNvPr id="26" name="TextBox 25"/>
          <p:cNvSpPr txBox="1"/>
          <p:nvPr/>
        </p:nvSpPr>
        <p:spPr>
          <a:xfrm>
            <a:off x="685800" y="6355080"/>
            <a:ext cx="4572000" cy="320040"/>
          </a:xfrm>
          <a:prstGeom prst="rect">
            <a:avLst/>
          </a:prstGeom>
          <a:noFill/>
        </p:spPr>
        <p:txBody>
          <a:bodyPr wrap="square" anchor="t">
            <a:spAutoFit/>
          </a:bodyPr>
          <a:lstStyle/>
          <a:p>
            <a:pPr algn="l">
              <a:spcAft>
                <a:spcPts val="0"/>
              </a:spcAft>
            </a:pPr>
            <a:r>
              <a:rPr sz="1000" b="1" i="0">
                <a:solidFill>
                  <a:srgbClr val="9AABC4"/>
                </a:solidFill>
                <a:latin typeface="Calibri"/>
              </a:rPr>
              <a:t>THE PHYSICS</a:t>
            </a:r>
          </a:p>
        </p:txBody>
      </p:sp>
      <p:sp>
        <p:nvSpPr>
          <p:cNvPr id="27" name="Rectangle 26"/>
          <p:cNvSpPr/>
          <p:nvPr/>
        </p:nvSpPr>
        <p:spPr>
          <a:xfrm>
            <a:off x="4692243" y="6473952"/>
            <a:ext cx="502920" cy="36576"/>
          </a:xfrm>
          <a:prstGeom prst="rect">
            <a:avLst/>
          </a:prstGeom>
          <a:solidFill>
            <a:srgbClr val="2A3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268315" y="6473952"/>
            <a:ext cx="502920" cy="36576"/>
          </a:xfrm>
          <a:prstGeom prst="rect">
            <a:avLst/>
          </a:prstGeom>
          <a:solidFill>
            <a:srgbClr val="2A3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5844387" y="6473952"/>
            <a:ext cx="502920" cy="36576"/>
          </a:xfrm>
          <a:prstGeom prst="rect">
            <a:avLst/>
          </a:prstGeom>
          <a:solidFill>
            <a:srgbClr val="2A3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420459" y="6473952"/>
            <a:ext cx="502920" cy="36576"/>
          </a:xfrm>
          <a:prstGeom prst="rect">
            <a:avLst/>
          </a:prstGeom>
          <a:solidFill>
            <a:srgbClr val="7CC4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6996531" y="6473952"/>
            <a:ext cx="502920" cy="36576"/>
          </a:xfrm>
          <a:prstGeom prst="rect">
            <a:avLst/>
          </a:prstGeom>
          <a:solidFill>
            <a:srgbClr val="2A3D5E">
              <a:alpha val="8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0591495" y="6355080"/>
            <a:ext cx="914400" cy="320040"/>
          </a:xfrm>
          <a:prstGeom prst="rect">
            <a:avLst/>
          </a:prstGeom>
          <a:noFill/>
        </p:spPr>
        <p:txBody>
          <a:bodyPr wrap="square" anchor="t">
            <a:spAutoFit/>
          </a:bodyPr>
          <a:lstStyle/>
          <a:p>
            <a:pPr algn="r">
              <a:spcAft>
                <a:spcPts val="0"/>
              </a:spcAft>
            </a:pPr>
            <a:r>
              <a:rPr sz="1100" b="1" i="0">
                <a:solidFill>
                  <a:srgbClr val="9AABC4"/>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Oval 1"/>
          <p:cNvSpPr/>
          <p:nvPr/>
        </p:nvSpPr>
        <p:spPr>
          <a:xfrm>
            <a:off x="8214055" y="-3794760"/>
            <a:ext cx="6858000" cy="6858000"/>
          </a:xfrm>
          <a:prstGeom prst="ellipse">
            <a:avLst/>
          </a:prstGeom>
          <a:gradFill rotWithShape="1">
            <a:gsLst>
              <a:gs pos="0">
                <a:srgbClr val="3E8EDE">
                  <a:alpha val="28000"/>
                </a:srgbClr>
              </a:gs>
              <a:gs pos="100000">
                <a:srgbClr val="3E8EDE">
                  <a:alpha val="0"/>
                </a:srgbClr>
              </a:gs>
            </a:gsLst>
            <a:path path="circle">
              <a:fillToRect l="50000" t="50000" r="50000" b="50000"/>
            </a:path>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3474720" y="4663440"/>
            <a:ext cx="5486400" cy="5486400"/>
          </a:xfrm>
          <a:prstGeom prst="ellipse">
            <a:avLst/>
          </a:prstGeom>
          <a:gradFill rotWithShape="1">
            <a:gsLst>
              <a:gs pos="0">
                <a:srgbClr val="FF7A59">
                  <a:alpha val="10000"/>
                </a:srgbClr>
              </a:gs>
              <a:gs pos="100000">
                <a:srgbClr val="FF7A59">
                  <a:alpha val="0"/>
                </a:srgbClr>
              </a:gs>
            </a:gsLst>
            <a:path path="circle">
              <a:fillToRect l="50000" t="50000" r="50000" b="50000"/>
            </a:path>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target.png"/>
          <p:cNvPicPr>
            <a:picLocks noChangeAspect="1"/>
          </p:cNvPicPr>
          <p:nvPr/>
        </p:nvPicPr>
        <p:blipFill>
          <a:blip r:embed="rId3"/>
          <a:stretch>
            <a:fillRect/>
          </a:stretch>
        </p:blipFill>
        <p:spPr>
          <a:xfrm>
            <a:off x="685800" y="457200"/>
            <a:ext cx="420624" cy="420624"/>
          </a:xfrm>
          <a:prstGeom prst="rect">
            <a:avLst/>
          </a:prstGeom>
        </p:spPr>
      </p:pic>
      <p:sp>
        <p:nvSpPr>
          <p:cNvPr id="5" name="TextBox 4"/>
          <p:cNvSpPr txBox="1"/>
          <p:nvPr/>
        </p:nvSpPr>
        <p:spPr>
          <a:xfrm>
            <a:off x="1289304" y="201168"/>
            <a:ext cx="10216591" cy="320040"/>
          </a:xfrm>
          <a:prstGeom prst="rect">
            <a:avLst/>
          </a:prstGeom>
          <a:noFill/>
        </p:spPr>
        <p:txBody>
          <a:bodyPr wrap="square" anchor="t">
            <a:spAutoFit/>
          </a:bodyPr>
          <a:lstStyle/>
          <a:p>
            <a:pPr algn="l">
              <a:spcAft>
                <a:spcPts val="0"/>
              </a:spcAft>
            </a:pPr>
            <a:r>
              <a:rPr sz="1200" b="1" i="0">
                <a:solidFill>
                  <a:srgbClr val="FF7A59"/>
                </a:solidFill>
                <a:latin typeface="Calibri"/>
              </a:rPr>
              <a:t>WHAT'S NEXT</a:t>
            </a:r>
          </a:p>
        </p:txBody>
      </p:sp>
      <p:sp>
        <p:nvSpPr>
          <p:cNvPr id="6" name="TextBox 5"/>
          <p:cNvSpPr txBox="1"/>
          <p:nvPr/>
        </p:nvSpPr>
        <p:spPr>
          <a:xfrm>
            <a:off x="1289304" y="420624"/>
            <a:ext cx="10216591" cy="822960"/>
          </a:xfrm>
          <a:prstGeom prst="rect">
            <a:avLst/>
          </a:prstGeom>
          <a:noFill/>
        </p:spPr>
        <p:txBody>
          <a:bodyPr wrap="square" anchor="t">
            <a:spAutoFit/>
          </a:bodyPr>
          <a:lstStyle/>
          <a:p>
            <a:pPr algn="l">
              <a:spcAft>
                <a:spcPts val="0"/>
              </a:spcAft>
            </a:pPr>
            <a:r>
              <a:rPr sz="2600" b="1" i="0">
                <a:solidFill>
                  <a:srgbClr val="7CC4FF"/>
                </a:solidFill>
                <a:latin typeface="Calibri"/>
              </a:rPr>
              <a:t>Can it analyse any content, even what children watch?</a:t>
            </a:r>
          </a:p>
        </p:txBody>
      </p:sp>
      <p:sp>
        <p:nvSpPr>
          <p:cNvPr id="7" name="Rounded Rectangle 6"/>
          <p:cNvSpPr/>
          <p:nvPr/>
        </p:nvSpPr>
        <p:spPr>
          <a:xfrm>
            <a:off x="685800" y="1371600"/>
            <a:ext cx="3429000" cy="3520440"/>
          </a:xfrm>
          <a:prstGeom prst="roundRect">
            <a:avLst>
              <a:gd name="adj" fmla="val 6000"/>
            </a:avLst>
          </a:prstGeom>
          <a:solidFill>
            <a:srgbClr val="12223C"/>
          </a:solidFill>
          <a:ln w="25400">
            <a:solidFill>
              <a:srgbClr val="5FD09A"/>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09728" bIns="109728"/>
          <a:lstStyle/>
          <a:p>
            <a:pPr algn="l"/>
          </a:p>
        </p:txBody>
      </p:sp>
      <p:pic>
        <p:nvPicPr>
          <p:cNvPr id="8" name="Picture 7" descr="check-circle.png"/>
          <p:cNvPicPr>
            <a:picLocks noChangeAspect="1"/>
          </p:cNvPicPr>
          <p:nvPr/>
        </p:nvPicPr>
        <p:blipFill>
          <a:blip r:embed="rId4"/>
          <a:stretch>
            <a:fillRect/>
          </a:stretch>
        </p:blipFill>
        <p:spPr>
          <a:xfrm>
            <a:off x="2125980" y="1554480"/>
            <a:ext cx="548640" cy="548640"/>
          </a:xfrm>
          <a:prstGeom prst="rect">
            <a:avLst/>
          </a:prstGeom>
        </p:spPr>
      </p:pic>
      <p:sp>
        <p:nvSpPr>
          <p:cNvPr id="9" name="TextBox 8"/>
          <p:cNvSpPr txBox="1"/>
          <p:nvPr/>
        </p:nvSpPr>
        <p:spPr>
          <a:xfrm>
            <a:off x="685800" y="2194560"/>
            <a:ext cx="3429000" cy="365760"/>
          </a:xfrm>
          <a:prstGeom prst="rect">
            <a:avLst/>
          </a:prstGeom>
          <a:noFill/>
        </p:spPr>
        <p:txBody>
          <a:bodyPr wrap="square" anchor="t">
            <a:spAutoFit/>
          </a:bodyPr>
          <a:lstStyle/>
          <a:p>
            <a:pPr algn="ctr">
              <a:spcAft>
                <a:spcPts val="0"/>
              </a:spcAft>
            </a:pPr>
            <a:r>
              <a:rPr sz="1600" b="1" i="0">
                <a:solidFill>
                  <a:srgbClr val="5FD09A"/>
                </a:solidFill>
                <a:latin typeface="Calibri"/>
              </a:rPr>
              <a:t>CAN DO</a:t>
            </a:r>
          </a:p>
        </p:txBody>
      </p:sp>
      <p:sp>
        <p:nvSpPr>
          <p:cNvPr id="10" name="Rounded Rectangle 9"/>
          <p:cNvSpPr/>
          <p:nvPr/>
        </p:nvSpPr>
        <p:spPr>
          <a:xfrm>
            <a:off x="868680" y="2697480"/>
            <a:ext cx="3063240" cy="603504"/>
          </a:xfrm>
          <a:prstGeom prst="roundRect">
            <a:avLst>
              <a:gd name="adj" fmla="val 6000"/>
            </a:avLst>
          </a:prstGeom>
          <a:solidFill>
            <a:srgbClr val="12223C"/>
          </a:solidFill>
          <a:ln w="15875">
            <a:solidFill>
              <a:srgbClr val="2A3D5E"/>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09728" bIns="109728"/>
          <a:lstStyle/>
          <a:p>
            <a:pPr algn="ctr">
              <a:spcAft>
                <a:spcPts val="0"/>
              </a:spcAft>
            </a:pPr>
            <a:r>
              <a:rPr sz="1400" b="0" i="0">
                <a:solidFill>
                  <a:srgbClr val="EEF3FA"/>
                </a:solidFill>
                <a:latin typeface="Calibri"/>
              </a:rPr>
              <a:t>Score video, audio and text</a:t>
            </a:r>
          </a:p>
        </p:txBody>
      </p:sp>
      <p:sp>
        <p:nvSpPr>
          <p:cNvPr id="11" name="Rounded Rectangle 10"/>
          <p:cNvSpPr/>
          <p:nvPr/>
        </p:nvSpPr>
        <p:spPr>
          <a:xfrm>
            <a:off x="868680" y="3410712"/>
            <a:ext cx="3063240" cy="603504"/>
          </a:xfrm>
          <a:prstGeom prst="roundRect">
            <a:avLst>
              <a:gd name="adj" fmla="val 6000"/>
            </a:avLst>
          </a:prstGeom>
          <a:solidFill>
            <a:srgbClr val="12223C"/>
          </a:solidFill>
          <a:ln w="15875">
            <a:solidFill>
              <a:srgbClr val="2A3D5E"/>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09728" bIns="109728"/>
          <a:lstStyle/>
          <a:p>
            <a:pPr algn="ctr">
              <a:spcAft>
                <a:spcPts val="0"/>
              </a:spcAft>
            </a:pPr>
            <a:r>
              <a:rPr sz="1400" b="0" i="0">
                <a:solidFill>
                  <a:srgbClr val="EEF3FA"/>
                </a:solidFill>
                <a:latin typeface="Calibri"/>
              </a:rPr>
              <a:t>Compare groups of content</a:t>
            </a:r>
          </a:p>
        </p:txBody>
      </p:sp>
      <p:sp>
        <p:nvSpPr>
          <p:cNvPr id="12" name="Rounded Rectangle 11"/>
          <p:cNvSpPr/>
          <p:nvPr/>
        </p:nvSpPr>
        <p:spPr>
          <a:xfrm>
            <a:off x="868680" y="4123944"/>
            <a:ext cx="3063240" cy="603504"/>
          </a:xfrm>
          <a:prstGeom prst="roundRect">
            <a:avLst>
              <a:gd name="adj" fmla="val 6000"/>
            </a:avLst>
          </a:prstGeom>
          <a:solidFill>
            <a:srgbClr val="12223C"/>
          </a:solidFill>
          <a:ln w="15875">
            <a:solidFill>
              <a:srgbClr val="2A3D5E"/>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09728" bIns="109728"/>
          <a:lstStyle/>
          <a:p>
            <a:pPr algn="ctr">
              <a:spcAft>
                <a:spcPts val="0"/>
              </a:spcAft>
            </a:pPr>
            <a:r>
              <a:rPr sz="1400" b="0" i="0">
                <a:solidFill>
                  <a:srgbClr val="EEF3FA"/>
                </a:solidFill>
                <a:latin typeface="Calibri"/>
              </a:rPr>
              <a:t>Rate content, never the viewer</a:t>
            </a:r>
          </a:p>
        </p:txBody>
      </p:sp>
      <p:sp>
        <p:nvSpPr>
          <p:cNvPr id="13" name="Rounded Rectangle 12"/>
          <p:cNvSpPr/>
          <p:nvPr/>
        </p:nvSpPr>
        <p:spPr>
          <a:xfrm>
            <a:off x="4379976" y="1371600"/>
            <a:ext cx="3429000" cy="3520440"/>
          </a:xfrm>
          <a:prstGeom prst="roundRect">
            <a:avLst>
              <a:gd name="adj" fmla="val 6000"/>
            </a:avLst>
          </a:prstGeom>
          <a:solidFill>
            <a:srgbClr val="12223C"/>
          </a:solidFill>
          <a:ln w="25400">
            <a:solidFill>
              <a:srgbClr val="FF7A59"/>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09728" bIns="109728"/>
          <a:lstStyle/>
          <a:p>
            <a:pPr algn="l"/>
          </a:p>
        </p:txBody>
      </p:sp>
      <p:pic>
        <p:nvPicPr>
          <p:cNvPr id="14" name="Picture 13" descr="x-circle.png"/>
          <p:cNvPicPr>
            <a:picLocks noChangeAspect="1"/>
          </p:cNvPicPr>
          <p:nvPr/>
        </p:nvPicPr>
        <p:blipFill>
          <a:blip r:embed="rId5"/>
          <a:stretch>
            <a:fillRect/>
          </a:stretch>
        </p:blipFill>
        <p:spPr>
          <a:xfrm>
            <a:off x="5820156" y="1554480"/>
            <a:ext cx="548640" cy="548640"/>
          </a:xfrm>
          <a:prstGeom prst="rect">
            <a:avLst/>
          </a:prstGeom>
        </p:spPr>
      </p:pic>
      <p:sp>
        <p:nvSpPr>
          <p:cNvPr id="15" name="TextBox 14"/>
          <p:cNvSpPr txBox="1"/>
          <p:nvPr/>
        </p:nvSpPr>
        <p:spPr>
          <a:xfrm>
            <a:off x="4379976" y="2194560"/>
            <a:ext cx="3429000" cy="365760"/>
          </a:xfrm>
          <a:prstGeom prst="rect">
            <a:avLst/>
          </a:prstGeom>
          <a:noFill/>
        </p:spPr>
        <p:txBody>
          <a:bodyPr wrap="square" anchor="t">
            <a:spAutoFit/>
          </a:bodyPr>
          <a:lstStyle/>
          <a:p>
            <a:pPr algn="ctr">
              <a:spcAft>
                <a:spcPts val="0"/>
              </a:spcAft>
            </a:pPr>
            <a:r>
              <a:rPr sz="1600" b="1" i="0">
                <a:solidFill>
                  <a:srgbClr val="FF7A59"/>
                </a:solidFill>
                <a:latin typeface="Calibri"/>
              </a:rPr>
              <a:t>NOT YET</a:t>
            </a:r>
          </a:p>
        </p:txBody>
      </p:sp>
      <p:sp>
        <p:nvSpPr>
          <p:cNvPr id="16" name="Rounded Rectangle 15"/>
          <p:cNvSpPr/>
          <p:nvPr/>
        </p:nvSpPr>
        <p:spPr>
          <a:xfrm>
            <a:off x="4562856" y="2697480"/>
            <a:ext cx="3063240" cy="603504"/>
          </a:xfrm>
          <a:prstGeom prst="roundRect">
            <a:avLst>
              <a:gd name="adj" fmla="val 6000"/>
            </a:avLst>
          </a:prstGeom>
          <a:solidFill>
            <a:srgbClr val="12223C"/>
          </a:solidFill>
          <a:ln w="15875">
            <a:solidFill>
              <a:srgbClr val="2A3D5E"/>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09728" bIns="109728"/>
          <a:lstStyle/>
          <a:p>
            <a:pPr algn="ctr">
              <a:spcAft>
                <a:spcPts val="0"/>
              </a:spcAft>
            </a:pPr>
            <a:r>
              <a:rPr sz="1400" b="0" i="0">
                <a:solidFill>
                  <a:srgbClr val="EEF3FA"/>
                </a:solidFill>
                <a:latin typeface="Calibri"/>
              </a:rPr>
              <a:t>Model learned from adult brains</a:t>
            </a:r>
          </a:p>
        </p:txBody>
      </p:sp>
      <p:sp>
        <p:nvSpPr>
          <p:cNvPr id="17" name="Rounded Rectangle 16"/>
          <p:cNvSpPr/>
          <p:nvPr/>
        </p:nvSpPr>
        <p:spPr>
          <a:xfrm>
            <a:off x="4562856" y="3410712"/>
            <a:ext cx="3063240" cy="603504"/>
          </a:xfrm>
          <a:prstGeom prst="roundRect">
            <a:avLst>
              <a:gd name="adj" fmla="val 6000"/>
            </a:avLst>
          </a:prstGeom>
          <a:solidFill>
            <a:srgbClr val="12223C"/>
          </a:solidFill>
          <a:ln w="15875">
            <a:solidFill>
              <a:srgbClr val="2A3D5E"/>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09728" bIns="109728"/>
          <a:lstStyle/>
          <a:p>
            <a:pPr algn="ctr">
              <a:spcAft>
                <a:spcPts val="0"/>
              </a:spcAft>
            </a:pPr>
            <a:r>
              <a:rPr sz="1400" b="0" i="0">
                <a:solidFill>
                  <a:srgbClr val="EEF3FA"/>
                </a:solidFill>
                <a:latin typeface="Calibri"/>
              </a:rPr>
              <a:t>Only news text was tested</a:t>
            </a:r>
          </a:p>
        </p:txBody>
      </p:sp>
      <p:sp>
        <p:nvSpPr>
          <p:cNvPr id="18" name="Rounded Rectangle 17"/>
          <p:cNvSpPr/>
          <p:nvPr/>
        </p:nvSpPr>
        <p:spPr>
          <a:xfrm>
            <a:off x="4562856" y="4123944"/>
            <a:ext cx="3063240" cy="603504"/>
          </a:xfrm>
          <a:prstGeom prst="roundRect">
            <a:avLst>
              <a:gd name="adj" fmla="val 6000"/>
            </a:avLst>
          </a:prstGeom>
          <a:solidFill>
            <a:srgbClr val="12223C"/>
          </a:solidFill>
          <a:ln w="15875">
            <a:solidFill>
              <a:srgbClr val="2A3D5E"/>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09728" bIns="109728"/>
          <a:lstStyle/>
          <a:p>
            <a:pPr algn="ctr">
              <a:spcAft>
                <a:spcPts val="0"/>
              </a:spcAft>
            </a:pPr>
            <a:r>
              <a:rPr sz="1400" b="0" i="0">
                <a:solidFill>
                  <a:srgbClr val="EEF3FA"/>
                </a:solidFill>
                <a:latin typeface="Calibri"/>
              </a:rPr>
              <a:t>1 in 8 single scores flip</a:t>
            </a:r>
          </a:p>
        </p:txBody>
      </p:sp>
      <p:sp>
        <p:nvSpPr>
          <p:cNvPr id="19" name="Rounded Rectangle 18"/>
          <p:cNvSpPr/>
          <p:nvPr/>
        </p:nvSpPr>
        <p:spPr>
          <a:xfrm>
            <a:off x="8074152" y="1371600"/>
            <a:ext cx="3429000" cy="3520440"/>
          </a:xfrm>
          <a:prstGeom prst="roundRect">
            <a:avLst>
              <a:gd name="adj" fmla="val 6000"/>
            </a:avLst>
          </a:prstGeom>
          <a:solidFill>
            <a:srgbClr val="12223C"/>
          </a:solidFill>
          <a:ln w="25400">
            <a:solidFill>
              <a:srgbClr val="7CC4FF"/>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09728" bIns="109728"/>
          <a:lstStyle/>
          <a:p>
            <a:pPr algn="l"/>
          </a:p>
        </p:txBody>
      </p:sp>
      <p:pic>
        <p:nvPicPr>
          <p:cNvPr id="20" name="Picture 19" descr="flag-banner.png"/>
          <p:cNvPicPr>
            <a:picLocks noChangeAspect="1"/>
          </p:cNvPicPr>
          <p:nvPr/>
        </p:nvPicPr>
        <p:blipFill>
          <a:blip r:embed="rId6"/>
          <a:stretch>
            <a:fillRect/>
          </a:stretch>
        </p:blipFill>
        <p:spPr>
          <a:xfrm>
            <a:off x="9514332" y="1554480"/>
            <a:ext cx="548640" cy="548640"/>
          </a:xfrm>
          <a:prstGeom prst="rect">
            <a:avLst/>
          </a:prstGeom>
        </p:spPr>
      </p:pic>
      <p:sp>
        <p:nvSpPr>
          <p:cNvPr id="21" name="TextBox 20"/>
          <p:cNvSpPr txBox="1"/>
          <p:nvPr/>
        </p:nvSpPr>
        <p:spPr>
          <a:xfrm>
            <a:off x="8074152" y="2194560"/>
            <a:ext cx="3429000" cy="365760"/>
          </a:xfrm>
          <a:prstGeom prst="rect">
            <a:avLst/>
          </a:prstGeom>
          <a:noFill/>
        </p:spPr>
        <p:txBody>
          <a:bodyPr wrap="square" anchor="t">
            <a:spAutoFit/>
          </a:bodyPr>
          <a:lstStyle/>
          <a:p>
            <a:pPr algn="ctr">
              <a:spcAft>
                <a:spcPts val="0"/>
              </a:spcAft>
            </a:pPr>
            <a:r>
              <a:rPr sz="1600" b="1" i="0">
                <a:solidFill>
                  <a:srgbClr val="7CC4FF"/>
                </a:solidFill>
                <a:latin typeface="Calibri"/>
              </a:rPr>
              <a:t>WOULD TAKE</a:t>
            </a:r>
          </a:p>
        </p:txBody>
      </p:sp>
      <p:sp>
        <p:nvSpPr>
          <p:cNvPr id="22" name="Rounded Rectangle 21"/>
          <p:cNvSpPr/>
          <p:nvPr/>
        </p:nvSpPr>
        <p:spPr>
          <a:xfrm>
            <a:off x="8257031" y="2697480"/>
            <a:ext cx="3063240" cy="603504"/>
          </a:xfrm>
          <a:prstGeom prst="roundRect">
            <a:avLst>
              <a:gd name="adj" fmla="val 6000"/>
            </a:avLst>
          </a:prstGeom>
          <a:solidFill>
            <a:srgbClr val="12223C"/>
          </a:solidFill>
          <a:ln w="15875">
            <a:solidFill>
              <a:srgbClr val="2A3D5E"/>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09728" bIns="109728"/>
          <a:lstStyle/>
          <a:p>
            <a:pPr algn="ctr">
              <a:spcAft>
                <a:spcPts val="0"/>
              </a:spcAft>
            </a:pPr>
            <a:r>
              <a:rPr sz="1400" b="0" i="0">
                <a:solidFill>
                  <a:srgbClr val="EEF3FA"/>
                </a:solidFill>
                <a:latin typeface="Calibri"/>
              </a:rPr>
              <a:t>Child brain data, with ethics approval</a:t>
            </a:r>
          </a:p>
        </p:txBody>
      </p:sp>
      <p:sp>
        <p:nvSpPr>
          <p:cNvPr id="23" name="Rounded Rectangle 22"/>
          <p:cNvSpPr/>
          <p:nvPr/>
        </p:nvSpPr>
        <p:spPr>
          <a:xfrm>
            <a:off x="8257031" y="3410712"/>
            <a:ext cx="3063240" cy="603504"/>
          </a:xfrm>
          <a:prstGeom prst="roundRect">
            <a:avLst>
              <a:gd name="adj" fmla="val 6000"/>
            </a:avLst>
          </a:prstGeom>
          <a:solidFill>
            <a:srgbClr val="12223C"/>
          </a:solidFill>
          <a:ln w="15875">
            <a:solidFill>
              <a:srgbClr val="2A3D5E"/>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09728" bIns="109728"/>
          <a:lstStyle/>
          <a:p>
            <a:pPr algn="ctr">
              <a:spcAft>
                <a:spcPts val="0"/>
              </a:spcAft>
            </a:pPr>
            <a:r>
              <a:rPr sz="1400" b="0" i="0">
                <a:solidFill>
                  <a:srgbClr val="EEF3FA"/>
                </a:solidFill>
                <a:latin typeface="Calibri"/>
              </a:rPr>
              <a:t>A children's video test set</a:t>
            </a:r>
          </a:p>
        </p:txBody>
      </p:sp>
      <p:sp>
        <p:nvSpPr>
          <p:cNvPr id="24" name="Rounded Rectangle 23"/>
          <p:cNvSpPr/>
          <p:nvPr/>
        </p:nvSpPr>
        <p:spPr>
          <a:xfrm>
            <a:off x="8257031" y="4123944"/>
            <a:ext cx="3063240" cy="603504"/>
          </a:xfrm>
          <a:prstGeom prst="roundRect">
            <a:avLst>
              <a:gd name="adj" fmla="val 6000"/>
            </a:avLst>
          </a:prstGeom>
          <a:solidFill>
            <a:srgbClr val="12223C"/>
          </a:solidFill>
          <a:ln w="15875">
            <a:solidFill>
              <a:srgbClr val="2A3D5E"/>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09728" bIns="109728"/>
          <a:lstStyle/>
          <a:p>
            <a:pPr algn="ctr">
              <a:spcAft>
                <a:spcPts val="0"/>
              </a:spcAft>
            </a:pPr>
            <a:r>
              <a:rPr sz="1400" b="0" i="0">
                <a:solidFill>
                  <a:srgbClr val="EEF3FA"/>
                </a:solidFill>
                <a:latin typeface="Calibri"/>
              </a:rPr>
              <a:t>Safeguards against targeting children</a:t>
            </a:r>
          </a:p>
        </p:txBody>
      </p:sp>
      <p:sp>
        <p:nvSpPr>
          <p:cNvPr id="25" name="Rounded Rectangle 24"/>
          <p:cNvSpPr/>
          <p:nvPr/>
        </p:nvSpPr>
        <p:spPr>
          <a:xfrm>
            <a:off x="685800" y="5120640"/>
            <a:ext cx="10820095" cy="548640"/>
          </a:xfrm>
          <a:prstGeom prst="roundRect">
            <a:avLst>
              <a:gd name="adj" fmla="val 6000"/>
            </a:avLst>
          </a:prstGeom>
          <a:solidFill>
            <a:srgbClr val="12223C"/>
          </a:solidFill>
          <a:ln w="25400">
            <a:solidFill>
              <a:srgbClr val="F5B83D"/>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09728" bIns="109728"/>
          <a:lstStyle/>
          <a:p>
            <a:pPr algn="l">
              <a:spcAft>
                <a:spcPts val="0"/>
              </a:spcAft>
            </a:pPr>
            <a:r>
              <a:rPr sz="1600" b="1">
                <a:solidFill>
                  <a:srgbClr val="F5B83D"/>
                </a:solidFill>
                <a:latin typeface="Calibri"/>
              </a:rPr>
              <a:t>Short answer:  </a:t>
            </a:r>
            <a:r>
              <a:rPr sz="1600" b="0">
                <a:solidFill>
                  <a:srgbClr val="EEF3FA"/>
                </a:solidFill>
                <a:latin typeface="Calibri"/>
              </a:rPr>
              <a:t>technically possible, but not yet valid for children.</a:t>
            </a:r>
          </a:p>
        </p:txBody>
      </p:sp>
      <p:sp>
        <p:nvSpPr>
          <p:cNvPr id="26" name="TextBox 25"/>
          <p:cNvSpPr txBox="1"/>
          <p:nvPr/>
        </p:nvSpPr>
        <p:spPr>
          <a:xfrm>
            <a:off x="6019495" y="6053328"/>
            <a:ext cx="5486400" cy="274320"/>
          </a:xfrm>
          <a:prstGeom prst="rect">
            <a:avLst/>
          </a:prstGeom>
          <a:noFill/>
        </p:spPr>
        <p:txBody>
          <a:bodyPr wrap="square" anchor="t">
            <a:spAutoFit/>
          </a:bodyPr>
          <a:lstStyle/>
          <a:p>
            <a:pPr algn="r">
              <a:spcAft>
                <a:spcPts val="0"/>
              </a:spcAft>
            </a:pPr>
            <a:r>
              <a:rPr sz="1200" b="1" i="0">
                <a:solidFill>
                  <a:srgbClr val="F5B83D"/>
                </a:solidFill>
                <a:latin typeface="Calibri"/>
              </a:rPr>
              <a:t>Next: the limits, and what fixes each  →</a:t>
            </a:r>
          </a:p>
        </p:txBody>
      </p:sp>
      <p:sp>
        <p:nvSpPr>
          <p:cNvPr id="27" name="TextBox 26"/>
          <p:cNvSpPr txBox="1"/>
          <p:nvPr/>
        </p:nvSpPr>
        <p:spPr>
          <a:xfrm>
            <a:off x="685800" y="6355080"/>
            <a:ext cx="4572000" cy="320040"/>
          </a:xfrm>
          <a:prstGeom prst="rect">
            <a:avLst/>
          </a:prstGeom>
          <a:noFill/>
        </p:spPr>
        <p:txBody>
          <a:bodyPr wrap="square" anchor="t">
            <a:spAutoFit/>
          </a:bodyPr>
          <a:lstStyle/>
          <a:p>
            <a:pPr algn="l">
              <a:spcAft>
                <a:spcPts val="0"/>
              </a:spcAft>
            </a:pPr>
            <a:r>
              <a:rPr sz="1000" b="1" i="0">
                <a:solidFill>
                  <a:srgbClr val="9AABC4"/>
                </a:solidFill>
                <a:latin typeface="Calibri"/>
              </a:rPr>
              <a:t>WHAT'S NEXT</a:t>
            </a:r>
          </a:p>
        </p:txBody>
      </p:sp>
      <p:sp>
        <p:nvSpPr>
          <p:cNvPr id="28" name="Rectangle 27"/>
          <p:cNvSpPr/>
          <p:nvPr/>
        </p:nvSpPr>
        <p:spPr>
          <a:xfrm>
            <a:off x="4692243" y="6473952"/>
            <a:ext cx="502920" cy="36576"/>
          </a:xfrm>
          <a:prstGeom prst="rect">
            <a:avLst/>
          </a:prstGeom>
          <a:solidFill>
            <a:srgbClr val="2A3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5268315" y="6473952"/>
            <a:ext cx="502920" cy="36576"/>
          </a:xfrm>
          <a:prstGeom prst="rect">
            <a:avLst/>
          </a:prstGeom>
          <a:solidFill>
            <a:srgbClr val="2A3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5844387" y="6473952"/>
            <a:ext cx="502920" cy="36576"/>
          </a:xfrm>
          <a:prstGeom prst="rect">
            <a:avLst/>
          </a:prstGeom>
          <a:solidFill>
            <a:srgbClr val="2A3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6420459" y="6473952"/>
            <a:ext cx="502920" cy="36576"/>
          </a:xfrm>
          <a:prstGeom prst="rect">
            <a:avLst/>
          </a:prstGeom>
          <a:solidFill>
            <a:srgbClr val="2A3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996531" y="6473952"/>
            <a:ext cx="502920" cy="36576"/>
          </a:xfrm>
          <a:prstGeom prst="rect">
            <a:avLst/>
          </a:prstGeom>
          <a:solidFill>
            <a:srgbClr val="7CC4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0591495" y="6355080"/>
            <a:ext cx="914400" cy="320040"/>
          </a:xfrm>
          <a:prstGeom prst="rect">
            <a:avLst/>
          </a:prstGeom>
          <a:noFill/>
        </p:spPr>
        <p:txBody>
          <a:bodyPr wrap="square" anchor="t">
            <a:spAutoFit/>
          </a:bodyPr>
          <a:lstStyle/>
          <a:p>
            <a:pPr algn="r">
              <a:spcAft>
                <a:spcPts val="0"/>
              </a:spcAft>
            </a:pPr>
            <a:r>
              <a:rPr sz="1100" b="1" i="0">
                <a:solidFill>
                  <a:srgbClr val="9AABC4"/>
                </a:solidFill>
                <a:latin typeface="Calibr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Oval 1"/>
          <p:cNvSpPr/>
          <p:nvPr/>
        </p:nvSpPr>
        <p:spPr>
          <a:xfrm>
            <a:off x="8214055" y="-3794760"/>
            <a:ext cx="6858000" cy="6858000"/>
          </a:xfrm>
          <a:prstGeom prst="ellipse">
            <a:avLst/>
          </a:prstGeom>
          <a:gradFill rotWithShape="1">
            <a:gsLst>
              <a:gs pos="0">
                <a:srgbClr val="3E8EDE">
                  <a:alpha val="28000"/>
                </a:srgbClr>
              </a:gs>
              <a:gs pos="100000">
                <a:srgbClr val="3E8EDE">
                  <a:alpha val="0"/>
                </a:srgbClr>
              </a:gs>
            </a:gsLst>
            <a:path path="circle">
              <a:fillToRect l="50000" t="50000" r="50000" b="50000"/>
            </a:path>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3474720" y="4663440"/>
            <a:ext cx="5486400" cy="5486400"/>
          </a:xfrm>
          <a:prstGeom prst="ellipse">
            <a:avLst/>
          </a:prstGeom>
          <a:gradFill rotWithShape="1">
            <a:gsLst>
              <a:gs pos="0">
                <a:srgbClr val="FF7A59">
                  <a:alpha val="10000"/>
                </a:srgbClr>
              </a:gs>
              <a:gs pos="100000">
                <a:srgbClr val="FF7A59">
                  <a:alpha val="0"/>
                </a:srgbClr>
              </a:gs>
            </a:gsLst>
            <a:path path="circle">
              <a:fillToRect l="50000" t="50000" r="50000" b="50000"/>
            </a:path>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x-circle.png"/>
          <p:cNvPicPr>
            <a:picLocks noChangeAspect="1"/>
          </p:cNvPicPr>
          <p:nvPr/>
        </p:nvPicPr>
        <p:blipFill>
          <a:blip r:embed="rId3"/>
          <a:stretch>
            <a:fillRect/>
          </a:stretch>
        </p:blipFill>
        <p:spPr>
          <a:xfrm>
            <a:off x="685800" y="457200"/>
            <a:ext cx="420624" cy="420624"/>
          </a:xfrm>
          <a:prstGeom prst="rect">
            <a:avLst/>
          </a:prstGeom>
        </p:spPr>
      </p:pic>
      <p:sp>
        <p:nvSpPr>
          <p:cNvPr id="5" name="TextBox 4"/>
          <p:cNvSpPr txBox="1"/>
          <p:nvPr/>
        </p:nvSpPr>
        <p:spPr>
          <a:xfrm>
            <a:off x="1289304" y="201168"/>
            <a:ext cx="10216591" cy="320040"/>
          </a:xfrm>
          <a:prstGeom prst="rect">
            <a:avLst/>
          </a:prstGeom>
          <a:noFill/>
        </p:spPr>
        <p:txBody>
          <a:bodyPr wrap="square" anchor="t">
            <a:spAutoFit/>
          </a:bodyPr>
          <a:lstStyle/>
          <a:p>
            <a:pPr algn="l">
              <a:spcAft>
                <a:spcPts val="0"/>
              </a:spcAft>
            </a:pPr>
            <a:r>
              <a:rPr sz="1200" b="1" i="0">
                <a:solidFill>
                  <a:srgbClr val="FF7A59"/>
                </a:solidFill>
                <a:latin typeface="Calibri"/>
              </a:rPr>
              <a:t>WHAT'S NEXT</a:t>
            </a:r>
          </a:p>
        </p:txBody>
      </p:sp>
      <p:sp>
        <p:nvSpPr>
          <p:cNvPr id="6" name="TextBox 5"/>
          <p:cNvSpPr txBox="1"/>
          <p:nvPr/>
        </p:nvSpPr>
        <p:spPr>
          <a:xfrm>
            <a:off x="1289304" y="420624"/>
            <a:ext cx="10216591" cy="822960"/>
          </a:xfrm>
          <a:prstGeom prst="rect">
            <a:avLst/>
          </a:prstGeom>
          <a:noFill/>
        </p:spPr>
        <p:txBody>
          <a:bodyPr wrap="square" anchor="t">
            <a:spAutoFit/>
          </a:bodyPr>
          <a:lstStyle/>
          <a:p>
            <a:pPr algn="l">
              <a:spcAft>
                <a:spcPts val="0"/>
              </a:spcAft>
            </a:pPr>
            <a:r>
              <a:rPr sz="2600" b="1" i="0">
                <a:solidFill>
                  <a:srgbClr val="7CC4FF"/>
                </a:solidFill>
                <a:latin typeface="Calibri"/>
              </a:rPr>
              <a:t>Each limit points to the next study</a:t>
            </a:r>
          </a:p>
        </p:txBody>
      </p:sp>
      <p:sp>
        <p:nvSpPr>
          <p:cNvPr id="7" name="TextBox 6"/>
          <p:cNvSpPr txBox="1"/>
          <p:nvPr/>
        </p:nvSpPr>
        <p:spPr>
          <a:xfrm>
            <a:off x="685800" y="1325880"/>
            <a:ext cx="3657600" cy="274320"/>
          </a:xfrm>
          <a:prstGeom prst="rect">
            <a:avLst/>
          </a:prstGeom>
          <a:noFill/>
        </p:spPr>
        <p:txBody>
          <a:bodyPr wrap="square" anchor="t">
            <a:spAutoFit/>
          </a:bodyPr>
          <a:lstStyle/>
          <a:p>
            <a:pPr algn="l">
              <a:spcAft>
                <a:spcPts val="0"/>
              </a:spcAft>
            </a:pPr>
            <a:r>
              <a:rPr sz="1100" b="1" i="0">
                <a:solidFill>
                  <a:srgbClr val="FF7A59"/>
                </a:solidFill>
                <a:latin typeface="Calibri"/>
              </a:rPr>
              <a:t>LIMIT</a:t>
            </a:r>
          </a:p>
        </p:txBody>
      </p:sp>
      <p:sp>
        <p:nvSpPr>
          <p:cNvPr id="8" name="TextBox 7"/>
          <p:cNvSpPr txBox="1"/>
          <p:nvPr/>
        </p:nvSpPr>
        <p:spPr>
          <a:xfrm>
            <a:off x="5669280" y="1325880"/>
            <a:ext cx="3657600" cy="274320"/>
          </a:xfrm>
          <a:prstGeom prst="rect">
            <a:avLst/>
          </a:prstGeom>
          <a:noFill/>
        </p:spPr>
        <p:txBody>
          <a:bodyPr wrap="square" anchor="t">
            <a:spAutoFit/>
          </a:bodyPr>
          <a:lstStyle/>
          <a:p>
            <a:pPr algn="l">
              <a:spcAft>
                <a:spcPts val="0"/>
              </a:spcAft>
            </a:pPr>
            <a:r>
              <a:rPr sz="1100" b="1" i="0">
                <a:solidFill>
                  <a:srgbClr val="5FD09A"/>
                </a:solidFill>
                <a:latin typeface="Calibri"/>
              </a:rPr>
              <a:t>NEXT STUDY</a:t>
            </a:r>
          </a:p>
        </p:txBody>
      </p:sp>
      <p:sp>
        <p:nvSpPr>
          <p:cNvPr id="9" name="Rounded Rectangle 8"/>
          <p:cNvSpPr/>
          <p:nvPr/>
        </p:nvSpPr>
        <p:spPr>
          <a:xfrm>
            <a:off x="685800" y="1645920"/>
            <a:ext cx="4434840" cy="658368"/>
          </a:xfrm>
          <a:prstGeom prst="roundRect">
            <a:avLst>
              <a:gd name="adj" fmla="val 6000"/>
            </a:avLst>
          </a:prstGeom>
          <a:solidFill>
            <a:srgbClr val="12223C"/>
          </a:solidFill>
          <a:ln w="25400">
            <a:solidFill>
              <a:srgbClr val="FF7A59"/>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09728" bIns="109728"/>
          <a:lstStyle/>
          <a:p>
            <a:pPr algn="l">
              <a:spcAft>
                <a:spcPts val="0"/>
              </a:spcAft>
            </a:pPr>
            <a:r>
              <a:rPr sz="1500" b="1" i="0">
                <a:solidFill>
                  <a:srgbClr val="EEF3FA"/>
                </a:solidFill>
                <a:latin typeface="Calibri"/>
              </a:rPr>
              <a:t>Predictions, not brain scans</a:t>
            </a:r>
          </a:p>
        </p:txBody>
      </p:sp>
      <p:sp>
        <p:nvSpPr>
          <p:cNvPr id="10" name="Right Arrow 9"/>
          <p:cNvSpPr/>
          <p:nvPr/>
        </p:nvSpPr>
        <p:spPr>
          <a:xfrm>
            <a:off x="5166360" y="1911095"/>
            <a:ext cx="411480" cy="146304"/>
          </a:xfrm>
          <a:prstGeom prst="rightArrow">
            <a:avLst/>
          </a:prstGeom>
          <a:solidFill>
            <a:srgbClr val="5FD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5669280" y="1645920"/>
            <a:ext cx="5833872" cy="658368"/>
          </a:xfrm>
          <a:prstGeom prst="roundRect">
            <a:avLst>
              <a:gd name="adj" fmla="val 6000"/>
            </a:avLst>
          </a:prstGeom>
          <a:solidFill>
            <a:srgbClr val="12223C"/>
          </a:solidFill>
          <a:ln w="25400">
            <a:solidFill>
              <a:srgbClr val="5FD09A"/>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09728" bIns="109728"/>
          <a:lstStyle/>
          <a:p>
            <a:pPr algn="l">
              <a:spcAft>
                <a:spcPts val="0"/>
              </a:spcAft>
            </a:pPr>
            <a:r>
              <a:rPr sz="1500" b="0" i="0">
                <a:solidFill>
                  <a:srgbClr val="EEF3FA"/>
                </a:solidFill>
                <a:latin typeface="Calibri"/>
              </a:rPr>
              <a:t>Check against more real brain data</a:t>
            </a:r>
          </a:p>
        </p:txBody>
      </p:sp>
      <p:sp>
        <p:nvSpPr>
          <p:cNvPr id="12" name="Rounded Rectangle 11"/>
          <p:cNvSpPr/>
          <p:nvPr/>
        </p:nvSpPr>
        <p:spPr>
          <a:xfrm>
            <a:off x="685800" y="2432304"/>
            <a:ext cx="4434840" cy="658368"/>
          </a:xfrm>
          <a:prstGeom prst="roundRect">
            <a:avLst>
              <a:gd name="adj" fmla="val 6000"/>
            </a:avLst>
          </a:prstGeom>
          <a:solidFill>
            <a:srgbClr val="12223C"/>
          </a:solidFill>
          <a:ln w="25400">
            <a:solidFill>
              <a:srgbClr val="FF7A59"/>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09728" bIns="109728"/>
          <a:lstStyle/>
          <a:p>
            <a:pPr algn="l">
              <a:spcAft>
                <a:spcPts val="0"/>
              </a:spcAft>
            </a:pPr>
            <a:r>
              <a:rPr sz="1500" b="1" i="0">
                <a:solidFill>
                  <a:srgbClr val="EEF3FA"/>
                </a:solidFill>
                <a:latin typeface="Calibri"/>
              </a:rPr>
              <a:t>Group mixed up with source</a:t>
            </a:r>
          </a:p>
        </p:txBody>
      </p:sp>
      <p:sp>
        <p:nvSpPr>
          <p:cNvPr id="13" name="Right Arrow 12"/>
          <p:cNvSpPr/>
          <p:nvPr/>
        </p:nvSpPr>
        <p:spPr>
          <a:xfrm>
            <a:off x="5166360" y="2697480"/>
            <a:ext cx="411480" cy="146304"/>
          </a:xfrm>
          <a:prstGeom prst="rightArrow">
            <a:avLst/>
          </a:prstGeom>
          <a:solidFill>
            <a:srgbClr val="5FD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5669280" y="2432304"/>
            <a:ext cx="5833872" cy="658368"/>
          </a:xfrm>
          <a:prstGeom prst="roundRect">
            <a:avLst>
              <a:gd name="adj" fmla="val 6000"/>
            </a:avLst>
          </a:prstGeom>
          <a:solidFill>
            <a:srgbClr val="12223C"/>
          </a:solidFill>
          <a:ln w="25400">
            <a:solidFill>
              <a:srgbClr val="5FD09A"/>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09728" bIns="109728"/>
          <a:lstStyle/>
          <a:p>
            <a:pPr algn="l">
              <a:spcAft>
                <a:spcPts val="0"/>
              </a:spcAft>
            </a:pPr>
            <a:r>
              <a:rPr sz="1500" b="0" i="0">
                <a:solidFill>
                  <a:srgbClr val="EEF3FA"/>
                </a:solidFill>
                <a:latin typeface="Calibri"/>
              </a:rPr>
              <a:t>New set: every source has every type</a:t>
            </a:r>
          </a:p>
        </p:txBody>
      </p:sp>
      <p:sp>
        <p:nvSpPr>
          <p:cNvPr id="15" name="Rounded Rectangle 14"/>
          <p:cNvSpPr/>
          <p:nvPr/>
        </p:nvSpPr>
        <p:spPr>
          <a:xfrm>
            <a:off x="685800" y="3218688"/>
            <a:ext cx="4434840" cy="658368"/>
          </a:xfrm>
          <a:prstGeom prst="roundRect">
            <a:avLst>
              <a:gd name="adj" fmla="val 6000"/>
            </a:avLst>
          </a:prstGeom>
          <a:solidFill>
            <a:srgbClr val="12223C"/>
          </a:solidFill>
          <a:ln w="25400">
            <a:solidFill>
              <a:srgbClr val="FF7A59"/>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09728" bIns="109728"/>
          <a:lstStyle/>
          <a:p>
            <a:pPr algn="l">
              <a:spcAft>
                <a:spcPts val="0"/>
              </a:spcAft>
            </a:pPr>
            <a:r>
              <a:rPr sz="1500" b="1" i="0">
                <a:solidFill>
                  <a:srgbClr val="EEF3FA"/>
                </a:solidFill>
                <a:latin typeface="Calibri"/>
              </a:rPr>
              <a:t>Brain surface only</a:t>
            </a:r>
          </a:p>
        </p:txBody>
      </p:sp>
      <p:sp>
        <p:nvSpPr>
          <p:cNvPr id="16" name="Right Arrow 15"/>
          <p:cNvSpPr/>
          <p:nvPr/>
        </p:nvSpPr>
        <p:spPr>
          <a:xfrm>
            <a:off x="5166360" y="3483864"/>
            <a:ext cx="411480" cy="146304"/>
          </a:xfrm>
          <a:prstGeom prst="rightArrow">
            <a:avLst/>
          </a:prstGeom>
          <a:solidFill>
            <a:srgbClr val="5FD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5669280" y="3218688"/>
            <a:ext cx="5833872" cy="658368"/>
          </a:xfrm>
          <a:prstGeom prst="roundRect">
            <a:avLst>
              <a:gd name="adj" fmla="val 6000"/>
            </a:avLst>
          </a:prstGeom>
          <a:solidFill>
            <a:srgbClr val="12223C"/>
          </a:solidFill>
          <a:ln w="25400">
            <a:solidFill>
              <a:srgbClr val="5FD09A"/>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09728" bIns="109728"/>
          <a:lstStyle/>
          <a:p>
            <a:pPr algn="l">
              <a:spcAft>
                <a:spcPts val="0"/>
              </a:spcAft>
            </a:pPr>
            <a:r>
              <a:rPr sz="1500" b="0" i="0">
                <a:solidFill>
                  <a:srgbClr val="EEF3FA"/>
                </a:solidFill>
                <a:latin typeface="Calibri"/>
              </a:rPr>
              <a:t>A model that predicts deep areas</a:t>
            </a:r>
          </a:p>
        </p:txBody>
      </p:sp>
      <p:sp>
        <p:nvSpPr>
          <p:cNvPr id="18" name="Rounded Rectangle 17"/>
          <p:cNvSpPr/>
          <p:nvPr/>
        </p:nvSpPr>
        <p:spPr>
          <a:xfrm>
            <a:off x="685800" y="4005072"/>
            <a:ext cx="4434840" cy="658368"/>
          </a:xfrm>
          <a:prstGeom prst="roundRect">
            <a:avLst>
              <a:gd name="adj" fmla="val 6000"/>
            </a:avLst>
          </a:prstGeom>
          <a:solidFill>
            <a:srgbClr val="12223C"/>
          </a:solidFill>
          <a:ln w="25400">
            <a:solidFill>
              <a:srgbClr val="FF7A59"/>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09728" bIns="109728"/>
          <a:lstStyle/>
          <a:p>
            <a:pPr algn="l">
              <a:spcAft>
                <a:spcPts val="0"/>
              </a:spcAft>
            </a:pPr>
            <a:r>
              <a:rPr sz="1500" b="1" i="0">
                <a:solidFill>
                  <a:srgbClr val="EEF3FA"/>
                </a:solidFill>
                <a:latin typeface="Calibri"/>
              </a:rPr>
              <a:t>α not measured</a:t>
            </a:r>
          </a:p>
        </p:txBody>
      </p:sp>
      <p:sp>
        <p:nvSpPr>
          <p:cNvPr id="19" name="Right Arrow 18"/>
          <p:cNvSpPr/>
          <p:nvPr/>
        </p:nvSpPr>
        <p:spPr>
          <a:xfrm>
            <a:off x="5166360" y="4270248"/>
            <a:ext cx="411480" cy="146304"/>
          </a:xfrm>
          <a:prstGeom prst="rightArrow">
            <a:avLst/>
          </a:prstGeom>
          <a:solidFill>
            <a:srgbClr val="5FD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5669280" y="4005072"/>
            <a:ext cx="5833872" cy="658368"/>
          </a:xfrm>
          <a:prstGeom prst="roundRect">
            <a:avLst>
              <a:gd name="adj" fmla="val 6000"/>
            </a:avLst>
          </a:prstGeom>
          <a:solidFill>
            <a:srgbClr val="12223C"/>
          </a:solidFill>
          <a:ln w="25400">
            <a:solidFill>
              <a:srgbClr val="5FD09A"/>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09728" bIns="109728"/>
          <a:lstStyle/>
          <a:p>
            <a:pPr algn="l">
              <a:spcAft>
                <a:spcPts val="0"/>
              </a:spcAft>
            </a:pPr>
            <a:r>
              <a:rPr sz="1500" b="0" i="0">
                <a:solidFill>
                  <a:srgbClr val="EEF3FA"/>
                </a:solidFill>
                <a:latin typeface="Calibri"/>
              </a:rPr>
              <a:t>Link scores to real opinion data (polls)</a:t>
            </a:r>
          </a:p>
        </p:txBody>
      </p:sp>
      <p:sp>
        <p:nvSpPr>
          <p:cNvPr id="21" name="Rounded Rectangle 20"/>
          <p:cNvSpPr/>
          <p:nvPr/>
        </p:nvSpPr>
        <p:spPr>
          <a:xfrm>
            <a:off x="685800" y="4791456"/>
            <a:ext cx="4434840" cy="658368"/>
          </a:xfrm>
          <a:prstGeom prst="roundRect">
            <a:avLst>
              <a:gd name="adj" fmla="val 6000"/>
            </a:avLst>
          </a:prstGeom>
          <a:solidFill>
            <a:srgbClr val="12223C"/>
          </a:solidFill>
          <a:ln w="25400">
            <a:solidFill>
              <a:srgbClr val="FF7A59"/>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09728" bIns="109728"/>
          <a:lstStyle/>
          <a:p>
            <a:pPr algn="l">
              <a:spcAft>
                <a:spcPts val="0"/>
              </a:spcAft>
            </a:pPr>
            <a:r>
              <a:rPr sz="1500" b="1" i="0">
                <a:solidFill>
                  <a:srgbClr val="EEF3FA"/>
                </a:solidFill>
                <a:latin typeface="Calibri"/>
              </a:rPr>
              <a:t>Brain check is 2 minutes</a:t>
            </a:r>
          </a:p>
        </p:txBody>
      </p:sp>
      <p:sp>
        <p:nvSpPr>
          <p:cNvPr id="22" name="Right Arrow 21"/>
          <p:cNvSpPr/>
          <p:nvPr/>
        </p:nvSpPr>
        <p:spPr>
          <a:xfrm>
            <a:off x="5166360" y="5056632"/>
            <a:ext cx="411480" cy="146304"/>
          </a:xfrm>
          <a:prstGeom prst="rightArrow">
            <a:avLst/>
          </a:prstGeom>
          <a:solidFill>
            <a:srgbClr val="5FD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669280" y="4791456"/>
            <a:ext cx="5833872" cy="658368"/>
          </a:xfrm>
          <a:prstGeom prst="roundRect">
            <a:avLst>
              <a:gd name="adj" fmla="val 6000"/>
            </a:avLst>
          </a:prstGeom>
          <a:solidFill>
            <a:srgbClr val="12223C"/>
          </a:solidFill>
          <a:ln w="25400">
            <a:solidFill>
              <a:srgbClr val="5FD09A"/>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09728" bIns="109728"/>
          <a:lstStyle/>
          <a:p>
            <a:pPr algn="l">
              <a:spcAft>
                <a:spcPts val="0"/>
              </a:spcAft>
            </a:pPr>
            <a:r>
              <a:rPr sz="1500" b="0" i="0">
                <a:solidFill>
                  <a:srgbClr val="EEF3FA"/>
                </a:solidFill>
                <a:latin typeface="Calibri"/>
              </a:rPr>
              <a:t>The full episode</a:t>
            </a:r>
          </a:p>
        </p:txBody>
      </p:sp>
      <p:sp>
        <p:nvSpPr>
          <p:cNvPr id="24" name="TextBox 23"/>
          <p:cNvSpPr txBox="1"/>
          <p:nvPr/>
        </p:nvSpPr>
        <p:spPr>
          <a:xfrm>
            <a:off x="6019495" y="6053328"/>
            <a:ext cx="5486400" cy="274320"/>
          </a:xfrm>
          <a:prstGeom prst="rect">
            <a:avLst/>
          </a:prstGeom>
          <a:noFill/>
        </p:spPr>
        <p:txBody>
          <a:bodyPr wrap="square" anchor="t">
            <a:spAutoFit/>
          </a:bodyPr>
          <a:lstStyle/>
          <a:p>
            <a:pPr algn="r">
              <a:spcAft>
                <a:spcPts val="0"/>
              </a:spcAft>
            </a:pPr>
            <a:r>
              <a:rPr sz="1200" b="1" i="0">
                <a:solidFill>
                  <a:srgbClr val="F5B83D"/>
                </a:solidFill>
                <a:latin typeface="Calibri"/>
              </a:rPr>
              <a:t>Next: where the work goes  →</a:t>
            </a:r>
          </a:p>
        </p:txBody>
      </p:sp>
      <p:sp>
        <p:nvSpPr>
          <p:cNvPr id="25" name="TextBox 24"/>
          <p:cNvSpPr txBox="1"/>
          <p:nvPr/>
        </p:nvSpPr>
        <p:spPr>
          <a:xfrm>
            <a:off x="685800" y="6355080"/>
            <a:ext cx="4572000" cy="320040"/>
          </a:xfrm>
          <a:prstGeom prst="rect">
            <a:avLst/>
          </a:prstGeom>
          <a:noFill/>
        </p:spPr>
        <p:txBody>
          <a:bodyPr wrap="square" anchor="t">
            <a:spAutoFit/>
          </a:bodyPr>
          <a:lstStyle/>
          <a:p>
            <a:pPr algn="l">
              <a:spcAft>
                <a:spcPts val="0"/>
              </a:spcAft>
            </a:pPr>
            <a:r>
              <a:rPr sz="1000" b="1" i="0">
                <a:solidFill>
                  <a:srgbClr val="9AABC4"/>
                </a:solidFill>
                <a:latin typeface="Calibri"/>
              </a:rPr>
              <a:t>WHAT'S NEXT</a:t>
            </a:r>
          </a:p>
        </p:txBody>
      </p:sp>
      <p:sp>
        <p:nvSpPr>
          <p:cNvPr id="26" name="Rectangle 25"/>
          <p:cNvSpPr/>
          <p:nvPr/>
        </p:nvSpPr>
        <p:spPr>
          <a:xfrm>
            <a:off x="4692243" y="6473952"/>
            <a:ext cx="502920" cy="36576"/>
          </a:xfrm>
          <a:prstGeom prst="rect">
            <a:avLst/>
          </a:prstGeom>
          <a:solidFill>
            <a:srgbClr val="2A3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268315" y="6473952"/>
            <a:ext cx="502920" cy="36576"/>
          </a:xfrm>
          <a:prstGeom prst="rect">
            <a:avLst/>
          </a:prstGeom>
          <a:solidFill>
            <a:srgbClr val="2A3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844387" y="6473952"/>
            <a:ext cx="502920" cy="36576"/>
          </a:xfrm>
          <a:prstGeom prst="rect">
            <a:avLst/>
          </a:prstGeom>
          <a:solidFill>
            <a:srgbClr val="2A3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420459" y="6473952"/>
            <a:ext cx="502920" cy="36576"/>
          </a:xfrm>
          <a:prstGeom prst="rect">
            <a:avLst/>
          </a:prstGeom>
          <a:solidFill>
            <a:srgbClr val="2A3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996531" y="6473952"/>
            <a:ext cx="502920" cy="36576"/>
          </a:xfrm>
          <a:prstGeom prst="rect">
            <a:avLst/>
          </a:prstGeom>
          <a:solidFill>
            <a:srgbClr val="7CC4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591495" y="6355080"/>
            <a:ext cx="914400" cy="320040"/>
          </a:xfrm>
          <a:prstGeom prst="rect">
            <a:avLst/>
          </a:prstGeom>
          <a:noFill/>
        </p:spPr>
        <p:txBody>
          <a:bodyPr wrap="square" anchor="t">
            <a:spAutoFit/>
          </a:bodyPr>
          <a:lstStyle/>
          <a:p>
            <a:pPr algn="r">
              <a:spcAft>
                <a:spcPts val="0"/>
              </a:spcAft>
            </a:pPr>
            <a:r>
              <a:rPr sz="1100" b="1" i="0">
                <a:solidFill>
                  <a:srgbClr val="9AABC4"/>
                </a:solidFill>
                <a:latin typeface="Calibr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Oval 1"/>
          <p:cNvSpPr/>
          <p:nvPr/>
        </p:nvSpPr>
        <p:spPr>
          <a:xfrm>
            <a:off x="8214055" y="-3794760"/>
            <a:ext cx="6858000" cy="6858000"/>
          </a:xfrm>
          <a:prstGeom prst="ellipse">
            <a:avLst/>
          </a:prstGeom>
          <a:gradFill rotWithShape="1">
            <a:gsLst>
              <a:gs pos="0">
                <a:srgbClr val="3E8EDE">
                  <a:alpha val="28000"/>
                </a:srgbClr>
              </a:gs>
              <a:gs pos="100000">
                <a:srgbClr val="3E8EDE">
                  <a:alpha val="0"/>
                </a:srgbClr>
              </a:gs>
            </a:gsLst>
            <a:path path="circle">
              <a:fillToRect l="50000" t="50000" r="50000" b="50000"/>
            </a:path>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3474720" y="4663440"/>
            <a:ext cx="5486400" cy="5486400"/>
          </a:xfrm>
          <a:prstGeom prst="ellipse">
            <a:avLst/>
          </a:prstGeom>
          <a:gradFill rotWithShape="1">
            <a:gsLst>
              <a:gs pos="0">
                <a:srgbClr val="FF7A59">
                  <a:alpha val="10000"/>
                </a:srgbClr>
              </a:gs>
              <a:gs pos="100000">
                <a:srgbClr val="FF7A59">
                  <a:alpha val="0"/>
                </a:srgbClr>
              </a:gs>
            </a:gsLst>
            <a:path path="circle">
              <a:fillToRect l="50000" t="50000" r="50000" b="50000"/>
            </a:path>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lag-banner.png"/>
          <p:cNvPicPr>
            <a:picLocks noChangeAspect="1"/>
          </p:cNvPicPr>
          <p:nvPr/>
        </p:nvPicPr>
        <p:blipFill>
          <a:blip r:embed="rId3"/>
          <a:stretch>
            <a:fillRect/>
          </a:stretch>
        </p:blipFill>
        <p:spPr>
          <a:xfrm>
            <a:off x="685800" y="457200"/>
            <a:ext cx="420624" cy="420624"/>
          </a:xfrm>
          <a:prstGeom prst="rect">
            <a:avLst/>
          </a:prstGeom>
        </p:spPr>
      </p:pic>
      <p:sp>
        <p:nvSpPr>
          <p:cNvPr id="5" name="TextBox 4"/>
          <p:cNvSpPr txBox="1"/>
          <p:nvPr/>
        </p:nvSpPr>
        <p:spPr>
          <a:xfrm>
            <a:off x="1289304" y="201168"/>
            <a:ext cx="10216591" cy="320040"/>
          </a:xfrm>
          <a:prstGeom prst="rect">
            <a:avLst/>
          </a:prstGeom>
          <a:noFill/>
        </p:spPr>
        <p:txBody>
          <a:bodyPr wrap="square" anchor="t">
            <a:spAutoFit/>
          </a:bodyPr>
          <a:lstStyle/>
          <a:p>
            <a:pPr algn="l">
              <a:spcAft>
                <a:spcPts val="0"/>
              </a:spcAft>
            </a:pPr>
            <a:r>
              <a:rPr sz="1200" b="1" i="0">
                <a:solidFill>
                  <a:srgbClr val="FF7A59"/>
                </a:solidFill>
                <a:latin typeface="Calibri"/>
              </a:rPr>
              <a:t>WHAT'S NEXT</a:t>
            </a:r>
          </a:p>
        </p:txBody>
      </p:sp>
      <p:sp>
        <p:nvSpPr>
          <p:cNvPr id="6" name="TextBox 5"/>
          <p:cNvSpPr txBox="1"/>
          <p:nvPr/>
        </p:nvSpPr>
        <p:spPr>
          <a:xfrm>
            <a:off x="1289304" y="420624"/>
            <a:ext cx="10216591" cy="822960"/>
          </a:xfrm>
          <a:prstGeom prst="rect">
            <a:avLst/>
          </a:prstGeom>
          <a:noFill/>
        </p:spPr>
        <p:txBody>
          <a:bodyPr wrap="square" anchor="t">
            <a:spAutoFit/>
          </a:bodyPr>
          <a:lstStyle/>
          <a:p>
            <a:pPr algn="l">
              <a:spcAft>
                <a:spcPts val="0"/>
              </a:spcAft>
            </a:pPr>
            <a:r>
              <a:rPr sz="2600" b="1" i="0">
                <a:solidFill>
                  <a:srgbClr val="7CC4FF"/>
                </a:solidFill>
                <a:latin typeface="Calibri"/>
              </a:rPr>
              <a:t>Taking it further: where this research can go</a:t>
            </a:r>
          </a:p>
        </p:txBody>
      </p:sp>
      <p:sp>
        <p:nvSpPr>
          <p:cNvPr id="7" name="Rounded Rectangle 6"/>
          <p:cNvSpPr/>
          <p:nvPr/>
        </p:nvSpPr>
        <p:spPr>
          <a:xfrm>
            <a:off x="685800" y="1371600"/>
            <a:ext cx="3429000" cy="4160520"/>
          </a:xfrm>
          <a:prstGeom prst="roundRect">
            <a:avLst>
              <a:gd name="adj" fmla="val 6000"/>
            </a:avLst>
          </a:prstGeom>
          <a:solidFill>
            <a:srgbClr val="12223C"/>
          </a:solidFill>
          <a:ln w="25400">
            <a:solidFill>
              <a:srgbClr val="7CC4FF"/>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09728" bIns="109728"/>
          <a:lstStyle/>
          <a:p>
            <a:pPr algn="l"/>
          </a:p>
        </p:txBody>
      </p:sp>
      <p:pic>
        <p:nvPicPr>
          <p:cNvPr id="8" name="Picture 7" descr="books.png"/>
          <p:cNvPicPr>
            <a:picLocks noChangeAspect="1"/>
          </p:cNvPicPr>
          <p:nvPr/>
        </p:nvPicPr>
        <p:blipFill>
          <a:blip r:embed="rId4"/>
          <a:stretch>
            <a:fillRect/>
          </a:stretch>
        </p:blipFill>
        <p:spPr>
          <a:xfrm>
            <a:off x="914400" y="1554480"/>
            <a:ext cx="411480" cy="411480"/>
          </a:xfrm>
          <a:prstGeom prst="rect">
            <a:avLst/>
          </a:prstGeom>
        </p:spPr>
      </p:pic>
      <p:sp>
        <p:nvSpPr>
          <p:cNvPr id="9" name="TextBox 8"/>
          <p:cNvSpPr txBox="1"/>
          <p:nvPr/>
        </p:nvSpPr>
        <p:spPr>
          <a:xfrm>
            <a:off x="1463040" y="1572768"/>
            <a:ext cx="2560320" cy="411480"/>
          </a:xfrm>
          <a:prstGeom prst="rect">
            <a:avLst/>
          </a:prstGeom>
          <a:noFill/>
        </p:spPr>
        <p:txBody>
          <a:bodyPr wrap="square" anchor="t">
            <a:spAutoFit/>
          </a:bodyPr>
          <a:lstStyle/>
          <a:p>
            <a:pPr algn="l">
              <a:spcAft>
                <a:spcPts val="0"/>
              </a:spcAft>
            </a:pPr>
            <a:r>
              <a:rPr sz="1500" b="1" i="0">
                <a:solidFill>
                  <a:srgbClr val="7CC4FF"/>
                </a:solidFill>
                <a:latin typeface="Calibri"/>
              </a:rPr>
              <a:t>PUBLISH</a:t>
            </a:r>
          </a:p>
        </p:txBody>
      </p:sp>
      <p:sp>
        <p:nvSpPr>
          <p:cNvPr id="10" name="Rounded Rectangle 9"/>
          <p:cNvSpPr/>
          <p:nvPr/>
        </p:nvSpPr>
        <p:spPr>
          <a:xfrm>
            <a:off x="868680" y="2240280"/>
            <a:ext cx="3063240" cy="676656"/>
          </a:xfrm>
          <a:prstGeom prst="roundRect">
            <a:avLst>
              <a:gd name="adj" fmla="val 6000"/>
            </a:avLst>
          </a:prstGeom>
          <a:solidFill>
            <a:srgbClr val="12223C"/>
          </a:solidFill>
          <a:ln w="15875">
            <a:solidFill>
              <a:srgbClr val="2A3D5E"/>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09728" bIns="109728"/>
          <a:lstStyle/>
          <a:p>
            <a:pPr algn="l">
              <a:spcAft>
                <a:spcPts val="0"/>
              </a:spcAft>
            </a:pPr>
            <a:r>
              <a:rPr sz="1400" b="0" i="0">
                <a:solidFill>
                  <a:srgbClr val="EEF3FA"/>
                </a:solidFill>
                <a:latin typeface="Calibri"/>
              </a:rPr>
              <a:t>Paper 1 → Physica A</a:t>
            </a:r>
          </a:p>
        </p:txBody>
      </p:sp>
      <p:sp>
        <p:nvSpPr>
          <p:cNvPr id="11" name="Rounded Rectangle 10"/>
          <p:cNvSpPr/>
          <p:nvPr/>
        </p:nvSpPr>
        <p:spPr>
          <a:xfrm>
            <a:off x="868680" y="3044952"/>
            <a:ext cx="3063240" cy="676656"/>
          </a:xfrm>
          <a:prstGeom prst="roundRect">
            <a:avLst>
              <a:gd name="adj" fmla="val 6000"/>
            </a:avLst>
          </a:prstGeom>
          <a:solidFill>
            <a:srgbClr val="12223C"/>
          </a:solidFill>
          <a:ln w="15875">
            <a:solidFill>
              <a:srgbClr val="2A3D5E"/>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09728" bIns="109728"/>
          <a:lstStyle/>
          <a:p>
            <a:pPr algn="l">
              <a:spcAft>
                <a:spcPts val="0"/>
              </a:spcAft>
            </a:pPr>
            <a:r>
              <a:rPr sz="1400" b="0" i="0">
                <a:solidFill>
                  <a:srgbClr val="EEF3FA"/>
                </a:solidFill>
                <a:latin typeface="Calibri"/>
              </a:rPr>
              <a:t>Paper 2 → Physica A</a:t>
            </a:r>
          </a:p>
        </p:txBody>
      </p:sp>
      <p:sp>
        <p:nvSpPr>
          <p:cNvPr id="12" name="Rounded Rectangle 11"/>
          <p:cNvSpPr/>
          <p:nvPr/>
        </p:nvSpPr>
        <p:spPr>
          <a:xfrm>
            <a:off x="868680" y="3849624"/>
            <a:ext cx="3063240" cy="676656"/>
          </a:xfrm>
          <a:prstGeom prst="roundRect">
            <a:avLst>
              <a:gd name="adj" fmla="val 6000"/>
            </a:avLst>
          </a:prstGeom>
          <a:solidFill>
            <a:srgbClr val="12223C"/>
          </a:solidFill>
          <a:ln w="15875">
            <a:solidFill>
              <a:srgbClr val="2A3D5E"/>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09728" bIns="109728"/>
          <a:lstStyle/>
          <a:p>
            <a:pPr algn="l">
              <a:spcAft>
                <a:spcPts val="0"/>
              </a:spcAft>
            </a:pPr>
            <a:r>
              <a:rPr sz="1400" b="0" i="0">
                <a:solidFill>
                  <a:srgbClr val="EEF3FA"/>
                </a:solidFill>
                <a:latin typeface="Calibri"/>
              </a:rPr>
              <a:t>Paper 3 → Imaging Neuroscience</a:t>
            </a:r>
          </a:p>
        </p:txBody>
      </p:sp>
      <p:sp>
        <p:nvSpPr>
          <p:cNvPr id="13" name="Rounded Rectangle 12"/>
          <p:cNvSpPr/>
          <p:nvPr/>
        </p:nvSpPr>
        <p:spPr>
          <a:xfrm>
            <a:off x="868680" y="4654296"/>
            <a:ext cx="3063240" cy="676656"/>
          </a:xfrm>
          <a:prstGeom prst="roundRect">
            <a:avLst>
              <a:gd name="adj" fmla="val 6000"/>
            </a:avLst>
          </a:prstGeom>
          <a:solidFill>
            <a:srgbClr val="12223C"/>
          </a:solidFill>
          <a:ln w="15875">
            <a:solidFill>
              <a:srgbClr val="2A3D5E"/>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09728" bIns="109728"/>
          <a:lstStyle/>
          <a:p>
            <a:pPr algn="l">
              <a:spcAft>
                <a:spcPts val="0"/>
              </a:spcAft>
            </a:pPr>
            <a:r>
              <a:rPr sz="1400" b="0" i="0">
                <a:solidFill>
                  <a:srgbClr val="EEF3FA"/>
                </a:solidFill>
                <a:latin typeface="Calibri"/>
              </a:rPr>
              <a:t>Preprints first (arXiv)</a:t>
            </a:r>
          </a:p>
        </p:txBody>
      </p:sp>
      <p:sp>
        <p:nvSpPr>
          <p:cNvPr id="14" name="Rounded Rectangle 13"/>
          <p:cNvSpPr/>
          <p:nvPr/>
        </p:nvSpPr>
        <p:spPr>
          <a:xfrm>
            <a:off x="4379976" y="1371600"/>
            <a:ext cx="3429000" cy="4160520"/>
          </a:xfrm>
          <a:prstGeom prst="roundRect">
            <a:avLst>
              <a:gd name="adj" fmla="val 6000"/>
            </a:avLst>
          </a:prstGeom>
          <a:solidFill>
            <a:srgbClr val="12223C"/>
          </a:solidFill>
          <a:ln w="25400">
            <a:solidFill>
              <a:srgbClr val="5FD09A"/>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09728" bIns="109728"/>
          <a:lstStyle/>
          <a:p>
            <a:pPr algn="l"/>
          </a:p>
        </p:txBody>
      </p:sp>
      <p:pic>
        <p:nvPicPr>
          <p:cNvPr id="15" name="Picture 14" descr="atom.png"/>
          <p:cNvPicPr>
            <a:picLocks noChangeAspect="1"/>
          </p:cNvPicPr>
          <p:nvPr/>
        </p:nvPicPr>
        <p:blipFill>
          <a:blip r:embed="rId5"/>
          <a:stretch>
            <a:fillRect/>
          </a:stretch>
        </p:blipFill>
        <p:spPr>
          <a:xfrm>
            <a:off x="4608576" y="1554480"/>
            <a:ext cx="411480" cy="411480"/>
          </a:xfrm>
          <a:prstGeom prst="rect">
            <a:avLst/>
          </a:prstGeom>
        </p:spPr>
      </p:pic>
      <p:sp>
        <p:nvSpPr>
          <p:cNvPr id="16" name="TextBox 15"/>
          <p:cNvSpPr txBox="1"/>
          <p:nvPr/>
        </p:nvSpPr>
        <p:spPr>
          <a:xfrm>
            <a:off x="5157216" y="1572768"/>
            <a:ext cx="2560320" cy="411480"/>
          </a:xfrm>
          <a:prstGeom prst="rect">
            <a:avLst/>
          </a:prstGeom>
          <a:noFill/>
        </p:spPr>
        <p:txBody>
          <a:bodyPr wrap="square" anchor="t">
            <a:spAutoFit/>
          </a:bodyPr>
          <a:lstStyle/>
          <a:p>
            <a:pPr algn="l">
              <a:spcAft>
                <a:spcPts val="0"/>
              </a:spcAft>
            </a:pPr>
            <a:r>
              <a:rPr sz="1500" b="1" i="0">
                <a:solidFill>
                  <a:srgbClr val="5FD09A"/>
                </a:solidFill>
                <a:latin typeface="Calibri"/>
              </a:rPr>
              <a:t>EXTEND THE SCIENCE</a:t>
            </a:r>
          </a:p>
        </p:txBody>
      </p:sp>
      <p:sp>
        <p:nvSpPr>
          <p:cNvPr id="17" name="Rounded Rectangle 16"/>
          <p:cNvSpPr/>
          <p:nvPr/>
        </p:nvSpPr>
        <p:spPr>
          <a:xfrm>
            <a:off x="4562856" y="2240280"/>
            <a:ext cx="3063240" cy="676656"/>
          </a:xfrm>
          <a:prstGeom prst="roundRect">
            <a:avLst>
              <a:gd name="adj" fmla="val 6000"/>
            </a:avLst>
          </a:prstGeom>
          <a:solidFill>
            <a:srgbClr val="12223C"/>
          </a:solidFill>
          <a:ln w="15875">
            <a:solidFill>
              <a:srgbClr val="2A3D5E"/>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09728" bIns="109728"/>
          <a:lstStyle/>
          <a:p>
            <a:pPr algn="l">
              <a:spcAft>
                <a:spcPts val="0"/>
              </a:spcAft>
            </a:pPr>
            <a:r>
              <a:rPr sz="1400" b="0" i="0">
                <a:solidFill>
                  <a:srgbClr val="EEF3FA"/>
                </a:solidFill>
                <a:latin typeface="Calibri"/>
              </a:rPr>
              <a:t>Kenya: 2024 Finance Bill (funding)</a:t>
            </a:r>
          </a:p>
        </p:txBody>
      </p:sp>
      <p:sp>
        <p:nvSpPr>
          <p:cNvPr id="18" name="Rounded Rectangle 17"/>
          <p:cNvSpPr/>
          <p:nvPr/>
        </p:nvSpPr>
        <p:spPr>
          <a:xfrm>
            <a:off x="4562856" y="3044952"/>
            <a:ext cx="3063240" cy="676656"/>
          </a:xfrm>
          <a:prstGeom prst="roundRect">
            <a:avLst>
              <a:gd name="adj" fmla="val 6000"/>
            </a:avLst>
          </a:prstGeom>
          <a:solidFill>
            <a:srgbClr val="12223C"/>
          </a:solidFill>
          <a:ln w="15875">
            <a:solidFill>
              <a:srgbClr val="2A3D5E"/>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09728" bIns="109728"/>
          <a:lstStyle/>
          <a:p>
            <a:pPr algn="l">
              <a:spcAft>
                <a:spcPts val="0"/>
              </a:spcAft>
            </a:pPr>
            <a:r>
              <a:rPr sz="1400" b="0" i="0">
                <a:solidFill>
                  <a:srgbClr val="EEF3FA"/>
                </a:solidFill>
                <a:latin typeface="Calibri"/>
              </a:rPr>
              <a:t>Video and audio content</a:t>
            </a:r>
          </a:p>
        </p:txBody>
      </p:sp>
      <p:sp>
        <p:nvSpPr>
          <p:cNvPr id="19" name="Rounded Rectangle 18"/>
          <p:cNvSpPr/>
          <p:nvPr/>
        </p:nvSpPr>
        <p:spPr>
          <a:xfrm>
            <a:off x="4562856" y="3849624"/>
            <a:ext cx="3063240" cy="676656"/>
          </a:xfrm>
          <a:prstGeom prst="roundRect">
            <a:avLst>
              <a:gd name="adj" fmla="val 6000"/>
            </a:avLst>
          </a:prstGeom>
          <a:solidFill>
            <a:srgbClr val="12223C"/>
          </a:solidFill>
          <a:ln w="15875">
            <a:solidFill>
              <a:srgbClr val="2A3D5E"/>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09728" bIns="109728"/>
          <a:lstStyle/>
          <a:p>
            <a:pPr algn="l">
              <a:spcAft>
                <a:spcPts val="0"/>
              </a:spcAft>
            </a:pPr>
            <a:r>
              <a:rPr sz="1400" b="0" i="0">
                <a:solidFill>
                  <a:srgbClr val="EEF3FA"/>
                </a:solidFill>
                <a:latin typeface="Calibri"/>
              </a:rPr>
              <a:t>Measure α with opinion data</a:t>
            </a:r>
          </a:p>
        </p:txBody>
      </p:sp>
      <p:sp>
        <p:nvSpPr>
          <p:cNvPr id="20" name="Rounded Rectangle 19"/>
          <p:cNvSpPr/>
          <p:nvPr/>
        </p:nvSpPr>
        <p:spPr>
          <a:xfrm>
            <a:off x="4562856" y="4654296"/>
            <a:ext cx="3063240" cy="676656"/>
          </a:xfrm>
          <a:prstGeom prst="roundRect">
            <a:avLst>
              <a:gd name="adj" fmla="val 6000"/>
            </a:avLst>
          </a:prstGeom>
          <a:solidFill>
            <a:srgbClr val="12223C"/>
          </a:solidFill>
          <a:ln w="15875">
            <a:solidFill>
              <a:srgbClr val="2A3D5E"/>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09728" bIns="109728"/>
          <a:lstStyle/>
          <a:p>
            <a:pPr algn="l">
              <a:spcAft>
                <a:spcPts val="0"/>
              </a:spcAft>
            </a:pPr>
            <a:r>
              <a:rPr sz="1400" b="0" i="0">
                <a:solidFill>
                  <a:srgbClr val="EEF3FA"/>
                </a:solidFill>
                <a:latin typeface="Calibri"/>
              </a:rPr>
              <a:t>Children's media, ethically</a:t>
            </a:r>
          </a:p>
        </p:txBody>
      </p:sp>
      <p:sp>
        <p:nvSpPr>
          <p:cNvPr id="21" name="Rounded Rectangle 20"/>
          <p:cNvSpPr/>
          <p:nvPr/>
        </p:nvSpPr>
        <p:spPr>
          <a:xfrm>
            <a:off x="8074152" y="1371600"/>
            <a:ext cx="3429000" cy="4160520"/>
          </a:xfrm>
          <a:prstGeom prst="roundRect">
            <a:avLst>
              <a:gd name="adj" fmla="val 6000"/>
            </a:avLst>
          </a:prstGeom>
          <a:solidFill>
            <a:srgbClr val="12223C"/>
          </a:solidFill>
          <a:ln w="25400">
            <a:solidFill>
              <a:srgbClr val="F5B83D"/>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09728" bIns="109728"/>
          <a:lstStyle/>
          <a:p>
            <a:pPr algn="l"/>
          </a:p>
        </p:txBody>
      </p:sp>
      <p:pic>
        <p:nvPicPr>
          <p:cNvPr id="22" name="Picture 21" descr="target.png"/>
          <p:cNvPicPr>
            <a:picLocks noChangeAspect="1"/>
          </p:cNvPicPr>
          <p:nvPr/>
        </p:nvPicPr>
        <p:blipFill>
          <a:blip r:embed="rId6"/>
          <a:stretch>
            <a:fillRect/>
          </a:stretch>
        </p:blipFill>
        <p:spPr>
          <a:xfrm>
            <a:off x="8302752" y="1554480"/>
            <a:ext cx="411480" cy="411480"/>
          </a:xfrm>
          <a:prstGeom prst="rect">
            <a:avLst/>
          </a:prstGeom>
        </p:spPr>
      </p:pic>
      <p:sp>
        <p:nvSpPr>
          <p:cNvPr id="23" name="TextBox 22"/>
          <p:cNvSpPr txBox="1"/>
          <p:nvPr/>
        </p:nvSpPr>
        <p:spPr>
          <a:xfrm>
            <a:off x="8851392" y="1572768"/>
            <a:ext cx="2560320" cy="411480"/>
          </a:xfrm>
          <a:prstGeom prst="rect">
            <a:avLst/>
          </a:prstGeom>
          <a:noFill/>
        </p:spPr>
        <p:txBody>
          <a:bodyPr wrap="square" anchor="t">
            <a:spAutoFit/>
          </a:bodyPr>
          <a:lstStyle/>
          <a:p>
            <a:pPr algn="l">
              <a:spcAft>
                <a:spcPts val="0"/>
              </a:spcAft>
            </a:pPr>
            <a:r>
              <a:rPr sz="1500" b="1" i="0">
                <a:solidFill>
                  <a:srgbClr val="F5B83D"/>
                </a:solidFill>
                <a:latin typeface="Calibri"/>
              </a:rPr>
              <a:t>OPPORTUNITIES</a:t>
            </a:r>
          </a:p>
        </p:txBody>
      </p:sp>
      <p:sp>
        <p:nvSpPr>
          <p:cNvPr id="24" name="Rounded Rectangle 23"/>
          <p:cNvSpPr/>
          <p:nvPr/>
        </p:nvSpPr>
        <p:spPr>
          <a:xfrm>
            <a:off x="8257031" y="2240280"/>
            <a:ext cx="3063240" cy="676656"/>
          </a:xfrm>
          <a:prstGeom prst="roundRect">
            <a:avLst>
              <a:gd name="adj" fmla="val 6000"/>
            </a:avLst>
          </a:prstGeom>
          <a:solidFill>
            <a:srgbClr val="12223C"/>
          </a:solidFill>
          <a:ln w="15875">
            <a:solidFill>
              <a:srgbClr val="2A3D5E"/>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09728" bIns="109728"/>
          <a:lstStyle/>
          <a:p>
            <a:pPr algn="l">
              <a:spcAft>
                <a:spcPts val="0"/>
              </a:spcAft>
            </a:pPr>
            <a:r>
              <a:rPr sz="1400" b="0" i="0">
                <a:solidFill>
                  <a:srgbClr val="EEF3FA"/>
                </a:solidFill>
                <a:latin typeface="Calibri"/>
              </a:rPr>
              <a:t>Postgraduate research topic</a:t>
            </a:r>
          </a:p>
        </p:txBody>
      </p:sp>
      <p:sp>
        <p:nvSpPr>
          <p:cNvPr id="25" name="Rounded Rectangle 24"/>
          <p:cNvSpPr/>
          <p:nvPr/>
        </p:nvSpPr>
        <p:spPr>
          <a:xfrm>
            <a:off x="8257031" y="3044952"/>
            <a:ext cx="3063240" cy="676656"/>
          </a:xfrm>
          <a:prstGeom prst="roundRect">
            <a:avLst>
              <a:gd name="adj" fmla="val 6000"/>
            </a:avLst>
          </a:prstGeom>
          <a:solidFill>
            <a:srgbClr val="12223C"/>
          </a:solidFill>
          <a:ln w="15875">
            <a:solidFill>
              <a:srgbClr val="2A3D5E"/>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09728" bIns="109728"/>
          <a:lstStyle/>
          <a:p>
            <a:pPr algn="l">
              <a:spcAft>
                <a:spcPts val="0"/>
              </a:spcAft>
            </a:pPr>
            <a:r>
              <a:rPr sz="1400" b="0" i="0">
                <a:solidFill>
                  <a:srgbClr val="EEF3FA"/>
                </a:solidFill>
                <a:latin typeface="Calibri"/>
              </a:rPr>
              <a:t>Neuroscience + media collaborations</a:t>
            </a:r>
          </a:p>
        </p:txBody>
      </p:sp>
      <p:sp>
        <p:nvSpPr>
          <p:cNvPr id="26" name="Rounded Rectangle 25"/>
          <p:cNvSpPr/>
          <p:nvPr/>
        </p:nvSpPr>
        <p:spPr>
          <a:xfrm>
            <a:off x="8257031" y="3849624"/>
            <a:ext cx="3063240" cy="676656"/>
          </a:xfrm>
          <a:prstGeom prst="roundRect">
            <a:avLst>
              <a:gd name="adj" fmla="val 6000"/>
            </a:avLst>
          </a:prstGeom>
          <a:solidFill>
            <a:srgbClr val="12223C"/>
          </a:solidFill>
          <a:ln w="15875">
            <a:solidFill>
              <a:srgbClr val="2A3D5E"/>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09728" bIns="109728"/>
          <a:lstStyle/>
          <a:p>
            <a:pPr algn="l">
              <a:spcAft>
                <a:spcPts val="0"/>
              </a:spcAft>
            </a:pPr>
            <a:r>
              <a:rPr sz="1400" b="0" i="0">
                <a:solidFill>
                  <a:srgbClr val="EEF3FA"/>
                </a:solidFill>
                <a:latin typeface="Calibri"/>
              </a:rPr>
              <a:t>Open tool, already online</a:t>
            </a:r>
          </a:p>
        </p:txBody>
      </p:sp>
      <p:sp>
        <p:nvSpPr>
          <p:cNvPr id="27" name="Rounded Rectangle 26"/>
          <p:cNvSpPr/>
          <p:nvPr/>
        </p:nvSpPr>
        <p:spPr>
          <a:xfrm>
            <a:off x="8257031" y="4654296"/>
            <a:ext cx="3063240" cy="676656"/>
          </a:xfrm>
          <a:prstGeom prst="roundRect">
            <a:avLst>
              <a:gd name="adj" fmla="val 6000"/>
            </a:avLst>
          </a:prstGeom>
          <a:solidFill>
            <a:srgbClr val="12223C"/>
          </a:solidFill>
          <a:ln w="15875">
            <a:solidFill>
              <a:srgbClr val="2A3D5E"/>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09728" bIns="109728"/>
          <a:lstStyle/>
          <a:p>
            <a:pPr algn="l">
              <a:spcAft>
                <a:spcPts val="0"/>
              </a:spcAft>
            </a:pPr>
            <a:r>
              <a:rPr sz="1400" b="0" i="0">
                <a:solidFill>
                  <a:srgbClr val="EEF3FA"/>
                </a:solidFill>
                <a:latin typeface="Calibri"/>
              </a:rPr>
              <a:t>Group-level media audits</a:t>
            </a:r>
          </a:p>
        </p:txBody>
      </p:sp>
      <p:sp>
        <p:nvSpPr>
          <p:cNvPr id="28" name="TextBox 27"/>
          <p:cNvSpPr txBox="1"/>
          <p:nvPr/>
        </p:nvSpPr>
        <p:spPr>
          <a:xfrm>
            <a:off x="6019495" y="6053328"/>
            <a:ext cx="5486400" cy="274320"/>
          </a:xfrm>
          <a:prstGeom prst="rect">
            <a:avLst/>
          </a:prstGeom>
          <a:noFill/>
        </p:spPr>
        <p:txBody>
          <a:bodyPr wrap="square" anchor="t">
            <a:spAutoFit/>
          </a:bodyPr>
          <a:lstStyle/>
          <a:p>
            <a:pPr algn="r">
              <a:spcAft>
                <a:spcPts val="0"/>
              </a:spcAft>
            </a:pPr>
            <a:r>
              <a:rPr sz="1200" b="1" i="0">
                <a:solidFill>
                  <a:srgbClr val="F5B83D"/>
                </a:solidFill>
                <a:latin typeface="Calibri"/>
              </a:rPr>
              <a:t>Next: conclusions  →</a:t>
            </a:r>
          </a:p>
        </p:txBody>
      </p:sp>
      <p:sp>
        <p:nvSpPr>
          <p:cNvPr id="29" name="TextBox 28"/>
          <p:cNvSpPr txBox="1"/>
          <p:nvPr/>
        </p:nvSpPr>
        <p:spPr>
          <a:xfrm>
            <a:off x="685800" y="6355080"/>
            <a:ext cx="4572000" cy="320040"/>
          </a:xfrm>
          <a:prstGeom prst="rect">
            <a:avLst/>
          </a:prstGeom>
          <a:noFill/>
        </p:spPr>
        <p:txBody>
          <a:bodyPr wrap="square" anchor="t">
            <a:spAutoFit/>
          </a:bodyPr>
          <a:lstStyle/>
          <a:p>
            <a:pPr algn="l">
              <a:spcAft>
                <a:spcPts val="0"/>
              </a:spcAft>
            </a:pPr>
            <a:r>
              <a:rPr sz="1000" b="1" i="0">
                <a:solidFill>
                  <a:srgbClr val="9AABC4"/>
                </a:solidFill>
                <a:latin typeface="Calibri"/>
              </a:rPr>
              <a:t>WHAT'S NEXT</a:t>
            </a:r>
          </a:p>
        </p:txBody>
      </p:sp>
      <p:sp>
        <p:nvSpPr>
          <p:cNvPr id="30" name="Rectangle 29"/>
          <p:cNvSpPr/>
          <p:nvPr/>
        </p:nvSpPr>
        <p:spPr>
          <a:xfrm>
            <a:off x="4692243" y="6473952"/>
            <a:ext cx="502920" cy="36576"/>
          </a:xfrm>
          <a:prstGeom prst="rect">
            <a:avLst/>
          </a:prstGeom>
          <a:solidFill>
            <a:srgbClr val="2A3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268315" y="6473952"/>
            <a:ext cx="502920" cy="36576"/>
          </a:xfrm>
          <a:prstGeom prst="rect">
            <a:avLst/>
          </a:prstGeom>
          <a:solidFill>
            <a:srgbClr val="2A3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5844387" y="6473952"/>
            <a:ext cx="502920" cy="36576"/>
          </a:xfrm>
          <a:prstGeom prst="rect">
            <a:avLst/>
          </a:prstGeom>
          <a:solidFill>
            <a:srgbClr val="2A3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420459" y="6473952"/>
            <a:ext cx="502920" cy="36576"/>
          </a:xfrm>
          <a:prstGeom prst="rect">
            <a:avLst/>
          </a:prstGeom>
          <a:solidFill>
            <a:srgbClr val="2A3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6996531" y="6473952"/>
            <a:ext cx="502920" cy="36576"/>
          </a:xfrm>
          <a:prstGeom prst="rect">
            <a:avLst/>
          </a:prstGeom>
          <a:solidFill>
            <a:srgbClr val="7CC4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0591495" y="6355080"/>
            <a:ext cx="914400" cy="320040"/>
          </a:xfrm>
          <a:prstGeom prst="rect">
            <a:avLst/>
          </a:prstGeom>
          <a:noFill/>
        </p:spPr>
        <p:txBody>
          <a:bodyPr wrap="square" anchor="t">
            <a:spAutoFit/>
          </a:bodyPr>
          <a:lstStyle/>
          <a:p>
            <a:pPr algn="r">
              <a:spcAft>
                <a:spcPts val="0"/>
              </a:spcAft>
            </a:pPr>
            <a:r>
              <a:rPr sz="1100" b="1" i="0">
                <a:solidFill>
                  <a:srgbClr val="9AABC4"/>
                </a:solidFill>
                <a:latin typeface="Calibri"/>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Oval 1"/>
          <p:cNvSpPr/>
          <p:nvPr/>
        </p:nvSpPr>
        <p:spPr>
          <a:xfrm>
            <a:off x="8214055" y="-3794760"/>
            <a:ext cx="6858000" cy="6858000"/>
          </a:xfrm>
          <a:prstGeom prst="ellipse">
            <a:avLst/>
          </a:prstGeom>
          <a:gradFill rotWithShape="1">
            <a:gsLst>
              <a:gs pos="0">
                <a:srgbClr val="3E8EDE">
                  <a:alpha val="28000"/>
                </a:srgbClr>
              </a:gs>
              <a:gs pos="100000">
                <a:srgbClr val="3E8EDE">
                  <a:alpha val="0"/>
                </a:srgbClr>
              </a:gs>
            </a:gsLst>
            <a:path path="circle">
              <a:fillToRect l="50000" t="50000" r="50000" b="50000"/>
            </a:path>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3474720" y="4663440"/>
            <a:ext cx="5486400" cy="5486400"/>
          </a:xfrm>
          <a:prstGeom prst="ellipse">
            <a:avLst/>
          </a:prstGeom>
          <a:gradFill rotWithShape="1">
            <a:gsLst>
              <a:gs pos="0">
                <a:srgbClr val="FF7A59">
                  <a:alpha val="10000"/>
                </a:srgbClr>
              </a:gs>
              <a:gs pos="100000">
                <a:srgbClr val="FF7A59">
                  <a:alpha val="0"/>
                </a:srgbClr>
              </a:gs>
            </a:gsLst>
            <a:path path="circle">
              <a:fillToRect l="50000" t="50000" r="50000" b="50000"/>
            </a:path>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heck-circle.png"/>
          <p:cNvPicPr>
            <a:picLocks noChangeAspect="1"/>
          </p:cNvPicPr>
          <p:nvPr/>
        </p:nvPicPr>
        <p:blipFill>
          <a:blip r:embed="rId3"/>
          <a:stretch>
            <a:fillRect/>
          </a:stretch>
        </p:blipFill>
        <p:spPr>
          <a:xfrm>
            <a:off x="685800" y="457200"/>
            <a:ext cx="420624" cy="420624"/>
          </a:xfrm>
          <a:prstGeom prst="rect">
            <a:avLst/>
          </a:prstGeom>
        </p:spPr>
      </p:pic>
      <p:sp>
        <p:nvSpPr>
          <p:cNvPr id="5" name="TextBox 4"/>
          <p:cNvSpPr txBox="1"/>
          <p:nvPr/>
        </p:nvSpPr>
        <p:spPr>
          <a:xfrm>
            <a:off x="1289304" y="201168"/>
            <a:ext cx="10216591" cy="320040"/>
          </a:xfrm>
          <a:prstGeom prst="rect">
            <a:avLst/>
          </a:prstGeom>
          <a:noFill/>
        </p:spPr>
        <p:txBody>
          <a:bodyPr wrap="square" anchor="t">
            <a:spAutoFit/>
          </a:bodyPr>
          <a:lstStyle/>
          <a:p>
            <a:pPr algn="l">
              <a:spcAft>
                <a:spcPts val="0"/>
              </a:spcAft>
            </a:pPr>
            <a:r>
              <a:rPr sz="1200" b="1" i="0">
                <a:solidFill>
                  <a:srgbClr val="FF7A59"/>
                </a:solidFill>
                <a:latin typeface="Calibri"/>
              </a:rPr>
              <a:t>WHAT'S NEXT</a:t>
            </a:r>
          </a:p>
        </p:txBody>
      </p:sp>
      <p:sp>
        <p:nvSpPr>
          <p:cNvPr id="6" name="TextBox 5"/>
          <p:cNvSpPr txBox="1"/>
          <p:nvPr/>
        </p:nvSpPr>
        <p:spPr>
          <a:xfrm>
            <a:off x="1289304" y="420624"/>
            <a:ext cx="10216591" cy="822960"/>
          </a:xfrm>
          <a:prstGeom prst="rect">
            <a:avLst/>
          </a:prstGeom>
          <a:noFill/>
        </p:spPr>
        <p:txBody>
          <a:bodyPr wrap="square" anchor="t">
            <a:spAutoFit/>
          </a:bodyPr>
          <a:lstStyle/>
          <a:p>
            <a:pPr algn="l">
              <a:spcAft>
                <a:spcPts val="0"/>
              </a:spcAft>
            </a:pPr>
            <a:r>
              <a:rPr sz="2600" b="1" i="0">
                <a:solidFill>
                  <a:srgbClr val="7CC4FF"/>
                </a:solidFill>
                <a:latin typeface="Calibri"/>
              </a:rPr>
              <a:t>Conclusions</a:t>
            </a:r>
          </a:p>
        </p:txBody>
      </p:sp>
      <p:sp>
        <p:nvSpPr>
          <p:cNvPr id="7" name="Rounded Rectangle 6"/>
          <p:cNvSpPr/>
          <p:nvPr/>
        </p:nvSpPr>
        <p:spPr>
          <a:xfrm>
            <a:off x="685800" y="1371600"/>
            <a:ext cx="5257800" cy="1508760"/>
          </a:xfrm>
          <a:prstGeom prst="roundRect">
            <a:avLst>
              <a:gd name="adj" fmla="val 6000"/>
            </a:avLst>
          </a:prstGeom>
          <a:solidFill>
            <a:srgbClr val="12223C"/>
          </a:solidFill>
          <a:ln w="25400">
            <a:solidFill>
              <a:srgbClr val="7CC4FF"/>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09728" bIns="109728"/>
          <a:lstStyle/>
          <a:p>
            <a:pPr algn="l"/>
          </a:p>
        </p:txBody>
      </p:sp>
      <p:sp>
        <p:nvSpPr>
          <p:cNvPr id="8" name="TextBox 7"/>
          <p:cNvSpPr txBox="1"/>
          <p:nvPr/>
        </p:nvSpPr>
        <p:spPr>
          <a:xfrm>
            <a:off x="868680" y="1463040"/>
            <a:ext cx="457200" cy="457200"/>
          </a:xfrm>
          <a:prstGeom prst="rect">
            <a:avLst/>
          </a:prstGeom>
          <a:noFill/>
        </p:spPr>
        <p:txBody>
          <a:bodyPr wrap="square" anchor="t">
            <a:spAutoFit/>
          </a:bodyPr>
          <a:lstStyle/>
          <a:p>
            <a:pPr algn="l">
              <a:spcAft>
                <a:spcPts val="0"/>
              </a:spcAft>
            </a:pPr>
            <a:r>
              <a:rPr sz="2000" b="1" i="0">
                <a:solidFill>
                  <a:srgbClr val="7CC4FF"/>
                </a:solidFill>
                <a:latin typeface="Calibri"/>
              </a:rPr>
              <a:t>1</a:t>
            </a:r>
          </a:p>
        </p:txBody>
      </p:sp>
      <p:sp>
        <p:nvSpPr>
          <p:cNvPr id="9" name="TextBox 8"/>
          <p:cNvSpPr txBox="1"/>
          <p:nvPr/>
        </p:nvSpPr>
        <p:spPr>
          <a:xfrm>
            <a:off x="1325880" y="1481328"/>
            <a:ext cx="4480560" cy="1325880"/>
          </a:xfrm>
          <a:prstGeom prst="rect">
            <a:avLst/>
          </a:prstGeom>
          <a:noFill/>
        </p:spPr>
        <p:txBody>
          <a:bodyPr wrap="square" anchor="t">
            <a:spAutoFit/>
          </a:bodyPr>
          <a:lstStyle/>
          <a:p>
            <a:pPr algn="l">
              <a:spcAft>
                <a:spcPts val="200"/>
              </a:spcAft>
            </a:pPr>
            <a:r>
              <a:rPr sz="3000" b="1" i="0">
                <a:solidFill>
                  <a:srgbClr val="7CC4FF"/>
                </a:solidFill>
                <a:latin typeface="Calibri"/>
              </a:rPr>
              <a:t>0.8725</a:t>
            </a:r>
          </a:p>
          <a:p>
            <a:pPr algn="l">
              <a:spcAft>
                <a:spcPts val="0"/>
              </a:spcAft>
            </a:pPr>
            <a:r>
              <a:rPr sz="1500" b="1" i="0">
                <a:solidFill>
                  <a:srgbClr val="EEF3FA"/>
                </a:solidFill>
                <a:latin typeface="Calibri"/>
              </a:rPr>
              <a:t>A field observable can be measured</a:t>
            </a:r>
          </a:p>
          <a:p>
            <a:pPr algn="l">
              <a:spcAft>
                <a:spcPts val="0"/>
              </a:spcAft>
            </a:pPr>
            <a:r>
              <a:rPr sz="1200" b="0" i="0">
                <a:solidFill>
                  <a:srgbClr val="9AABC4"/>
                </a:solidFill>
                <a:latin typeface="Calibri"/>
              </a:rPr>
              <a:t>ICC: agreement between two runs</a:t>
            </a:r>
          </a:p>
        </p:txBody>
      </p:sp>
      <p:sp>
        <p:nvSpPr>
          <p:cNvPr id="10" name="Rounded Rectangle 9"/>
          <p:cNvSpPr/>
          <p:nvPr/>
        </p:nvSpPr>
        <p:spPr>
          <a:xfrm>
            <a:off x="6245352" y="1371600"/>
            <a:ext cx="5257800" cy="1508760"/>
          </a:xfrm>
          <a:prstGeom prst="roundRect">
            <a:avLst>
              <a:gd name="adj" fmla="val 6000"/>
            </a:avLst>
          </a:prstGeom>
          <a:solidFill>
            <a:srgbClr val="12223C"/>
          </a:solidFill>
          <a:ln w="25400">
            <a:solidFill>
              <a:srgbClr val="5FD09A"/>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09728" bIns="109728"/>
          <a:lstStyle/>
          <a:p>
            <a:pPr algn="l"/>
          </a:p>
        </p:txBody>
      </p:sp>
      <p:sp>
        <p:nvSpPr>
          <p:cNvPr id="11" name="TextBox 10"/>
          <p:cNvSpPr txBox="1"/>
          <p:nvPr/>
        </p:nvSpPr>
        <p:spPr>
          <a:xfrm>
            <a:off x="6428232" y="1463040"/>
            <a:ext cx="457200" cy="457200"/>
          </a:xfrm>
          <a:prstGeom prst="rect">
            <a:avLst/>
          </a:prstGeom>
          <a:noFill/>
        </p:spPr>
        <p:txBody>
          <a:bodyPr wrap="square" anchor="t">
            <a:spAutoFit/>
          </a:bodyPr>
          <a:lstStyle/>
          <a:p>
            <a:pPr algn="l">
              <a:spcAft>
                <a:spcPts val="0"/>
              </a:spcAft>
            </a:pPr>
            <a:r>
              <a:rPr sz="2000" b="1" i="0">
                <a:solidFill>
                  <a:srgbClr val="5FD09A"/>
                </a:solidFill>
                <a:latin typeface="Calibri"/>
              </a:rPr>
              <a:t>2</a:t>
            </a:r>
          </a:p>
        </p:txBody>
      </p:sp>
      <p:sp>
        <p:nvSpPr>
          <p:cNvPr id="12" name="TextBox 11"/>
          <p:cNvSpPr txBox="1"/>
          <p:nvPr/>
        </p:nvSpPr>
        <p:spPr>
          <a:xfrm>
            <a:off x="6885432" y="1481328"/>
            <a:ext cx="4480560" cy="1325880"/>
          </a:xfrm>
          <a:prstGeom prst="rect">
            <a:avLst/>
          </a:prstGeom>
          <a:noFill/>
        </p:spPr>
        <p:txBody>
          <a:bodyPr wrap="square" anchor="t">
            <a:spAutoFit/>
          </a:bodyPr>
          <a:lstStyle/>
          <a:p>
            <a:pPr algn="l">
              <a:spcAft>
                <a:spcPts val="200"/>
              </a:spcAft>
            </a:pPr>
            <a:r>
              <a:rPr sz="3000" b="1" i="0">
                <a:solidFill>
                  <a:srgbClr val="5FD09A"/>
                </a:solidFill>
                <a:latin typeface="Calibri"/>
              </a:rPr>
              <a:t>0.107</a:t>
            </a:r>
          </a:p>
          <a:p>
            <a:pPr algn="l">
              <a:spcAft>
                <a:spcPts val="0"/>
              </a:spcAft>
            </a:pPr>
            <a:r>
              <a:rPr sz="1500" b="1" i="0">
                <a:solidFill>
                  <a:srgbClr val="EEF3FA"/>
                </a:solidFill>
                <a:latin typeface="Calibri"/>
              </a:rPr>
              <a:t>It separates the four groups</a:t>
            </a:r>
          </a:p>
          <a:p>
            <a:pPr algn="l">
              <a:spcAft>
                <a:spcPts val="0"/>
              </a:spcAft>
            </a:pPr>
            <a:r>
              <a:rPr sz="1200" b="0" i="0">
                <a:solidFill>
                  <a:srgbClr val="9AABC4"/>
                </a:solidFill>
                <a:latin typeface="Calibri"/>
              </a:rPr>
              <a:t>η²: 10.7% of variation due to group; source mixed in</a:t>
            </a:r>
          </a:p>
        </p:txBody>
      </p:sp>
      <p:sp>
        <p:nvSpPr>
          <p:cNvPr id="13" name="Rounded Rectangle 12"/>
          <p:cNvSpPr/>
          <p:nvPr/>
        </p:nvSpPr>
        <p:spPr>
          <a:xfrm>
            <a:off x="685800" y="3063240"/>
            <a:ext cx="5257800" cy="1508760"/>
          </a:xfrm>
          <a:prstGeom prst="roundRect">
            <a:avLst>
              <a:gd name="adj" fmla="val 6000"/>
            </a:avLst>
          </a:prstGeom>
          <a:solidFill>
            <a:srgbClr val="12223C"/>
          </a:solidFill>
          <a:ln w="25400">
            <a:solidFill>
              <a:srgbClr val="FF7A59"/>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09728" bIns="109728"/>
          <a:lstStyle/>
          <a:p>
            <a:pPr algn="l"/>
          </a:p>
        </p:txBody>
      </p:sp>
      <p:sp>
        <p:nvSpPr>
          <p:cNvPr id="14" name="TextBox 13"/>
          <p:cNvSpPr txBox="1"/>
          <p:nvPr/>
        </p:nvSpPr>
        <p:spPr>
          <a:xfrm>
            <a:off x="868680" y="3154680"/>
            <a:ext cx="457200" cy="457200"/>
          </a:xfrm>
          <a:prstGeom prst="rect">
            <a:avLst/>
          </a:prstGeom>
          <a:noFill/>
        </p:spPr>
        <p:txBody>
          <a:bodyPr wrap="square" anchor="t">
            <a:spAutoFit/>
          </a:bodyPr>
          <a:lstStyle/>
          <a:p>
            <a:pPr algn="l">
              <a:spcAft>
                <a:spcPts val="0"/>
              </a:spcAft>
            </a:pPr>
            <a:r>
              <a:rPr sz="2000" b="1" i="0">
                <a:solidFill>
                  <a:srgbClr val="FF7A59"/>
                </a:solidFill>
                <a:latin typeface="Calibri"/>
              </a:rPr>
              <a:t>3</a:t>
            </a:r>
          </a:p>
        </p:txBody>
      </p:sp>
      <p:sp>
        <p:nvSpPr>
          <p:cNvPr id="15" name="TextBox 14"/>
          <p:cNvSpPr txBox="1"/>
          <p:nvPr/>
        </p:nvSpPr>
        <p:spPr>
          <a:xfrm>
            <a:off x="1325880" y="3172968"/>
            <a:ext cx="4480560" cy="1325880"/>
          </a:xfrm>
          <a:prstGeom prst="rect">
            <a:avLst/>
          </a:prstGeom>
          <a:noFill/>
        </p:spPr>
        <p:txBody>
          <a:bodyPr wrap="square" anchor="t">
            <a:spAutoFit/>
          </a:bodyPr>
          <a:lstStyle/>
          <a:p>
            <a:pPr algn="l">
              <a:spcAft>
                <a:spcPts val="200"/>
              </a:spcAft>
            </a:pPr>
            <a:r>
              <a:rPr sz="3000" b="1" i="0">
                <a:solidFill>
                  <a:srgbClr val="FF7A59"/>
                </a:solidFill>
                <a:latin typeface="Calibri"/>
              </a:rPr>
              <a:t>α ≥ 4.29</a:t>
            </a:r>
          </a:p>
          <a:p>
            <a:pPr algn="l">
              <a:spcAft>
                <a:spcPts val="0"/>
              </a:spcAft>
            </a:pPr>
            <a:r>
              <a:rPr sz="1500" b="1" i="0">
                <a:solidFill>
                  <a:srgbClr val="EEF3FA"/>
                </a:solidFill>
                <a:latin typeface="Calibri"/>
              </a:rPr>
              <a:t>Media strength has a minimum</a:t>
            </a:r>
          </a:p>
          <a:p>
            <a:pPr algn="l">
              <a:spcAft>
                <a:spcPts val="0"/>
              </a:spcAft>
            </a:pPr>
            <a:r>
              <a:rPr sz="1200" b="0" i="0">
                <a:solidFill>
                  <a:srgbClr val="9AABC4"/>
                </a:solidFill>
                <a:latin typeface="Calibri"/>
              </a:rPr>
              <a:t>at βJ = 2, within the mean-field model</a:t>
            </a:r>
          </a:p>
        </p:txBody>
      </p:sp>
      <p:sp>
        <p:nvSpPr>
          <p:cNvPr id="16" name="Rounded Rectangle 15"/>
          <p:cNvSpPr/>
          <p:nvPr/>
        </p:nvSpPr>
        <p:spPr>
          <a:xfrm>
            <a:off x="6245352" y="3063240"/>
            <a:ext cx="5257800" cy="1508760"/>
          </a:xfrm>
          <a:prstGeom prst="roundRect">
            <a:avLst>
              <a:gd name="adj" fmla="val 6000"/>
            </a:avLst>
          </a:prstGeom>
          <a:solidFill>
            <a:srgbClr val="12223C"/>
          </a:solidFill>
          <a:ln w="25400">
            <a:solidFill>
              <a:srgbClr val="F5B83D"/>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09728" bIns="109728"/>
          <a:lstStyle/>
          <a:p>
            <a:pPr algn="l"/>
          </a:p>
        </p:txBody>
      </p:sp>
      <p:sp>
        <p:nvSpPr>
          <p:cNvPr id="17" name="TextBox 16"/>
          <p:cNvSpPr txBox="1"/>
          <p:nvPr/>
        </p:nvSpPr>
        <p:spPr>
          <a:xfrm>
            <a:off x="6428232" y="3154680"/>
            <a:ext cx="457200" cy="457200"/>
          </a:xfrm>
          <a:prstGeom prst="rect">
            <a:avLst/>
          </a:prstGeom>
          <a:noFill/>
        </p:spPr>
        <p:txBody>
          <a:bodyPr wrap="square" anchor="t">
            <a:spAutoFit/>
          </a:bodyPr>
          <a:lstStyle/>
          <a:p>
            <a:pPr algn="l">
              <a:spcAft>
                <a:spcPts val="0"/>
              </a:spcAft>
            </a:pPr>
            <a:r>
              <a:rPr sz="2000" b="1" i="0">
                <a:solidFill>
                  <a:srgbClr val="F5B83D"/>
                </a:solidFill>
                <a:latin typeface="Calibri"/>
              </a:rPr>
              <a:t>4</a:t>
            </a:r>
          </a:p>
        </p:txBody>
      </p:sp>
      <p:sp>
        <p:nvSpPr>
          <p:cNvPr id="18" name="TextBox 17"/>
          <p:cNvSpPr txBox="1"/>
          <p:nvPr/>
        </p:nvSpPr>
        <p:spPr>
          <a:xfrm>
            <a:off x="6885432" y="3172968"/>
            <a:ext cx="4480560" cy="1325880"/>
          </a:xfrm>
          <a:prstGeom prst="rect">
            <a:avLst/>
          </a:prstGeom>
          <a:noFill/>
        </p:spPr>
        <p:txBody>
          <a:bodyPr wrap="square" anchor="t">
            <a:spAutoFit/>
          </a:bodyPr>
          <a:lstStyle/>
          <a:p>
            <a:pPr algn="l">
              <a:spcAft>
                <a:spcPts val="200"/>
              </a:spcAft>
            </a:pPr>
            <a:r>
              <a:rPr sz="3000" b="1" i="0">
                <a:solidFill>
                  <a:srgbClr val="F5B83D"/>
                </a:solidFill>
                <a:latin typeface="Calibri"/>
              </a:rPr>
              <a:t>r = 0.028</a:t>
            </a:r>
          </a:p>
          <a:p>
            <a:pPr algn="l">
              <a:spcAft>
                <a:spcPts val="0"/>
              </a:spcAft>
            </a:pPr>
            <a:r>
              <a:rPr sz="1500" b="1" i="0">
                <a:solidFill>
                  <a:srgbClr val="EEF3FA"/>
                </a:solidFill>
                <a:latin typeface="Calibri"/>
              </a:rPr>
              <a:t>The brain model matches real brains</a:t>
            </a:r>
          </a:p>
          <a:p>
            <a:pPr algn="l">
              <a:spcAft>
                <a:spcPts val="0"/>
              </a:spcAft>
            </a:pPr>
            <a:r>
              <a:rPr sz="1200" b="0" i="0">
                <a:solidFill>
                  <a:srgbClr val="9AABC4"/>
                </a:solidFill>
                <a:latin typeface="Calibri"/>
              </a:rPr>
              <a:t>positive; 30% of the 0.096 ceiling</a:t>
            </a:r>
          </a:p>
        </p:txBody>
      </p:sp>
      <p:sp>
        <p:nvSpPr>
          <p:cNvPr id="19" name="Rounded Rectangle 18"/>
          <p:cNvSpPr/>
          <p:nvPr/>
        </p:nvSpPr>
        <p:spPr>
          <a:xfrm>
            <a:off x="685800" y="4892040"/>
            <a:ext cx="10820095" cy="502920"/>
          </a:xfrm>
          <a:prstGeom prst="roundRect">
            <a:avLst>
              <a:gd name="adj" fmla="val 6000"/>
            </a:avLst>
          </a:prstGeom>
          <a:solidFill>
            <a:srgbClr val="12223C"/>
          </a:solidFill>
          <a:ln w="25400">
            <a:solidFill>
              <a:srgbClr val="7CC4FF"/>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09728" bIns="109728"/>
          <a:lstStyle/>
          <a:p>
            <a:pPr algn="l">
              <a:spcAft>
                <a:spcPts val="0"/>
              </a:spcAft>
            </a:pPr>
            <a:r>
              <a:rPr sz="1400" b="1">
                <a:solidFill>
                  <a:srgbClr val="7CC4FF"/>
                </a:solidFill>
                <a:latin typeface="Calibri"/>
              </a:rPr>
              <a:t>Three papers follow.  </a:t>
            </a:r>
            <a:r>
              <a:rPr sz="1400" b="0">
                <a:solidFill>
                  <a:srgbClr val="EEF3FA"/>
                </a:solidFill>
                <a:latin typeface="Calibri"/>
              </a:rPr>
              <a:t>Paper 1 and Paper 2 → Physica A,  Paper 3 → Imaging Neuroscience.</a:t>
            </a:r>
          </a:p>
        </p:txBody>
      </p:sp>
      <p:sp>
        <p:nvSpPr>
          <p:cNvPr id="20" name="TextBox 19"/>
          <p:cNvSpPr txBox="1"/>
          <p:nvPr/>
        </p:nvSpPr>
        <p:spPr>
          <a:xfrm>
            <a:off x="685800" y="5532120"/>
            <a:ext cx="10820095" cy="457200"/>
          </a:xfrm>
          <a:prstGeom prst="rect">
            <a:avLst/>
          </a:prstGeom>
          <a:noFill/>
        </p:spPr>
        <p:txBody>
          <a:bodyPr wrap="square" anchor="t">
            <a:spAutoFit/>
          </a:bodyPr>
          <a:lstStyle/>
          <a:p>
            <a:pPr algn="ctr">
              <a:spcAft>
                <a:spcPts val="0"/>
              </a:spcAft>
            </a:pPr>
            <a:r>
              <a:rPr sz="2200" b="1" i="0">
                <a:solidFill>
                  <a:srgbClr val="F5B83D"/>
                </a:solidFill>
                <a:latin typeface="Calibri"/>
              </a:rPr>
              <a:t>Thank you.  Questions welcome.</a:t>
            </a:r>
          </a:p>
        </p:txBody>
      </p:sp>
      <p:sp>
        <p:nvSpPr>
          <p:cNvPr id="21" name="TextBox 20"/>
          <p:cNvSpPr txBox="1"/>
          <p:nvPr/>
        </p:nvSpPr>
        <p:spPr>
          <a:xfrm>
            <a:off x="685800" y="6355080"/>
            <a:ext cx="4572000" cy="320040"/>
          </a:xfrm>
          <a:prstGeom prst="rect">
            <a:avLst/>
          </a:prstGeom>
          <a:noFill/>
        </p:spPr>
        <p:txBody>
          <a:bodyPr wrap="square" anchor="t">
            <a:spAutoFit/>
          </a:bodyPr>
          <a:lstStyle/>
          <a:p>
            <a:pPr algn="l">
              <a:spcAft>
                <a:spcPts val="0"/>
              </a:spcAft>
            </a:pPr>
            <a:r>
              <a:rPr sz="1000" b="1" i="0">
                <a:solidFill>
                  <a:srgbClr val="9AABC4"/>
                </a:solidFill>
                <a:latin typeface="Calibri"/>
              </a:rPr>
              <a:t>WHAT'S NEXT</a:t>
            </a:r>
          </a:p>
        </p:txBody>
      </p:sp>
      <p:sp>
        <p:nvSpPr>
          <p:cNvPr id="22" name="Rectangle 21"/>
          <p:cNvSpPr/>
          <p:nvPr/>
        </p:nvSpPr>
        <p:spPr>
          <a:xfrm>
            <a:off x="4692243" y="6473952"/>
            <a:ext cx="502920" cy="36576"/>
          </a:xfrm>
          <a:prstGeom prst="rect">
            <a:avLst/>
          </a:prstGeom>
          <a:solidFill>
            <a:srgbClr val="2A3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268315" y="6473952"/>
            <a:ext cx="502920" cy="36576"/>
          </a:xfrm>
          <a:prstGeom prst="rect">
            <a:avLst/>
          </a:prstGeom>
          <a:solidFill>
            <a:srgbClr val="2A3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844387" y="6473952"/>
            <a:ext cx="502920" cy="36576"/>
          </a:xfrm>
          <a:prstGeom prst="rect">
            <a:avLst/>
          </a:prstGeom>
          <a:solidFill>
            <a:srgbClr val="2A3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420459" y="6473952"/>
            <a:ext cx="502920" cy="36576"/>
          </a:xfrm>
          <a:prstGeom prst="rect">
            <a:avLst/>
          </a:prstGeom>
          <a:solidFill>
            <a:srgbClr val="2A3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996531" y="6473952"/>
            <a:ext cx="502920" cy="36576"/>
          </a:xfrm>
          <a:prstGeom prst="rect">
            <a:avLst/>
          </a:prstGeom>
          <a:solidFill>
            <a:srgbClr val="7CC4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0591495" y="6355080"/>
            <a:ext cx="914400" cy="320040"/>
          </a:xfrm>
          <a:prstGeom prst="rect">
            <a:avLst/>
          </a:prstGeom>
          <a:noFill/>
        </p:spPr>
        <p:txBody>
          <a:bodyPr wrap="square" anchor="t">
            <a:spAutoFit/>
          </a:bodyPr>
          <a:lstStyle/>
          <a:p>
            <a:pPr algn="r">
              <a:spcAft>
                <a:spcPts val="0"/>
              </a:spcAft>
            </a:pPr>
            <a:r>
              <a:rPr sz="1100" b="1" i="0">
                <a:solidFill>
                  <a:srgbClr val="9AABC4"/>
                </a:solidFill>
                <a:latin typeface="Calibri"/>
              </a:rPr>
              <a:t>16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