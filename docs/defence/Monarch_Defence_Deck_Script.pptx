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share</c:v>
                </c:pt>
              </c:strCache>
            </c:strRef>
          </c:tx>
          <c:dPt>
            <c:idx val="0"/>
            <c:spPr>
              <a:solidFill>
                <a:srgbClr val="7CC4FF"/>
              </a:solidFill>
              <a:ln>
                <a:noFill/>
              </a:ln>
            </c:spPr>
          </c:dPt>
          <c:dPt>
            <c:idx val="1"/>
            <c:spPr>
              <a:solidFill>
                <a:srgbClr val="2A3D5E"/>
              </a:solidFill>
              <a:ln>
                <a:noFill/>
              </a:ln>
            </c:spPr>
          </c:dPt>
          <c:cat>
            <c:strRef>
              <c:f>Sheet1!$A$2:$A$3</c:f>
              <c:strCache>
                <c:ptCount val="2"/>
                <c:pt idx="0">
                  <c:v>group</c:v>
                </c:pt>
                <c:pt idx="1">
                  <c:v>rest</c:v>
                </c:pt>
              </c:strCache>
            </c:strRef>
          </c:cat>
          <c:val>
            <c:numRef>
              <c:f>Sheet1!$B$2:$B$3</c:f>
              <c:numCache>
                <c:formatCode>General</c:formatCode>
                <c:ptCount val="2"/>
                <c:pt idx="0">
                  <c:v>0.1068</c:v>
                </c:pt>
                <c:pt idx="1">
                  <c:v>0.8932</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plotArea>
      <c:scatterChart>
        <c:scatterStyle val="smoothMarker"/>
        <c:varyColors val="0"/>
        <c:ser>
          <c:idx val="0"/>
          <c:order val="0"/>
          <c:tx>
            <c:strRef>
              <c:f>Sheet1!$B$1</c:f>
              <c:strCache>
                <c:ptCount val="1"/>
                <c:pt idx="0">
                  <c:v>alpha required</c:v>
                </c:pt>
              </c:strCache>
            </c:strRef>
          </c:tx>
          <c:spPr>
            <a:ln w="38100">
              <a:solidFill>
                <a:srgbClr val="7CC4FF"/>
              </a:solidFill>
            </a:ln>
          </c:spPr>
          <c:marker>
            <c:symbol val="none"/>
          </c:marker>
          <c:xVal>
            <c:numRef>
              <c:f>Sheet1!$A$2:$A$32</c:f>
              <c:numCache>
                <c:formatCode>General</c:formatCode>
                <c:ptCount val="31"/>
                <c:pt idx="0">
                  <c:v>1.0</c:v>
                </c:pt>
                <c:pt idx="1">
                  <c:v>1.05</c:v>
                </c:pt>
                <c:pt idx="2">
                  <c:v>1.1</c:v>
                </c:pt>
                <c:pt idx="3">
                  <c:v>1.15</c:v>
                </c:pt>
                <c:pt idx="4">
                  <c:v>1.2</c:v>
                </c:pt>
                <c:pt idx="5">
                  <c:v>1.25</c:v>
                </c:pt>
                <c:pt idx="6">
                  <c:v>1.3</c:v>
                </c:pt>
                <c:pt idx="7">
                  <c:v>1.35</c:v>
                </c:pt>
                <c:pt idx="8">
                  <c:v>1.4</c:v>
                </c:pt>
                <c:pt idx="9">
                  <c:v>1.45</c:v>
                </c:pt>
                <c:pt idx="10">
                  <c:v>1.5</c:v>
                </c:pt>
                <c:pt idx="11">
                  <c:v>1.55</c:v>
                </c:pt>
                <c:pt idx="12">
                  <c:v>1.6</c:v>
                </c:pt>
                <c:pt idx="13">
                  <c:v>1.65</c:v>
                </c:pt>
                <c:pt idx="14">
                  <c:v>1.7</c:v>
                </c:pt>
                <c:pt idx="15">
                  <c:v>1.75</c:v>
                </c:pt>
                <c:pt idx="16">
                  <c:v>1.8</c:v>
                </c:pt>
                <c:pt idx="17">
                  <c:v>1.85</c:v>
                </c:pt>
                <c:pt idx="18">
                  <c:v>1.9</c:v>
                </c:pt>
                <c:pt idx="19">
                  <c:v>1.95</c:v>
                </c:pt>
                <c:pt idx="20">
                  <c:v>2.0</c:v>
                </c:pt>
                <c:pt idx="21">
                  <c:v>2.05</c:v>
                </c:pt>
                <c:pt idx="22">
                  <c:v>2.1</c:v>
                </c:pt>
                <c:pt idx="23">
                  <c:v>2.15</c:v>
                </c:pt>
                <c:pt idx="24">
                  <c:v>2.2</c:v>
                </c:pt>
                <c:pt idx="25">
                  <c:v>2.25</c:v>
                </c:pt>
                <c:pt idx="26">
                  <c:v>2.3</c:v>
                </c:pt>
                <c:pt idx="27">
                  <c:v>2.35</c:v>
                </c:pt>
                <c:pt idx="28">
                  <c:v>2.4</c:v>
                </c:pt>
                <c:pt idx="29">
                  <c:v>2.45</c:v>
                </c:pt>
                <c:pt idx="30">
                  <c:v>2.5</c:v>
                </c:pt>
              </c:numCache>
            </c:numRef>
          </c:xVal>
          <c:yVal>
            <c:numRef>
              <c:f>Sheet1!$B$2:$B$32</c:f>
              <c:numCache>
                <c:formatCode>General</c:formatCode>
                <c:ptCount val="31"/>
                <c:pt idx="0">
                  <c:v>0.0</c:v>
                </c:pt>
                <c:pt idx="1">
                  <c:v>0.05918338078351689</c:v>
                </c:pt>
                <c:pt idx="2">
                  <c:v>0.1650380916853392</c:v>
                </c:pt>
                <c:pt idx="3">
                  <c:v>0.2990712144836746</c:v>
                </c:pt>
                <c:pt idx="4">
                  <c:v>0.4543963361108232</c:v>
                </c:pt>
                <c:pt idx="5">
                  <c:v>0.6269554336449967</c:v>
                </c:pt>
                <c:pt idx="6">
                  <c:v>0.81398744833397</c:v>
                </c:pt>
                <c:pt idx="7">
                  <c:v>1.0134638432693657</c:v>
                </c:pt>
                <c:pt idx="8">
                  <c:v>1.2238204017587742</c:v>
                </c:pt>
                <c:pt idx="9">
                  <c:v>1.4438098933923091</c:v>
                </c:pt>
                <c:pt idx="10">
                  <c:v>1.6724130162935578</c:v>
                </c:pt>
                <c:pt idx="11">
                  <c:v>1.9087807696186925</c:v>
                </c:pt>
                <c:pt idx="12">
                  <c:v>2.1521952101367066</c:v>
                </c:pt>
                <c:pt idx="13">
                  <c:v>2.402041645767016</c:v>
                </c:pt>
                <c:pt idx="14">
                  <c:v>2.657788297596657</c:v>
                </c:pt>
                <c:pt idx="15">
                  <c:v>2.9189710334629715</c:v>
                </c:pt>
                <c:pt idx="16">
                  <c:v>3.1851816582026613</c:v>
                </c:pt>
                <c:pt idx="17">
                  <c:v>3.456058766387657</c:v>
                </c:pt>
                <c:pt idx="18">
                  <c:v>3.7312804840616804</c:v>
                </c:pt>
                <c:pt idx="19">
                  <c:v>4.0105586307024526</c:v>
                </c:pt>
                <c:pt idx="20">
                  <c:v>4.2936339673936565</c:v>
                </c:pt>
                <c:pt idx="21">
                  <c:v>4.580272288302001</c:v>
                </c:pt>
                <c:pt idx="22">
                  <c:v>4.870261175613264</c:v>
                </c:pt>
                <c:pt idx="23">
                  <c:v>5.163407282634284</c:v>
                </c:pt>
                <c:pt idx="24">
                  <c:v>5.45953404182952</c:v>
                </c:pt>
                <c:pt idx="25">
                  <c:v>5.758479718014789</c:v>
                </c:pt>
                <c:pt idx="26">
                  <c:v>6.060095744343501</c:v>
                </c:pt>
                <c:pt idx="27">
                  <c:v>6.364245291821802</c:v>
                </c:pt>
                <c:pt idx="28">
                  <c:v>6.670802033066661</c:v>
                </c:pt>
                <c:pt idx="29">
                  <c:v>6.979649068704033</c:v>
                </c:pt>
                <c:pt idx="30">
                  <c:v>7.290677990781043</c:v>
                </c:pt>
              </c:numCache>
            </c:numRef>
          </c:yVal>
          <c:smooth val="0"/>
        </c:ser>
        <c:ser>
          <c:idx val="1"/>
          <c:order val="1"/>
          <c:tx>
            <c:strRef>
              <c:f>Sheet1!$B$34</c:f>
              <c:strCache>
                <c:ptCount val="1"/>
                <c:pt idx="0">
                  <c:v>our case</c:v>
                </c:pt>
              </c:strCache>
            </c:strRef>
          </c:tx>
          <c:spPr>
            <a:ln>
              <a:noFill/>
            </a:ln>
          </c:spPr>
          <c:marker>
            <c:symbol val="circle"/>
            <c:size val="12"/>
            <c:spPr>
              <a:solidFill>
                <a:srgbClr val="FF7A59"/>
              </a:solidFill>
              <a:ln>
                <a:noFill/>
              </a:ln>
            </c:spPr>
          </c:marker>
          <c:xVal>
            <c:numRef>
              <c:f>Sheet1!$A$35:$A$35</c:f>
              <c:numCache>
                <c:formatCode>General</c:formatCode>
                <c:ptCount val="1"/>
                <c:pt idx="0">
                  <c:v>2.0</c:v>
                </c:pt>
              </c:numCache>
            </c:numRef>
          </c:xVal>
          <c:yVal>
            <c:numRef>
              <c:f>Sheet1!$B$35:$B$35</c:f>
              <c:numCache>
                <c:formatCode>General</c:formatCode>
                <c:ptCount val="1"/>
                <c:pt idx="0">
                  <c:v>4.29363396739365</c:v>
                </c:pt>
              </c:numCache>
            </c:numRef>
          </c:yVal>
          <c:smooth val="0"/>
        </c:ser>
        <c:axId val="-2128940872"/>
        <c:axId val="-2129643912"/>
      </c:scatterChart>
      <c:valAx>
        <c:axId val="-2128940872"/>
        <c:scaling>
          <c:orientation val="minMax"/>
          <c:max val="2.5"/>
          <c:min val="1.0"/>
        </c:scaling>
        <c:delete val="0"/>
        <c:axPos val="b"/>
        <c:numFmt formatCode="General" sourceLinked="1"/>
        <c:majorTickMark val="out"/>
        <c:minorTickMark val="none"/>
        <c:tickLblPos val="nextTo"/>
        <c:spPr>
          <a:ln>
            <a:solidFill>
              <a:srgbClr val="2A3D5E"/>
            </a:solidFill>
          </a:ln>
        </c:spPr>
        <c:crossAx val="-2129643912"/>
        <c:crosses val="autoZero"/>
        <c:crossBetween val="midCat"/>
        <c:majorUnit val="0.5"/>
      </c:valAx>
      <c:valAx>
        <c:axId val="-2129643912"/>
        <c:scaling>
          <c:orientation val="minMax"/>
          <c:max val="8.0"/>
          <c:min val="0.0"/>
        </c:scaling>
        <c:delete val="0"/>
        <c:axPos val="l"/>
        <c:majorGridlines>
          <c:spPr>
            <a:ln>
              <a:solidFill>
                <a:srgbClr val="2A3D5E"/>
              </a:solidFill>
            </a:ln>
          </c:spPr>
        </c:majorGridlines>
        <c:numFmt formatCode="General" sourceLinked="1"/>
        <c:majorTickMark val="out"/>
        <c:minorTickMark val="none"/>
        <c:tickLblPos val="nextTo"/>
        <c:spPr>
          <a:ln>
            <a:solidFill>
              <a:srgbClr val="2A3D5E"/>
            </a:solidFill>
          </a:ln>
        </c:spPr>
        <c:crossAx val="-2128940872"/>
        <c:crosses val="autoZero"/>
        <c:crossBetween val="midCat"/>
        <c:majorUnit val="2.0"/>
      </c:valAx>
    </c:plotArea>
    <c:plotVisOnly val="1"/>
    <c:dispBlanksAs val="gap"/>
    <c:showDLblsOverMax val="0"/>
  </c:chart>
  <c:txPr>
    <a:bodyPr/>
    <a:lstStyle/>
    <a:p>
      <a:pPr>
        <a:defRPr sz="1200">
          <a:solidFill>
            <a:srgbClr val="9AABC4"/>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An article pushes on what people think. Physics guesses that push; this work measures it and finds its minimum size.</a:t>
            </a:r>
          </a:p>
          <a:p/>
          <a:p>
            <a:r>
              <a:t>SCRIPT (about 0.5 min)</a:t>
            </a:r>
          </a:p>
          <a:p>
            <a:r>
              <a:t>Good morning. My name is Brian Mwai, and my dissertation is called Measuring the External Field. In simple words: when you read a news article, it pushes a little on what you think. My question is, can we measure how hard that push is, using only the article itself? Let me start with the idea behind it.</a:t>
            </a:r>
          </a:p>
          <a:p/>
          <a:p>
            <a:r>
              <a:t>DEFINITIONS (if asked)</a:t>
            </a:r>
          </a:p>
          <a:p>
            <a:r>
              <a:t>- Sociophysics: using the tools of statistical physics to model how groups of people behave.</a:t>
            </a:r>
          </a:p>
          <a:p/>
          <a:p>
            <a:r>
              <a:t>IF ASKED "SO WHAT?"</a:t>
            </a:r>
          </a:p>
          <a:p>
            <a:r>
              <a:t>Opinion models treat media as a push, but everyone guesses how big it is. I built a way to measure a candidate for that push from the content itself. It separates the four groups at 10.7%, with source mixed in, so I don't claim it detects manipulation. And even without knowing the exact strength, the measured spread gives a floor: media would need a coupling of at least 4.29 to flip a group with beta J = 2. That turns a guessed number into a testable one.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Physics models opinion like magnets. The media's push, h, is always guessed. Can we measure it?</a:t>
            </a:r>
          </a:p>
          <a:p/>
          <a:p>
            <a:r>
              <a:t>SCRIPT (about 1 min)</a:t>
            </a:r>
          </a:p>
          <a:p>
            <a:r>
              <a:t>Picture a room full of people, each for or against something. Physics has a model for this. It was built for magnets, where tiny arrows line up with their neighbours; here each arrow is a person. m is the mood of the room: minus one means everyone is against, plus one means everyone is for, zero means evenly split. J is how much people copy those around them. Beta is how seriously they take that pressure instead of deciding at random. And h is the outside push, the media, pushing everyone the same way at once. In every study I found, researchers guess h. Nobody measures it. So I asked: can we measure h from the article itself? When I tested my tools, five parts of my plan had to change.</a:t>
            </a:r>
          </a:p>
          <a:p/>
          <a:p>
            <a:r>
              <a:t>WHAT THE NUMBERS MEAN</a:t>
            </a:r>
          </a:p>
          <a:p>
            <a:r>
              <a:t>- m = the mood of the room: -1 all against, 0 split, +1 all for</a:t>
            </a:r>
          </a:p>
          <a:p>
            <a:r>
              <a:t>- h = the media's push; 'field' here is general, not magnetic or electric</a:t>
            </a:r>
          </a:p>
          <a:p/>
          <a:p>
            <a:r>
              <a:t>DEFINITIONS (if asked)</a:t>
            </a:r>
          </a:p>
          <a:p>
            <a:r>
              <a:t>- Ising model: a model of magnets where each spin points up or down and prefers to match its neighbours; used here for two-sided opinions.</a:t>
            </a:r>
          </a:p>
          <a:p>
            <a:r>
              <a:t>- Mean field: each person feels the average of the whole group, not particular neighbours; it makes the maths solvable.</a:t>
            </a:r>
          </a:p>
          <a:p>
            <a:r>
              <a:t>- tanh: a smooth S-shaped function that keeps m between -1 and +1.</a:t>
            </a:r>
          </a:p>
          <a:p/>
          <a:p>
            <a:r>
              <a:t>IF ASKED</a:t>
            </a:r>
          </a:p>
          <a:p>
            <a:r>
              <a:t>Q: What does beta J mean, and why must a be negative?</a:t>
            </a:r>
          </a:p>
          <a:p>
            <a:r>
              <a:t>A: Beta J is how strongly people copy each other. When it's above 1, the room settles into two stable opinions, for or against; in the maths that shows up as a negative coefficient, a. Then a push is needed to flip from one to the other. Alpha itself is positive.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Testing the tools changed five parts of the plan, all approved.</a:t>
            </a:r>
          </a:p>
          <a:p/>
          <a:p>
            <a:r>
              <a:t>SCRIPT (about 1 min)</a:t>
            </a:r>
          </a:p>
          <a:p>
            <a:r>
              <a:t>One: I planned to look at the amygdala, a fear centre deep in the brain, but the model only sees the brain's outer surface. Two: I planned to divide one brain area by another, but that broke on 69 of the 400 articles, a bit like dividing by zero, so I subtracted instead, which works on all 400. Three: I expected outrage to stand out, and fear did instead. Four: I planned to measure how strong the media's push is; the data couldn't, so I worked out the smallest it could be. Five: plain word counting sorted the articles better than my score, 98 against 63 out of 100, so my score is a measuring tool, not a fake-news detector. My supervisor approved all five. Now, how the measuring works.</a:t>
            </a:r>
          </a:p>
          <a:p/>
          <a:p>
            <a:r>
              <a:t>WHAT THE NUMBERS MEAN</a:t>
            </a:r>
          </a:p>
          <a:p>
            <a:r>
              <a:t>- 69 of 400: articles where dividing failed (say 69, not 49)</a:t>
            </a:r>
          </a:p>
          <a:p>
            <a:r>
              <a:t>- 98 vs 63 out of 100: how often word counting vs my score ranks a manipulative article above a neutral one; 50 = coin toss</a:t>
            </a:r>
          </a:p>
          <a:p/>
          <a:p>
            <a:r>
              <a:t>DEFINITIONS (if asked)</a:t>
            </a:r>
          </a:p>
          <a:p>
            <a:r>
              <a:t>- Amygdala: a small structure deep in the brain linked to fear.</a:t>
            </a:r>
          </a:p>
          <a:p>
            <a:r>
              <a:t>- Cortex: the brain's outer surface, where the model predicts.</a:t>
            </a:r>
          </a:p>
          <a:p>
            <a:r>
              <a:t>- Amendment: the approved change to the proposal's scope and title.</a:t>
            </a:r>
          </a:p>
          <a:p/>
          <a:p>
            <a:r>
              <a:t>IF ASKED</a:t>
            </a:r>
          </a:p>
          <a:p>
            <a:r>
              <a:t>Q: Why no amygdala?</a:t>
            </a:r>
          </a:p>
          <a:p>
            <a:r>
              <a:t>A: The model only predicts the brain's outer surface. The amygdala is deep inside, so I make no claim about it.</a:t>
            </a:r>
          </a:p>
          <a:p/>
          <a:p>
            <a:r>
              <a:t>Q: Why a difference, not a ratio?</a:t>
            </a:r>
          </a:p>
          <a:p>
            <a:r>
              <a:t>A: The model's numbers are often near zero or negative, so dividing by them breaks, like dividing by zero. It failed on 69 of 400 articles. Subtracting works for all 400.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Score = emotion reaction minus thinking reaction, predicted by a brain model. Nobody was scanned.</a:t>
            </a:r>
          </a:p>
          <a:p/>
          <a:p>
            <a:r>
              <a:t>SCRIPT (about 1.5 min)</a:t>
            </a:r>
          </a:p>
          <a:p>
            <a:r>
              <a:t>Here is how one article becomes one number. A computer voice reads it aloud, because the brain model learned from people watching and listening. A tool notes when each word is spoken. Then a brain model from Meta, called TRIBE, predicts how a typical adult brain would react at 20,484 spots on the brain's surface. From a standard brain map I take 1,030 spots linked to emotion and 851 linked to careful thinking. My score is simple: the emotion reaction minus the thinking reaction. Above zero, emotion reacts more. Below zero, thinking reacts more. Nobody was put in a scanner; these are predictions. This article gets 0.109 for emotion and 0.055 for thinking, so its score is plus 0.054, the highest of all 400. So which 400 articles?</a:t>
            </a:r>
          </a:p>
          <a:p/>
          <a:p>
            <a:r>
              <a:t>WHAT THE NUMBERS MEAN</a:t>
            </a:r>
          </a:p>
          <a:p>
            <a:r>
              <a:t>- 20,484 = spots on the brain's surface the model predicts</a:t>
            </a:r>
          </a:p>
          <a:p>
            <a:r>
              <a:t>- 1,030 emotion spots, 851 thinking spots</a:t>
            </a:r>
          </a:p>
          <a:p>
            <a:r>
              <a:t>- 0.109 - 0.055 = +0.054: emotion reacts a bit more than thinking</a:t>
            </a:r>
          </a:p>
          <a:p>
            <a:r>
              <a:t>- No unit: like marks on a ruler without cm; only comparisons matter</a:t>
            </a:r>
          </a:p>
          <a:p/>
          <a:p>
            <a:r>
              <a:t>DEFINITIONS (if asked)</a:t>
            </a:r>
          </a:p>
          <a:p>
            <a:r>
              <a:t>- TRIBE v2: Meta's published brain model: it predicts fMRI responses from text, audio and video.</a:t>
            </a:r>
          </a:p>
          <a:p>
            <a:r>
              <a:t>- fMRI: brain scanning that tracks blood flow as a stand-in for activity.</a:t>
            </a:r>
          </a:p>
          <a:p>
            <a:r>
              <a:t>- fsaverage5: a standard brain surface with 20,484 points.</a:t>
            </a:r>
          </a:p>
          <a:p>
            <a:r>
              <a:t>- Glasser 2016 atlas: a standard map dividing the cortex into named areas.</a:t>
            </a:r>
          </a:p>
          <a:p>
            <a:r>
              <a:t>- Standardised activity: the model's output, scaled so it has no physical unit.</a:t>
            </a:r>
          </a:p>
          <a:p/>
          <a:p>
            <a:r>
              <a:t>IF ASKED</a:t>
            </a:r>
          </a:p>
          <a:p>
            <a:r>
              <a:t>Q: Was anyone scanned? Is it reading minds?</a:t>
            </a:r>
          </a:p>
          <a:p>
            <a:r>
              <a:t>A: No. Nobody was scanned. The scores are predictions of how a typical adult brain reacts. It rates the content, never a person.</a:t>
            </a:r>
          </a:p>
          <a:p/>
          <a:p>
            <a:r>
              <a:t>Q: Why read the articles aloud?</a:t>
            </a:r>
          </a:p>
          <a:p>
            <a:r>
              <a:t>A: The brain model learned from people watching and listening, so it needs speech and the timing of each word.</a:t>
            </a:r>
          </a:p>
          <a:p/>
          <a:p>
            <a:r>
              <a:t>Q: Is it okay to use Meta's model?</a:t>
            </a:r>
          </a:p>
          <a:p>
            <a:r>
              <a:t>A: Yes, for research. Its licence allows non-commercial use, I cite it throughout, and this project makes no money.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400 articles, 4 groups of 100, same length, each run twice.</a:t>
            </a:r>
          </a:p>
          <a:p/>
          <a:p>
            <a:r>
              <a:t>SCRIPT (about 1 min)</a:t>
            </a:r>
          </a:p>
          <a:p>
            <a:r>
              <a:t>I took 400 articles from four public collections, 100 each: fake news written to scare, angry political news, clickbait like 'you won't believe what happened next', and calm neutral writing, medical summaries and real news. All four groups average between 162 and 167 words, so no group wins just by being longer. Before starting, I worked out that 400 articles is enough to spot a difference as small as 0.027. And I ran every article twice, to check the results repeat. All 400 are online, so here is how to read that page.</a:t>
            </a:r>
          </a:p>
          <a:p/>
          <a:p>
            <a:r>
              <a:t>WHAT THE NUMBERS MEAN</a:t>
            </a:r>
          </a:p>
          <a:p>
            <a:r>
              <a:t>- 162 to 167 = average words per group: same length</a:t>
            </a:r>
          </a:p>
          <a:p>
            <a:r>
              <a:t>- 0.027 = the smallest difference 400 articles can reliably spot (2.7% explained by group)</a:t>
            </a:r>
          </a:p>
          <a:p>
            <a:r>
              <a:t>- x 2 = every article run twice</a:t>
            </a:r>
          </a:p>
          <a:p/>
          <a:p>
            <a:r>
              <a:t>DEFINITIONS (if asked)</a:t>
            </a:r>
          </a:p>
          <a:p>
            <a:r>
              <a:t>- Power analysis: working out in advance how big a study must be to detect an effect of a given size.</a:t>
            </a:r>
          </a:p>
          <a:p/>
          <a:p>
            <a:r>
              <a:t>IF ASKED</a:t>
            </a:r>
          </a:p>
          <a:p>
            <a:r>
              <a:t>Q: Why only 400 articles?</a:t>
            </a:r>
          </a:p>
          <a:p>
            <a:r>
              <a:t>A: I worked out beforehand that 400 is enough to spot a difference as small as 2.7 percent. Each article takes about 70 seconds on the computer, and I ran them all twice.</a:t>
            </a:r>
          </a:p>
          <a:p/>
          <a:p>
            <a:r>
              <a:t>Q: Why didn't you use Kenyan media?</a:t>
            </a:r>
          </a:p>
          <a:p>
            <a:r>
              <a:t>A: Cost. The 400 articles, run twice, used about 16 hours of free computer time. Kenyan articles would also have to be labelled by hand, by paid people, because no labelled set exists. It is the first extension once there is funding.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Every column explained. All four groups sit below zero: thinking reacts more than emotion.</a:t>
            </a:r>
          </a:p>
          <a:p/>
          <a:p>
            <a:r>
              <a:t>SCRIPT (about 1.5 min)</a:t>
            </a:r>
          </a:p>
          <a:p>
            <a:r>
              <a:t>On the corpus page, every article is a row. Emotional is how strongly the emotion areas react. Deliberate is how strongly the thinking areas react. Score is emotional minus deliberate. Pre-scan label is what the original collection already called the article, before I touched it. Scores run from minus 0.070 to plus 0.054, so the gap from lowest to highest is 0.124. Remember that number; it comes back in the physics. On the right are the group averages. All four are below zero, so for every kind of article the thinking areas react more than the emotion areas. What differs is how far below zero. Fear is closest to zero, and neutral is furthest. Let me show you the live page. [SHOW CORPUS] So, are these differences real, or just chance?</a:t>
            </a:r>
          </a:p>
          <a:p/>
          <a:p>
            <a:r>
              <a:t>WHAT THE NUMBERS MEAN</a:t>
            </a:r>
          </a:p>
          <a:p>
            <a:r>
              <a:t>- -0.070 to +0.054 = lowest and highest score of the 400</a:t>
            </a:r>
          </a:p>
          <a:p>
            <a:r>
              <a:t>- 0.124 = gap from lowest to highest; used in the physics</a:t>
            </a:r>
          </a:p>
          <a:p>
            <a:r>
              <a:t>- Group averages: fear -0.002, clickbait -0.013, outrage -0.018, neutral -0.019</a:t>
            </a:r>
          </a:p>
          <a:p>
            <a:r>
              <a:t>- Below zero = thinking areas react more than emotion areas</a:t>
            </a:r>
          </a:p>
          <a:p/>
          <a:p>
            <a:r>
              <a:t>DEFINITIONS (if asked)</a:t>
            </a:r>
          </a:p>
          <a:p>
            <a:r>
              <a:t>- Pre-scan label: the label an article carried in its source collection before anything was scanned.</a:t>
            </a:r>
          </a:p>
          <a:p/>
          <a:p>
            <a:r>
              <a:t>IF ASKED</a:t>
            </a:r>
          </a:p>
          <a:p>
            <a:r>
              <a:t>Q: Is the difference between groups just writing style?</a:t>
            </a:r>
          </a:p>
          <a:p>
            <a:r>
              <a:t>A: It can't be put down to style alone, because each group came from one source, and the words reveal the source 66 times out of 100. A new set where every source has every type would separate the two.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The groups really differ: group explains 10.7%, and chance is about 1 in a billion.</a:t>
            </a:r>
          </a:p>
          <a:p/>
          <a:p>
            <a:r>
              <a:t>SCRIPT (about 1 min)</a:t>
            </a:r>
          </a:p>
          <a:p>
            <a:r>
              <a:t>To check, I used a standard test that compares groups, called a one-way ANOVA. It answers two plain questions. First: how much of the difference between articles comes from which group they are in? 10.7 percent. So the group matters, but about 89 percent comes from each individual article. Second: could this be pure chance? If the four groups were really the same, a result this strong would turn up about once in a billion tries. So chance is very unlikely. And running everything a second time gave 8.9 percent, close to the first. So the groups really differ. Which group makes the difference?</a:t>
            </a:r>
          </a:p>
          <a:p/>
          <a:p>
            <a:r>
              <a:t>WHAT THE NUMBERS MEAN</a:t>
            </a:r>
          </a:p>
          <a:p>
            <a:r>
              <a:t>- 0.107 = 10.7% of the differences between articles come from their group; 89.3% from the article itself</a:t>
            </a:r>
          </a:p>
          <a:p>
            <a:r>
              <a:t>- p = 1.0 x 10^-9 = if the groups were the same, this result would happen about once in a billion tries</a:t>
            </a:r>
          </a:p>
          <a:p>
            <a:r>
              <a:t>- 0.089 = the second run: 8.9%</a:t>
            </a:r>
          </a:p>
          <a:p>
            <a:r>
              <a:t>- F = 15.779 = gap between groups is about 16 times the gap you'd expect from chance</a:t>
            </a:r>
          </a:p>
          <a:p/>
          <a:p>
            <a:r>
              <a:t>DEFINITIONS (if asked)</a:t>
            </a:r>
          </a:p>
          <a:p>
            <a:r>
              <a:t>- One-way ANOVA: compares the averages of several groups defined by one factor.</a:t>
            </a:r>
          </a:p>
          <a:p>
            <a:r>
              <a:t>- F: spread between group averages divided by spread within groups.</a:t>
            </a:r>
          </a:p>
          <a:p>
            <a:r>
              <a:t>- eta squared: between-group sum of squares over total sum of squares; a share from 0 to 1.</a:t>
            </a:r>
          </a:p>
          <a:p>
            <a:r>
              <a:t>- p-value: the probability of a result at least this large if there were no real difference.</a:t>
            </a:r>
          </a:p>
          <a:p/>
          <a:p>
            <a:r>
              <a:t>IF ASKED</a:t>
            </a:r>
          </a:p>
          <a:p>
            <a:r>
              <a:t>Q: What is eta squared, physically?</a:t>
            </a:r>
          </a:p>
          <a:p>
            <a:r>
              <a:t>A: It isn't a physical quantity. It's a share between 0 and 1: how much of the total difference between articles is explained by their group. 0.107 means 10.7 percent.</a:t>
            </a:r>
          </a:p>
          <a:p/>
          <a:p>
            <a:r>
              <a:t>Q: Why a one-way ANOVA?</a:t>
            </a:r>
          </a:p>
          <a:p>
            <a:r>
              <a:t>A: Because there is one thing sorting the articles, the group, and one number per article, the score. That's exactly what a one-way ANOVA tests. I also compared each group with neutral separately.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Fear moves the score (0.94). Outrage raises emotion and thinking equally, so its score stays flat (0.03).</a:t>
            </a:r>
          </a:p>
          <a:p/>
          <a:p>
            <a:r>
              <a:t>SCRIPT (about 1 min)</a:t>
            </a:r>
          </a:p>
          <a:p>
            <a:r>
              <a:t>Fear does. Here I measure how far each group sits from the neutral articles, counted in typical spreads. The usual guide marks are 0.2, 0.5 and 0.8. Fear sits 0.94 away, past the highest mark. Clickbait sits 0.32 away. Outrage only 0.03, almost on top of neutral. Why is outrage so close? Look at the two small charts. Fear switches on the emotion areas, plus 0.61, and not the thinking areas, minus 0.10, so the gap grows and the score moves. Outrage switches on both, plus 0.51 and plus 0.49. Both rise together, so the gap, and the score, stay flat. Outrage does affect the brain, just on both sides equally. Next: can we trust these scores?</a:t>
            </a:r>
          </a:p>
          <a:p/>
          <a:p>
            <a:r>
              <a:t>WHAT THE NUMBERS MEAN</a:t>
            </a:r>
          </a:p>
          <a:p>
            <a:r>
              <a:t>- d = distance from neutral, in typical spreads (standard deviations)</a:t>
            </a:r>
          </a:p>
          <a:p>
            <a:r>
              <a:t>- Fear 0.94, clickbait 0.32, outrage 0.03; guide marks 0.2, 0.5, 0.8</a:t>
            </a:r>
          </a:p>
          <a:p>
            <a:r>
              <a:t>- Fear: emotion +0.61, thinking -0.10, so the gap grows</a:t>
            </a:r>
          </a:p>
          <a:p>
            <a:r>
              <a:t>- Outrage: emotion +0.51, thinking +0.49, so the gap stays near 0</a:t>
            </a:r>
          </a:p>
          <a:p/>
          <a:p>
            <a:r>
              <a:t>DEFINITIONS (if asked)</a:t>
            </a:r>
          </a:p>
          <a:p>
            <a:r>
              <a:t>- Cohen's d: difference between two group averages divided by the typical spread (standard deviation).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Two runs agree at 0.87 out of 1. The 51 flips are what noise predicts, so judge groups, never one article.</a:t>
            </a:r>
          </a:p>
          <a:p/>
          <a:p>
            <a:r>
              <a:t>SCRIPT (about 1 min)</a:t>
            </a:r>
          </a:p>
          <a:p>
            <a:r>
              <a:t>I ran all 400 articles twice. The two runs agree at 0.87, on a scale where 1 means identical and 0 means no agreement at all. But 51 articles flipped: positive one time, negative the other. Is that a problem? If only small random noise were at work, we'd expect about 55 flips, anywhere from 44 to 67. We saw 51, inside that range. And the flipped articles all sit very close to zero, like a coin balanced on its edge, where a tiny wobble tips it. So I trust group averages, and I never judge a single article. Now the most important honest check.</a:t>
            </a:r>
          </a:p>
          <a:p/>
          <a:p>
            <a:r>
              <a:t>WHAT THE NUMBERS MEAN</a:t>
            </a:r>
          </a:p>
          <a:p>
            <a:r>
              <a:t>- 0.8725 = agreement between the two runs; 1 = identical, 0 = none</a:t>
            </a:r>
          </a:p>
          <a:p>
            <a:r>
              <a:t>- 51 of 400 = 1 in 8 articles flipped sign</a:t>
            </a:r>
          </a:p>
          <a:p>
            <a:r>
              <a:t>- 55 (44 to 67) = flips that random noise alone would cause</a:t>
            </a:r>
          </a:p>
          <a:p>
            <a:r>
              <a:t>- Flipped articles average 0.003 from zero; the rest 0.022</a:t>
            </a:r>
          </a:p>
          <a:p/>
          <a:p>
            <a:r>
              <a:t>DEFINITIONS (if asked)</a:t>
            </a:r>
          </a:p>
          <a:p>
            <a:r>
              <a:t>- ICC: intraclass correlation: agreement between repeated measurements of the same items; 1 is identical.</a:t>
            </a:r>
          </a:p>
          <a:p>
            <a:r>
              <a:t>- Sign reversal: a score positive on one run and negative on the other.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Word counting wins, 98 vs 63 out of 100, because source is mixed in. The score measures, it doesn't detect.</a:t>
            </a:r>
          </a:p>
          <a:p/>
          <a:p>
            <a:r>
              <a:t>SCRIPT (about 1 min)</a:t>
            </a:r>
          </a:p>
          <a:p>
            <a:r>
              <a:t>Can my score tell manipulative articles from neutral ones? The test is simple: pick one manipulative and one neutral article at random. How often does the method rank the manipulative one higher? 50 out of 100 is a coin toss, and 100 is perfect. A standard sentiment tool gets 54. My score gets 63. Plain word counting gets 98. Why is word counting so good? Each group came from a different source, and the words give the source away: from the words alone you can tell the source 66 times out of 100, where guessing gets 25. So the difference between groups can't be put down to writing style alone, because the source is mixed in. That's why my score is a measurement for the physics, not a fake-news detector. Next: does the brain model match real brains?</a:t>
            </a:r>
          </a:p>
          <a:p/>
          <a:p>
            <a:r>
              <a:t>WHAT THE NUMBERS MEAN</a:t>
            </a:r>
          </a:p>
          <a:p>
            <a:r>
              <a:t>- AUC = out of 100 random pairs, how often the manipulative article ranks higher</a:t>
            </a:r>
          </a:p>
          <a:p>
            <a:r>
              <a:t>- 54 sentiment tool, 63 my score, 98 word counting; 50 = coin toss</a:t>
            </a:r>
          </a:p>
          <a:p>
            <a:r>
              <a:t>- 66% = words reveal the source; guessing = 25%</a:t>
            </a:r>
          </a:p>
          <a:p/>
          <a:p>
            <a:r>
              <a:t>DEFINITIONS (if asked)</a:t>
            </a:r>
          </a:p>
          <a:p>
            <a:r>
              <a:t>- AUC: area under the ROC curve: chance a random manipulative article outscores a random neutral one.</a:t>
            </a:r>
          </a:p>
          <a:p>
            <a:r>
              <a:t>- TF-IDF: word counting that weights words by how distinctive they are.</a:t>
            </a:r>
          </a:p>
          <a:p>
            <a:r>
              <a:t>- VADER: a standard sentiment tool.</a:t>
            </a:r>
          </a:p>
          <a:p>
            <a:r>
              <a:t>- Confound: a second factor, here source, that moves with the one studied.</a:t>
            </a:r>
          </a:p>
          <a:p/>
          <a:p>
            <a:r>
              <a:t>IF ASKED</a:t>
            </a:r>
          </a:p>
          <a:p>
            <a:r>
              <a:t>Q: If word counting does better, why not use that?</a:t>
            </a:r>
          </a:p>
          <a:p>
            <a:r>
              <a:t>A: Word counting mostly learns where an article came from: it names the source 66 times out of 100. My score is meant to be the media push in the physics model, not a detector. I include the comparison to be honest.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The brain model moves with real brains: 30% of the best possible.</a:t>
            </a:r>
          </a:p>
          <a:p/>
          <a:p>
            <a:r>
              <a:t>SCRIPT (about 1 min)</a:t>
            </a:r>
          </a:p>
          <a:p>
            <a:r>
              <a:t>I tested the model on real brain scans of four people watching the TV show Friends. r measures how closely two signals move together: 0 is no match, 1 is perfect. Even real people don't match each other perfectly: over the full episode they match at 0.152, so that's the best any model could hope for. On the 2-minute clip I tested, the best possible is 0.096, and the model reaches 0.028, about 30 percent of the best possible. The p-value is 0.048, just under the usual 5 percent line. And it's positive: the model moves in the same direction as real brains, not the opposite, as an outside audit had claimed. I also found and fixed three bugs along the way. The full-episode test is next. Now the physics.</a:t>
            </a:r>
          </a:p>
          <a:p/>
          <a:p>
            <a:r>
              <a:t>WHAT THE NUMBERS MEAN</a:t>
            </a:r>
          </a:p>
          <a:p>
            <a:r>
              <a:t>- r = how closely two signals move together; 0 none, 1 perfect</a:t>
            </a:r>
          </a:p>
          <a:p>
            <a:r>
              <a:t>- 0.152 = real people vs each other: the best possible</a:t>
            </a:r>
          </a:p>
          <a:p>
            <a:r>
              <a:t>- 0.096 best possible on the clip; the model 0.028 = 30% of it</a:t>
            </a:r>
          </a:p>
          <a:p>
            <a:r>
              <a:t>- p = 0.048 = about 5 in 100 chance of a match this good by luck alone</a:t>
            </a:r>
          </a:p>
          <a:p/>
          <a:p>
            <a:r>
              <a:t>DEFINITIONS (if asked)</a:t>
            </a:r>
          </a:p>
          <a:p>
            <a:r>
              <a:t>- Noise ceiling: how well real brains predict each other; the best any model can do.</a:t>
            </a:r>
          </a:p>
          <a:p>
            <a:r>
              <a:t>- r: Pearson correlation: how closely two signals rise and fall together.</a:t>
            </a:r>
          </a:p>
          <a:p>
            <a:r>
              <a:t>- Circular-shift test: shift one signal in time 61 times to see how often chance gives a match this good.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Media would need a strength of at least 4.29 to flip the room.</a:t>
            </a:r>
          </a:p>
          <a:p/>
          <a:p>
            <a:r>
              <a:t>SCRIPT (about 1.5 min)</a:t>
            </a:r>
          </a:p>
          <a:p>
            <a:r>
              <a:t>Back to the room of people. The media's push, h, equals my score times a number called alpha: how much push you get per unit of score. I can't measure alpha, so I asked a different question: how big would alpha have to be for the media to flip the majority of the room? That depends on how much people copy each other, beta J. The more they copy each other, the more stubborn the room, and the bigger the push needed. At beta J of 2, the push needed is 0.533. My scores only span 0.124. So alpha must be at least 0.533 divided by 0.124, which is 4.29. In plain words: anyone claiming these articles flip opinion must assume a media strength of at least 4.29, or the model says it can't happen. It's a minimum bar, not a claim that media does flip opinion. So what could this be used for?</a:t>
            </a:r>
          </a:p>
          <a:p/>
          <a:p>
            <a:r>
              <a:t>WHAT THE NUMBERS MEAN</a:t>
            </a:r>
          </a:p>
          <a:p>
            <a:r>
              <a:t>- alpha = how much push per unit of score</a:t>
            </a:r>
          </a:p>
          <a:p>
            <a:r>
              <a:t>- beta J = 2: how much people copy each other; say 'beta J', not 'beta'</a:t>
            </a:r>
          </a:p>
          <a:p>
            <a:r>
              <a:t>- 0.533 = push needed to flip the room at beta J = 2</a:t>
            </a:r>
          </a:p>
          <a:p>
            <a:r>
              <a:t>- 0.533 / 0.124 = 4.29 = the minimum alpha</a:t>
            </a:r>
          </a:p>
          <a:p/>
          <a:p>
            <a:r>
              <a:t>DEFINITIONS (if asked)</a:t>
            </a:r>
          </a:p>
          <a:p>
            <a:r>
              <a:t>- Critical field: the smallest field that flips the majority.</a:t>
            </a:r>
          </a:p>
          <a:p>
            <a:r>
              <a:t>- Lower bound: a minimum: alpha can't be smaller than this.</a:t>
            </a:r>
          </a:p>
          <a:p/>
          <a:p>
            <a:r>
              <a:t>IF ASKED "SO WHAT?"</a:t>
            </a:r>
          </a:p>
          <a:p>
            <a:r>
              <a:t>Opinion models treat media as a push, but everyone guesses how big it is. I built a way to measure a candidate for that push from the content itself. It separates the four groups at 10.7%, with source mixed in, so I don't claim it detects manipulation. And even without knowing the exact strength, the measured spread gives a floor: media would need a coupling of at least 4.29 to flip a group with beta J = 2. That turns a guessed number into a testable one.</a:t>
            </a:r>
          </a:p>
          <a:p/>
          <a:p>
            <a:r>
              <a:t>IF ASKED</a:t>
            </a:r>
          </a:p>
          <a:p>
            <a:r>
              <a:t>Q: Why is this physics?</a:t>
            </a:r>
          </a:p>
          <a:p>
            <a:r>
              <a:t>A: The opinion model is the same maths physics uses for magnets lining up. My part is measuring the push and working out its minimum size.</a:t>
            </a:r>
          </a:p>
          <a:p/>
          <a:p>
            <a:r>
              <a:t>Q: What does alpha &gt;= 4.29 mean in practice?</a:t>
            </a:r>
          </a:p>
          <a:p>
            <a:r>
              <a:t>A: It's a minimum bar. Anyone who claims these articles flip a group's opinion, where people copy each other at strength 2, must use a media strength of at least 4.29, or the model says it can't happen.</a:t>
            </a:r>
          </a:p>
          <a:p/>
          <a:p>
            <a:r>
              <a:t>Q: What does beta J mean, and why must a be negative?</a:t>
            </a:r>
          </a:p>
          <a:p>
            <a:r>
              <a:t>A: Beta J is how strongly people copy each other. When it's above 1, the room settles into two stable opinions, for or against; in the maths that shows up as a negative coefficient, a. Then a push is needed to flip from one to the other. Alpha itself is positive.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It could score children's TV, but it isn't valid for children yet.</a:t>
            </a:r>
          </a:p>
          <a:p/>
          <a:p>
            <a:r>
              <a:t>SCRIPT (about 1 min)</a:t>
            </a:r>
          </a:p>
          <a:p>
            <a:r>
              <a:t>When I presented my proposal, I was asked: could this analyse anything, even children's TV? The tool takes video and audio, so it could score a cartoon. But the brain model learned from adults, so it can't tell us how a child reacts. I only tested news text. And about 1 in 8 single scores flip between runs, so one show on its own isn't reliable. For children we'd first need children's brain data, with ethics approval. Each limit like this points to a next study.</a:t>
            </a:r>
          </a:p>
          <a:p/>
          <a:p>
            <a:r>
              <a:t>WHAT THE NUMBERS MEAN</a:t>
            </a:r>
          </a:p>
          <a:p>
            <a:r>
              <a:t>- 1 in 8 = 51 of 400 single scores flip between runs</a:t>
            </a:r>
          </a:p>
          <a:p/>
          <a:p>
            <a:r>
              <a:t>DEFINITIONS (if asked)</a:t>
            </a:r>
          </a:p>
          <a:p>
            <a:r>
              <a:t>- Ethics approval: formal permission from a review board, required for research with children.</a:t>
            </a:r>
          </a:p>
          <a:p/>
          <a:p>
            <a:r>
              <a:t>IF ASKED</a:t>
            </a:r>
          </a:p>
          <a:p>
            <a:r>
              <a:t>Q: Can this analyse any content, even what children watch?</a:t>
            </a:r>
          </a:p>
          <a:p>
            <a:r>
              <a:t>A: It can score video and audio. But the model learned from adult brains, so it can't say how a child reacts, and I only tested news. It would need children's brain data and ethics approval first.</a:t>
            </a:r>
          </a:p>
          <a:p/>
          <a:p>
            <a:r>
              <a:t>Q: Could a parent or a regulator use it to rate one show?</a:t>
            </a:r>
          </a:p>
          <a:p>
            <a:r>
              <a:t>A: Not yet. About 1 in 8 single scores flip between runs, so one score isn't reliable. It is for comparing groups of content.</a:t>
            </a:r>
          </a:p>
          <a:p/>
          <a:p>
            <a:r>
              <a:t>Q: What would it take for children's media?</a:t>
            </a:r>
          </a:p>
          <a:p>
            <a:r>
              <a:t>A: Children's brain scans with ethics approval and parental consent, a set of children's videos, and content where source and type are mixed.</a:t>
            </a:r>
          </a:p>
          <a:p/>
          <a:p>
            <a:r>
              <a:t>Q: What about ethics?</a:t>
            </a:r>
          </a:p>
          <a:p>
            <a:r>
              <a:t>A: I collected no data from any person. The brain model was built by Meta from public scans of volunteers who consented, and I used only public articles and public scans. The tool rates content, never a viewer.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Every limit has a fix.</a:t>
            </a:r>
          </a:p>
          <a:p/>
          <a:p>
            <a:r>
              <a:t>SCRIPT (about 0.5 min)</a:t>
            </a:r>
          </a:p>
          <a:p>
            <a:r>
              <a:t>Five limits, each with its fix. These are predictions, so check them against more real brain scans. Group and source are mixed, so build a new set where every source has every type. The model misses deep brain areas, so use a model that sees them. Alpha isn't measured, so compare scores with real opinion polls. And the brain test was 2 minutes, so run the full episode. That leads to where the work goes next.</a:t>
            </a:r>
          </a:p>
          <a:p/>
          <a:p>
            <a:r>
              <a:t>WHAT THE NUMBERS MEAN</a:t>
            </a:r>
          </a:p>
          <a:p>
            <a:r>
              <a:t>- 5 limits, each stated in the thesis</a:t>
            </a:r>
          </a:p>
          <a:p/>
          <a:p>
            <a:r>
              <a:t>DEFINITIONS (if asked)</a:t>
            </a:r>
          </a:p>
          <a:p>
            <a:r>
              <a:t>- Crossed design: every source contributes every type of article.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Publish, extend to Kenya and video, and further study.</a:t>
            </a:r>
          </a:p>
          <a:p/>
          <a:p>
            <a:r>
              <a:t>SCRIPT (about 0.75 min)</a:t>
            </a:r>
          </a:p>
          <a:p>
            <a:r>
              <a:t>Three directions. Publish: three papers, shared publicly first. Extend: a Kenyan case, news coverage of the 2024 Finance Bill, plus video and audio, and measuring alpha against opinion polls. And opportunities: further study, work with brain and media researchers, and a tool that is already online. To close, four conclusions.</a:t>
            </a:r>
          </a:p>
          <a:p/>
          <a:p>
            <a:r>
              <a:t>WHAT THE NUMBERS MEAN</a:t>
            </a:r>
          </a:p>
          <a:p>
            <a:r>
              <a:t>- Kenya case needs GPU funding</a:t>
            </a:r>
          </a:p>
          <a:p/>
          <a:p>
            <a:r>
              <a:t>DEFINITIONS (if asked)</a:t>
            </a:r>
          </a:p>
          <a:p>
            <a:r>
              <a:t>- Preprint: a paper shared publicly before peer review, e.g. on arXiv.</a:t>
            </a:r>
          </a:p>
          <a:p/>
          <a:p>
            <a:r>
              <a:t>IF ASKED</a:t>
            </a:r>
          </a:p>
          <a:p>
            <a:r>
              <a:t>Q: Could someone use it to make content more manipulative?</a:t>
            </a:r>
          </a:p>
          <a:p>
            <a:r>
              <a:t>A: That's a real risk for any measure like this. That's why it only reports group results, for research, and the model's licence forbids commercial use.</a:t>
            </a:r>
          </a:p>
          <a:p/>
          <a:p>
            <a:r>
              <a:t>Q: Why didn't you use Kenyan media?</a:t>
            </a:r>
          </a:p>
          <a:p>
            <a:r>
              <a:t>A: Cost. The 400 articles, run twice, used about 16 hours of free computer time. Kenyan articles would also have to be labelled by hand, by paid people, because no labelled set exists. It is the first extension once there is funding.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Four take-aways, then questions.</a:t>
            </a:r>
          </a:p>
          <a:p/>
          <a:p>
            <a:r>
              <a:t>SCRIPT (about 1 min)</a:t>
            </a:r>
          </a:p>
          <a:p>
            <a:r>
              <a:t>Four things to take away. One: you can measure a push from an article's content, and it repeats: the two runs agree at 0.87 out of 1. Two: it tells the four kinds of articles apart; the group explains 10.7 percent of the differences, with the source mixed in. Three: we can't yet measure media's strength, but we know its minimum: 4.29 when people copy each other at strength 2. Four: the brain model moves with real brains, at 30 percent of the best possible. Three papers come from this work. Thank you, and I'm happy to take questions.</a:t>
            </a:r>
          </a:p>
          <a:p/>
          <a:p>
            <a:r>
              <a:t>WHAT THE NUMBERS MEAN</a:t>
            </a:r>
          </a:p>
          <a:p>
            <a:r>
              <a:t>- 0.87 = the two runs agree</a:t>
            </a:r>
          </a:p>
          <a:p>
            <a:r>
              <a:t>- 10.7% = explained by group</a:t>
            </a:r>
          </a:p>
          <a:p>
            <a:r>
              <a:t>- 4.29 = minimum media strength at beta J = 2</a:t>
            </a:r>
          </a:p>
          <a:p>
            <a:r>
              <a:t>- 30% = the model's match vs the best possible</a:t>
            </a:r>
          </a:p>
          <a:p/>
          <a:p>
            <a:r>
              <a:t>IF ASKED "SO WHAT?"</a:t>
            </a:r>
          </a:p>
          <a:p>
            <a:r>
              <a:t>Opinion models treat media as a push, but everyone guesses how big it is. I built a way to measure a candidate for that push from the content itself. It separates the four groups at 10.7%, with source mixed in, so I don't claim it detects manipulation. And even without knowing the exact strength, the measured spread gives a floor: media would need a coupling of at least 4.29 to flip a group with beta J = 2. That turns a guessed number into a testable one.</a:t>
            </a:r>
          </a:p>
          <a:p/>
          <a:p>
            <a:r>
              <a:t>IF ASKED</a:t>
            </a:r>
          </a:p>
          <a:p>
            <a:r>
              <a:t>Q: Was anyone scanned? Is it reading minds?</a:t>
            </a:r>
          </a:p>
          <a:p>
            <a:r>
              <a:t>A: No. Nobody was scanned. The scores are predictions of how a typical adult brain reacts. It rates the content, never a person.</a:t>
            </a:r>
          </a:p>
          <a:p/>
          <a:p>
            <a:r>
              <a:t>Q: If word counting does better, why not use that?</a:t>
            </a:r>
          </a:p>
          <a:p>
            <a:r>
              <a:t>A: Word counting mostly learns where an article came from: it names the source 66 times out of 100. My score is meant to be the media push in the physics model, not a detector. I include the comparison to be honest.</a:t>
            </a:r>
          </a:p>
          <a:p/>
          <a:p>
            <a:r>
              <a:t>Q: What about ethics?</a:t>
            </a:r>
          </a:p>
          <a:p>
            <a:r>
              <a:t>A: I collected no data from any person. The brain model was built by Meta from public scans of volunteers who consented, and I used only public articles and public scans. The tool rates content, never a viewer.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hyperlink" Target="https://monarch-4iy.pages.dev"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chart" Target="../charts/chart1.xml"/><Relationship Id="rId5"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6.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image" Target="../media/image26.png"/><Relationship Id="rId10" Type="http://schemas.openxmlformats.org/officeDocument/2006/relationships/image" Target="../media/image27.png"/><Relationship Id="rId11" Type="http://schemas.openxmlformats.org/officeDocument/2006/relationships/chart" Target="../charts/char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9.png"/><Relationship Id="rId5" Type="http://schemas.openxmlformats.org/officeDocument/2006/relationships/image" Target="../media/image8.png"/><Relationship Id="rId6"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9.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Up Arrow 3"/>
          <p:cNvSpPr/>
          <p:nvPr/>
        </p:nvSpPr>
        <p:spPr>
          <a:xfrm>
            <a:off x="8170939" y="1179941"/>
            <a:ext cx="135609" cy="218724"/>
          </a:xfrm>
          <a:prstGeom prst="upArrow">
            <a:avLst/>
          </a:prstGeom>
          <a:solidFill>
            <a:srgbClr val="7CC4F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Up Arrow 4"/>
          <p:cNvSpPr/>
          <p:nvPr/>
        </p:nvSpPr>
        <p:spPr>
          <a:xfrm>
            <a:off x="8646427" y="1179941"/>
            <a:ext cx="135609" cy="218724"/>
          </a:xfrm>
          <a:prstGeom prst="upArrow">
            <a:avLst/>
          </a:prstGeom>
          <a:solidFill>
            <a:srgbClr val="7CC4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wn Arrow 5"/>
          <p:cNvSpPr/>
          <p:nvPr/>
        </p:nvSpPr>
        <p:spPr>
          <a:xfrm>
            <a:off x="9121915" y="1179941"/>
            <a:ext cx="135609" cy="218724"/>
          </a:xfrm>
          <a:prstGeom prst="downArrow">
            <a:avLst/>
          </a:prstGeom>
          <a:solidFill>
            <a:srgbClr val="FF7A59">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Up Arrow 6"/>
          <p:cNvSpPr/>
          <p:nvPr/>
        </p:nvSpPr>
        <p:spPr>
          <a:xfrm>
            <a:off x="9597403" y="1179941"/>
            <a:ext cx="135609" cy="218724"/>
          </a:xfrm>
          <a:prstGeom prst="upArrow">
            <a:avLst/>
          </a:prstGeom>
          <a:solidFill>
            <a:srgbClr val="7CC4FF">
              <a:alpha val="5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Up Arrow 7"/>
          <p:cNvSpPr/>
          <p:nvPr/>
        </p:nvSpPr>
        <p:spPr>
          <a:xfrm>
            <a:off x="10072891" y="1179941"/>
            <a:ext cx="135609" cy="218724"/>
          </a:xfrm>
          <a:prstGeom prst="upArrow">
            <a:avLst/>
          </a:prstGeom>
          <a:solidFill>
            <a:srgbClr val="7CC4FF">
              <a:alpha val="65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Up Arrow 8"/>
          <p:cNvSpPr/>
          <p:nvPr/>
        </p:nvSpPr>
        <p:spPr>
          <a:xfrm>
            <a:off x="10548379" y="1179941"/>
            <a:ext cx="135609" cy="218724"/>
          </a:xfrm>
          <a:prstGeom prst="upArrow">
            <a:avLst/>
          </a:prstGeom>
          <a:solidFill>
            <a:srgbClr val="7CC4FF">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Up Arrow 9"/>
          <p:cNvSpPr/>
          <p:nvPr/>
        </p:nvSpPr>
        <p:spPr>
          <a:xfrm>
            <a:off x="11023867" y="1179941"/>
            <a:ext cx="135609" cy="218724"/>
          </a:xfrm>
          <a:prstGeom prst="upArrow">
            <a:avLst/>
          </a:prstGeom>
          <a:solidFill>
            <a:srgbClr val="7CC4FF">
              <a:alpha val="89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Up Arrow 10"/>
          <p:cNvSpPr/>
          <p:nvPr/>
        </p:nvSpPr>
        <p:spPr>
          <a:xfrm>
            <a:off x="8170939" y="1655429"/>
            <a:ext cx="135609" cy="218724"/>
          </a:xfrm>
          <a:prstGeom prst="upArrow">
            <a:avLst/>
          </a:prstGeom>
          <a:solidFill>
            <a:srgbClr val="7CC4F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Up Arrow 11"/>
          <p:cNvSpPr/>
          <p:nvPr/>
        </p:nvSpPr>
        <p:spPr>
          <a:xfrm>
            <a:off x="8646427" y="1655429"/>
            <a:ext cx="135609" cy="218724"/>
          </a:xfrm>
          <a:prstGeom prst="upArrow">
            <a:avLst/>
          </a:prstGeom>
          <a:solidFill>
            <a:srgbClr val="7CC4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Up Arrow 12"/>
          <p:cNvSpPr/>
          <p:nvPr/>
        </p:nvSpPr>
        <p:spPr>
          <a:xfrm>
            <a:off x="9121915" y="1655429"/>
            <a:ext cx="135609" cy="218724"/>
          </a:xfrm>
          <a:prstGeom prst="upArrow">
            <a:avLst/>
          </a:prstGeom>
          <a:solidFill>
            <a:srgbClr val="7CC4FF">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Up Arrow 13"/>
          <p:cNvSpPr/>
          <p:nvPr/>
        </p:nvSpPr>
        <p:spPr>
          <a:xfrm>
            <a:off x="9597403" y="1655429"/>
            <a:ext cx="135609" cy="218724"/>
          </a:xfrm>
          <a:prstGeom prst="upArrow">
            <a:avLst/>
          </a:prstGeom>
          <a:solidFill>
            <a:srgbClr val="7CC4FF">
              <a:alpha val="5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Up Arrow 14"/>
          <p:cNvSpPr/>
          <p:nvPr/>
        </p:nvSpPr>
        <p:spPr>
          <a:xfrm>
            <a:off x="10072891" y="1655429"/>
            <a:ext cx="135609" cy="218724"/>
          </a:xfrm>
          <a:prstGeom prst="upArrow">
            <a:avLst/>
          </a:prstGeom>
          <a:solidFill>
            <a:srgbClr val="7CC4FF">
              <a:alpha val="65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Up Arrow 15"/>
          <p:cNvSpPr/>
          <p:nvPr/>
        </p:nvSpPr>
        <p:spPr>
          <a:xfrm>
            <a:off x="10548379" y="1655429"/>
            <a:ext cx="135609" cy="218724"/>
          </a:xfrm>
          <a:prstGeom prst="upArrow">
            <a:avLst/>
          </a:prstGeom>
          <a:solidFill>
            <a:srgbClr val="7CC4FF">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wn Arrow 16"/>
          <p:cNvSpPr/>
          <p:nvPr/>
        </p:nvSpPr>
        <p:spPr>
          <a:xfrm>
            <a:off x="11023867" y="1655429"/>
            <a:ext cx="135609" cy="218724"/>
          </a:xfrm>
          <a:prstGeom prst="downArrow">
            <a:avLst/>
          </a:prstGeom>
          <a:solidFill>
            <a:srgbClr val="FF7A59">
              <a:alpha val="89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Up Arrow 17"/>
          <p:cNvSpPr/>
          <p:nvPr/>
        </p:nvSpPr>
        <p:spPr>
          <a:xfrm>
            <a:off x="8170939" y="2130917"/>
            <a:ext cx="135609" cy="218724"/>
          </a:xfrm>
          <a:prstGeom prst="upArrow">
            <a:avLst/>
          </a:prstGeom>
          <a:solidFill>
            <a:srgbClr val="7CC4F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Up Arrow 18"/>
          <p:cNvSpPr/>
          <p:nvPr/>
        </p:nvSpPr>
        <p:spPr>
          <a:xfrm>
            <a:off x="8646427" y="2130917"/>
            <a:ext cx="135609" cy="218724"/>
          </a:xfrm>
          <a:prstGeom prst="upArrow">
            <a:avLst/>
          </a:prstGeom>
          <a:solidFill>
            <a:srgbClr val="7CC4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Up Arrow 19"/>
          <p:cNvSpPr/>
          <p:nvPr/>
        </p:nvSpPr>
        <p:spPr>
          <a:xfrm>
            <a:off x="9121915" y="2130917"/>
            <a:ext cx="135609" cy="218724"/>
          </a:xfrm>
          <a:prstGeom prst="upArrow">
            <a:avLst/>
          </a:prstGeom>
          <a:solidFill>
            <a:srgbClr val="7CC4FF">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own Arrow 20"/>
          <p:cNvSpPr/>
          <p:nvPr/>
        </p:nvSpPr>
        <p:spPr>
          <a:xfrm>
            <a:off x="9597403" y="2130917"/>
            <a:ext cx="135609" cy="218724"/>
          </a:xfrm>
          <a:prstGeom prst="downArrow">
            <a:avLst/>
          </a:prstGeom>
          <a:solidFill>
            <a:srgbClr val="FF7A59">
              <a:alpha val="5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Up Arrow 21"/>
          <p:cNvSpPr/>
          <p:nvPr/>
        </p:nvSpPr>
        <p:spPr>
          <a:xfrm>
            <a:off x="10072891" y="2130917"/>
            <a:ext cx="135609" cy="218724"/>
          </a:xfrm>
          <a:prstGeom prst="upArrow">
            <a:avLst/>
          </a:prstGeom>
          <a:solidFill>
            <a:srgbClr val="7CC4FF">
              <a:alpha val="65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Up Arrow 22"/>
          <p:cNvSpPr/>
          <p:nvPr/>
        </p:nvSpPr>
        <p:spPr>
          <a:xfrm>
            <a:off x="10548379" y="2130917"/>
            <a:ext cx="135609" cy="218724"/>
          </a:xfrm>
          <a:prstGeom prst="upArrow">
            <a:avLst/>
          </a:prstGeom>
          <a:solidFill>
            <a:srgbClr val="7CC4FF">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wn Arrow 23"/>
          <p:cNvSpPr/>
          <p:nvPr/>
        </p:nvSpPr>
        <p:spPr>
          <a:xfrm>
            <a:off x="11023867" y="2130917"/>
            <a:ext cx="135609" cy="218724"/>
          </a:xfrm>
          <a:prstGeom prst="downArrow">
            <a:avLst/>
          </a:prstGeom>
          <a:solidFill>
            <a:srgbClr val="FF7A59">
              <a:alpha val="89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Up Arrow 24"/>
          <p:cNvSpPr/>
          <p:nvPr/>
        </p:nvSpPr>
        <p:spPr>
          <a:xfrm>
            <a:off x="8170939" y="2606405"/>
            <a:ext cx="135609" cy="218724"/>
          </a:xfrm>
          <a:prstGeom prst="upArrow">
            <a:avLst/>
          </a:prstGeom>
          <a:solidFill>
            <a:srgbClr val="7CC4F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own Arrow 25"/>
          <p:cNvSpPr/>
          <p:nvPr/>
        </p:nvSpPr>
        <p:spPr>
          <a:xfrm>
            <a:off x="8646427" y="2606405"/>
            <a:ext cx="135609" cy="218724"/>
          </a:xfrm>
          <a:prstGeom prst="downArrow">
            <a:avLst/>
          </a:prstGeom>
          <a:solidFill>
            <a:srgbClr val="FF7A59">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Up Arrow 26"/>
          <p:cNvSpPr/>
          <p:nvPr/>
        </p:nvSpPr>
        <p:spPr>
          <a:xfrm>
            <a:off x="9121915" y="2606405"/>
            <a:ext cx="135609" cy="218724"/>
          </a:xfrm>
          <a:prstGeom prst="upArrow">
            <a:avLst/>
          </a:prstGeom>
          <a:solidFill>
            <a:srgbClr val="7CC4FF">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Up Arrow 27"/>
          <p:cNvSpPr/>
          <p:nvPr/>
        </p:nvSpPr>
        <p:spPr>
          <a:xfrm>
            <a:off x="9597403" y="2606405"/>
            <a:ext cx="135609" cy="218724"/>
          </a:xfrm>
          <a:prstGeom prst="upArrow">
            <a:avLst/>
          </a:prstGeom>
          <a:solidFill>
            <a:srgbClr val="7CC4FF">
              <a:alpha val="5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Up Arrow 28"/>
          <p:cNvSpPr/>
          <p:nvPr/>
        </p:nvSpPr>
        <p:spPr>
          <a:xfrm>
            <a:off x="10072891" y="2606405"/>
            <a:ext cx="135609" cy="218724"/>
          </a:xfrm>
          <a:prstGeom prst="upArrow">
            <a:avLst/>
          </a:prstGeom>
          <a:solidFill>
            <a:srgbClr val="7CC4FF">
              <a:alpha val="65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Up Arrow 29"/>
          <p:cNvSpPr/>
          <p:nvPr/>
        </p:nvSpPr>
        <p:spPr>
          <a:xfrm>
            <a:off x="10548379" y="2606405"/>
            <a:ext cx="135609" cy="218724"/>
          </a:xfrm>
          <a:prstGeom prst="upArrow">
            <a:avLst/>
          </a:prstGeom>
          <a:solidFill>
            <a:srgbClr val="7CC4FF">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Down Arrow 30"/>
          <p:cNvSpPr/>
          <p:nvPr/>
        </p:nvSpPr>
        <p:spPr>
          <a:xfrm>
            <a:off x="11023867" y="2606405"/>
            <a:ext cx="135609" cy="218724"/>
          </a:xfrm>
          <a:prstGeom prst="downArrow">
            <a:avLst/>
          </a:prstGeom>
          <a:solidFill>
            <a:srgbClr val="FF7A59">
              <a:alpha val="89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Up Arrow 31"/>
          <p:cNvSpPr/>
          <p:nvPr/>
        </p:nvSpPr>
        <p:spPr>
          <a:xfrm>
            <a:off x="8170939" y="3081893"/>
            <a:ext cx="135609" cy="218724"/>
          </a:xfrm>
          <a:prstGeom prst="upArrow">
            <a:avLst/>
          </a:prstGeom>
          <a:solidFill>
            <a:srgbClr val="7CC4F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Up Arrow 32"/>
          <p:cNvSpPr/>
          <p:nvPr/>
        </p:nvSpPr>
        <p:spPr>
          <a:xfrm>
            <a:off x="8646427" y="3081893"/>
            <a:ext cx="135609" cy="218724"/>
          </a:xfrm>
          <a:prstGeom prst="upArrow">
            <a:avLst/>
          </a:prstGeom>
          <a:solidFill>
            <a:srgbClr val="7CC4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Up Arrow 33"/>
          <p:cNvSpPr/>
          <p:nvPr/>
        </p:nvSpPr>
        <p:spPr>
          <a:xfrm>
            <a:off x="9121915" y="3081893"/>
            <a:ext cx="135609" cy="218724"/>
          </a:xfrm>
          <a:prstGeom prst="upArrow">
            <a:avLst/>
          </a:prstGeom>
          <a:solidFill>
            <a:srgbClr val="7CC4FF">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Up Arrow 34"/>
          <p:cNvSpPr/>
          <p:nvPr/>
        </p:nvSpPr>
        <p:spPr>
          <a:xfrm>
            <a:off x="9597403" y="3081893"/>
            <a:ext cx="135609" cy="218724"/>
          </a:xfrm>
          <a:prstGeom prst="upArrow">
            <a:avLst/>
          </a:prstGeom>
          <a:solidFill>
            <a:srgbClr val="7CC4FF">
              <a:alpha val="5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Up Arrow 35"/>
          <p:cNvSpPr/>
          <p:nvPr/>
        </p:nvSpPr>
        <p:spPr>
          <a:xfrm>
            <a:off x="10072891" y="3081893"/>
            <a:ext cx="135609" cy="218724"/>
          </a:xfrm>
          <a:prstGeom prst="upArrow">
            <a:avLst/>
          </a:prstGeom>
          <a:solidFill>
            <a:srgbClr val="7CC4FF">
              <a:alpha val="65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Up Arrow 36"/>
          <p:cNvSpPr/>
          <p:nvPr/>
        </p:nvSpPr>
        <p:spPr>
          <a:xfrm>
            <a:off x="10548379" y="3081893"/>
            <a:ext cx="135609" cy="218724"/>
          </a:xfrm>
          <a:prstGeom prst="upArrow">
            <a:avLst/>
          </a:prstGeom>
          <a:solidFill>
            <a:srgbClr val="7CC4FF">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Up Arrow 37"/>
          <p:cNvSpPr/>
          <p:nvPr/>
        </p:nvSpPr>
        <p:spPr>
          <a:xfrm>
            <a:off x="11023867" y="3081893"/>
            <a:ext cx="135609" cy="218724"/>
          </a:xfrm>
          <a:prstGeom prst="upArrow">
            <a:avLst/>
          </a:prstGeom>
          <a:solidFill>
            <a:srgbClr val="7CC4FF">
              <a:alpha val="89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Up Arrow 38"/>
          <p:cNvSpPr/>
          <p:nvPr/>
        </p:nvSpPr>
        <p:spPr>
          <a:xfrm>
            <a:off x="8170939" y="3557381"/>
            <a:ext cx="135609" cy="218724"/>
          </a:xfrm>
          <a:prstGeom prst="upArrow">
            <a:avLst/>
          </a:prstGeom>
          <a:solidFill>
            <a:srgbClr val="7CC4F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Down Arrow 39"/>
          <p:cNvSpPr/>
          <p:nvPr/>
        </p:nvSpPr>
        <p:spPr>
          <a:xfrm>
            <a:off x="8646427" y="3557381"/>
            <a:ext cx="135609" cy="218724"/>
          </a:xfrm>
          <a:prstGeom prst="downArrow">
            <a:avLst/>
          </a:prstGeom>
          <a:solidFill>
            <a:srgbClr val="FF7A59">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Up Arrow 40"/>
          <p:cNvSpPr/>
          <p:nvPr/>
        </p:nvSpPr>
        <p:spPr>
          <a:xfrm>
            <a:off x="9121915" y="3557381"/>
            <a:ext cx="135609" cy="218724"/>
          </a:xfrm>
          <a:prstGeom prst="upArrow">
            <a:avLst/>
          </a:prstGeom>
          <a:solidFill>
            <a:srgbClr val="7CC4FF">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Up Arrow 41"/>
          <p:cNvSpPr/>
          <p:nvPr/>
        </p:nvSpPr>
        <p:spPr>
          <a:xfrm>
            <a:off x="9597403" y="3557381"/>
            <a:ext cx="135609" cy="218724"/>
          </a:xfrm>
          <a:prstGeom prst="upArrow">
            <a:avLst/>
          </a:prstGeom>
          <a:solidFill>
            <a:srgbClr val="7CC4FF">
              <a:alpha val="5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Up Arrow 42"/>
          <p:cNvSpPr/>
          <p:nvPr/>
        </p:nvSpPr>
        <p:spPr>
          <a:xfrm>
            <a:off x="10072891" y="3557381"/>
            <a:ext cx="135609" cy="218724"/>
          </a:xfrm>
          <a:prstGeom prst="upArrow">
            <a:avLst/>
          </a:prstGeom>
          <a:solidFill>
            <a:srgbClr val="7CC4FF">
              <a:alpha val="65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Up Arrow 43"/>
          <p:cNvSpPr/>
          <p:nvPr/>
        </p:nvSpPr>
        <p:spPr>
          <a:xfrm>
            <a:off x="10548379" y="3557381"/>
            <a:ext cx="135609" cy="218724"/>
          </a:xfrm>
          <a:prstGeom prst="upArrow">
            <a:avLst/>
          </a:prstGeom>
          <a:solidFill>
            <a:srgbClr val="7CC4FF">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Up Arrow 44"/>
          <p:cNvSpPr/>
          <p:nvPr/>
        </p:nvSpPr>
        <p:spPr>
          <a:xfrm>
            <a:off x="11023867" y="3557381"/>
            <a:ext cx="135609" cy="218724"/>
          </a:xfrm>
          <a:prstGeom prst="upArrow">
            <a:avLst/>
          </a:prstGeom>
          <a:solidFill>
            <a:srgbClr val="7CC4FF">
              <a:alpha val="89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Down Arrow 45"/>
          <p:cNvSpPr/>
          <p:nvPr/>
        </p:nvSpPr>
        <p:spPr>
          <a:xfrm>
            <a:off x="8170939" y="4032869"/>
            <a:ext cx="135609" cy="218724"/>
          </a:xfrm>
          <a:prstGeom prst="downArrow">
            <a:avLst/>
          </a:prstGeom>
          <a:solidFill>
            <a:srgbClr val="FF7A59">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Down Arrow 46"/>
          <p:cNvSpPr/>
          <p:nvPr/>
        </p:nvSpPr>
        <p:spPr>
          <a:xfrm>
            <a:off x="8646427" y="4032869"/>
            <a:ext cx="135609" cy="218724"/>
          </a:xfrm>
          <a:prstGeom prst="downArrow">
            <a:avLst/>
          </a:prstGeom>
          <a:solidFill>
            <a:srgbClr val="FF7A59">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Up Arrow 47"/>
          <p:cNvSpPr/>
          <p:nvPr/>
        </p:nvSpPr>
        <p:spPr>
          <a:xfrm>
            <a:off x="9121915" y="4032869"/>
            <a:ext cx="135609" cy="218724"/>
          </a:xfrm>
          <a:prstGeom prst="upArrow">
            <a:avLst/>
          </a:prstGeom>
          <a:solidFill>
            <a:srgbClr val="7CC4FF">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Up Arrow 48"/>
          <p:cNvSpPr/>
          <p:nvPr/>
        </p:nvSpPr>
        <p:spPr>
          <a:xfrm>
            <a:off x="9597403" y="4032869"/>
            <a:ext cx="135609" cy="218724"/>
          </a:xfrm>
          <a:prstGeom prst="upArrow">
            <a:avLst/>
          </a:prstGeom>
          <a:solidFill>
            <a:srgbClr val="7CC4FF">
              <a:alpha val="5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Up Arrow 49"/>
          <p:cNvSpPr/>
          <p:nvPr/>
        </p:nvSpPr>
        <p:spPr>
          <a:xfrm>
            <a:off x="10072891" y="4032869"/>
            <a:ext cx="135609" cy="218724"/>
          </a:xfrm>
          <a:prstGeom prst="upArrow">
            <a:avLst/>
          </a:prstGeom>
          <a:solidFill>
            <a:srgbClr val="7CC4FF">
              <a:alpha val="65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Down Arrow 50"/>
          <p:cNvSpPr/>
          <p:nvPr/>
        </p:nvSpPr>
        <p:spPr>
          <a:xfrm>
            <a:off x="10548379" y="4032869"/>
            <a:ext cx="135609" cy="218724"/>
          </a:xfrm>
          <a:prstGeom prst="downArrow">
            <a:avLst/>
          </a:prstGeom>
          <a:solidFill>
            <a:srgbClr val="FF7A59">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Down Arrow 51"/>
          <p:cNvSpPr/>
          <p:nvPr/>
        </p:nvSpPr>
        <p:spPr>
          <a:xfrm>
            <a:off x="11023867" y="4032869"/>
            <a:ext cx="135609" cy="218724"/>
          </a:xfrm>
          <a:prstGeom prst="downArrow">
            <a:avLst/>
          </a:prstGeom>
          <a:solidFill>
            <a:srgbClr val="FF7A59">
              <a:alpha val="89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Up Arrow 52"/>
          <p:cNvSpPr/>
          <p:nvPr/>
        </p:nvSpPr>
        <p:spPr>
          <a:xfrm>
            <a:off x="8170939" y="4508357"/>
            <a:ext cx="135609" cy="218724"/>
          </a:xfrm>
          <a:prstGeom prst="upArrow">
            <a:avLst/>
          </a:prstGeom>
          <a:solidFill>
            <a:srgbClr val="7CC4F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Down Arrow 53"/>
          <p:cNvSpPr/>
          <p:nvPr/>
        </p:nvSpPr>
        <p:spPr>
          <a:xfrm>
            <a:off x="8646427" y="4508357"/>
            <a:ext cx="135609" cy="218724"/>
          </a:xfrm>
          <a:prstGeom prst="downArrow">
            <a:avLst/>
          </a:prstGeom>
          <a:solidFill>
            <a:srgbClr val="FF7A59">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Up Arrow 54"/>
          <p:cNvSpPr/>
          <p:nvPr/>
        </p:nvSpPr>
        <p:spPr>
          <a:xfrm>
            <a:off x="9121915" y="4508357"/>
            <a:ext cx="135609" cy="218724"/>
          </a:xfrm>
          <a:prstGeom prst="upArrow">
            <a:avLst/>
          </a:prstGeom>
          <a:solidFill>
            <a:srgbClr val="7CC4FF">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Up Arrow 55"/>
          <p:cNvSpPr/>
          <p:nvPr/>
        </p:nvSpPr>
        <p:spPr>
          <a:xfrm>
            <a:off x="9597403" y="4508357"/>
            <a:ext cx="135609" cy="218724"/>
          </a:xfrm>
          <a:prstGeom prst="upArrow">
            <a:avLst/>
          </a:prstGeom>
          <a:solidFill>
            <a:srgbClr val="7CC4FF">
              <a:alpha val="5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Down Arrow 56"/>
          <p:cNvSpPr/>
          <p:nvPr/>
        </p:nvSpPr>
        <p:spPr>
          <a:xfrm>
            <a:off x="10072891" y="4508357"/>
            <a:ext cx="135609" cy="218724"/>
          </a:xfrm>
          <a:prstGeom prst="downArrow">
            <a:avLst/>
          </a:prstGeom>
          <a:solidFill>
            <a:srgbClr val="FF7A59">
              <a:alpha val="65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Up Arrow 57"/>
          <p:cNvSpPr/>
          <p:nvPr/>
        </p:nvSpPr>
        <p:spPr>
          <a:xfrm>
            <a:off x="10548379" y="4508357"/>
            <a:ext cx="135609" cy="218724"/>
          </a:xfrm>
          <a:prstGeom prst="upArrow">
            <a:avLst/>
          </a:prstGeom>
          <a:solidFill>
            <a:srgbClr val="7CC4FF">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Up Arrow 58"/>
          <p:cNvSpPr/>
          <p:nvPr/>
        </p:nvSpPr>
        <p:spPr>
          <a:xfrm>
            <a:off x="11023867" y="4508357"/>
            <a:ext cx="135609" cy="218724"/>
          </a:xfrm>
          <a:prstGeom prst="upArrow">
            <a:avLst/>
          </a:prstGeom>
          <a:solidFill>
            <a:srgbClr val="7CC4FF">
              <a:alpha val="89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Up Arrow 59"/>
          <p:cNvSpPr/>
          <p:nvPr/>
        </p:nvSpPr>
        <p:spPr>
          <a:xfrm>
            <a:off x="8170939" y="4983845"/>
            <a:ext cx="135609" cy="218724"/>
          </a:xfrm>
          <a:prstGeom prst="upArrow">
            <a:avLst/>
          </a:prstGeom>
          <a:solidFill>
            <a:srgbClr val="7CC4F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Down Arrow 60"/>
          <p:cNvSpPr/>
          <p:nvPr/>
        </p:nvSpPr>
        <p:spPr>
          <a:xfrm>
            <a:off x="8646427" y="4983845"/>
            <a:ext cx="135609" cy="218724"/>
          </a:xfrm>
          <a:prstGeom prst="downArrow">
            <a:avLst/>
          </a:prstGeom>
          <a:solidFill>
            <a:srgbClr val="FF7A59">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Down Arrow 61"/>
          <p:cNvSpPr/>
          <p:nvPr/>
        </p:nvSpPr>
        <p:spPr>
          <a:xfrm>
            <a:off x="9121915" y="4983845"/>
            <a:ext cx="135609" cy="218724"/>
          </a:xfrm>
          <a:prstGeom prst="downArrow">
            <a:avLst/>
          </a:prstGeom>
          <a:solidFill>
            <a:srgbClr val="FF7A59">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Up Arrow 62"/>
          <p:cNvSpPr/>
          <p:nvPr/>
        </p:nvSpPr>
        <p:spPr>
          <a:xfrm>
            <a:off x="9597403" y="4983845"/>
            <a:ext cx="135609" cy="218724"/>
          </a:xfrm>
          <a:prstGeom prst="upArrow">
            <a:avLst/>
          </a:prstGeom>
          <a:solidFill>
            <a:srgbClr val="7CC4FF">
              <a:alpha val="5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Down Arrow 63"/>
          <p:cNvSpPr/>
          <p:nvPr/>
        </p:nvSpPr>
        <p:spPr>
          <a:xfrm>
            <a:off x="10072891" y="4983845"/>
            <a:ext cx="135609" cy="218724"/>
          </a:xfrm>
          <a:prstGeom prst="downArrow">
            <a:avLst/>
          </a:prstGeom>
          <a:solidFill>
            <a:srgbClr val="FF7A59">
              <a:alpha val="65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Up Arrow 64"/>
          <p:cNvSpPr/>
          <p:nvPr/>
        </p:nvSpPr>
        <p:spPr>
          <a:xfrm>
            <a:off x="10548379" y="4983845"/>
            <a:ext cx="135609" cy="218724"/>
          </a:xfrm>
          <a:prstGeom prst="upArrow">
            <a:avLst/>
          </a:prstGeom>
          <a:solidFill>
            <a:srgbClr val="7CC4FF">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Down Arrow 65"/>
          <p:cNvSpPr/>
          <p:nvPr/>
        </p:nvSpPr>
        <p:spPr>
          <a:xfrm>
            <a:off x="11023867" y="4983845"/>
            <a:ext cx="135609" cy="218724"/>
          </a:xfrm>
          <a:prstGeom prst="downArrow">
            <a:avLst/>
          </a:prstGeom>
          <a:solidFill>
            <a:srgbClr val="FF7A59">
              <a:alpha val="89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001000" y="5440680"/>
            <a:ext cx="3328416" cy="457200"/>
          </a:xfrm>
          <a:prstGeom prst="rect">
            <a:avLst/>
          </a:prstGeom>
          <a:noFill/>
        </p:spPr>
        <p:txBody>
          <a:bodyPr wrap="square" anchor="t">
            <a:spAutoFit/>
          </a:bodyPr>
          <a:lstStyle/>
          <a:p>
            <a:pPr algn="ctr">
              <a:spcAft>
                <a:spcPts val="0"/>
              </a:spcAft>
            </a:pPr>
            <a:r>
              <a:rPr sz="1300" b="0" i="0">
                <a:solidFill>
                  <a:srgbClr val="9AABC4"/>
                </a:solidFill>
                <a:latin typeface="Calibri"/>
              </a:rPr>
              <a:t>each arrow is one person's opinion</a:t>
            </a:r>
          </a:p>
        </p:txBody>
      </p:sp>
      <p:sp>
        <p:nvSpPr>
          <p:cNvPr id="68" name="TextBox 67"/>
          <p:cNvSpPr txBox="1"/>
          <p:nvPr/>
        </p:nvSpPr>
        <p:spPr>
          <a:xfrm>
            <a:off x="822960" y="1051560"/>
            <a:ext cx="6949440" cy="365760"/>
          </a:xfrm>
          <a:prstGeom prst="rect">
            <a:avLst/>
          </a:prstGeom>
          <a:noFill/>
        </p:spPr>
        <p:txBody>
          <a:bodyPr wrap="square" anchor="t">
            <a:spAutoFit/>
          </a:bodyPr>
          <a:lstStyle/>
          <a:p>
            <a:pPr algn="l">
              <a:spcAft>
                <a:spcPts val="0"/>
              </a:spcAft>
            </a:pPr>
            <a:r>
              <a:rPr sz="1300" b="1" i="0">
                <a:solidFill>
                  <a:srgbClr val="7CC4FF"/>
                </a:solidFill>
                <a:latin typeface="Calibri"/>
              </a:rPr>
              <a:t>B.Sc. PHYSICS   ·   CUEA   ·   DISSERTATION DEFENCE</a:t>
            </a:r>
          </a:p>
        </p:txBody>
      </p:sp>
      <p:sp>
        <p:nvSpPr>
          <p:cNvPr id="69" name="TextBox 68"/>
          <p:cNvSpPr txBox="1"/>
          <p:nvPr/>
        </p:nvSpPr>
        <p:spPr>
          <a:xfrm>
            <a:off x="822960" y="1508760"/>
            <a:ext cx="6949440" cy="1737360"/>
          </a:xfrm>
          <a:prstGeom prst="rect">
            <a:avLst/>
          </a:prstGeom>
          <a:noFill/>
        </p:spPr>
        <p:txBody>
          <a:bodyPr wrap="square" anchor="t">
            <a:spAutoFit/>
          </a:bodyPr>
          <a:lstStyle/>
          <a:p>
            <a:pPr algn="l">
              <a:spcAft>
                <a:spcPts val="0"/>
              </a:spcAft>
            </a:pPr>
            <a:r>
              <a:rPr sz="5000" b="1" i="0">
                <a:solidFill>
                  <a:srgbClr val="EEF3FA"/>
                </a:solidFill>
                <a:latin typeface="Calibri"/>
              </a:rPr>
              <a:t>Measuring the</a:t>
            </a:r>
          </a:p>
          <a:p>
            <a:pPr algn="l">
              <a:spcAft>
                <a:spcPts val="0"/>
              </a:spcAft>
            </a:pPr>
            <a:r>
              <a:rPr sz="5000" b="1" i="0">
                <a:solidFill>
                  <a:srgbClr val="7CC4FF"/>
                </a:solidFill>
                <a:latin typeface="Calibri"/>
              </a:rPr>
              <a:t>External Field</a:t>
            </a:r>
          </a:p>
        </p:txBody>
      </p:sp>
      <p:sp>
        <p:nvSpPr>
          <p:cNvPr id="70" name="TextBox 69"/>
          <p:cNvSpPr txBox="1"/>
          <p:nvPr/>
        </p:nvSpPr>
        <p:spPr>
          <a:xfrm>
            <a:off x="822960" y="3246120"/>
            <a:ext cx="6766560" cy="914400"/>
          </a:xfrm>
          <a:prstGeom prst="rect">
            <a:avLst/>
          </a:prstGeom>
          <a:noFill/>
        </p:spPr>
        <p:txBody>
          <a:bodyPr wrap="square" anchor="t">
            <a:spAutoFit/>
          </a:bodyPr>
          <a:lstStyle/>
          <a:p>
            <a:pPr algn="l">
              <a:spcAft>
                <a:spcPts val="0"/>
              </a:spcAft>
            </a:pPr>
            <a:r>
              <a:rPr sz="2100" b="0" i="0">
                <a:solidFill>
                  <a:srgbClr val="9AABC4"/>
                </a:solidFill>
                <a:latin typeface="Calibri"/>
              </a:rPr>
              <a:t>Can we measure how hard a news article pushes on what people think?</a:t>
            </a:r>
          </a:p>
        </p:txBody>
      </p:sp>
      <p:sp>
        <p:nvSpPr>
          <p:cNvPr id="71" name="Rectangle 70"/>
          <p:cNvSpPr/>
          <p:nvPr/>
        </p:nvSpPr>
        <p:spPr>
          <a:xfrm>
            <a:off x="822960" y="4343400"/>
            <a:ext cx="1280160" cy="45720"/>
          </a:xfrm>
          <a:prstGeom prst="rect">
            <a:avLst/>
          </a:prstGeom>
          <a:solidFill>
            <a:srgbClr val="FF7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22960" y="4572000"/>
            <a:ext cx="6766560" cy="1280160"/>
          </a:xfrm>
          <a:prstGeom prst="rect">
            <a:avLst/>
          </a:prstGeom>
          <a:noFill/>
        </p:spPr>
        <p:txBody>
          <a:bodyPr wrap="square" anchor="t">
            <a:spAutoFit/>
          </a:bodyPr>
          <a:lstStyle/>
          <a:p>
            <a:pPr algn="l">
              <a:spcAft>
                <a:spcPts val="400"/>
              </a:spcAft>
            </a:pPr>
            <a:r>
              <a:rPr sz="2000" b="1">
                <a:solidFill>
                  <a:srgbClr val="EEF3FA"/>
                </a:solidFill>
                <a:latin typeface="Calibri"/>
              </a:rPr>
              <a:t>Brian Mwai</a:t>
            </a:r>
            <a:r>
              <a:rPr sz="2000" b="0">
                <a:solidFill>
                  <a:srgbClr val="9AABC4"/>
                </a:solidFill>
                <a:latin typeface="Calibri"/>
              </a:rPr>
              <a:t>   1050555</a:t>
            </a:r>
          </a:p>
          <a:p>
            <a:pPr algn="l">
              <a:spcAft>
                <a:spcPts val="200"/>
              </a:spcAft>
            </a:pPr>
            <a:r>
              <a:rPr sz="1500" b="0" i="0">
                <a:solidFill>
                  <a:srgbClr val="9AABC4"/>
                </a:solidFill>
                <a:latin typeface="Calibri"/>
              </a:rPr>
              <a:t>Supervisor: Dr. Songa Mutambi</a:t>
            </a:r>
          </a:p>
          <a:p>
            <a:pPr algn="l">
              <a:spcAft>
                <a:spcPts val="0"/>
              </a:spcAft>
            </a:pPr>
            <a:r>
              <a:rPr sz="1500" b="0" i="0">
                <a:solidFill>
                  <a:srgbClr val="9AABC4"/>
                </a:solidFill>
                <a:latin typeface="Calibri"/>
              </a:rPr>
              <a:t>25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waveform.png"/>
          <p:cNvPicPr>
            <a:picLocks noChangeAspect="1"/>
          </p:cNvPicPr>
          <p:nvPr/>
        </p:nvPicPr>
        <p:blipFill>
          <a:blip r:embed="rId3"/>
          <a:stretch>
            <a:fillRect/>
          </a:stretch>
        </p:blipFill>
        <p:spPr>
          <a:xfrm>
            <a:off x="685800" y="457200"/>
            <a:ext cx="420624" cy="420624"/>
          </a:xfrm>
          <a:prstGeom prst="rect">
            <a:avLst/>
          </a:prstGeom>
        </p:spPr>
      </p:pic>
      <p:sp>
        <p:nvSpPr>
          <p:cNvPr id="5" name="TextBox 4"/>
          <p:cNvSpPr txBox="1"/>
          <p:nvPr/>
        </p:nvSpPr>
        <p:spPr>
          <a:xfrm>
            <a:off x="1289304" y="201168"/>
            <a:ext cx="10216591" cy="320040"/>
          </a:xfrm>
          <a:prstGeom prst="rect">
            <a:avLst/>
          </a:prstGeom>
          <a:noFill/>
        </p:spPr>
        <p:txBody>
          <a:bodyPr wrap="square" anchor="t">
            <a:spAutoFit/>
          </a:bodyPr>
          <a:lstStyle/>
          <a:p>
            <a:pPr algn="l">
              <a:spcAft>
                <a:spcPts val="0"/>
              </a:spcAft>
            </a:pPr>
            <a:r>
              <a:rPr sz="1200" b="1" i="0">
                <a:solidFill>
                  <a:srgbClr val="FF7A59"/>
                </a:solidFill>
                <a:latin typeface="Calibri"/>
              </a:rPr>
              <a:t>THE IDEA</a:t>
            </a:r>
          </a:p>
        </p:txBody>
      </p:sp>
      <p:sp>
        <p:nvSpPr>
          <p:cNvPr id="6" name="TextBox 5"/>
          <p:cNvSpPr txBox="1"/>
          <p:nvPr/>
        </p:nvSpPr>
        <p:spPr>
          <a:xfrm>
            <a:off x="1289304" y="420624"/>
            <a:ext cx="10216591" cy="822960"/>
          </a:xfrm>
          <a:prstGeom prst="rect">
            <a:avLst/>
          </a:prstGeom>
          <a:noFill/>
        </p:spPr>
        <p:txBody>
          <a:bodyPr wrap="square" anchor="t">
            <a:spAutoFit/>
          </a:bodyPr>
          <a:lstStyle/>
          <a:p>
            <a:pPr algn="l">
              <a:spcAft>
                <a:spcPts val="0"/>
              </a:spcAft>
            </a:pPr>
            <a:r>
              <a:rPr sz="2600" b="1" i="0">
                <a:solidFill>
                  <a:srgbClr val="7CC4FF"/>
                </a:solidFill>
                <a:latin typeface="Calibri"/>
              </a:rPr>
              <a:t>Physics treats media as a push, h, on opinion. Nobody measures h</a:t>
            </a:r>
          </a:p>
        </p:txBody>
      </p:sp>
      <p:pic>
        <p:nvPicPr>
          <p:cNvPr id="7" name="Picture 6" descr="45f02749de550d5c.png"/>
          <p:cNvPicPr>
            <a:picLocks noChangeAspect="1"/>
          </p:cNvPicPr>
          <p:nvPr/>
        </p:nvPicPr>
        <p:blipFill>
          <a:blip r:embed="rId4"/>
          <a:stretch>
            <a:fillRect/>
          </a:stretch>
        </p:blipFill>
        <p:spPr>
          <a:xfrm>
            <a:off x="685800" y="1508760"/>
            <a:ext cx="3937863" cy="510235"/>
          </a:xfrm>
          <a:prstGeom prst="rect">
            <a:avLst/>
          </a:prstGeom>
        </p:spPr>
      </p:pic>
      <p:sp>
        <p:nvSpPr>
          <p:cNvPr id="8" name="Rounded Rectangle 7"/>
          <p:cNvSpPr/>
          <p:nvPr/>
        </p:nvSpPr>
        <p:spPr>
          <a:xfrm>
            <a:off x="685800" y="2514600"/>
            <a:ext cx="3383280" cy="896112"/>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pic>
        <p:nvPicPr>
          <p:cNvPr id="9" name="Picture 8" descr="2e3b70b3f2255e91.png"/>
          <p:cNvPicPr>
            <a:picLocks noChangeAspect="1"/>
          </p:cNvPicPr>
          <p:nvPr/>
        </p:nvPicPr>
        <p:blipFill>
          <a:blip r:embed="rId5"/>
          <a:stretch>
            <a:fillRect/>
          </a:stretch>
        </p:blipFill>
        <p:spPr>
          <a:xfrm>
            <a:off x="964692" y="2697480"/>
            <a:ext cx="356616" cy="390906"/>
          </a:xfrm>
          <a:prstGeom prst="rect">
            <a:avLst/>
          </a:prstGeom>
        </p:spPr>
      </p:pic>
      <p:sp>
        <p:nvSpPr>
          <p:cNvPr id="10" name="TextBox 9"/>
          <p:cNvSpPr txBox="1"/>
          <p:nvPr/>
        </p:nvSpPr>
        <p:spPr>
          <a:xfrm>
            <a:off x="1554480" y="2624328"/>
            <a:ext cx="2468880" cy="731520"/>
          </a:xfrm>
          <a:prstGeom prst="rect">
            <a:avLst/>
          </a:prstGeom>
          <a:noFill/>
        </p:spPr>
        <p:txBody>
          <a:bodyPr wrap="square" anchor="ctr">
            <a:spAutoFit/>
          </a:bodyPr>
          <a:lstStyle/>
          <a:p>
            <a:pPr algn="l">
              <a:spcAft>
                <a:spcPts val="0"/>
              </a:spcAft>
            </a:pPr>
            <a:r>
              <a:rPr sz="1400" b="0" i="0">
                <a:solidFill>
                  <a:srgbClr val="EEF3FA"/>
                </a:solidFill>
                <a:latin typeface="Calibri"/>
              </a:rPr>
              <a:t>magnetisation
= average opinion, −1 to +1</a:t>
            </a:r>
          </a:p>
        </p:txBody>
      </p:sp>
      <p:sp>
        <p:nvSpPr>
          <p:cNvPr id="11" name="Rounded Rectangle 10"/>
          <p:cNvSpPr/>
          <p:nvPr/>
        </p:nvSpPr>
        <p:spPr>
          <a:xfrm>
            <a:off x="4206240" y="2514600"/>
            <a:ext cx="3383280" cy="896112"/>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pic>
        <p:nvPicPr>
          <p:cNvPr id="12" name="Picture 11" descr="14e8a1e87ada8350.png"/>
          <p:cNvPicPr>
            <a:picLocks noChangeAspect="1"/>
          </p:cNvPicPr>
          <p:nvPr/>
        </p:nvPicPr>
        <p:blipFill>
          <a:blip r:embed="rId6"/>
          <a:stretch>
            <a:fillRect/>
          </a:stretch>
        </p:blipFill>
        <p:spPr>
          <a:xfrm>
            <a:off x="4526279" y="2697480"/>
            <a:ext cx="274320" cy="390906"/>
          </a:xfrm>
          <a:prstGeom prst="rect">
            <a:avLst/>
          </a:prstGeom>
        </p:spPr>
      </p:pic>
      <p:sp>
        <p:nvSpPr>
          <p:cNvPr id="13" name="TextBox 12"/>
          <p:cNvSpPr txBox="1"/>
          <p:nvPr/>
        </p:nvSpPr>
        <p:spPr>
          <a:xfrm>
            <a:off x="5074920" y="2624328"/>
            <a:ext cx="2468880" cy="731520"/>
          </a:xfrm>
          <a:prstGeom prst="rect">
            <a:avLst/>
          </a:prstGeom>
          <a:noFill/>
        </p:spPr>
        <p:txBody>
          <a:bodyPr wrap="square" anchor="ctr">
            <a:spAutoFit/>
          </a:bodyPr>
          <a:lstStyle/>
          <a:p>
            <a:pPr algn="l">
              <a:spcAft>
                <a:spcPts val="0"/>
              </a:spcAft>
            </a:pPr>
            <a:r>
              <a:rPr sz="1400" b="0" i="0">
                <a:solidFill>
                  <a:srgbClr val="EEF3FA"/>
                </a:solidFill>
                <a:latin typeface="Calibri"/>
              </a:rPr>
              <a:t>coupling
= pull toward neighbours</a:t>
            </a:r>
          </a:p>
        </p:txBody>
      </p:sp>
      <p:sp>
        <p:nvSpPr>
          <p:cNvPr id="14" name="Rounded Rectangle 13"/>
          <p:cNvSpPr/>
          <p:nvPr/>
        </p:nvSpPr>
        <p:spPr>
          <a:xfrm>
            <a:off x="685800" y="3538728"/>
            <a:ext cx="3383280" cy="896112"/>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pic>
        <p:nvPicPr>
          <p:cNvPr id="15" name="Picture 14" descr="9255c6a4144431ec.png"/>
          <p:cNvPicPr>
            <a:picLocks noChangeAspect="1"/>
          </p:cNvPicPr>
          <p:nvPr/>
        </p:nvPicPr>
        <p:blipFill>
          <a:blip r:embed="rId7"/>
          <a:stretch>
            <a:fillRect/>
          </a:stretch>
        </p:blipFill>
        <p:spPr>
          <a:xfrm>
            <a:off x="1014412" y="3721608"/>
            <a:ext cx="257175" cy="394334"/>
          </a:xfrm>
          <a:prstGeom prst="rect">
            <a:avLst/>
          </a:prstGeom>
        </p:spPr>
      </p:pic>
      <p:sp>
        <p:nvSpPr>
          <p:cNvPr id="16" name="TextBox 15"/>
          <p:cNvSpPr txBox="1"/>
          <p:nvPr/>
        </p:nvSpPr>
        <p:spPr>
          <a:xfrm>
            <a:off x="1554480" y="3648456"/>
            <a:ext cx="2468880" cy="731520"/>
          </a:xfrm>
          <a:prstGeom prst="rect">
            <a:avLst/>
          </a:prstGeom>
          <a:noFill/>
        </p:spPr>
        <p:txBody>
          <a:bodyPr wrap="square" anchor="ctr">
            <a:spAutoFit/>
          </a:bodyPr>
          <a:lstStyle/>
          <a:p>
            <a:pPr algn="l">
              <a:spcAft>
                <a:spcPts val="0"/>
              </a:spcAft>
            </a:pPr>
            <a:r>
              <a:rPr sz="1400" b="0" i="0">
                <a:solidFill>
                  <a:srgbClr val="EEF3FA"/>
                </a:solidFill>
                <a:latin typeface="Calibri"/>
              </a:rPr>
              <a:t>inverse temperature
= how firmly people follow</a:t>
            </a:r>
          </a:p>
        </p:txBody>
      </p:sp>
      <p:sp>
        <p:nvSpPr>
          <p:cNvPr id="17" name="Rounded Rectangle 16"/>
          <p:cNvSpPr/>
          <p:nvPr/>
        </p:nvSpPr>
        <p:spPr>
          <a:xfrm>
            <a:off x="4206240" y="3538728"/>
            <a:ext cx="3383280" cy="896112"/>
          </a:xfrm>
          <a:prstGeom prst="roundRect">
            <a:avLst>
              <a:gd name="adj" fmla="val 6000"/>
            </a:avLst>
          </a:prstGeom>
          <a:solidFill>
            <a:srgbClr val="12223C"/>
          </a:solidFill>
          <a:ln w="25400">
            <a:solidFill>
              <a:srgbClr val="F5B8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pic>
        <p:nvPicPr>
          <p:cNvPr id="18" name="Picture 17" descr="20c93cf97540e448.png"/>
          <p:cNvPicPr>
            <a:picLocks noChangeAspect="1"/>
          </p:cNvPicPr>
          <p:nvPr/>
        </p:nvPicPr>
        <p:blipFill>
          <a:blip r:embed="rId8"/>
          <a:stretch>
            <a:fillRect/>
          </a:stretch>
        </p:blipFill>
        <p:spPr>
          <a:xfrm>
            <a:off x="4543424" y="3721608"/>
            <a:ext cx="240030" cy="390906"/>
          </a:xfrm>
          <a:prstGeom prst="rect">
            <a:avLst/>
          </a:prstGeom>
        </p:spPr>
      </p:pic>
      <p:sp>
        <p:nvSpPr>
          <p:cNvPr id="19" name="TextBox 18"/>
          <p:cNvSpPr txBox="1"/>
          <p:nvPr/>
        </p:nvSpPr>
        <p:spPr>
          <a:xfrm>
            <a:off x="5074920" y="3648456"/>
            <a:ext cx="2468880" cy="731520"/>
          </a:xfrm>
          <a:prstGeom prst="rect">
            <a:avLst/>
          </a:prstGeom>
          <a:noFill/>
        </p:spPr>
        <p:txBody>
          <a:bodyPr wrap="square" anchor="ctr">
            <a:spAutoFit/>
          </a:bodyPr>
          <a:lstStyle/>
          <a:p>
            <a:pPr algn="l">
              <a:spcAft>
                <a:spcPts val="0"/>
              </a:spcAft>
            </a:pPr>
            <a:r>
              <a:rPr sz="1400" b="0" i="0">
                <a:solidFill>
                  <a:srgbClr val="EEF3FA"/>
                </a:solidFill>
                <a:latin typeface="Calibri"/>
              </a:rPr>
              <a:t>external field
= media's push on everyone</a:t>
            </a:r>
          </a:p>
        </p:txBody>
      </p:sp>
      <p:sp>
        <p:nvSpPr>
          <p:cNvPr id="20" name="Up Arrow 19"/>
          <p:cNvSpPr/>
          <p:nvPr/>
        </p:nvSpPr>
        <p:spPr>
          <a:xfrm>
            <a:off x="8317903" y="1735988"/>
            <a:ext cx="143432" cy="231343"/>
          </a:xfrm>
          <a:prstGeom prst="upArrow">
            <a:avLst/>
          </a:prstGeom>
          <a:solidFill>
            <a:srgbClr val="7CC4F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Up Arrow 20"/>
          <p:cNvSpPr/>
          <p:nvPr/>
        </p:nvSpPr>
        <p:spPr>
          <a:xfrm>
            <a:off x="8820823" y="1735988"/>
            <a:ext cx="143432" cy="231343"/>
          </a:xfrm>
          <a:prstGeom prst="upArrow">
            <a:avLst/>
          </a:prstGeom>
          <a:solidFill>
            <a:srgbClr val="7CC4FF">
              <a:alpha val="323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Up Arrow 21"/>
          <p:cNvSpPr/>
          <p:nvPr/>
        </p:nvSpPr>
        <p:spPr>
          <a:xfrm>
            <a:off x="9323743" y="1735988"/>
            <a:ext cx="143432" cy="231343"/>
          </a:xfrm>
          <a:prstGeom prst="upArrow">
            <a:avLst/>
          </a:prstGeom>
          <a:solidFill>
            <a:srgbClr val="7CC4FF">
              <a:alpha val="468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Up Arrow 22"/>
          <p:cNvSpPr/>
          <p:nvPr/>
        </p:nvSpPr>
        <p:spPr>
          <a:xfrm>
            <a:off x="9826663" y="1735988"/>
            <a:ext cx="143432" cy="231343"/>
          </a:xfrm>
          <a:prstGeom prst="upArrow">
            <a:avLst/>
          </a:prstGeom>
          <a:solidFill>
            <a:srgbClr val="7CC4FF">
              <a:alpha val="612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Up Arrow 23"/>
          <p:cNvSpPr/>
          <p:nvPr/>
        </p:nvSpPr>
        <p:spPr>
          <a:xfrm>
            <a:off x="10329583" y="1735988"/>
            <a:ext cx="143432" cy="231343"/>
          </a:xfrm>
          <a:prstGeom prst="upArrow">
            <a:avLst/>
          </a:prstGeom>
          <a:solidFill>
            <a:srgbClr val="7CC4FF">
              <a:alpha val="756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Up Arrow 24"/>
          <p:cNvSpPr/>
          <p:nvPr/>
        </p:nvSpPr>
        <p:spPr>
          <a:xfrm>
            <a:off x="10832503" y="1735988"/>
            <a:ext cx="143432" cy="231343"/>
          </a:xfrm>
          <a:prstGeom prst="upArrow">
            <a:avLst/>
          </a:prstGeom>
          <a:solidFill>
            <a:srgbClr val="7CC4FF">
              <a:alpha val="89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Up Arrow 25"/>
          <p:cNvSpPr/>
          <p:nvPr/>
        </p:nvSpPr>
        <p:spPr>
          <a:xfrm>
            <a:off x="8317903" y="2238908"/>
            <a:ext cx="143432" cy="231343"/>
          </a:xfrm>
          <a:prstGeom prst="upArrow">
            <a:avLst/>
          </a:prstGeom>
          <a:solidFill>
            <a:srgbClr val="7CC4F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own Arrow 26"/>
          <p:cNvSpPr/>
          <p:nvPr/>
        </p:nvSpPr>
        <p:spPr>
          <a:xfrm>
            <a:off x="8820823" y="2238908"/>
            <a:ext cx="143432" cy="231343"/>
          </a:xfrm>
          <a:prstGeom prst="downArrow">
            <a:avLst/>
          </a:prstGeom>
          <a:solidFill>
            <a:srgbClr val="FF7A59">
              <a:alpha val="323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Up Arrow 27"/>
          <p:cNvSpPr/>
          <p:nvPr/>
        </p:nvSpPr>
        <p:spPr>
          <a:xfrm>
            <a:off x="9323743" y="2238908"/>
            <a:ext cx="143432" cy="231343"/>
          </a:xfrm>
          <a:prstGeom prst="upArrow">
            <a:avLst/>
          </a:prstGeom>
          <a:solidFill>
            <a:srgbClr val="7CC4FF">
              <a:alpha val="468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Up Arrow 28"/>
          <p:cNvSpPr/>
          <p:nvPr/>
        </p:nvSpPr>
        <p:spPr>
          <a:xfrm>
            <a:off x="9826663" y="2238908"/>
            <a:ext cx="143432" cy="231343"/>
          </a:xfrm>
          <a:prstGeom prst="upArrow">
            <a:avLst/>
          </a:prstGeom>
          <a:solidFill>
            <a:srgbClr val="7CC4FF">
              <a:alpha val="612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own Arrow 29"/>
          <p:cNvSpPr/>
          <p:nvPr/>
        </p:nvSpPr>
        <p:spPr>
          <a:xfrm>
            <a:off x="10329583" y="2238908"/>
            <a:ext cx="143432" cy="231343"/>
          </a:xfrm>
          <a:prstGeom prst="downArrow">
            <a:avLst/>
          </a:prstGeom>
          <a:solidFill>
            <a:srgbClr val="FF7A59">
              <a:alpha val="756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Up Arrow 30"/>
          <p:cNvSpPr/>
          <p:nvPr/>
        </p:nvSpPr>
        <p:spPr>
          <a:xfrm>
            <a:off x="10832503" y="2238908"/>
            <a:ext cx="143432" cy="231343"/>
          </a:xfrm>
          <a:prstGeom prst="upArrow">
            <a:avLst/>
          </a:prstGeom>
          <a:solidFill>
            <a:srgbClr val="7CC4FF">
              <a:alpha val="89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Down Arrow 31"/>
          <p:cNvSpPr/>
          <p:nvPr/>
        </p:nvSpPr>
        <p:spPr>
          <a:xfrm>
            <a:off x="8317903" y="2741828"/>
            <a:ext cx="143432" cy="231343"/>
          </a:xfrm>
          <a:prstGeom prst="downArrow">
            <a:avLst/>
          </a:prstGeom>
          <a:solidFill>
            <a:srgbClr val="FF7A59">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Up Arrow 32"/>
          <p:cNvSpPr/>
          <p:nvPr/>
        </p:nvSpPr>
        <p:spPr>
          <a:xfrm>
            <a:off x="8820823" y="2741828"/>
            <a:ext cx="143432" cy="231343"/>
          </a:xfrm>
          <a:prstGeom prst="upArrow">
            <a:avLst/>
          </a:prstGeom>
          <a:solidFill>
            <a:srgbClr val="7CC4FF">
              <a:alpha val="323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Up Arrow 33"/>
          <p:cNvSpPr/>
          <p:nvPr/>
        </p:nvSpPr>
        <p:spPr>
          <a:xfrm>
            <a:off x="9323743" y="2741828"/>
            <a:ext cx="143432" cy="231343"/>
          </a:xfrm>
          <a:prstGeom prst="upArrow">
            <a:avLst/>
          </a:prstGeom>
          <a:solidFill>
            <a:srgbClr val="7CC4FF">
              <a:alpha val="468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Up Arrow 34"/>
          <p:cNvSpPr/>
          <p:nvPr/>
        </p:nvSpPr>
        <p:spPr>
          <a:xfrm>
            <a:off x="9826663" y="2741828"/>
            <a:ext cx="143432" cy="231343"/>
          </a:xfrm>
          <a:prstGeom prst="upArrow">
            <a:avLst/>
          </a:prstGeom>
          <a:solidFill>
            <a:srgbClr val="7CC4FF">
              <a:alpha val="612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Up Arrow 35"/>
          <p:cNvSpPr/>
          <p:nvPr/>
        </p:nvSpPr>
        <p:spPr>
          <a:xfrm>
            <a:off x="10329583" y="2741828"/>
            <a:ext cx="143432" cy="231343"/>
          </a:xfrm>
          <a:prstGeom prst="upArrow">
            <a:avLst/>
          </a:prstGeom>
          <a:solidFill>
            <a:srgbClr val="7CC4FF">
              <a:alpha val="756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Down Arrow 36"/>
          <p:cNvSpPr/>
          <p:nvPr/>
        </p:nvSpPr>
        <p:spPr>
          <a:xfrm>
            <a:off x="10832503" y="2741828"/>
            <a:ext cx="143432" cy="231343"/>
          </a:xfrm>
          <a:prstGeom prst="downArrow">
            <a:avLst/>
          </a:prstGeom>
          <a:solidFill>
            <a:srgbClr val="FF7A59">
              <a:alpha val="89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Up Arrow 37"/>
          <p:cNvSpPr/>
          <p:nvPr/>
        </p:nvSpPr>
        <p:spPr>
          <a:xfrm>
            <a:off x="8317903" y="3244748"/>
            <a:ext cx="143432" cy="231343"/>
          </a:xfrm>
          <a:prstGeom prst="upArrow">
            <a:avLst/>
          </a:prstGeom>
          <a:solidFill>
            <a:srgbClr val="7CC4F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Down Arrow 38"/>
          <p:cNvSpPr/>
          <p:nvPr/>
        </p:nvSpPr>
        <p:spPr>
          <a:xfrm>
            <a:off x="8820823" y="3244748"/>
            <a:ext cx="143432" cy="231343"/>
          </a:xfrm>
          <a:prstGeom prst="downArrow">
            <a:avLst/>
          </a:prstGeom>
          <a:solidFill>
            <a:srgbClr val="FF7A59">
              <a:alpha val="323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Down Arrow 39"/>
          <p:cNvSpPr/>
          <p:nvPr/>
        </p:nvSpPr>
        <p:spPr>
          <a:xfrm>
            <a:off x="9323743" y="3244748"/>
            <a:ext cx="143432" cy="231343"/>
          </a:xfrm>
          <a:prstGeom prst="downArrow">
            <a:avLst/>
          </a:prstGeom>
          <a:solidFill>
            <a:srgbClr val="FF7A59">
              <a:alpha val="468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Up Arrow 40"/>
          <p:cNvSpPr/>
          <p:nvPr/>
        </p:nvSpPr>
        <p:spPr>
          <a:xfrm>
            <a:off x="9826663" y="3244748"/>
            <a:ext cx="143432" cy="231343"/>
          </a:xfrm>
          <a:prstGeom prst="upArrow">
            <a:avLst/>
          </a:prstGeom>
          <a:solidFill>
            <a:srgbClr val="7CC4FF">
              <a:alpha val="612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Down Arrow 41"/>
          <p:cNvSpPr/>
          <p:nvPr/>
        </p:nvSpPr>
        <p:spPr>
          <a:xfrm>
            <a:off x="10329583" y="3244748"/>
            <a:ext cx="143432" cy="231343"/>
          </a:xfrm>
          <a:prstGeom prst="downArrow">
            <a:avLst/>
          </a:prstGeom>
          <a:solidFill>
            <a:srgbClr val="FF7A59">
              <a:alpha val="756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Up Arrow 42"/>
          <p:cNvSpPr/>
          <p:nvPr/>
        </p:nvSpPr>
        <p:spPr>
          <a:xfrm>
            <a:off x="10832503" y="3244748"/>
            <a:ext cx="143432" cy="231343"/>
          </a:xfrm>
          <a:prstGeom prst="upArrow">
            <a:avLst/>
          </a:prstGeom>
          <a:solidFill>
            <a:srgbClr val="7CC4FF">
              <a:alpha val="89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Up Arrow 43"/>
          <p:cNvSpPr/>
          <p:nvPr/>
        </p:nvSpPr>
        <p:spPr>
          <a:xfrm>
            <a:off x="8317903" y="3747668"/>
            <a:ext cx="143432" cy="231343"/>
          </a:xfrm>
          <a:prstGeom prst="upArrow">
            <a:avLst/>
          </a:prstGeom>
          <a:solidFill>
            <a:srgbClr val="7CC4F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Up Arrow 44"/>
          <p:cNvSpPr/>
          <p:nvPr/>
        </p:nvSpPr>
        <p:spPr>
          <a:xfrm>
            <a:off x="8820823" y="3747668"/>
            <a:ext cx="143432" cy="231343"/>
          </a:xfrm>
          <a:prstGeom prst="upArrow">
            <a:avLst/>
          </a:prstGeom>
          <a:solidFill>
            <a:srgbClr val="7CC4FF">
              <a:alpha val="323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Down Arrow 45"/>
          <p:cNvSpPr/>
          <p:nvPr/>
        </p:nvSpPr>
        <p:spPr>
          <a:xfrm>
            <a:off x="9323743" y="3747668"/>
            <a:ext cx="143432" cy="231343"/>
          </a:xfrm>
          <a:prstGeom prst="downArrow">
            <a:avLst/>
          </a:prstGeom>
          <a:solidFill>
            <a:srgbClr val="FF7A59">
              <a:alpha val="468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Up Arrow 46"/>
          <p:cNvSpPr/>
          <p:nvPr/>
        </p:nvSpPr>
        <p:spPr>
          <a:xfrm>
            <a:off x="9826663" y="3747668"/>
            <a:ext cx="143432" cy="231343"/>
          </a:xfrm>
          <a:prstGeom prst="upArrow">
            <a:avLst/>
          </a:prstGeom>
          <a:solidFill>
            <a:srgbClr val="7CC4FF">
              <a:alpha val="612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Down Arrow 47"/>
          <p:cNvSpPr/>
          <p:nvPr/>
        </p:nvSpPr>
        <p:spPr>
          <a:xfrm>
            <a:off x="10329583" y="3747668"/>
            <a:ext cx="143432" cy="231343"/>
          </a:xfrm>
          <a:prstGeom prst="downArrow">
            <a:avLst/>
          </a:prstGeom>
          <a:solidFill>
            <a:srgbClr val="FF7A59">
              <a:alpha val="756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Down Arrow 48"/>
          <p:cNvSpPr/>
          <p:nvPr/>
        </p:nvSpPr>
        <p:spPr>
          <a:xfrm>
            <a:off x="10832503" y="3747668"/>
            <a:ext cx="143432" cy="231343"/>
          </a:xfrm>
          <a:prstGeom prst="downArrow">
            <a:avLst/>
          </a:prstGeom>
          <a:solidFill>
            <a:srgbClr val="FF7A59">
              <a:alpha val="89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Down Arrow 49"/>
          <p:cNvSpPr/>
          <p:nvPr/>
        </p:nvSpPr>
        <p:spPr>
          <a:xfrm>
            <a:off x="8317903" y="4250588"/>
            <a:ext cx="143432" cy="231343"/>
          </a:xfrm>
          <a:prstGeom prst="downArrow">
            <a:avLst/>
          </a:prstGeom>
          <a:solidFill>
            <a:srgbClr val="FF7A59">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Down Arrow 50"/>
          <p:cNvSpPr/>
          <p:nvPr/>
        </p:nvSpPr>
        <p:spPr>
          <a:xfrm>
            <a:off x="8820823" y="4250588"/>
            <a:ext cx="143432" cy="231343"/>
          </a:xfrm>
          <a:prstGeom prst="downArrow">
            <a:avLst/>
          </a:prstGeom>
          <a:solidFill>
            <a:srgbClr val="FF7A59">
              <a:alpha val="323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Up Arrow 51"/>
          <p:cNvSpPr/>
          <p:nvPr/>
        </p:nvSpPr>
        <p:spPr>
          <a:xfrm>
            <a:off x="9323743" y="4250588"/>
            <a:ext cx="143432" cy="231343"/>
          </a:xfrm>
          <a:prstGeom prst="upArrow">
            <a:avLst/>
          </a:prstGeom>
          <a:solidFill>
            <a:srgbClr val="7CC4FF">
              <a:alpha val="468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Down Arrow 52"/>
          <p:cNvSpPr/>
          <p:nvPr/>
        </p:nvSpPr>
        <p:spPr>
          <a:xfrm>
            <a:off x="9826663" y="4250588"/>
            <a:ext cx="143432" cy="231343"/>
          </a:xfrm>
          <a:prstGeom prst="downArrow">
            <a:avLst/>
          </a:prstGeom>
          <a:solidFill>
            <a:srgbClr val="FF7A59">
              <a:alpha val="612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Up Arrow 53"/>
          <p:cNvSpPr/>
          <p:nvPr/>
        </p:nvSpPr>
        <p:spPr>
          <a:xfrm>
            <a:off x="10329583" y="4250588"/>
            <a:ext cx="143432" cy="231343"/>
          </a:xfrm>
          <a:prstGeom prst="upArrow">
            <a:avLst/>
          </a:prstGeom>
          <a:solidFill>
            <a:srgbClr val="7CC4FF">
              <a:alpha val="756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Down Arrow 54"/>
          <p:cNvSpPr/>
          <p:nvPr/>
        </p:nvSpPr>
        <p:spPr>
          <a:xfrm>
            <a:off x="10832503" y="4250588"/>
            <a:ext cx="143432" cy="231343"/>
          </a:xfrm>
          <a:prstGeom prst="downArrow">
            <a:avLst/>
          </a:prstGeom>
          <a:solidFill>
            <a:srgbClr val="FF7A59">
              <a:alpha val="89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Up Arrow 55"/>
          <p:cNvSpPr/>
          <p:nvPr/>
        </p:nvSpPr>
        <p:spPr>
          <a:xfrm>
            <a:off x="11338560" y="2103120"/>
            <a:ext cx="365760" cy="2011680"/>
          </a:xfrm>
          <a:prstGeom prst="upArrow">
            <a:avLst/>
          </a:prstGeom>
          <a:solidFill>
            <a:srgbClr val="F5B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56" descr="20c93cf97540e448.png"/>
          <p:cNvPicPr>
            <a:picLocks noChangeAspect="1"/>
          </p:cNvPicPr>
          <p:nvPr/>
        </p:nvPicPr>
        <p:blipFill>
          <a:blip r:embed="rId8"/>
          <a:stretch>
            <a:fillRect/>
          </a:stretch>
        </p:blipFill>
        <p:spPr>
          <a:xfrm>
            <a:off x="11409426" y="4206240"/>
            <a:ext cx="224027" cy="364845"/>
          </a:xfrm>
          <a:prstGeom prst="rect">
            <a:avLst/>
          </a:prstGeom>
        </p:spPr>
      </p:pic>
      <p:sp>
        <p:nvSpPr>
          <p:cNvPr id="58" name="Rounded Rectangle 57"/>
          <p:cNvSpPr/>
          <p:nvPr/>
        </p:nvSpPr>
        <p:spPr>
          <a:xfrm>
            <a:off x="685800" y="4754880"/>
            <a:ext cx="10820095" cy="685800"/>
          </a:xfrm>
          <a:prstGeom prst="roundRect">
            <a:avLst>
              <a:gd name="adj" fmla="val 6000"/>
            </a:avLst>
          </a:prstGeom>
          <a:solidFill>
            <a:srgbClr val="12223C"/>
          </a:solidFill>
          <a:ln w="25400">
            <a:solidFill>
              <a:srgbClr val="FF7A59"/>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600" b="1">
                <a:solidFill>
                  <a:srgbClr val="FF7A59"/>
                </a:solidFill>
                <a:latin typeface="Calibri"/>
              </a:rPr>
              <a:t>Question:  </a:t>
            </a:r>
            <a:r>
              <a:rPr sz="1600" b="0">
                <a:solidFill>
                  <a:srgbClr val="EEF3FA"/>
                </a:solidFill>
                <a:latin typeface="Calibri"/>
              </a:rPr>
              <a:t>can h be measured from the content itself?</a:t>
            </a:r>
          </a:p>
        </p:txBody>
      </p:sp>
      <p:sp>
        <p:nvSpPr>
          <p:cNvPr id="59" name="TextBox 58"/>
          <p:cNvSpPr txBox="1"/>
          <p:nvPr/>
        </p:nvSpPr>
        <p:spPr>
          <a:xfrm>
            <a:off x="6019495" y="6053328"/>
            <a:ext cx="5486400" cy="274320"/>
          </a:xfrm>
          <a:prstGeom prst="rect">
            <a:avLst/>
          </a:prstGeom>
          <a:noFill/>
        </p:spPr>
        <p:txBody>
          <a:bodyPr wrap="square" anchor="t">
            <a:spAutoFit/>
          </a:bodyPr>
          <a:lstStyle/>
          <a:p>
            <a:pPr algn="r">
              <a:spcAft>
                <a:spcPts val="0"/>
              </a:spcAft>
            </a:pPr>
            <a:r>
              <a:rPr sz="1200" b="1" i="0">
                <a:solidFill>
                  <a:srgbClr val="F5B83D"/>
                </a:solidFill>
                <a:latin typeface="Calibri"/>
              </a:rPr>
              <a:t>Next: what testing the tools changed  →</a:t>
            </a:r>
          </a:p>
        </p:txBody>
      </p:sp>
      <p:sp>
        <p:nvSpPr>
          <p:cNvPr id="60" name="TextBox 59"/>
          <p:cNvSpPr txBox="1"/>
          <p:nvPr/>
        </p:nvSpPr>
        <p:spPr>
          <a:xfrm>
            <a:off x="685800" y="6355080"/>
            <a:ext cx="4572000" cy="320040"/>
          </a:xfrm>
          <a:prstGeom prst="rect">
            <a:avLst/>
          </a:prstGeom>
          <a:noFill/>
        </p:spPr>
        <p:txBody>
          <a:bodyPr wrap="square" anchor="t">
            <a:spAutoFit/>
          </a:bodyPr>
          <a:lstStyle/>
          <a:p>
            <a:pPr algn="l">
              <a:spcAft>
                <a:spcPts val="0"/>
              </a:spcAft>
            </a:pPr>
            <a:r>
              <a:rPr sz="1000" b="1" i="0">
                <a:solidFill>
                  <a:srgbClr val="9AABC4"/>
                </a:solidFill>
                <a:latin typeface="Calibri"/>
              </a:rPr>
              <a:t>THE IDEA</a:t>
            </a:r>
          </a:p>
        </p:txBody>
      </p:sp>
      <p:sp>
        <p:nvSpPr>
          <p:cNvPr id="61" name="Rectangle 60"/>
          <p:cNvSpPr/>
          <p:nvPr/>
        </p:nvSpPr>
        <p:spPr>
          <a:xfrm>
            <a:off x="4692243" y="6473952"/>
            <a:ext cx="502920" cy="36576"/>
          </a:xfrm>
          <a:prstGeom prst="rect">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5268315"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5844387"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420459"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996531"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0591495" y="6355080"/>
            <a:ext cx="914400" cy="320040"/>
          </a:xfrm>
          <a:prstGeom prst="rect">
            <a:avLst/>
          </a:prstGeom>
          <a:noFill/>
        </p:spPr>
        <p:txBody>
          <a:bodyPr wrap="square" anchor="t">
            <a:spAutoFit/>
          </a:bodyPr>
          <a:lstStyle/>
          <a:p>
            <a:pPr algn="r">
              <a:spcAft>
                <a:spcPts val="0"/>
              </a:spcAft>
            </a:pPr>
            <a:r>
              <a:rPr sz="1100" b="1" i="0">
                <a:solidFill>
                  <a:srgbClr val="9AABC4"/>
                </a:solidFill>
                <a:latin typeface="Calibri"/>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agnifying-glass.png"/>
          <p:cNvPicPr>
            <a:picLocks noChangeAspect="1"/>
          </p:cNvPicPr>
          <p:nvPr/>
        </p:nvPicPr>
        <p:blipFill>
          <a:blip r:embed="rId3"/>
          <a:stretch>
            <a:fillRect/>
          </a:stretch>
        </p:blipFill>
        <p:spPr>
          <a:xfrm>
            <a:off x="685800" y="457200"/>
            <a:ext cx="420624" cy="420624"/>
          </a:xfrm>
          <a:prstGeom prst="rect">
            <a:avLst/>
          </a:prstGeom>
        </p:spPr>
      </p:pic>
      <p:sp>
        <p:nvSpPr>
          <p:cNvPr id="5" name="TextBox 4"/>
          <p:cNvSpPr txBox="1"/>
          <p:nvPr/>
        </p:nvSpPr>
        <p:spPr>
          <a:xfrm>
            <a:off x="1289304" y="201168"/>
            <a:ext cx="10216591" cy="320040"/>
          </a:xfrm>
          <a:prstGeom prst="rect">
            <a:avLst/>
          </a:prstGeom>
          <a:noFill/>
        </p:spPr>
        <p:txBody>
          <a:bodyPr wrap="square" anchor="t">
            <a:spAutoFit/>
          </a:bodyPr>
          <a:lstStyle/>
          <a:p>
            <a:pPr algn="l">
              <a:spcAft>
                <a:spcPts val="0"/>
              </a:spcAft>
            </a:pPr>
            <a:r>
              <a:rPr sz="1200" b="1" i="0">
                <a:solidFill>
                  <a:srgbClr val="FF7A59"/>
                </a:solidFill>
                <a:latin typeface="Calibri"/>
              </a:rPr>
              <a:t>THE IDEA</a:t>
            </a:r>
          </a:p>
        </p:txBody>
      </p:sp>
      <p:sp>
        <p:nvSpPr>
          <p:cNvPr id="6" name="TextBox 5"/>
          <p:cNvSpPr txBox="1"/>
          <p:nvPr/>
        </p:nvSpPr>
        <p:spPr>
          <a:xfrm>
            <a:off x="1289304" y="420624"/>
            <a:ext cx="10216591" cy="822960"/>
          </a:xfrm>
          <a:prstGeom prst="rect">
            <a:avLst/>
          </a:prstGeom>
          <a:noFill/>
        </p:spPr>
        <p:txBody>
          <a:bodyPr wrap="square" anchor="t">
            <a:spAutoFit/>
          </a:bodyPr>
          <a:lstStyle/>
          <a:p>
            <a:pPr algn="l">
              <a:spcAft>
                <a:spcPts val="0"/>
              </a:spcAft>
            </a:pPr>
            <a:r>
              <a:rPr sz="2600" b="1" i="0">
                <a:solidFill>
                  <a:srgbClr val="7CC4FF"/>
                </a:solidFill>
                <a:latin typeface="Calibri"/>
              </a:rPr>
              <a:t>Testing the tools changed five assumptions</a:t>
            </a:r>
          </a:p>
        </p:txBody>
      </p:sp>
      <p:sp>
        <p:nvSpPr>
          <p:cNvPr id="7" name="TextBox 6"/>
          <p:cNvSpPr txBox="1"/>
          <p:nvPr/>
        </p:nvSpPr>
        <p:spPr>
          <a:xfrm>
            <a:off x="685800" y="1325880"/>
            <a:ext cx="3657600" cy="274320"/>
          </a:xfrm>
          <a:prstGeom prst="rect">
            <a:avLst/>
          </a:prstGeom>
          <a:noFill/>
        </p:spPr>
        <p:txBody>
          <a:bodyPr wrap="square" anchor="t">
            <a:spAutoFit/>
          </a:bodyPr>
          <a:lstStyle/>
          <a:p>
            <a:pPr algn="l">
              <a:spcAft>
                <a:spcPts val="0"/>
              </a:spcAft>
            </a:pPr>
            <a:r>
              <a:rPr sz="1100" b="1" i="0">
                <a:solidFill>
                  <a:srgbClr val="9AABC4"/>
                </a:solidFill>
                <a:latin typeface="Calibri"/>
              </a:rPr>
              <a:t>WE PLANNED</a:t>
            </a:r>
          </a:p>
        </p:txBody>
      </p:sp>
      <p:sp>
        <p:nvSpPr>
          <p:cNvPr id="8" name="TextBox 7"/>
          <p:cNvSpPr txBox="1"/>
          <p:nvPr/>
        </p:nvSpPr>
        <p:spPr>
          <a:xfrm>
            <a:off x="5074920" y="1325880"/>
            <a:ext cx="3657600" cy="274320"/>
          </a:xfrm>
          <a:prstGeom prst="rect">
            <a:avLst/>
          </a:prstGeom>
          <a:noFill/>
        </p:spPr>
        <p:txBody>
          <a:bodyPr wrap="square" anchor="t">
            <a:spAutoFit/>
          </a:bodyPr>
          <a:lstStyle/>
          <a:p>
            <a:pPr algn="l">
              <a:spcAft>
                <a:spcPts val="0"/>
              </a:spcAft>
            </a:pPr>
            <a:r>
              <a:rPr sz="1100" b="1" i="0">
                <a:solidFill>
                  <a:srgbClr val="7CC4FF"/>
                </a:solidFill>
                <a:latin typeface="Calibri"/>
              </a:rPr>
              <a:t>WE FOUND</a:t>
            </a:r>
          </a:p>
        </p:txBody>
      </p:sp>
      <p:sp>
        <p:nvSpPr>
          <p:cNvPr id="9" name="Rounded Rectangle 8"/>
          <p:cNvSpPr/>
          <p:nvPr/>
        </p:nvSpPr>
        <p:spPr>
          <a:xfrm>
            <a:off x="685800" y="1645920"/>
            <a:ext cx="3749039" cy="658368"/>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0" rIns="201168" tIns="109728" bIns="109728"/>
          <a:lstStyle/>
          <a:p>
            <a:pPr algn="l">
              <a:spcAft>
                <a:spcPts val="0"/>
              </a:spcAft>
            </a:pPr>
            <a:r>
              <a:rPr sz="1500" b="0" i="0">
                <a:solidFill>
                  <a:srgbClr val="9AABC4"/>
                </a:solidFill>
                <a:latin typeface="Calibri"/>
              </a:rPr>
              <a:t>Measure the amygdala</a:t>
            </a:r>
          </a:p>
        </p:txBody>
      </p:sp>
      <p:pic>
        <p:nvPicPr>
          <p:cNvPr id="10" name="Picture 9" descr="x-circle.png"/>
          <p:cNvPicPr>
            <a:picLocks noChangeAspect="1"/>
          </p:cNvPicPr>
          <p:nvPr/>
        </p:nvPicPr>
        <p:blipFill>
          <a:blip r:embed="rId4"/>
          <a:stretch>
            <a:fillRect/>
          </a:stretch>
        </p:blipFill>
        <p:spPr>
          <a:xfrm>
            <a:off x="850392" y="1837944"/>
            <a:ext cx="274320" cy="274320"/>
          </a:xfrm>
          <a:prstGeom prst="rect">
            <a:avLst/>
          </a:prstGeom>
        </p:spPr>
      </p:pic>
      <p:sp>
        <p:nvSpPr>
          <p:cNvPr id="11" name="Right Arrow 10"/>
          <p:cNvSpPr/>
          <p:nvPr/>
        </p:nvSpPr>
        <p:spPr>
          <a:xfrm>
            <a:off x="4526280" y="1911095"/>
            <a:ext cx="457200" cy="146304"/>
          </a:xfrm>
          <a:prstGeom prst="rightArrow">
            <a:avLst/>
          </a:prstGeom>
          <a:solidFill>
            <a:srgbClr val="FF7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74920" y="1645920"/>
            <a:ext cx="6428232" cy="658368"/>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0" rIns="201168" tIns="109728" bIns="109728"/>
          <a:lstStyle/>
          <a:p>
            <a:pPr algn="l">
              <a:spcAft>
                <a:spcPts val="0"/>
              </a:spcAft>
            </a:pPr>
            <a:r>
              <a:rPr sz="1500" b="0" i="0">
                <a:solidFill>
                  <a:srgbClr val="EEF3FA"/>
                </a:solidFill>
                <a:latin typeface="Calibri"/>
              </a:rPr>
              <a:t>Model predicts the brain surface only, so we used surface areas</a:t>
            </a:r>
          </a:p>
        </p:txBody>
      </p:sp>
      <p:pic>
        <p:nvPicPr>
          <p:cNvPr id="13" name="Picture 12" descr="check-circle.png"/>
          <p:cNvPicPr>
            <a:picLocks noChangeAspect="1"/>
          </p:cNvPicPr>
          <p:nvPr/>
        </p:nvPicPr>
        <p:blipFill>
          <a:blip r:embed="rId5"/>
          <a:stretch>
            <a:fillRect/>
          </a:stretch>
        </p:blipFill>
        <p:spPr>
          <a:xfrm>
            <a:off x="5239512" y="1837944"/>
            <a:ext cx="274320" cy="274320"/>
          </a:xfrm>
          <a:prstGeom prst="rect">
            <a:avLst/>
          </a:prstGeom>
        </p:spPr>
      </p:pic>
      <p:sp>
        <p:nvSpPr>
          <p:cNvPr id="14" name="Rounded Rectangle 13"/>
          <p:cNvSpPr/>
          <p:nvPr/>
        </p:nvSpPr>
        <p:spPr>
          <a:xfrm>
            <a:off x="685800" y="2432304"/>
            <a:ext cx="3749039" cy="658368"/>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0" rIns="201168" tIns="109728" bIns="109728"/>
          <a:lstStyle/>
          <a:p>
            <a:pPr algn="l">
              <a:spcAft>
                <a:spcPts val="0"/>
              </a:spcAft>
            </a:pPr>
            <a:r>
              <a:rPr sz="1500" b="0" i="0">
                <a:solidFill>
                  <a:srgbClr val="9AABC4"/>
                </a:solidFill>
                <a:latin typeface="Calibri"/>
              </a:rPr>
              <a:t>Score as a ratio</a:t>
            </a:r>
          </a:p>
        </p:txBody>
      </p:sp>
      <p:pic>
        <p:nvPicPr>
          <p:cNvPr id="15" name="Picture 14" descr="x-circle.png"/>
          <p:cNvPicPr>
            <a:picLocks noChangeAspect="1"/>
          </p:cNvPicPr>
          <p:nvPr/>
        </p:nvPicPr>
        <p:blipFill>
          <a:blip r:embed="rId4"/>
          <a:stretch>
            <a:fillRect/>
          </a:stretch>
        </p:blipFill>
        <p:spPr>
          <a:xfrm>
            <a:off x="850392" y="2624328"/>
            <a:ext cx="274320" cy="274320"/>
          </a:xfrm>
          <a:prstGeom prst="rect">
            <a:avLst/>
          </a:prstGeom>
        </p:spPr>
      </p:pic>
      <p:sp>
        <p:nvSpPr>
          <p:cNvPr id="16" name="Right Arrow 15"/>
          <p:cNvSpPr/>
          <p:nvPr/>
        </p:nvSpPr>
        <p:spPr>
          <a:xfrm>
            <a:off x="4526280" y="2697480"/>
            <a:ext cx="457200" cy="146304"/>
          </a:xfrm>
          <a:prstGeom prst="rightArrow">
            <a:avLst/>
          </a:prstGeom>
          <a:solidFill>
            <a:srgbClr val="FF7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74920" y="2432304"/>
            <a:ext cx="6428232" cy="658368"/>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0" rIns="201168" tIns="109728" bIns="109728"/>
          <a:lstStyle/>
          <a:p>
            <a:pPr algn="l">
              <a:spcAft>
                <a:spcPts val="0"/>
              </a:spcAft>
            </a:pPr>
            <a:r>
              <a:rPr sz="1500" b="0" i="0">
                <a:solidFill>
                  <a:srgbClr val="EEF3FA"/>
                </a:solidFill>
                <a:latin typeface="Calibri"/>
              </a:rPr>
              <a:t>Ratio undefined for 69 of 400, so we used a difference</a:t>
            </a:r>
          </a:p>
        </p:txBody>
      </p:sp>
      <p:pic>
        <p:nvPicPr>
          <p:cNvPr id="18" name="Picture 17" descr="check-circle.png"/>
          <p:cNvPicPr>
            <a:picLocks noChangeAspect="1"/>
          </p:cNvPicPr>
          <p:nvPr/>
        </p:nvPicPr>
        <p:blipFill>
          <a:blip r:embed="rId5"/>
          <a:stretch>
            <a:fillRect/>
          </a:stretch>
        </p:blipFill>
        <p:spPr>
          <a:xfrm>
            <a:off x="5239512" y="2624328"/>
            <a:ext cx="274320" cy="274320"/>
          </a:xfrm>
          <a:prstGeom prst="rect">
            <a:avLst/>
          </a:prstGeom>
        </p:spPr>
      </p:pic>
      <p:sp>
        <p:nvSpPr>
          <p:cNvPr id="19" name="Rounded Rectangle 18"/>
          <p:cNvSpPr/>
          <p:nvPr/>
        </p:nvSpPr>
        <p:spPr>
          <a:xfrm>
            <a:off x="685800" y="3218688"/>
            <a:ext cx="3749039" cy="658368"/>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0" rIns="201168" tIns="109728" bIns="109728"/>
          <a:lstStyle/>
          <a:p>
            <a:pPr algn="l">
              <a:spcAft>
                <a:spcPts val="0"/>
              </a:spcAft>
            </a:pPr>
            <a:r>
              <a:rPr sz="1500" b="0" i="0">
                <a:solidFill>
                  <a:srgbClr val="9AABC4"/>
                </a:solidFill>
                <a:latin typeface="Calibri"/>
              </a:rPr>
              <a:t>Outrage stands out most</a:t>
            </a:r>
          </a:p>
        </p:txBody>
      </p:sp>
      <p:pic>
        <p:nvPicPr>
          <p:cNvPr id="20" name="Picture 19" descr="x-circle.png"/>
          <p:cNvPicPr>
            <a:picLocks noChangeAspect="1"/>
          </p:cNvPicPr>
          <p:nvPr/>
        </p:nvPicPr>
        <p:blipFill>
          <a:blip r:embed="rId4"/>
          <a:stretch>
            <a:fillRect/>
          </a:stretch>
        </p:blipFill>
        <p:spPr>
          <a:xfrm>
            <a:off x="850392" y="3410712"/>
            <a:ext cx="274320" cy="274320"/>
          </a:xfrm>
          <a:prstGeom prst="rect">
            <a:avLst/>
          </a:prstGeom>
        </p:spPr>
      </p:pic>
      <p:sp>
        <p:nvSpPr>
          <p:cNvPr id="21" name="Right Arrow 20"/>
          <p:cNvSpPr/>
          <p:nvPr/>
        </p:nvSpPr>
        <p:spPr>
          <a:xfrm>
            <a:off x="4526280" y="3483864"/>
            <a:ext cx="457200" cy="146304"/>
          </a:xfrm>
          <a:prstGeom prst="rightArrow">
            <a:avLst/>
          </a:prstGeom>
          <a:solidFill>
            <a:srgbClr val="FF7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074920" y="3218688"/>
            <a:ext cx="6428232" cy="658368"/>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0" rIns="201168" tIns="109728" bIns="109728"/>
          <a:lstStyle/>
          <a:p>
            <a:pPr algn="l">
              <a:spcAft>
                <a:spcPts val="0"/>
              </a:spcAft>
            </a:pPr>
            <a:r>
              <a:rPr sz="1500" b="0" i="0">
                <a:solidFill>
                  <a:srgbClr val="EEF3FA"/>
                </a:solidFill>
                <a:latin typeface="Calibri"/>
              </a:rPr>
              <a:t>Fear stands out; outrage lifts both areas equally</a:t>
            </a:r>
          </a:p>
        </p:txBody>
      </p:sp>
      <p:pic>
        <p:nvPicPr>
          <p:cNvPr id="23" name="Picture 22" descr="check-circle.png"/>
          <p:cNvPicPr>
            <a:picLocks noChangeAspect="1"/>
          </p:cNvPicPr>
          <p:nvPr/>
        </p:nvPicPr>
        <p:blipFill>
          <a:blip r:embed="rId5"/>
          <a:stretch>
            <a:fillRect/>
          </a:stretch>
        </p:blipFill>
        <p:spPr>
          <a:xfrm>
            <a:off x="5239512" y="3410712"/>
            <a:ext cx="274320" cy="274320"/>
          </a:xfrm>
          <a:prstGeom prst="rect">
            <a:avLst/>
          </a:prstGeom>
        </p:spPr>
      </p:pic>
      <p:sp>
        <p:nvSpPr>
          <p:cNvPr id="24" name="Rounded Rectangle 23"/>
          <p:cNvSpPr/>
          <p:nvPr/>
        </p:nvSpPr>
        <p:spPr>
          <a:xfrm>
            <a:off x="685800" y="4005072"/>
            <a:ext cx="3749039" cy="658368"/>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0" rIns="201168" tIns="109728" bIns="109728"/>
          <a:lstStyle/>
          <a:p>
            <a:pPr algn="l">
              <a:spcAft>
                <a:spcPts val="0"/>
              </a:spcAft>
            </a:pPr>
            <a:r>
              <a:rPr sz="1500" b="0" i="0">
                <a:solidFill>
                  <a:srgbClr val="9AABC4"/>
                </a:solidFill>
                <a:latin typeface="Calibri"/>
              </a:rPr>
              <a:t>Measure α, media's strength</a:t>
            </a:r>
          </a:p>
        </p:txBody>
      </p:sp>
      <p:pic>
        <p:nvPicPr>
          <p:cNvPr id="25" name="Picture 24" descr="x-circle.png"/>
          <p:cNvPicPr>
            <a:picLocks noChangeAspect="1"/>
          </p:cNvPicPr>
          <p:nvPr/>
        </p:nvPicPr>
        <p:blipFill>
          <a:blip r:embed="rId4"/>
          <a:stretch>
            <a:fillRect/>
          </a:stretch>
        </p:blipFill>
        <p:spPr>
          <a:xfrm>
            <a:off x="850392" y="4197096"/>
            <a:ext cx="274320" cy="274320"/>
          </a:xfrm>
          <a:prstGeom prst="rect">
            <a:avLst/>
          </a:prstGeom>
        </p:spPr>
      </p:pic>
      <p:sp>
        <p:nvSpPr>
          <p:cNvPr id="26" name="Right Arrow 25"/>
          <p:cNvSpPr/>
          <p:nvPr/>
        </p:nvSpPr>
        <p:spPr>
          <a:xfrm>
            <a:off x="4526280" y="4270248"/>
            <a:ext cx="457200" cy="146304"/>
          </a:xfrm>
          <a:prstGeom prst="rightArrow">
            <a:avLst/>
          </a:prstGeom>
          <a:solidFill>
            <a:srgbClr val="FF7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074920" y="4005072"/>
            <a:ext cx="6428232" cy="658368"/>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0" rIns="201168" tIns="109728" bIns="109728"/>
          <a:lstStyle/>
          <a:p>
            <a:pPr algn="l">
              <a:spcAft>
                <a:spcPts val="0"/>
              </a:spcAft>
            </a:pPr>
            <a:r>
              <a:rPr sz="1500" b="0" i="0">
                <a:solidFill>
                  <a:srgbClr val="EEF3FA"/>
                </a:solidFill>
                <a:latin typeface="Calibri"/>
              </a:rPr>
              <a:t>Data can't pin α, so we derived its minimum</a:t>
            </a:r>
          </a:p>
        </p:txBody>
      </p:sp>
      <p:pic>
        <p:nvPicPr>
          <p:cNvPr id="28" name="Picture 27" descr="check-circle.png"/>
          <p:cNvPicPr>
            <a:picLocks noChangeAspect="1"/>
          </p:cNvPicPr>
          <p:nvPr/>
        </p:nvPicPr>
        <p:blipFill>
          <a:blip r:embed="rId5"/>
          <a:stretch>
            <a:fillRect/>
          </a:stretch>
        </p:blipFill>
        <p:spPr>
          <a:xfrm>
            <a:off x="5239512" y="4197096"/>
            <a:ext cx="274320" cy="274320"/>
          </a:xfrm>
          <a:prstGeom prst="rect">
            <a:avLst/>
          </a:prstGeom>
        </p:spPr>
      </p:pic>
      <p:sp>
        <p:nvSpPr>
          <p:cNvPr id="29" name="Rounded Rectangle 28"/>
          <p:cNvSpPr/>
          <p:nvPr/>
        </p:nvSpPr>
        <p:spPr>
          <a:xfrm>
            <a:off x="685800" y="4791456"/>
            <a:ext cx="3749039" cy="658368"/>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0" rIns="201168" tIns="109728" bIns="109728"/>
          <a:lstStyle/>
          <a:p>
            <a:pPr algn="l">
              <a:spcAft>
                <a:spcPts val="0"/>
              </a:spcAft>
            </a:pPr>
            <a:r>
              <a:rPr sz="1500" b="0" i="0">
                <a:solidFill>
                  <a:srgbClr val="9AABC4"/>
                </a:solidFill>
                <a:latin typeface="Calibri"/>
              </a:rPr>
              <a:t>A manipulation detector</a:t>
            </a:r>
          </a:p>
        </p:txBody>
      </p:sp>
      <p:pic>
        <p:nvPicPr>
          <p:cNvPr id="30" name="Picture 29" descr="x-circle.png"/>
          <p:cNvPicPr>
            <a:picLocks noChangeAspect="1"/>
          </p:cNvPicPr>
          <p:nvPr/>
        </p:nvPicPr>
        <p:blipFill>
          <a:blip r:embed="rId4"/>
          <a:stretch>
            <a:fillRect/>
          </a:stretch>
        </p:blipFill>
        <p:spPr>
          <a:xfrm>
            <a:off x="850392" y="4983480"/>
            <a:ext cx="274320" cy="274320"/>
          </a:xfrm>
          <a:prstGeom prst="rect">
            <a:avLst/>
          </a:prstGeom>
        </p:spPr>
      </p:pic>
      <p:sp>
        <p:nvSpPr>
          <p:cNvPr id="31" name="Right Arrow 30"/>
          <p:cNvSpPr/>
          <p:nvPr/>
        </p:nvSpPr>
        <p:spPr>
          <a:xfrm>
            <a:off x="4526280" y="5056632"/>
            <a:ext cx="457200" cy="146304"/>
          </a:xfrm>
          <a:prstGeom prst="rightArrow">
            <a:avLst/>
          </a:prstGeom>
          <a:solidFill>
            <a:srgbClr val="FF7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074920" y="4791456"/>
            <a:ext cx="6428232" cy="658368"/>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0" rIns="201168" tIns="109728" bIns="109728"/>
          <a:lstStyle/>
          <a:p>
            <a:pPr algn="l">
              <a:spcAft>
                <a:spcPts val="0"/>
              </a:spcAft>
            </a:pPr>
            <a:r>
              <a:rPr sz="1500" b="0" i="0">
                <a:solidFill>
                  <a:srgbClr val="EEF3FA"/>
                </a:solidFill>
                <a:latin typeface="Calibri"/>
              </a:rPr>
              <a:t>Word counting 0.98 vs our 0.63, so it's a measurement</a:t>
            </a:r>
          </a:p>
        </p:txBody>
      </p:sp>
      <p:pic>
        <p:nvPicPr>
          <p:cNvPr id="33" name="Picture 32" descr="check-circle.png"/>
          <p:cNvPicPr>
            <a:picLocks noChangeAspect="1"/>
          </p:cNvPicPr>
          <p:nvPr/>
        </p:nvPicPr>
        <p:blipFill>
          <a:blip r:embed="rId5"/>
          <a:stretch>
            <a:fillRect/>
          </a:stretch>
        </p:blipFill>
        <p:spPr>
          <a:xfrm>
            <a:off x="5239512" y="4983480"/>
            <a:ext cx="274320" cy="274320"/>
          </a:xfrm>
          <a:prstGeom prst="rect">
            <a:avLst/>
          </a:prstGeom>
        </p:spPr>
      </p:pic>
      <p:sp>
        <p:nvSpPr>
          <p:cNvPr id="34" name="TextBox 33"/>
          <p:cNvSpPr txBox="1"/>
          <p:nvPr/>
        </p:nvSpPr>
        <p:spPr>
          <a:xfrm>
            <a:off x="685800" y="5623560"/>
            <a:ext cx="5486400" cy="320040"/>
          </a:xfrm>
          <a:prstGeom prst="rect">
            <a:avLst/>
          </a:prstGeom>
          <a:noFill/>
        </p:spPr>
        <p:txBody>
          <a:bodyPr wrap="square" anchor="t">
            <a:spAutoFit/>
          </a:bodyPr>
          <a:lstStyle/>
          <a:p>
            <a:pPr algn="l">
              <a:spcAft>
                <a:spcPts val="0"/>
              </a:spcAft>
            </a:pPr>
            <a:r>
              <a:rPr sz="1300" b="0" i="0">
                <a:solidFill>
                  <a:srgbClr val="9AABC4"/>
                </a:solidFill>
                <a:latin typeface="Calibri"/>
              </a:rPr>
              <a:t>All five are in the approved amendment.</a:t>
            </a:r>
          </a:p>
        </p:txBody>
      </p:sp>
      <p:sp>
        <p:nvSpPr>
          <p:cNvPr id="35" name="TextBox 34"/>
          <p:cNvSpPr txBox="1"/>
          <p:nvPr/>
        </p:nvSpPr>
        <p:spPr>
          <a:xfrm>
            <a:off x="6019495" y="6053328"/>
            <a:ext cx="5486400" cy="274320"/>
          </a:xfrm>
          <a:prstGeom prst="rect">
            <a:avLst/>
          </a:prstGeom>
          <a:noFill/>
        </p:spPr>
        <p:txBody>
          <a:bodyPr wrap="square" anchor="t">
            <a:spAutoFit/>
          </a:bodyPr>
          <a:lstStyle/>
          <a:p>
            <a:pPr algn="r">
              <a:spcAft>
                <a:spcPts val="0"/>
              </a:spcAft>
            </a:pPr>
            <a:r>
              <a:rPr sz="1200" b="1" i="0">
                <a:solidFill>
                  <a:srgbClr val="F5B83D"/>
                </a:solidFill>
                <a:latin typeface="Calibri"/>
              </a:rPr>
              <a:t>Next: how the measurement works  →</a:t>
            </a:r>
          </a:p>
        </p:txBody>
      </p:sp>
      <p:sp>
        <p:nvSpPr>
          <p:cNvPr id="36" name="TextBox 35"/>
          <p:cNvSpPr txBox="1"/>
          <p:nvPr/>
        </p:nvSpPr>
        <p:spPr>
          <a:xfrm>
            <a:off x="685800" y="6355080"/>
            <a:ext cx="4572000" cy="320040"/>
          </a:xfrm>
          <a:prstGeom prst="rect">
            <a:avLst/>
          </a:prstGeom>
          <a:noFill/>
        </p:spPr>
        <p:txBody>
          <a:bodyPr wrap="square" anchor="t">
            <a:spAutoFit/>
          </a:bodyPr>
          <a:lstStyle/>
          <a:p>
            <a:pPr algn="l">
              <a:spcAft>
                <a:spcPts val="0"/>
              </a:spcAft>
            </a:pPr>
            <a:r>
              <a:rPr sz="1000" b="1" i="0">
                <a:solidFill>
                  <a:srgbClr val="9AABC4"/>
                </a:solidFill>
                <a:latin typeface="Calibri"/>
              </a:rPr>
              <a:t>THE IDEA</a:t>
            </a:r>
          </a:p>
        </p:txBody>
      </p:sp>
      <p:sp>
        <p:nvSpPr>
          <p:cNvPr id="37" name="Rectangle 36"/>
          <p:cNvSpPr/>
          <p:nvPr/>
        </p:nvSpPr>
        <p:spPr>
          <a:xfrm>
            <a:off x="4692243" y="6473952"/>
            <a:ext cx="502920" cy="36576"/>
          </a:xfrm>
          <a:prstGeom prst="rect">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268315"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844387"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420459"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996531"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91495" y="6355080"/>
            <a:ext cx="914400" cy="320040"/>
          </a:xfrm>
          <a:prstGeom prst="rect">
            <a:avLst/>
          </a:prstGeom>
          <a:noFill/>
        </p:spPr>
        <p:txBody>
          <a:bodyPr wrap="square" anchor="t">
            <a:spAutoFit/>
          </a:bodyPr>
          <a:lstStyle/>
          <a:p>
            <a:pPr algn="r">
              <a:spcAft>
                <a:spcPts val="0"/>
              </a:spcAft>
            </a:pPr>
            <a:r>
              <a:rPr sz="1100" b="1" i="0">
                <a:solidFill>
                  <a:srgbClr val="9AABC4"/>
                </a:solidFill>
                <a:latin typeface="Calibri"/>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rain.png"/>
          <p:cNvPicPr>
            <a:picLocks noChangeAspect="1"/>
          </p:cNvPicPr>
          <p:nvPr/>
        </p:nvPicPr>
        <p:blipFill>
          <a:blip r:embed="rId3"/>
          <a:stretch>
            <a:fillRect/>
          </a:stretch>
        </p:blipFill>
        <p:spPr>
          <a:xfrm>
            <a:off x="685800" y="457200"/>
            <a:ext cx="420624" cy="420624"/>
          </a:xfrm>
          <a:prstGeom prst="rect">
            <a:avLst/>
          </a:prstGeom>
        </p:spPr>
      </p:pic>
      <p:sp>
        <p:nvSpPr>
          <p:cNvPr id="5" name="TextBox 4"/>
          <p:cNvSpPr txBox="1"/>
          <p:nvPr/>
        </p:nvSpPr>
        <p:spPr>
          <a:xfrm>
            <a:off x="1289304" y="201168"/>
            <a:ext cx="10216591" cy="320040"/>
          </a:xfrm>
          <a:prstGeom prst="rect">
            <a:avLst/>
          </a:prstGeom>
          <a:noFill/>
        </p:spPr>
        <p:txBody>
          <a:bodyPr wrap="square" anchor="t">
            <a:spAutoFit/>
          </a:bodyPr>
          <a:lstStyle/>
          <a:p>
            <a:pPr algn="l">
              <a:spcAft>
                <a:spcPts val="0"/>
              </a:spcAft>
            </a:pPr>
            <a:r>
              <a:rPr sz="1200" b="1" i="0">
                <a:solidFill>
                  <a:srgbClr val="FF7A59"/>
                </a:solidFill>
                <a:latin typeface="Calibri"/>
              </a:rPr>
              <a:t>THE METHOD</a:t>
            </a:r>
          </a:p>
        </p:txBody>
      </p:sp>
      <p:sp>
        <p:nvSpPr>
          <p:cNvPr id="6" name="TextBox 5"/>
          <p:cNvSpPr txBox="1"/>
          <p:nvPr/>
        </p:nvSpPr>
        <p:spPr>
          <a:xfrm>
            <a:off x="1289304" y="420624"/>
            <a:ext cx="10216591" cy="822960"/>
          </a:xfrm>
          <a:prstGeom prst="rect">
            <a:avLst/>
          </a:prstGeom>
          <a:noFill/>
        </p:spPr>
        <p:txBody>
          <a:bodyPr wrap="square" anchor="t">
            <a:spAutoFit/>
          </a:bodyPr>
          <a:lstStyle/>
          <a:p>
            <a:pPr algn="l">
              <a:spcAft>
                <a:spcPts val="0"/>
              </a:spcAft>
            </a:pPr>
            <a:r>
              <a:rPr sz="2600" b="1" i="0">
                <a:solidFill>
                  <a:srgbClr val="7CC4FF"/>
                </a:solidFill>
                <a:latin typeface="Calibri"/>
              </a:rPr>
              <a:t>How one article becomes one number</a:t>
            </a:r>
          </a:p>
        </p:txBody>
      </p:sp>
      <p:sp>
        <p:nvSpPr>
          <p:cNvPr id="7" name="Rounded Rectangle 6"/>
          <p:cNvSpPr/>
          <p:nvPr/>
        </p:nvSpPr>
        <p:spPr>
          <a:xfrm>
            <a:off x="685800" y="1325880"/>
            <a:ext cx="1938528" cy="1188720"/>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pic>
        <p:nvPicPr>
          <p:cNvPr id="8" name="Picture 7" descr="newspaper.png"/>
          <p:cNvPicPr>
            <a:picLocks noChangeAspect="1"/>
          </p:cNvPicPr>
          <p:nvPr/>
        </p:nvPicPr>
        <p:blipFill>
          <a:blip r:embed="rId4"/>
          <a:stretch>
            <a:fillRect/>
          </a:stretch>
        </p:blipFill>
        <p:spPr>
          <a:xfrm>
            <a:off x="1472184" y="1417320"/>
            <a:ext cx="365760" cy="365760"/>
          </a:xfrm>
          <a:prstGeom prst="rect">
            <a:avLst/>
          </a:prstGeom>
        </p:spPr>
      </p:pic>
      <p:sp>
        <p:nvSpPr>
          <p:cNvPr id="9" name="TextBox 8"/>
          <p:cNvSpPr txBox="1"/>
          <p:nvPr/>
        </p:nvSpPr>
        <p:spPr>
          <a:xfrm>
            <a:off x="685800" y="1810512"/>
            <a:ext cx="1938528" cy="685800"/>
          </a:xfrm>
          <a:prstGeom prst="rect">
            <a:avLst/>
          </a:prstGeom>
          <a:noFill/>
        </p:spPr>
        <p:txBody>
          <a:bodyPr wrap="square" anchor="t">
            <a:spAutoFit/>
          </a:bodyPr>
          <a:lstStyle/>
          <a:p>
            <a:pPr algn="ctr">
              <a:spcAft>
                <a:spcPts val="0"/>
              </a:spcAft>
            </a:pPr>
            <a:r>
              <a:rPr sz="1500" b="1" i="0">
                <a:solidFill>
                  <a:srgbClr val="EEF3FA"/>
                </a:solidFill>
                <a:latin typeface="Calibri"/>
              </a:rPr>
              <a:t>Article</a:t>
            </a:r>
          </a:p>
          <a:p>
            <a:pPr algn="ctr">
              <a:spcAft>
                <a:spcPts val="0"/>
              </a:spcAft>
            </a:pPr>
            <a:r>
              <a:rPr sz="1200" b="0" i="0">
                <a:solidFill>
                  <a:srgbClr val="9AABC4"/>
                </a:solidFill>
                <a:latin typeface="Calibri"/>
              </a:rPr>
              <a:t>400 news texts</a:t>
            </a:r>
          </a:p>
        </p:txBody>
      </p:sp>
      <p:sp>
        <p:nvSpPr>
          <p:cNvPr id="10" name="Right Arrow 9"/>
          <p:cNvSpPr/>
          <p:nvPr/>
        </p:nvSpPr>
        <p:spPr>
          <a:xfrm>
            <a:off x="2670048" y="1847088"/>
            <a:ext cx="192024" cy="146304"/>
          </a:xfrm>
          <a:prstGeom prst="rightArrow">
            <a:avLst/>
          </a:prstGeom>
          <a:solidFill>
            <a:srgbClr val="3E8E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907792" y="1325880"/>
            <a:ext cx="1938528" cy="1188720"/>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pic>
        <p:nvPicPr>
          <p:cNvPr id="12" name="Picture 11" descr="waveform.png"/>
          <p:cNvPicPr>
            <a:picLocks noChangeAspect="1"/>
          </p:cNvPicPr>
          <p:nvPr/>
        </p:nvPicPr>
        <p:blipFill>
          <a:blip r:embed="rId5"/>
          <a:stretch>
            <a:fillRect/>
          </a:stretch>
        </p:blipFill>
        <p:spPr>
          <a:xfrm>
            <a:off x="3694176" y="1417320"/>
            <a:ext cx="365760" cy="365760"/>
          </a:xfrm>
          <a:prstGeom prst="rect">
            <a:avLst/>
          </a:prstGeom>
        </p:spPr>
      </p:pic>
      <p:sp>
        <p:nvSpPr>
          <p:cNvPr id="13" name="TextBox 12"/>
          <p:cNvSpPr txBox="1"/>
          <p:nvPr/>
        </p:nvSpPr>
        <p:spPr>
          <a:xfrm>
            <a:off x="2907792" y="1810512"/>
            <a:ext cx="1938528" cy="685800"/>
          </a:xfrm>
          <a:prstGeom prst="rect">
            <a:avLst/>
          </a:prstGeom>
          <a:noFill/>
        </p:spPr>
        <p:txBody>
          <a:bodyPr wrap="square" anchor="t">
            <a:spAutoFit/>
          </a:bodyPr>
          <a:lstStyle/>
          <a:p>
            <a:pPr algn="ctr">
              <a:spcAft>
                <a:spcPts val="0"/>
              </a:spcAft>
            </a:pPr>
            <a:r>
              <a:rPr sz="1500" b="1" i="0">
                <a:solidFill>
                  <a:srgbClr val="EEF3FA"/>
                </a:solidFill>
                <a:latin typeface="Calibri"/>
              </a:rPr>
              <a:t>Read aloud</a:t>
            </a:r>
          </a:p>
          <a:p>
            <a:pPr algn="ctr">
              <a:spcAft>
                <a:spcPts val="0"/>
              </a:spcAft>
            </a:pPr>
            <a:r>
              <a:rPr sz="1200" b="0" i="0">
                <a:solidFill>
                  <a:srgbClr val="9AABC4"/>
                </a:solidFill>
                <a:latin typeface="Calibri"/>
              </a:rPr>
              <a:t>text-to-speech</a:t>
            </a:r>
          </a:p>
        </p:txBody>
      </p:sp>
      <p:sp>
        <p:nvSpPr>
          <p:cNvPr id="14" name="Right Arrow 13"/>
          <p:cNvSpPr/>
          <p:nvPr/>
        </p:nvSpPr>
        <p:spPr>
          <a:xfrm>
            <a:off x="4892040" y="1847088"/>
            <a:ext cx="192024" cy="146304"/>
          </a:xfrm>
          <a:prstGeom prst="rightArrow">
            <a:avLst/>
          </a:prstGeom>
          <a:solidFill>
            <a:srgbClr val="3E8E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129784" y="1325880"/>
            <a:ext cx="1938528" cy="1188720"/>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pic>
        <p:nvPicPr>
          <p:cNvPr id="16" name="Picture 15" descr="text-aa.png"/>
          <p:cNvPicPr>
            <a:picLocks noChangeAspect="1"/>
          </p:cNvPicPr>
          <p:nvPr/>
        </p:nvPicPr>
        <p:blipFill>
          <a:blip r:embed="rId6"/>
          <a:stretch>
            <a:fillRect/>
          </a:stretch>
        </p:blipFill>
        <p:spPr>
          <a:xfrm>
            <a:off x="5916168" y="1417320"/>
            <a:ext cx="365760" cy="365760"/>
          </a:xfrm>
          <a:prstGeom prst="rect">
            <a:avLst/>
          </a:prstGeom>
        </p:spPr>
      </p:pic>
      <p:sp>
        <p:nvSpPr>
          <p:cNvPr id="17" name="TextBox 16"/>
          <p:cNvSpPr txBox="1"/>
          <p:nvPr/>
        </p:nvSpPr>
        <p:spPr>
          <a:xfrm>
            <a:off x="5129784" y="1810512"/>
            <a:ext cx="1938528" cy="685800"/>
          </a:xfrm>
          <a:prstGeom prst="rect">
            <a:avLst/>
          </a:prstGeom>
          <a:noFill/>
        </p:spPr>
        <p:txBody>
          <a:bodyPr wrap="square" anchor="t">
            <a:spAutoFit/>
          </a:bodyPr>
          <a:lstStyle/>
          <a:p>
            <a:pPr algn="ctr">
              <a:spcAft>
                <a:spcPts val="0"/>
              </a:spcAft>
            </a:pPr>
            <a:r>
              <a:rPr sz="1500" b="1" i="0">
                <a:solidFill>
                  <a:srgbClr val="EEF3FA"/>
                </a:solidFill>
                <a:latin typeface="Calibri"/>
              </a:rPr>
              <a:t>Word timings</a:t>
            </a:r>
          </a:p>
          <a:p>
            <a:pPr algn="ctr">
              <a:spcAft>
                <a:spcPts val="0"/>
              </a:spcAft>
            </a:pPr>
            <a:r>
              <a:rPr sz="1200" b="0" i="0">
                <a:solidFill>
                  <a:srgbClr val="9AABC4"/>
                </a:solidFill>
                <a:latin typeface="Calibri"/>
              </a:rPr>
              <a:t>timing tool</a:t>
            </a:r>
          </a:p>
        </p:txBody>
      </p:sp>
      <p:sp>
        <p:nvSpPr>
          <p:cNvPr id="18" name="Right Arrow 17"/>
          <p:cNvSpPr/>
          <p:nvPr/>
        </p:nvSpPr>
        <p:spPr>
          <a:xfrm>
            <a:off x="7114032" y="1847088"/>
            <a:ext cx="192024" cy="146304"/>
          </a:xfrm>
          <a:prstGeom prst="rightArrow">
            <a:avLst/>
          </a:prstGeom>
          <a:solidFill>
            <a:srgbClr val="3E8E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51776" y="1325880"/>
            <a:ext cx="1938528" cy="1188720"/>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pic>
        <p:nvPicPr>
          <p:cNvPr id="20" name="Picture 19" descr="brain.png"/>
          <p:cNvPicPr>
            <a:picLocks noChangeAspect="1"/>
          </p:cNvPicPr>
          <p:nvPr/>
        </p:nvPicPr>
        <p:blipFill>
          <a:blip r:embed="rId3"/>
          <a:stretch>
            <a:fillRect/>
          </a:stretch>
        </p:blipFill>
        <p:spPr>
          <a:xfrm>
            <a:off x="8138160" y="1417320"/>
            <a:ext cx="365760" cy="365760"/>
          </a:xfrm>
          <a:prstGeom prst="rect">
            <a:avLst/>
          </a:prstGeom>
        </p:spPr>
      </p:pic>
      <p:sp>
        <p:nvSpPr>
          <p:cNvPr id="21" name="TextBox 20"/>
          <p:cNvSpPr txBox="1"/>
          <p:nvPr/>
        </p:nvSpPr>
        <p:spPr>
          <a:xfrm>
            <a:off x="7351776" y="1810512"/>
            <a:ext cx="1938528" cy="685800"/>
          </a:xfrm>
          <a:prstGeom prst="rect">
            <a:avLst/>
          </a:prstGeom>
          <a:noFill/>
        </p:spPr>
        <p:txBody>
          <a:bodyPr wrap="square" anchor="t">
            <a:spAutoFit/>
          </a:bodyPr>
          <a:lstStyle/>
          <a:p>
            <a:pPr algn="ctr">
              <a:spcAft>
                <a:spcPts val="0"/>
              </a:spcAft>
            </a:pPr>
            <a:r>
              <a:rPr sz="1500" b="1" i="0">
                <a:solidFill>
                  <a:srgbClr val="EEF3FA"/>
                </a:solidFill>
                <a:latin typeface="Calibri"/>
              </a:rPr>
              <a:t>TRIBE v2</a:t>
            </a:r>
          </a:p>
          <a:p>
            <a:pPr algn="ctr">
              <a:spcAft>
                <a:spcPts val="0"/>
              </a:spcAft>
            </a:pPr>
            <a:r>
              <a:rPr sz="1200" b="0" i="0">
                <a:solidFill>
                  <a:srgbClr val="9AABC4"/>
                </a:solidFill>
                <a:latin typeface="Calibri"/>
              </a:rPr>
              <a:t>20,484 surface points</a:t>
            </a:r>
          </a:p>
        </p:txBody>
      </p:sp>
      <p:sp>
        <p:nvSpPr>
          <p:cNvPr id="22" name="Right Arrow 21"/>
          <p:cNvSpPr/>
          <p:nvPr/>
        </p:nvSpPr>
        <p:spPr>
          <a:xfrm>
            <a:off x="9336024" y="1847088"/>
            <a:ext cx="192024" cy="146304"/>
          </a:xfrm>
          <a:prstGeom prst="rightArrow">
            <a:avLst/>
          </a:prstGeom>
          <a:solidFill>
            <a:srgbClr val="3E8E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573768" y="1325880"/>
            <a:ext cx="1938528" cy="1188720"/>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pic>
        <p:nvPicPr>
          <p:cNvPr id="24" name="Picture 23" descr="target.png"/>
          <p:cNvPicPr>
            <a:picLocks noChangeAspect="1"/>
          </p:cNvPicPr>
          <p:nvPr/>
        </p:nvPicPr>
        <p:blipFill>
          <a:blip r:embed="rId7"/>
          <a:stretch>
            <a:fillRect/>
          </a:stretch>
        </p:blipFill>
        <p:spPr>
          <a:xfrm>
            <a:off x="10360152" y="1417320"/>
            <a:ext cx="365760" cy="365760"/>
          </a:xfrm>
          <a:prstGeom prst="rect">
            <a:avLst/>
          </a:prstGeom>
        </p:spPr>
      </p:pic>
      <p:sp>
        <p:nvSpPr>
          <p:cNvPr id="25" name="TextBox 24"/>
          <p:cNvSpPr txBox="1"/>
          <p:nvPr/>
        </p:nvSpPr>
        <p:spPr>
          <a:xfrm>
            <a:off x="9573768" y="1810512"/>
            <a:ext cx="1938528" cy="685800"/>
          </a:xfrm>
          <a:prstGeom prst="rect">
            <a:avLst/>
          </a:prstGeom>
          <a:noFill/>
        </p:spPr>
        <p:txBody>
          <a:bodyPr wrap="square" anchor="t">
            <a:spAutoFit/>
          </a:bodyPr>
          <a:lstStyle/>
          <a:p>
            <a:pPr algn="ctr">
              <a:spcAft>
                <a:spcPts val="0"/>
              </a:spcAft>
            </a:pPr>
            <a:r>
              <a:rPr sz="1500" b="1" i="0">
                <a:solidFill>
                  <a:srgbClr val="EEF3FA"/>
                </a:solidFill>
                <a:latin typeface="Calibri"/>
              </a:rPr>
              <a:t>Brain map</a:t>
            </a:r>
          </a:p>
          <a:p>
            <a:pPr algn="ctr">
              <a:spcAft>
                <a:spcPts val="0"/>
              </a:spcAft>
            </a:pPr>
            <a:r>
              <a:rPr sz="1200" b="0" i="0">
                <a:solidFill>
                  <a:srgbClr val="9AABC4"/>
                </a:solidFill>
                <a:latin typeface="Calibri"/>
              </a:rPr>
              <a:t>1,030 + 851 points</a:t>
            </a:r>
          </a:p>
        </p:txBody>
      </p:sp>
      <p:sp>
        <p:nvSpPr>
          <p:cNvPr id="26" name="Rounded Rectangle 25"/>
          <p:cNvSpPr/>
          <p:nvPr/>
        </p:nvSpPr>
        <p:spPr>
          <a:xfrm>
            <a:off x="685800" y="2697480"/>
            <a:ext cx="4846320" cy="2880360"/>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pic>
        <p:nvPicPr>
          <p:cNvPr id="27" name="Picture 26" descr="instrument_article.png"/>
          <p:cNvPicPr>
            <a:picLocks noChangeAspect="1"/>
          </p:cNvPicPr>
          <p:nvPr/>
        </p:nvPicPr>
        <p:blipFill>
          <a:blip r:embed="rId8"/>
          <a:stretch>
            <a:fillRect/>
          </a:stretch>
        </p:blipFill>
        <p:spPr>
          <a:xfrm>
            <a:off x="777240" y="2770632"/>
            <a:ext cx="4663440" cy="2772856"/>
          </a:xfrm>
          <a:prstGeom prst="rect">
            <a:avLst/>
          </a:prstGeom>
        </p:spPr>
      </p:pic>
      <p:sp>
        <p:nvSpPr>
          <p:cNvPr id="28" name="TextBox 27"/>
          <p:cNvSpPr txBox="1"/>
          <p:nvPr/>
        </p:nvSpPr>
        <p:spPr>
          <a:xfrm>
            <a:off x="685800" y="5605272"/>
            <a:ext cx="4937760" cy="457200"/>
          </a:xfrm>
          <a:prstGeom prst="rect">
            <a:avLst/>
          </a:prstGeom>
          <a:noFill/>
        </p:spPr>
        <p:txBody>
          <a:bodyPr wrap="square" anchor="t">
            <a:spAutoFit/>
          </a:bodyPr>
          <a:lstStyle/>
          <a:p>
            <a:pPr algn="l">
              <a:spcAft>
                <a:spcPts val="0"/>
              </a:spcAft>
            </a:pPr>
            <a:r>
              <a:rPr sz="1100" b="1">
                <a:solidFill>
                  <a:srgbClr val="EEF3FA"/>
                </a:solidFill>
                <a:latin typeface="Calibri"/>
              </a:rPr>
              <a:t>One article: </a:t>
            </a:r>
            <a:r>
              <a:rPr sz="1100" b="0">
                <a:solidFill>
                  <a:srgbClr val="9AABC4"/>
                </a:solidFill>
                <a:latin typeface="Calibri"/>
              </a:rPr>
              <a:t>emotional +0.109 − deliberate +0.055 = score +0.054, highest of 400</a:t>
            </a:r>
          </a:p>
        </p:txBody>
      </p:sp>
      <p:sp>
        <p:nvSpPr>
          <p:cNvPr id="29" name="Rounded Rectangle 28"/>
          <p:cNvSpPr/>
          <p:nvPr/>
        </p:nvSpPr>
        <p:spPr>
          <a:xfrm>
            <a:off x="5760720" y="2697480"/>
            <a:ext cx="5742432" cy="1783080"/>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sp>
        <p:nvSpPr>
          <p:cNvPr id="30" name="TextBox 29"/>
          <p:cNvSpPr txBox="1"/>
          <p:nvPr/>
        </p:nvSpPr>
        <p:spPr>
          <a:xfrm>
            <a:off x="5943600" y="2770632"/>
            <a:ext cx="4572000" cy="274320"/>
          </a:xfrm>
          <a:prstGeom prst="rect">
            <a:avLst/>
          </a:prstGeom>
          <a:noFill/>
        </p:spPr>
        <p:txBody>
          <a:bodyPr wrap="square" anchor="t">
            <a:spAutoFit/>
          </a:bodyPr>
          <a:lstStyle/>
          <a:p>
            <a:pPr algn="l">
              <a:spcAft>
                <a:spcPts val="0"/>
              </a:spcAft>
            </a:pPr>
            <a:r>
              <a:rPr sz="1100" b="1" i="0">
                <a:solidFill>
                  <a:srgbClr val="9AABC4"/>
                </a:solidFill>
                <a:latin typeface="Calibri"/>
              </a:rPr>
              <a:t>THE SCORE, X</a:t>
            </a:r>
          </a:p>
        </p:txBody>
      </p:sp>
      <p:pic>
        <p:nvPicPr>
          <p:cNvPr id="31" name="Picture 30" descr="52c90d50f004ef1d.png"/>
          <p:cNvPicPr>
            <a:picLocks noChangeAspect="1"/>
          </p:cNvPicPr>
          <p:nvPr/>
        </p:nvPicPr>
        <p:blipFill>
          <a:blip r:embed="rId9"/>
          <a:stretch>
            <a:fillRect/>
          </a:stretch>
        </p:blipFill>
        <p:spPr>
          <a:xfrm>
            <a:off x="7125690" y="3017520"/>
            <a:ext cx="3012490" cy="324383"/>
          </a:xfrm>
          <a:prstGeom prst="rect">
            <a:avLst/>
          </a:prstGeom>
        </p:spPr>
      </p:pic>
      <p:sp>
        <p:nvSpPr>
          <p:cNvPr id="32" name="Rectangle 31"/>
          <p:cNvSpPr/>
          <p:nvPr/>
        </p:nvSpPr>
        <p:spPr>
          <a:xfrm>
            <a:off x="6035040" y="3767328"/>
            <a:ext cx="2560320" cy="91440"/>
          </a:xfrm>
          <a:prstGeom prst="rect">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22792" y="3767328"/>
            <a:ext cx="2560320" cy="91440"/>
          </a:xfrm>
          <a:prstGeom prst="rect">
            <a:avLst/>
          </a:prstGeom>
          <a:solidFill>
            <a:srgbClr val="FF7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595360" y="3648456"/>
            <a:ext cx="27432" cy="329184"/>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35040" y="3877056"/>
            <a:ext cx="2560320" cy="274320"/>
          </a:xfrm>
          <a:prstGeom prst="rect">
            <a:avLst/>
          </a:prstGeom>
          <a:noFill/>
        </p:spPr>
        <p:txBody>
          <a:bodyPr wrap="square" anchor="t">
            <a:spAutoFit/>
          </a:bodyPr>
          <a:lstStyle/>
          <a:p>
            <a:pPr algn="l">
              <a:spcAft>
                <a:spcPts val="0"/>
              </a:spcAft>
            </a:pPr>
            <a:r>
              <a:rPr sz="1200" b="1" i="0">
                <a:solidFill>
                  <a:srgbClr val="7CC4FF"/>
                </a:solidFill>
                <a:latin typeface="Calibri"/>
              </a:rPr>
              <a:t>X &lt; 0: reasoning leads</a:t>
            </a:r>
          </a:p>
        </p:txBody>
      </p:sp>
      <p:sp>
        <p:nvSpPr>
          <p:cNvPr id="36" name="TextBox 35"/>
          <p:cNvSpPr txBox="1"/>
          <p:nvPr/>
        </p:nvSpPr>
        <p:spPr>
          <a:xfrm>
            <a:off x="8622792" y="3877056"/>
            <a:ext cx="2560320" cy="274320"/>
          </a:xfrm>
          <a:prstGeom prst="rect">
            <a:avLst/>
          </a:prstGeom>
          <a:noFill/>
        </p:spPr>
        <p:txBody>
          <a:bodyPr wrap="square" anchor="t">
            <a:spAutoFit/>
          </a:bodyPr>
          <a:lstStyle/>
          <a:p>
            <a:pPr algn="r">
              <a:spcAft>
                <a:spcPts val="0"/>
              </a:spcAft>
            </a:pPr>
            <a:r>
              <a:rPr sz="1200" b="1" i="0">
                <a:solidFill>
                  <a:srgbClr val="FF7A59"/>
                </a:solidFill>
                <a:latin typeface="Calibri"/>
              </a:rPr>
              <a:t>X &gt; 0: emotion leads</a:t>
            </a:r>
          </a:p>
        </p:txBody>
      </p:sp>
      <p:sp>
        <p:nvSpPr>
          <p:cNvPr id="37" name="TextBox 36"/>
          <p:cNvSpPr txBox="1"/>
          <p:nvPr/>
        </p:nvSpPr>
        <p:spPr>
          <a:xfrm>
            <a:off x="5943600" y="4133087"/>
            <a:ext cx="5394960" cy="274320"/>
          </a:xfrm>
          <a:prstGeom prst="rect">
            <a:avLst/>
          </a:prstGeom>
          <a:noFill/>
        </p:spPr>
        <p:txBody>
          <a:bodyPr wrap="square" anchor="t">
            <a:spAutoFit/>
          </a:bodyPr>
          <a:lstStyle/>
          <a:p>
            <a:pPr algn="ctr">
              <a:spcAft>
                <a:spcPts val="0"/>
              </a:spcAft>
            </a:pPr>
            <a:r>
              <a:rPr sz="1100" b="0" i="0">
                <a:solidFill>
                  <a:srgbClr val="9AABC4"/>
                </a:solidFill>
                <a:latin typeface="Calibri"/>
              </a:rPr>
              <a:t>Ā = average predicted activity; standardised, no unit  ·  nobody scanned</a:t>
            </a:r>
          </a:p>
        </p:txBody>
      </p:sp>
      <p:sp>
        <p:nvSpPr>
          <p:cNvPr id="38" name="Rounded Rectangle 37">
            <a:hlinkClick r:id="rId10"/>
          </p:cNvPr>
          <p:cNvSpPr/>
          <p:nvPr/>
        </p:nvSpPr>
        <p:spPr>
          <a:xfrm>
            <a:off x="5760720" y="4617720"/>
            <a:ext cx="5742432" cy="960120"/>
          </a:xfrm>
          <a:prstGeom prst="roundRect">
            <a:avLst>
              <a:gd name="adj" fmla="val 6000"/>
            </a:avLst>
          </a:prstGeom>
          <a:solidFill>
            <a:srgbClr val="12223C"/>
          </a:solidFill>
          <a:ln w="25400">
            <a:solidFill>
              <a:srgbClr val="F5B8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pic>
        <p:nvPicPr>
          <p:cNvPr id="39" name="Picture 38" descr="target.png"/>
          <p:cNvPicPr>
            <a:picLocks noChangeAspect="1"/>
          </p:cNvPicPr>
          <p:nvPr/>
        </p:nvPicPr>
        <p:blipFill>
          <a:blip r:embed="rId7"/>
          <a:stretch>
            <a:fillRect/>
          </a:stretch>
        </p:blipFill>
        <p:spPr>
          <a:xfrm>
            <a:off x="5943600" y="4873752"/>
            <a:ext cx="420624" cy="420624"/>
          </a:xfrm>
          <a:prstGeom prst="rect">
            <a:avLst/>
          </a:prstGeom>
        </p:spPr>
      </p:pic>
      <p:sp>
        <p:nvSpPr>
          <p:cNvPr id="40" name="TextBox 39"/>
          <p:cNvSpPr txBox="1"/>
          <p:nvPr/>
        </p:nvSpPr>
        <p:spPr>
          <a:xfrm>
            <a:off x="6537960" y="4663440"/>
            <a:ext cx="4846320" cy="914400"/>
          </a:xfrm>
          <a:prstGeom prst="rect">
            <a:avLst/>
          </a:prstGeom>
          <a:noFill/>
        </p:spPr>
        <p:txBody>
          <a:bodyPr wrap="square" anchor="ctr">
            <a:spAutoFit/>
          </a:bodyPr>
          <a:lstStyle/>
          <a:p>
            <a:pPr algn="l">
              <a:spcAft>
                <a:spcPts val="0"/>
              </a:spcAft>
            </a:pPr>
            <a:r>
              <a:rPr sz="1100" b="1" i="0">
                <a:solidFill>
                  <a:srgbClr val="F5B83D"/>
                </a:solidFill>
                <a:latin typeface="Calibri"/>
              </a:rPr>
              <a:t>TRY THE INSTRUMENT LIVE</a:t>
            </a:r>
          </a:p>
          <a:p>
            <a:pPr algn="l">
              <a:spcAft>
                <a:spcPts val="0"/>
              </a:spcAft>
            </a:pPr>
            <a:r>
              <a:rPr sz="2200" b="1" i="0">
                <a:solidFill>
                  <a:srgbClr val="EEF3FA"/>
                </a:solidFill>
                <a:latin typeface="Calibri"/>
              </a:rPr>
              <a:t>monarch-4iy.pages.dev</a:t>
            </a:r>
          </a:p>
          <a:p>
            <a:pPr algn="l">
              <a:spcAft>
                <a:spcPts val="0"/>
              </a:spcAft>
            </a:pPr>
            <a:r>
              <a:rPr sz="1100" b="0" i="0">
                <a:solidFill>
                  <a:srgbClr val="9AABC4"/>
                </a:solidFill>
                <a:latin typeface="Calibri"/>
              </a:rPr>
              <a:t>code and data: github.com/brn-mwai/monarch</a:t>
            </a:r>
          </a:p>
        </p:txBody>
      </p:sp>
      <p:sp>
        <p:nvSpPr>
          <p:cNvPr id="41" name="TextBox 40"/>
          <p:cNvSpPr txBox="1"/>
          <p:nvPr/>
        </p:nvSpPr>
        <p:spPr>
          <a:xfrm>
            <a:off x="6019495" y="6053328"/>
            <a:ext cx="5486400" cy="274320"/>
          </a:xfrm>
          <a:prstGeom prst="rect">
            <a:avLst/>
          </a:prstGeom>
          <a:noFill/>
        </p:spPr>
        <p:txBody>
          <a:bodyPr wrap="square" anchor="t">
            <a:spAutoFit/>
          </a:bodyPr>
          <a:lstStyle/>
          <a:p>
            <a:pPr algn="r">
              <a:spcAft>
                <a:spcPts val="0"/>
              </a:spcAft>
            </a:pPr>
            <a:r>
              <a:rPr sz="1200" b="1" i="0">
                <a:solidFill>
                  <a:srgbClr val="F5B83D"/>
                </a:solidFill>
                <a:latin typeface="Calibri"/>
              </a:rPr>
              <a:t>Next: the 400 articles  →</a:t>
            </a:r>
          </a:p>
        </p:txBody>
      </p:sp>
      <p:sp>
        <p:nvSpPr>
          <p:cNvPr id="42" name="TextBox 41"/>
          <p:cNvSpPr txBox="1"/>
          <p:nvPr/>
        </p:nvSpPr>
        <p:spPr>
          <a:xfrm>
            <a:off x="685800" y="6355080"/>
            <a:ext cx="4572000" cy="320040"/>
          </a:xfrm>
          <a:prstGeom prst="rect">
            <a:avLst/>
          </a:prstGeom>
          <a:noFill/>
        </p:spPr>
        <p:txBody>
          <a:bodyPr wrap="square" anchor="t">
            <a:spAutoFit/>
          </a:bodyPr>
          <a:lstStyle/>
          <a:p>
            <a:pPr algn="l">
              <a:spcAft>
                <a:spcPts val="0"/>
              </a:spcAft>
            </a:pPr>
            <a:r>
              <a:rPr sz="1000" b="1" i="0">
                <a:solidFill>
                  <a:srgbClr val="9AABC4"/>
                </a:solidFill>
                <a:latin typeface="Calibri"/>
              </a:rPr>
              <a:t>THE METHOD</a:t>
            </a:r>
          </a:p>
        </p:txBody>
      </p:sp>
      <p:sp>
        <p:nvSpPr>
          <p:cNvPr id="43" name="Rectangle 42"/>
          <p:cNvSpPr/>
          <p:nvPr/>
        </p:nvSpPr>
        <p:spPr>
          <a:xfrm>
            <a:off x="4692243"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268315" y="6473952"/>
            <a:ext cx="502920" cy="36576"/>
          </a:xfrm>
          <a:prstGeom prst="rect">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844387"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420459"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996531"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591495" y="6355080"/>
            <a:ext cx="914400" cy="320040"/>
          </a:xfrm>
          <a:prstGeom prst="rect">
            <a:avLst/>
          </a:prstGeom>
          <a:noFill/>
        </p:spPr>
        <p:txBody>
          <a:bodyPr wrap="square" anchor="t">
            <a:spAutoFit/>
          </a:bodyPr>
          <a:lstStyle/>
          <a:p>
            <a:pPr algn="r">
              <a:spcAft>
                <a:spcPts val="0"/>
              </a:spcAft>
            </a:pPr>
            <a:r>
              <a:rPr sz="1100" b="1" i="0">
                <a:solidFill>
                  <a:srgbClr val="9AABC4"/>
                </a:solidFill>
                <a:latin typeface="Calibri"/>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newspaper.png"/>
          <p:cNvPicPr>
            <a:picLocks noChangeAspect="1"/>
          </p:cNvPicPr>
          <p:nvPr/>
        </p:nvPicPr>
        <p:blipFill>
          <a:blip r:embed="rId3"/>
          <a:stretch>
            <a:fillRect/>
          </a:stretch>
        </p:blipFill>
        <p:spPr>
          <a:xfrm>
            <a:off x="685800" y="457200"/>
            <a:ext cx="420624" cy="420624"/>
          </a:xfrm>
          <a:prstGeom prst="rect">
            <a:avLst/>
          </a:prstGeom>
        </p:spPr>
      </p:pic>
      <p:sp>
        <p:nvSpPr>
          <p:cNvPr id="5" name="TextBox 4"/>
          <p:cNvSpPr txBox="1"/>
          <p:nvPr/>
        </p:nvSpPr>
        <p:spPr>
          <a:xfrm>
            <a:off x="1289304" y="201168"/>
            <a:ext cx="10216591" cy="320040"/>
          </a:xfrm>
          <a:prstGeom prst="rect">
            <a:avLst/>
          </a:prstGeom>
          <a:noFill/>
        </p:spPr>
        <p:txBody>
          <a:bodyPr wrap="square" anchor="t">
            <a:spAutoFit/>
          </a:bodyPr>
          <a:lstStyle/>
          <a:p>
            <a:pPr algn="l">
              <a:spcAft>
                <a:spcPts val="0"/>
              </a:spcAft>
            </a:pPr>
            <a:r>
              <a:rPr sz="1200" b="1" i="0">
                <a:solidFill>
                  <a:srgbClr val="FF7A59"/>
                </a:solidFill>
                <a:latin typeface="Calibri"/>
              </a:rPr>
              <a:t>THE METHOD</a:t>
            </a:r>
          </a:p>
        </p:txBody>
      </p:sp>
      <p:sp>
        <p:nvSpPr>
          <p:cNvPr id="6" name="TextBox 5"/>
          <p:cNvSpPr txBox="1"/>
          <p:nvPr/>
        </p:nvSpPr>
        <p:spPr>
          <a:xfrm>
            <a:off x="1289304" y="420624"/>
            <a:ext cx="10216591" cy="822960"/>
          </a:xfrm>
          <a:prstGeom prst="rect">
            <a:avLst/>
          </a:prstGeom>
          <a:noFill/>
        </p:spPr>
        <p:txBody>
          <a:bodyPr wrap="square" anchor="t">
            <a:spAutoFit/>
          </a:bodyPr>
          <a:lstStyle/>
          <a:p>
            <a:pPr algn="l">
              <a:spcAft>
                <a:spcPts val="0"/>
              </a:spcAft>
            </a:pPr>
            <a:r>
              <a:rPr sz="2600" b="1" i="0">
                <a:solidFill>
                  <a:srgbClr val="7CC4FF"/>
                </a:solidFill>
                <a:latin typeface="Calibri"/>
              </a:rPr>
              <a:t>400 articles, four groups, matched in length</a:t>
            </a:r>
          </a:p>
        </p:txBody>
      </p:sp>
      <p:sp>
        <p:nvSpPr>
          <p:cNvPr id="7" name="Rounded Rectangle 6"/>
          <p:cNvSpPr/>
          <p:nvPr/>
        </p:nvSpPr>
        <p:spPr>
          <a:xfrm>
            <a:off x="685800" y="1417320"/>
            <a:ext cx="2487168" cy="1737360"/>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sp>
        <p:nvSpPr>
          <p:cNvPr id="8" name="Rectangle 7"/>
          <p:cNvSpPr/>
          <p:nvPr/>
        </p:nvSpPr>
        <p:spPr>
          <a:xfrm>
            <a:off x="685800" y="1417320"/>
            <a:ext cx="2487168" cy="64008"/>
          </a:xfrm>
          <a:prstGeom prst="rect">
            <a:avLst/>
          </a:prstGeom>
          <a:solidFill>
            <a:srgbClr val="FF7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600200"/>
            <a:ext cx="2487168" cy="1463040"/>
          </a:xfrm>
          <a:prstGeom prst="rect">
            <a:avLst/>
          </a:prstGeom>
          <a:noFill/>
        </p:spPr>
        <p:txBody>
          <a:bodyPr wrap="square" anchor="t">
            <a:spAutoFit/>
          </a:bodyPr>
          <a:lstStyle/>
          <a:p>
            <a:pPr algn="ctr">
              <a:spcAft>
                <a:spcPts val="0"/>
              </a:spcAft>
            </a:pPr>
            <a:r>
              <a:rPr sz="4000" b="1" i="0">
                <a:solidFill>
                  <a:srgbClr val="FF7A59"/>
                </a:solidFill>
                <a:latin typeface="Calibri"/>
              </a:rPr>
              <a:t>100</a:t>
            </a:r>
          </a:p>
          <a:p>
            <a:pPr algn="ctr">
              <a:spcAft>
                <a:spcPts val="0"/>
              </a:spcAft>
            </a:pPr>
            <a:r>
              <a:rPr sz="1700" b="1" i="0">
                <a:solidFill>
                  <a:srgbClr val="EEF3FA"/>
                </a:solidFill>
                <a:latin typeface="Calibri"/>
              </a:rPr>
              <a:t>Fear-activating</a:t>
            </a:r>
          </a:p>
          <a:p>
            <a:pPr algn="ctr">
              <a:spcAft>
                <a:spcPts val="0"/>
              </a:spcAft>
            </a:pPr>
            <a:r>
              <a:rPr sz="1200" b="0" i="0">
                <a:solidFill>
                  <a:srgbClr val="9AABC4"/>
                </a:solidFill>
                <a:latin typeface="Calibri"/>
              </a:rPr>
              <a:t>fake news (ISOT)</a:t>
            </a:r>
          </a:p>
        </p:txBody>
      </p:sp>
      <p:sp>
        <p:nvSpPr>
          <p:cNvPr id="10" name="Rounded Rectangle 9"/>
          <p:cNvSpPr/>
          <p:nvPr/>
        </p:nvSpPr>
        <p:spPr>
          <a:xfrm>
            <a:off x="3462832" y="1417320"/>
            <a:ext cx="2487168" cy="1737360"/>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sp>
        <p:nvSpPr>
          <p:cNvPr id="11" name="Rectangle 10"/>
          <p:cNvSpPr/>
          <p:nvPr/>
        </p:nvSpPr>
        <p:spPr>
          <a:xfrm>
            <a:off x="3462832" y="1417320"/>
            <a:ext cx="2487168" cy="64008"/>
          </a:xfrm>
          <a:prstGeom prst="rect">
            <a:avLst/>
          </a:prstGeom>
          <a:solidFill>
            <a:srgbClr val="F5B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62832" y="1600200"/>
            <a:ext cx="2487168" cy="1463040"/>
          </a:xfrm>
          <a:prstGeom prst="rect">
            <a:avLst/>
          </a:prstGeom>
          <a:noFill/>
        </p:spPr>
        <p:txBody>
          <a:bodyPr wrap="square" anchor="t">
            <a:spAutoFit/>
          </a:bodyPr>
          <a:lstStyle/>
          <a:p>
            <a:pPr algn="ctr">
              <a:spcAft>
                <a:spcPts val="0"/>
              </a:spcAft>
            </a:pPr>
            <a:r>
              <a:rPr sz="4000" b="1" i="0">
                <a:solidFill>
                  <a:srgbClr val="F5B83D"/>
                </a:solidFill>
                <a:latin typeface="Calibri"/>
              </a:rPr>
              <a:t>100</a:t>
            </a:r>
          </a:p>
          <a:p>
            <a:pPr algn="ctr">
              <a:spcAft>
                <a:spcPts val="0"/>
              </a:spcAft>
            </a:pPr>
            <a:r>
              <a:rPr sz="1700" b="1" i="0">
                <a:solidFill>
                  <a:srgbClr val="EEF3FA"/>
                </a:solidFill>
                <a:latin typeface="Calibri"/>
              </a:rPr>
              <a:t>High outrage</a:t>
            </a:r>
          </a:p>
          <a:p>
            <a:pPr algn="ctr">
              <a:spcAft>
                <a:spcPts val="0"/>
              </a:spcAft>
            </a:pPr>
            <a:r>
              <a:rPr sz="1200" b="0" i="0">
                <a:solidFill>
                  <a:srgbClr val="9AABC4"/>
                </a:solidFill>
                <a:latin typeface="Calibri"/>
              </a:rPr>
              <a:t>partisan news (SemEval)</a:t>
            </a:r>
          </a:p>
        </p:txBody>
      </p:sp>
      <p:sp>
        <p:nvSpPr>
          <p:cNvPr id="13" name="Rounded Rectangle 12"/>
          <p:cNvSpPr/>
          <p:nvPr/>
        </p:nvSpPr>
        <p:spPr>
          <a:xfrm>
            <a:off x="6239865" y="1417320"/>
            <a:ext cx="2487168" cy="1737360"/>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sp>
        <p:nvSpPr>
          <p:cNvPr id="14" name="Rectangle 13"/>
          <p:cNvSpPr/>
          <p:nvPr/>
        </p:nvSpPr>
        <p:spPr>
          <a:xfrm>
            <a:off x="6239865" y="1417320"/>
            <a:ext cx="2487168" cy="64008"/>
          </a:xfrm>
          <a:prstGeom prst="rect">
            <a:avLst/>
          </a:prstGeom>
          <a:solidFill>
            <a:srgbClr val="3E8E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39865" y="1600200"/>
            <a:ext cx="2487168" cy="1463040"/>
          </a:xfrm>
          <a:prstGeom prst="rect">
            <a:avLst/>
          </a:prstGeom>
          <a:noFill/>
        </p:spPr>
        <p:txBody>
          <a:bodyPr wrap="square" anchor="t">
            <a:spAutoFit/>
          </a:bodyPr>
          <a:lstStyle/>
          <a:p>
            <a:pPr algn="ctr">
              <a:spcAft>
                <a:spcPts val="0"/>
              </a:spcAft>
            </a:pPr>
            <a:r>
              <a:rPr sz="4000" b="1" i="0">
                <a:solidFill>
                  <a:srgbClr val="3E8EDE"/>
                </a:solidFill>
                <a:latin typeface="Calibri"/>
              </a:rPr>
              <a:t>100</a:t>
            </a:r>
          </a:p>
          <a:p>
            <a:pPr algn="ctr">
              <a:spcAft>
                <a:spcPts val="0"/>
              </a:spcAft>
            </a:pPr>
            <a:r>
              <a:rPr sz="1700" b="1" i="0">
                <a:solidFill>
                  <a:srgbClr val="EEF3FA"/>
                </a:solidFill>
                <a:latin typeface="Calibri"/>
              </a:rPr>
              <a:t>Reward hook</a:t>
            </a:r>
          </a:p>
          <a:p>
            <a:pPr algn="ctr">
              <a:spcAft>
                <a:spcPts val="0"/>
              </a:spcAft>
            </a:pPr>
            <a:r>
              <a:rPr sz="1200" b="0" i="0">
                <a:solidFill>
                  <a:srgbClr val="9AABC4"/>
                </a:solidFill>
                <a:latin typeface="Calibri"/>
              </a:rPr>
              <a:t>clickbait (Webis)</a:t>
            </a:r>
          </a:p>
        </p:txBody>
      </p:sp>
      <p:sp>
        <p:nvSpPr>
          <p:cNvPr id="16" name="Rounded Rectangle 15"/>
          <p:cNvSpPr/>
          <p:nvPr/>
        </p:nvSpPr>
        <p:spPr>
          <a:xfrm>
            <a:off x="9016898" y="1417320"/>
            <a:ext cx="2487168" cy="1737360"/>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sp>
        <p:nvSpPr>
          <p:cNvPr id="17" name="Rectangle 16"/>
          <p:cNvSpPr/>
          <p:nvPr/>
        </p:nvSpPr>
        <p:spPr>
          <a:xfrm>
            <a:off x="9016898" y="1417320"/>
            <a:ext cx="2487168" cy="64008"/>
          </a:xfrm>
          <a:prstGeom prst="rect">
            <a:avLst/>
          </a:prstGeom>
          <a:solidFill>
            <a:srgbClr val="9AA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16898" y="1600200"/>
            <a:ext cx="2487168" cy="1463040"/>
          </a:xfrm>
          <a:prstGeom prst="rect">
            <a:avLst/>
          </a:prstGeom>
          <a:noFill/>
        </p:spPr>
        <p:txBody>
          <a:bodyPr wrap="square" anchor="t">
            <a:spAutoFit/>
          </a:bodyPr>
          <a:lstStyle/>
          <a:p>
            <a:pPr algn="ctr">
              <a:spcAft>
                <a:spcPts val="0"/>
              </a:spcAft>
            </a:pPr>
            <a:r>
              <a:rPr sz="4000" b="1" i="0">
                <a:solidFill>
                  <a:srgbClr val="9AABC4"/>
                </a:solidFill>
                <a:latin typeface="Calibri"/>
              </a:rPr>
              <a:t>100</a:t>
            </a:r>
          </a:p>
          <a:p>
            <a:pPr algn="ctr">
              <a:spcAft>
                <a:spcPts val="0"/>
              </a:spcAft>
            </a:pPr>
            <a:r>
              <a:rPr sz="1700" b="1" i="0">
                <a:solidFill>
                  <a:srgbClr val="EEF3FA"/>
                </a:solidFill>
                <a:latin typeface="Calibri"/>
              </a:rPr>
              <a:t>Neutral</a:t>
            </a:r>
          </a:p>
          <a:p>
            <a:pPr algn="ctr">
              <a:spcAft>
                <a:spcPts val="0"/>
              </a:spcAft>
            </a:pPr>
            <a:r>
              <a:rPr sz="1200" b="0" i="0">
                <a:solidFill>
                  <a:srgbClr val="9AABC4"/>
                </a:solidFill>
                <a:latin typeface="Calibri"/>
              </a:rPr>
              <a:t>medical + real news</a:t>
            </a:r>
          </a:p>
        </p:txBody>
      </p:sp>
      <p:sp>
        <p:nvSpPr>
          <p:cNvPr id="19" name="Rounded Rectangle 18"/>
          <p:cNvSpPr/>
          <p:nvPr/>
        </p:nvSpPr>
        <p:spPr>
          <a:xfrm>
            <a:off x="685800" y="3474720"/>
            <a:ext cx="3429000" cy="1600200"/>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4000" b="1" i="0">
                <a:solidFill>
                  <a:srgbClr val="7CC4FF"/>
                </a:solidFill>
                <a:latin typeface="Calibri"/>
              </a:rPr>
              <a:t>162–167</a:t>
            </a:r>
          </a:p>
          <a:p>
            <a:pPr algn="ctr">
              <a:spcAft>
                <a:spcPts val="0"/>
              </a:spcAft>
            </a:pPr>
            <a:r>
              <a:rPr sz="1300" b="0" i="0">
                <a:solidFill>
                  <a:srgbClr val="EEF3FA"/>
                </a:solidFill>
                <a:latin typeface="Calibri"/>
              </a:rPr>
              <a:t>average words per article,
lowest to highest group</a:t>
            </a:r>
          </a:p>
        </p:txBody>
      </p:sp>
      <p:sp>
        <p:nvSpPr>
          <p:cNvPr id="20" name="Rounded Rectangle 19"/>
          <p:cNvSpPr/>
          <p:nvPr/>
        </p:nvSpPr>
        <p:spPr>
          <a:xfrm>
            <a:off x="4379976" y="3474720"/>
            <a:ext cx="3429000" cy="1600200"/>
          </a:xfrm>
          <a:prstGeom prst="roundRect">
            <a:avLst>
              <a:gd name="adj" fmla="val 6000"/>
            </a:avLst>
          </a:prstGeom>
          <a:solidFill>
            <a:srgbClr val="12223C"/>
          </a:solidFill>
          <a:ln w="25400">
            <a:solidFill>
              <a:srgbClr val="5FD09A"/>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4000" b="1" i="0">
                <a:solidFill>
                  <a:srgbClr val="5FD09A"/>
                </a:solidFill>
                <a:latin typeface="Calibri"/>
              </a:rPr>
              <a:t>0.027</a:t>
            </a:r>
          </a:p>
          <a:p>
            <a:pPr algn="ctr">
              <a:spcAft>
                <a:spcPts val="0"/>
              </a:spcAft>
            </a:pPr>
            <a:r>
              <a:rPr sz="1300" b="0" i="0">
                <a:solidFill>
                  <a:srgbClr val="EEF3FA"/>
                </a:solidFill>
                <a:latin typeface="Calibri"/>
              </a:rPr>
              <a:t>smallest η² 400 articles can
detect, set before scanning</a:t>
            </a:r>
          </a:p>
        </p:txBody>
      </p:sp>
      <p:sp>
        <p:nvSpPr>
          <p:cNvPr id="21" name="Rounded Rectangle 20"/>
          <p:cNvSpPr/>
          <p:nvPr/>
        </p:nvSpPr>
        <p:spPr>
          <a:xfrm>
            <a:off x="8074152" y="3474720"/>
            <a:ext cx="3429000" cy="1600200"/>
          </a:xfrm>
          <a:prstGeom prst="roundRect">
            <a:avLst>
              <a:gd name="adj" fmla="val 6000"/>
            </a:avLst>
          </a:prstGeom>
          <a:solidFill>
            <a:srgbClr val="12223C"/>
          </a:solidFill>
          <a:ln w="25400">
            <a:solidFill>
              <a:srgbClr val="F5B83D"/>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4000" b="1" i="0">
                <a:solidFill>
                  <a:srgbClr val="F5B83D"/>
                </a:solidFill>
                <a:latin typeface="Calibri"/>
              </a:rPr>
              <a:t>× 2</a:t>
            </a:r>
          </a:p>
          <a:p>
            <a:pPr algn="ctr">
              <a:spcAft>
                <a:spcPts val="0"/>
              </a:spcAft>
            </a:pPr>
            <a:r>
              <a:rPr sz="1300" b="0" i="0">
                <a:solidFill>
                  <a:srgbClr val="EEF3FA"/>
                </a:solidFill>
                <a:latin typeface="Calibri"/>
              </a:rPr>
              <a:t>every article
scanned twice</a:t>
            </a:r>
          </a:p>
        </p:txBody>
      </p:sp>
      <p:sp>
        <p:nvSpPr>
          <p:cNvPr id="22" name="TextBox 21"/>
          <p:cNvSpPr txBox="1"/>
          <p:nvPr/>
        </p:nvSpPr>
        <p:spPr>
          <a:xfrm>
            <a:off x="685800" y="5303520"/>
            <a:ext cx="10820095" cy="320040"/>
          </a:xfrm>
          <a:prstGeom prst="rect">
            <a:avLst/>
          </a:prstGeom>
          <a:noFill/>
        </p:spPr>
        <p:txBody>
          <a:bodyPr wrap="square" anchor="t">
            <a:spAutoFit/>
          </a:bodyPr>
          <a:lstStyle/>
          <a:p>
            <a:pPr algn="l">
              <a:spcAft>
                <a:spcPts val="0"/>
              </a:spcAft>
            </a:pPr>
            <a:r>
              <a:rPr sz="1400" b="1">
                <a:solidFill>
                  <a:srgbClr val="EEF3FA"/>
                </a:solidFill>
                <a:latin typeface="Calibri"/>
              </a:rPr>
              <a:t>All 400, with scores:  </a:t>
            </a:r>
            <a:r>
              <a:rPr sz="1400" b="1">
                <a:solidFill>
                  <a:srgbClr val="F5B83D"/>
                </a:solidFill>
                <a:latin typeface="Calibri"/>
              </a:rPr>
              <a:t>monarch-4iy.pages.dev/corpus</a:t>
            </a:r>
          </a:p>
        </p:txBody>
      </p:sp>
      <p:sp>
        <p:nvSpPr>
          <p:cNvPr id="23" name="TextBox 22"/>
          <p:cNvSpPr txBox="1"/>
          <p:nvPr/>
        </p:nvSpPr>
        <p:spPr>
          <a:xfrm>
            <a:off x="6019495" y="6053328"/>
            <a:ext cx="5486400" cy="274320"/>
          </a:xfrm>
          <a:prstGeom prst="rect">
            <a:avLst/>
          </a:prstGeom>
          <a:noFill/>
        </p:spPr>
        <p:txBody>
          <a:bodyPr wrap="square" anchor="t">
            <a:spAutoFit/>
          </a:bodyPr>
          <a:lstStyle/>
          <a:p>
            <a:pPr algn="r">
              <a:spcAft>
                <a:spcPts val="0"/>
              </a:spcAft>
            </a:pPr>
            <a:r>
              <a:rPr sz="1200" b="1" i="0">
                <a:solidFill>
                  <a:srgbClr val="F5B83D"/>
                </a:solidFill>
                <a:latin typeface="Calibri"/>
              </a:rPr>
              <a:t>Next: reading the corpus page  →</a:t>
            </a:r>
          </a:p>
        </p:txBody>
      </p:sp>
      <p:sp>
        <p:nvSpPr>
          <p:cNvPr id="24" name="TextBox 23"/>
          <p:cNvSpPr txBox="1"/>
          <p:nvPr/>
        </p:nvSpPr>
        <p:spPr>
          <a:xfrm>
            <a:off x="685800" y="6355080"/>
            <a:ext cx="4572000" cy="320040"/>
          </a:xfrm>
          <a:prstGeom prst="rect">
            <a:avLst/>
          </a:prstGeom>
          <a:noFill/>
        </p:spPr>
        <p:txBody>
          <a:bodyPr wrap="square" anchor="t">
            <a:spAutoFit/>
          </a:bodyPr>
          <a:lstStyle/>
          <a:p>
            <a:pPr algn="l">
              <a:spcAft>
                <a:spcPts val="0"/>
              </a:spcAft>
            </a:pPr>
            <a:r>
              <a:rPr sz="1000" b="1" i="0">
                <a:solidFill>
                  <a:srgbClr val="9AABC4"/>
                </a:solidFill>
                <a:latin typeface="Calibri"/>
              </a:rPr>
              <a:t>THE METHOD</a:t>
            </a:r>
          </a:p>
        </p:txBody>
      </p:sp>
      <p:sp>
        <p:nvSpPr>
          <p:cNvPr id="25" name="Rectangle 24"/>
          <p:cNvSpPr/>
          <p:nvPr/>
        </p:nvSpPr>
        <p:spPr>
          <a:xfrm>
            <a:off x="4692243"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268315" y="6473952"/>
            <a:ext cx="502920" cy="36576"/>
          </a:xfrm>
          <a:prstGeom prst="rect">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844387"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20459"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996531"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91495" y="6355080"/>
            <a:ext cx="914400" cy="320040"/>
          </a:xfrm>
          <a:prstGeom prst="rect">
            <a:avLst/>
          </a:prstGeom>
          <a:noFill/>
        </p:spPr>
        <p:txBody>
          <a:bodyPr wrap="square" anchor="t">
            <a:spAutoFit/>
          </a:bodyPr>
          <a:lstStyle/>
          <a:p>
            <a:pPr algn="r">
              <a:spcAft>
                <a:spcPts val="0"/>
              </a:spcAft>
            </a:pPr>
            <a:r>
              <a:rPr sz="1100" b="1" i="0">
                <a:solidFill>
                  <a:srgbClr val="9AABC4"/>
                </a:solidFill>
                <a:latin typeface="Calibri"/>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newspaper.png"/>
          <p:cNvPicPr>
            <a:picLocks noChangeAspect="1"/>
          </p:cNvPicPr>
          <p:nvPr/>
        </p:nvPicPr>
        <p:blipFill>
          <a:blip r:embed="rId3"/>
          <a:stretch>
            <a:fillRect/>
          </a:stretch>
        </p:blipFill>
        <p:spPr>
          <a:xfrm>
            <a:off x="685800" y="457200"/>
            <a:ext cx="420624" cy="420624"/>
          </a:xfrm>
          <a:prstGeom prst="rect">
            <a:avLst/>
          </a:prstGeom>
        </p:spPr>
      </p:pic>
      <p:sp>
        <p:nvSpPr>
          <p:cNvPr id="5" name="TextBox 4"/>
          <p:cNvSpPr txBox="1"/>
          <p:nvPr/>
        </p:nvSpPr>
        <p:spPr>
          <a:xfrm>
            <a:off x="1289304" y="201168"/>
            <a:ext cx="10216591" cy="320040"/>
          </a:xfrm>
          <a:prstGeom prst="rect">
            <a:avLst/>
          </a:prstGeom>
          <a:noFill/>
        </p:spPr>
        <p:txBody>
          <a:bodyPr wrap="square" anchor="t">
            <a:spAutoFit/>
          </a:bodyPr>
          <a:lstStyle/>
          <a:p>
            <a:pPr algn="l">
              <a:spcAft>
                <a:spcPts val="0"/>
              </a:spcAft>
            </a:pPr>
            <a:r>
              <a:rPr sz="1200" b="1" i="0">
                <a:solidFill>
                  <a:srgbClr val="FF7A59"/>
                </a:solidFill>
                <a:latin typeface="Calibri"/>
              </a:rPr>
              <a:t>THE METHOD</a:t>
            </a:r>
          </a:p>
        </p:txBody>
      </p:sp>
      <p:sp>
        <p:nvSpPr>
          <p:cNvPr id="6" name="TextBox 5"/>
          <p:cNvSpPr txBox="1"/>
          <p:nvPr/>
        </p:nvSpPr>
        <p:spPr>
          <a:xfrm>
            <a:off x="1289304" y="420624"/>
            <a:ext cx="10216591" cy="822960"/>
          </a:xfrm>
          <a:prstGeom prst="rect">
            <a:avLst/>
          </a:prstGeom>
          <a:noFill/>
        </p:spPr>
        <p:txBody>
          <a:bodyPr wrap="square" anchor="t">
            <a:spAutoFit/>
          </a:bodyPr>
          <a:lstStyle/>
          <a:p>
            <a:pPr algn="l">
              <a:spcAft>
                <a:spcPts val="0"/>
              </a:spcAft>
            </a:pPr>
            <a:r>
              <a:rPr sz="2600" b="1" i="0">
                <a:solidFill>
                  <a:srgbClr val="7CC4FF"/>
                </a:solidFill>
                <a:latin typeface="Calibri"/>
              </a:rPr>
              <a:t>Reading the corpus page: what each number means</a:t>
            </a:r>
          </a:p>
        </p:txBody>
      </p:sp>
      <p:sp>
        <p:nvSpPr>
          <p:cNvPr id="7" name="Rounded Rectangle 6"/>
          <p:cNvSpPr/>
          <p:nvPr/>
        </p:nvSpPr>
        <p:spPr>
          <a:xfrm>
            <a:off x="685800" y="1325880"/>
            <a:ext cx="5669280" cy="4206240"/>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sp>
        <p:nvSpPr>
          <p:cNvPr id="8" name="TextBox 7"/>
          <p:cNvSpPr txBox="1"/>
          <p:nvPr/>
        </p:nvSpPr>
        <p:spPr>
          <a:xfrm>
            <a:off x="914400" y="1417320"/>
            <a:ext cx="5303520" cy="274320"/>
          </a:xfrm>
          <a:prstGeom prst="rect">
            <a:avLst/>
          </a:prstGeom>
          <a:noFill/>
        </p:spPr>
        <p:txBody>
          <a:bodyPr wrap="square" anchor="t">
            <a:spAutoFit/>
          </a:bodyPr>
          <a:lstStyle/>
          <a:p>
            <a:pPr algn="l">
              <a:spcAft>
                <a:spcPts val="0"/>
              </a:spcAft>
            </a:pPr>
            <a:r>
              <a:rPr sz="1100" b="1" i="0">
                <a:solidFill>
                  <a:srgbClr val="9AABC4"/>
                </a:solidFill>
                <a:latin typeface="Calibri"/>
              </a:rPr>
              <a:t>COLUMN   →   MEANING</a:t>
            </a:r>
          </a:p>
        </p:txBody>
      </p:sp>
      <p:sp>
        <p:nvSpPr>
          <p:cNvPr id="9" name="Rounded Rectangle 8"/>
          <p:cNvSpPr/>
          <p:nvPr/>
        </p:nvSpPr>
        <p:spPr>
          <a:xfrm>
            <a:off x="868680" y="1783080"/>
            <a:ext cx="1737360" cy="493776"/>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1400" b="1" i="0">
                <a:solidFill>
                  <a:srgbClr val="F5B83D"/>
                </a:solidFill>
                <a:latin typeface="Calibri"/>
              </a:rPr>
              <a:t>Emotional</a:t>
            </a:r>
          </a:p>
        </p:txBody>
      </p:sp>
      <p:sp>
        <p:nvSpPr>
          <p:cNvPr id="10" name="TextBox 9"/>
          <p:cNvSpPr txBox="1"/>
          <p:nvPr/>
        </p:nvSpPr>
        <p:spPr>
          <a:xfrm>
            <a:off x="2743200" y="1783080"/>
            <a:ext cx="3474720" cy="493776"/>
          </a:xfrm>
          <a:prstGeom prst="rect">
            <a:avLst/>
          </a:prstGeom>
          <a:noFill/>
        </p:spPr>
        <p:txBody>
          <a:bodyPr wrap="square" anchor="ctr">
            <a:spAutoFit/>
          </a:bodyPr>
          <a:lstStyle/>
          <a:p>
            <a:pPr algn="l">
              <a:spcAft>
                <a:spcPts val="0"/>
              </a:spcAft>
            </a:pPr>
            <a:r>
              <a:rPr sz="1300" b="0" i="0">
                <a:solidFill>
                  <a:srgbClr val="EEF3FA"/>
                </a:solidFill>
                <a:latin typeface="Calibri"/>
              </a:rPr>
              <a:t>average predicted activity, 1,030 emotional points</a:t>
            </a:r>
          </a:p>
        </p:txBody>
      </p:sp>
      <p:sp>
        <p:nvSpPr>
          <p:cNvPr id="11" name="Rounded Rectangle 10"/>
          <p:cNvSpPr/>
          <p:nvPr/>
        </p:nvSpPr>
        <p:spPr>
          <a:xfrm>
            <a:off x="868680" y="2386584"/>
            <a:ext cx="1737360" cy="493776"/>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1400" b="1" i="0">
                <a:solidFill>
                  <a:srgbClr val="F5B83D"/>
                </a:solidFill>
                <a:latin typeface="Calibri"/>
              </a:rPr>
              <a:t>Deliberate</a:t>
            </a:r>
          </a:p>
        </p:txBody>
      </p:sp>
      <p:sp>
        <p:nvSpPr>
          <p:cNvPr id="12" name="TextBox 11"/>
          <p:cNvSpPr txBox="1"/>
          <p:nvPr/>
        </p:nvSpPr>
        <p:spPr>
          <a:xfrm>
            <a:off x="2743200" y="2386584"/>
            <a:ext cx="3474720" cy="493776"/>
          </a:xfrm>
          <a:prstGeom prst="rect">
            <a:avLst/>
          </a:prstGeom>
          <a:noFill/>
        </p:spPr>
        <p:txBody>
          <a:bodyPr wrap="square" anchor="ctr">
            <a:spAutoFit/>
          </a:bodyPr>
          <a:lstStyle/>
          <a:p>
            <a:pPr algn="l">
              <a:spcAft>
                <a:spcPts val="0"/>
              </a:spcAft>
            </a:pPr>
            <a:r>
              <a:rPr sz="1300" b="0" i="0">
                <a:solidFill>
                  <a:srgbClr val="EEF3FA"/>
                </a:solidFill>
                <a:latin typeface="Calibri"/>
              </a:rPr>
              <a:t>average predicted activity, 851 reasoning points</a:t>
            </a:r>
          </a:p>
        </p:txBody>
      </p:sp>
      <p:sp>
        <p:nvSpPr>
          <p:cNvPr id="13" name="Rounded Rectangle 12"/>
          <p:cNvSpPr/>
          <p:nvPr/>
        </p:nvSpPr>
        <p:spPr>
          <a:xfrm>
            <a:off x="868680" y="2990088"/>
            <a:ext cx="1737360" cy="493776"/>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1400" b="1" i="0">
                <a:solidFill>
                  <a:srgbClr val="F5B83D"/>
                </a:solidFill>
                <a:latin typeface="Calibri"/>
              </a:rPr>
              <a:t>Score</a:t>
            </a:r>
          </a:p>
        </p:txBody>
      </p:sp>
      <p:sp>
        <p:nvSpPr>
          <p:cNvPr id="14" name="TextBox 13"/>
          <p:cNvSpPr txBox="1"/>
          <p:nvPr/>
        </p:nvSpPr>
        <p:spPr>
          <a:xfrm>
            <a:off x="2743200" y="2990088"/>
            <a:ext cx="3474720" cy="493776"/>
          </a:xfrm>
          <a:prstGeom prst="rect">
            <a:avLst/>
          </a:prstGeom>
          <a:noFill/>
        </p:spPr>
        <p:txBody>
          <a:bodyPr wrap="square" anchor="ctr">
            <a:spAutoFit/>
          </a:bodyPr>
          <a:lstStyle/>
          <a:p>
            <a:pPr algn="l">
              <a:spcAft>
                <a:spcPts val="0"/>
              </a:spcAft>
            </a:pPr>
            <a:r>
              <a:rPr sz="1300" b="0" i="0">
                <a:solidFill>
                  <a:srgbClr val="EEF3FA"/>
                </a:solidFill>
                <a:latin typeface="Calibri"/>
              </a:rPr>
              <a:t>Emotional − Deliberate = X</a:t>
            </a:r>
          </a:p>
        </p:txBody>
      </p:sp>
      <p:sp>
        <p:nvSpPr>
          <p:cNvPr id="15" name="Rounded Rectangle 14"/>
          <p:cNvSpPr/>
          <p:nvPr/>
        </p:nvSpPr>
        <p:spPr>
          <a:xfrm>
            <a:off x="868680" y="3593591"/>
            <a:ext cx="1737360" cy="493776"/>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1400" b="1" i="0">
                <a:solidFill>
                  <a:srgbClr val="F5B83D"/>
                </a:solidFill>
                <a:latin typeface="Calibri"/>
              </a:rPr>
              <a:t>Pre-scan label</a:t>
            </a:r>
          </a:p>
        </p:txBody>
      </p:sp>
      <p:sp>
        <p:nvSpPr>
          <p:cNvPr id="16" name="TextBox 15"/>
          <p:cNvSpPr txBox="1"/>
          <p:nvPr/>
        </p:nvSpPr>
        <p:spPr>
          <a:xfrm>
            <a:off x="2743200" y="3593591"/>
            <a:ext cx="3474720" cy="493776"/>
          </a:xfrm>
          <a:prstGeom prst="rect">
            <a:avLst/>
          </a:prstGeom>
          <a:noFill/>
        </p:spPr>
        <p:txBody>
          <a:bodyPr wrap="square" anchor="ctr">
            <a:spAutoFit/>
          </a:bodyPr>
          <a:lstStyle/>
          <a:p>
            <a:pPr algn="l">
              <a:spcAft>
                <a:spcPts val="0"/>
              </a:spcAft>
            </a:pPr>
            <a:r>
              <a:rPr sz="1300" b="0" i="0">
                <a:solidFill>
                  <a:srgbClr val="EEF3FA"/>
                </a:solidFill>
                <a:latin typeface="Calibri"/>
              </a:rPr>
              <a:t>label from its source, given before any scan</a:t>
            </a:r>
          </a:p>
        </p:txBody>
      </p:sp>
      <p:sp>
        <p:nvSpPr>
          <p:cNvPr id="17" name="Rounded Rectangle 16"/>
          <p:cNvSpPr/>
          <p:nvPr/>
        </p:nvSpPr>
        <p:spPr>
          <a:xfrm>
            <a:off x="868680" y="4197096"/>
            <a:ext cx="1737360" cy="493776"/>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1400" b="1" i="0">
                <a:solidFill>
                  <a:srgbClr val="F5B83D"/>
                </a:solidFill>
                <a:latin typeface="Calibri"/>
              </a:rPr>
              <a:t>Words</a:t>
            </a:r>
          </a:p>
        </p:txBody>
      </p:sp>
      <p:sp>
        <p:nvSpPr>
          <p:cNvPr id="18" name="TextBox 17"/>
          <p:cNvSpPr txBox="1"/>
          <p:nvPr/>
        </p:nvSpPr>
        <p:spPr>
          <a:xfrm>
            <a:off x="2743200" y="4197096"/>
            <a:ext cx="3474720" cy="493776"/>
          </a:xfrm>
          <a:prstGeom prst="rect">
            <a:avLst/>
          </a:prstGeom>
          <a:noFill/>
        </p:spPr>
        <p:txBody>
          <a:bodyPr wrap="square" anchor="ctr">
            <a:spAutoFit/>
          </a:bodyPr>
          <a:lstStyle/>
          <a:p>
            <a:pPr algn="l">
              <a:spcAft>
                <a:spcPts val="0"/>
              </a:spcAft>
            </a:pPr>
            <a:r>
              <a:rPr sz="1300" b="0" i="0">
                <a:solidFill>
                  <a:srgbClr val="EEF3FA"/>
                </a:solidFill>
                <a:latin typeface="Calibri"/>
              </a:rPr>
              <a:t>article length</a:t>
            </a:r>
          </a:p>
        </p:txBody>
      </p:sp>
      <p:sp>
        <p:nvSpPr>
          <p:cNvPr id="19" name="TextBox 18"/>
          <p:cNvSpPr txBox="1"/>
          <p:nvPr/>
        </p:nvSpPr>
        <p:spPr>
          <a:xfrm>
            <a:off x="914400" y="4846320"/>
            <a:ext cx="5303520" cy="640080"/>
          </a:xfrm>
          <a:prstGeom prst="rect">
            <a:avLst/>
          </a:prstGeom>
          <a:noFill/>
        </p:spPr>
        <p:txBody>
          <a:bodyPr wrap="square" anchor="t">
            <a:spAutoFit/>
          </a:bodyPr>
          <a:lstStyle/>
          <a:p>
            <a:pPr algn="l">
              <a:spcAft>
                <a:spcPts val="200"/>
              </a:spcAft>
            </a:pPr>
            <a:r>
              <a:rPr sz="1300" b="1">
                <a:solidFill>
                  <a:srgbClr val="EEF3FA"/>
                </a:solidFill>
                <a:latin typeface="Calibri"/>
              </a:rPr>
              <a:t>All 400 scores: </a:t>
            </a:r>
            <a:r>
              <a:rPr sz="1300" b="0">
                <a:solidFill>
                  <a:srgbClr val="EEF3FA"/>
                </a:solidFill>
                <a:latin typeface="Calibri"/>
              </a:rPr>
              <a:t>−0.070 to +0.054, spread ΔX = 0.124</a:t>
            </a:r>
          </a:p>
          <a:p>
            <a:pPr algn="l">
              <a:spcAft>
                <a:spcPts val="0"/>
              </a:spcAft>
            </a:pPr>
            <a:r>
              <a:rPr sz="1100" b="0" i="0">
                <a:solidFill>
                  <a:srgbClr val="9AABC4"/>
                </a:solidFill>
                <a:latin typeface="Calibri"/>
              </a:rPr>
              <a:t>Units: standardised activity, no physical unit</a:t>
            </a:r>
          </a:p>
        </p:txBody>
      </p:sp>
      <p:sp>
        <p:nvSpPr>
          <p:cNvPr id="20" name="Rounded Rectangle 19"/>
          <p:cNvSpPr/>
          <p:nvPr/>
        </p:nvSpPr>
        <p:spPr>
          <a:xfrm>
            <a:off x="6583680" y="1325880"/>
            <a:ext cx="4919472" cy="4206240"/>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sp>
        <p:nvSpPr>
          <p:cNvPr id="21" name="TextBox 20"/>
          <p:cNvSpPr txBox="1"/>
          <p:nvPr/>
        </p:nvSpPr>
        <p:spPr>
          <a:xfrm>
            <a:off x="6766560" y="1417320"/>
            <a:ext cx="4572000" cy="274320"/>
          </a:xfrm>
          <a:prstGeom prst="rect">
            <a:avLst/>
          </a:prstGeom>
          <a:noFill/>
        </p:spPr>
        <p:txBody>
          <a:bodyPr wrap="square" anchor="t">
            <a:spAutoFit/>
          </a:bodyPr>
          <a:lstStyle/>
          <a:p>
            <a:pPr algn="l">
              <a:spcAft>
                <a:spcPts val="0"/>
              </a:spcAft>
            </a:pPr>
            <a:r>
              <a:rPr sz="1100" b="1" i="0">
                <a:solidFill>
                  <a:srgbClr val="9AABC4"/>
                </a:solidFill>
                <a:latin typeface="Calibri"/>
              </a:rPr>
              <a:t>AVERAGE SCORE X PER GROUP</a:t>
            </a:r>
          </a:p>
        </p:txBody>
      </p:sp>
      <p:sp>
        <p:nvSpPr>
          <p:cNvPr id="22" name="Rectangle 21"/>
          <p:cNvSpPr/>
          <p:nvPr/>
        </p:nvSpPr>
        <p:spPr>
          <a:xfrm>
            <a:off x="11064240" y="1783080"/>
            <a:ext cx="18288" cy="2834640"/>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607040" y="4617720"/>
            <a:ext cx="914400" cy="274320"/>
          </a:xfrm>
          <a:prstGeom prst="rect">
            <a:avLst/>
          </a:prstGeom>
          <a:noFill/>
        </p:spPr>
        <p:txBody>
          <a:bodyPr wrap="square" anchor="t">
            <a:spAutoFit/>
          </a:bodyPr>
          <a:lstStyle/>
          <a:p>
            <a:pPr algn="ctr">
              <a:spcAft>
                <a:spcPts val="0"/>
              </a:spcAft>
            </a:pPr>
            <a:r>
              <a:rPr sz="1200" b="1" i="0">
                <a:solidFill>
                  <a:srgbClr val="EEF3FA"/>
                </a:solidFill>
                <a:latin typeface="Calibri"/>
              </a:rPr>
              <a:t>0</a:t>
            </a:r>
          </a:p>
        </p:txBody>
      </p:sp>
      <p:sp>
        <p:nvSpPr>
          <p:cNvPr id="24" name="Rectangle 23"/>
          <p:cNvSpPr/>
          <p:nvPr/>
        </p:nvSpPr>
        <p:spPr>
          <a:xfrm>
            <a:off x="10800892" y="2148839"/>
            <a:ext cx="263347" cy="274320"/>
          </a:xfrm>
          <a:prstGeom prst="rect">
            <a:avLst/>
          </a:prstGeom>
          <a:solidFill>
            <a:srgbClr val="FF7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0" y="1856231"/>
            <a:ext cx="2926080" cy="274320"/>
          </a:xfrm>
          <a:prstGeom prst="rect">
            <a:avLst/>
          </a:prstGeom>
          <a:noFill/>
        </p:spPr>
        <p:txBody>
          <a:bodyPr wrap="square" anchor="t">
            <a:spAutoFit/>
          </a:bodyPr>
          <a:lstStyle/>
          <a:p>
            <a:pPr algn="l">
              <a:spcAft>
                <a:spcPts val="0"/>
              </a:spcAft>
            </a:pPr>
            <a:r>
              <a:rPr sz="1300" b="1" i="0">
                <a:solidFill>
                  <a:srgbClr val="EEF3FA"/>
                </a:solidFill>
                <a:latin typeface="Calibri"/>
              </a:rPr>
              <a:t>Fear-activating</a:t>
            </a:r>
          </a:p>
        </p:txBody>
      </p:sp>
      <p:sp>
        <p:nvSpPr>
          <p:cNvPr id="26" name="TextBox 25"/>
          <p:cNvSpPr txBox="1"/>
          <p:nvPr/>
        </p:nvSpPr>
        <p:spPr>
          <a:xfrm>
            <a:off x="9657892" y="2112263"/>
            <a:ext cx="1097280" cy="320040"/>
          </a:xfrm>
          <a:prstGeom prst="rect">
            <a:avLst/>
          </a:prstGeom>
          <a:noFill/>
        </p:spPr>
        <p:txBody>
          <a:bodyPr wrap="square" anchor="t">
            <a:spAutoFit/>
          </a:bodyPr>
          <a:lstStyle/>
          <a:p>
            <a:pPr algn="r">
              <a:spcAft>
                <a:spcPts val="0"/>
              </a:spcAft>
            </a:pPr>
            <a:r>
              <a:rPr sz="1300" b="1" i="0">
                <a:solidFill>
                  <a:srgbClr val="FF7A59"/>
                </a:solidFill>
                <a:latin typeface="Calibri"/>
              </a:rPr>
              <a:t>-0.002</a:t>
            </a:r>
          </a:p>
        </p:txBody>
      </p:sp>
      <p:sp>
        <p:nvSpPr>
          <p:cNvPr id="27" name="Rectangle 26"/>
          <p:cNvSpPr/>
          <p:nvPr/>
        </p:nvSpPr>
        <p:spPr>
          <a:xfrm>
            <a:off x="9191548" y="2834639"/>
            <a:ext cx="1872691" cy="274320"/>
          </a:xfrm>
          <a:prstGeom prst="rect">
            <a:avLst/>
          </a:prstGeom>
          <a:solidFill>
            <a:srgbClr val="3E8E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66560" y="2542032"/>
            <a:ext cx="2926080" cy="274320"/>
          </a:xfrm>
          <a:prstGeom prst="rect">
            <a:avLst/>
          </a:prstGeom>
          <a:noFill/>
        </p:spPr>
        <p:txBody>
          <a:bodyPr wrap="square" anchor="t">
            <a:spAutoFit/>
          </a:bodyPr>
          <a:lstStyle/>
          <a:p>
            <a:pPr algn="l">
              <a:spcAft>
                <a:spcPts val="0"/>
              </a:spcAft>
            </a:pPr>
            <a:r>
              <a:rPr sz="1300" b="1" i="0">
                <a:solidFill>
                  <a:srgbClr val="EEF3FA"/>
                </a:solidFill>
                <a:latin typeface="Calibri"/>
              </a:rPr>
              <a:t>Reward hook</a:t>
            </a:r>
          </a:p>
        </p:txBody>
      </p:sp>
      <p:sp>
        <p:nvSpPr>
          <p:cNvPr id="29" name="TextBox 28"/>
          <p:cNvSpPr txBox="1"/>
          <p:nvPr/>
        </p:nvSpPr>
        <p:spPr>
          <a:xfrm>
            <a:off x="8048548" y="2798063"/>
            <a:ext cx="1097280" cy="320040"/>
          </a:xfrm>
          <a:prstGeom prst="rect">
            <a:avLst/>
          </a:prstGeom>
          <a:noFill/>
        </p:spPr>
        <p:txBody>
          <a:bodyPr wrap="square" anchor="t">
            <a:spAutoFit/>
          </a:bodyPr>
          <a:lstStyle/>
          <a:p>
            <a:pPr algn="r">
              <a:spcAft>
                <a:spcPts val="0"/>
              </a:spcAft>
            </a:pPr>
            <a:r>
              <a:rPr sz="1300" b="1" i="0">
                <a:solidFill>
                  <a:srgbClr val="3E8EDE"/>
                </a:solidFill>
                <a:latin typeface="Calibri"/>
              </a:rPr>
              <a:t>-0.013</a:t>
            </a:r>
          </a:p>
        </p:txBody>
      </p:sp>
      <p:sp>
        <p:nvSpPr>
          <p:cNvPr id="30" name="Rectangle 29"/>
          <p:cNvSpPr/>
          <p:nvPr/>
        </p:nvSpPr>
        <p:spPr>
          <a:xfrm>
            <a:off x="8357616" y="3520439"/>
            <a:ext cx="2706624" cy="274320"/>
          </a:xfrm>
          <a:prstGeom prst="rect">
            <a:avLst/>
          </a:prstGeom>
          <a:solidFill>
            <a:srgbClr val="F5B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66560" y="3227832"/>
            <a:ext cx="2926080" cy="274320"/>
          </a:xfrm>
          <a:prstGeom prst="rect">
            <a:avLst/>
          </a:prstGeom>
          <a:noFill/>
        </p:spPr>
        <p:txBody>
          <a:bodyPr wrap="square" anchor="t">
            <a:spAutoFit/>
          </a:bodyPr>
          <a:lstStyle/>
          <a:p>
            <a:pPr algn="l">
              <a:spcAft>
                <a:spcPts val="0"/>
              </a:spcAft>
            </a:pPr>
            <a:r>
              <a:rPr sz="1300" b="1" i="0">
                <a:solidFill>
                  <a:srgbClr val="EEF3FA"/>
                </a:solidFill>
                <a:latin typeface="Calibri"/>
              </a:rPr>
              <a:t>High outrage</a:t>
            </a:r>
          </a:p>
        </p:txBody>
      </p:sp>
      <p:sp>
        <p:nvSpPr>
          <p:cNvPr id="32" name="TextBox 31"/>
          <p:cNvSpPr txBox="1"/>
          <p:nvPr/>
        </p:nvSpPr>
        <p:spPr>
          <a:xfrm>
            <a:off x="7214616" y="3483863"/>
            <a:ext cx="1097280" cy="320040"/>
          </a:xfrm>
          <a:prstGeom prst="rect">
            <a:avLst/>
          </a:prstGeom>
          <a:noFill/>
        </p:spPr>
        <p:txBody>
          <a:bodyPr wrap="square" anchor="t">
            <a:spAutoFit/>
          </a:bodyPr>
          <a:lstStyle/>
          <a:p>
            <a:pPr algn="r">
              <a:spcAft>
                <a:spcPts val="0"/>
              </a:spcAft>
            </a:pPr>
            <a:r>
              <a:rPr sz="1300" b="1" i="0">
                <a:solidFill>
                  <a:srgbClr val="F5B83D"/>
                </a:solidFill>
                <a:latin typeface="Calibri"/>
              </a:rPr>
              <a:t>-0.018</a:t>
            </a:r>
          </a:p>
        </p:txBody>
      </p:sp>
      <p:sp>
        <p:nvSpPr>
          <p:cNvPr id="33" name="Rectangle 32"/>
          <p:cNvSpPr/>
          <p:nvPr/>
        </p:nvSpPr>
        <p:spPr>
          <a:xfrm>
            <a:off x="8269833" y="4206240"/>
            <a:ext cx="2794406" cy="274320"/>
          </a:xfrm>
          <a:prstGeom prst="rect">
            <a:avLst/>
          </a:prstGeom>
          <a:solidFill>
            <a:srgbClr val="9AA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0" y="3913632"/>
            <a:ext cx="2926080" cy="274320"/>
          </a:xfrm>
          <a:prstGeom prst="rect">
            <a:avLst/>
          </a:prstGeom>
          <a:noFill/>
        </p:spPr>
        <p:txBody>
          <a:bodyPr wrap="square" anchor="t">
            <a:spAutoFit/>
          </a:bodyPr>
          <a:lstStyle/>
          <a:p>
            <a:pPr algn="l">
              <a:spcAft>
                <a:spcPts val="0"/>
              </a:spcAft>
            </a:pPr>
            <a:r>
              <a:rPr sz="1300" b="1" i="0">
                <a:solidFill>
                  <a:srgbClr val="EEF3FA"/>
                </a:solidFill>
                <a:latin typeface="Calibri"/>
              </a:rPr>
              <a:t>Neutral</a:t>
            </a:r>
          </a:p>
        </p:txBody>
      </p:sp>
      <p:sp>
        <p:nvSpPr>
          <p:cNvPr id="35" name="TextBox 34"/>
          <p:cNvSpPr txBox="1"/>
          <p:nvPr/>
        </p:nvSpPr>
        <p:spPr>
          <a:xfrm>
            <a:off x="7126833" y="4169663"/>
            <a:ext cx="1097280" cy="320040"/>
          </a:xfrm>
          <a:prstGeom prst="rect">
            <a:avLst/>
          </a:prstGeom>
          <a:noFill/>
        </p:spPr>
        <p:txBody>
          <a:bodyPr wrap="square" anchor="t">
            <a:spAutoFit/>
          </a:bodyPr>
          <a:lstStyle/>
          <a:p>
            <a:pPr algn="r">
              <a:spcAft>
                <a:spcPts val="0"/>
              </a:spcAft>
            </a:pPr>
            <a:r>
              <a:rPr sz="1300" b="1" i="0">
                <a:solidFill>
                  <a:srgbClr val="9AABC4"/>
                </a:solidFill>
                <a:latin typeface="Calibri"/>
              </a:rPr>
              <a:t>-0.019</a:t>
            </a:r>
          </a:p>
        </p:txBody>
      </p:sp>
      <p:sp>
        <p:nvSpPr>
          <p:cNvPr id="36" name="TextBox 35"/>
          <p:cNvSpPr txBox="1"/>
          <p:nvPr/>
        </p:nvSpPr>
        <p:spPr>
          <a:xfrm>
            <a:off x="6766560" y="4892040"/>
            <a:ext cx="4572000" cy="548640"/>
          </a:xfrm>
          <a:prstGeom prst="rect">
            <a:avLst/>
          </a:prstGeom>
          <a:noFill/>
        </p:spPr>
        <p:txBody>
          <a:bodyPr wrap="square" anchor="t">
            <a:spAutoFit/>
          </a:bodyPr>
          <a:lstStyle/>
          <a:p>
            <a:pPr algn="l">
              <a:spcAft>
                <a:spcPts val="0"/>
              </a:spcAft>
            </a:pPr>
            <a:r>
              <a:rPr sz="1200" b="0" i="0">
                <a:solidFill>
                  <a:srgbClr val="9AABC4"/>
                </a:solidFill>
                <a:latin typeface="Calibri"/>
              </a:rPr>
              <a:t>All four below 0: the deliberate areas respond more in every group.</a:t>
            </a:r>
          </a:p>
        </p:txBody>
      </p:sp>
      <p:sp>
        <p:nvSpPr>
          <p:cNvPr id="37" name="TextBox 36"/>
          <p:cNvSpPr txBox="1"/>
          <p:nvPr/>
        </p:nvSpPr>
        <p:spPr>
          <a:xfrm>
            <a:off x="685800" y="5669280"/>
            <a:ext cx="5943600" cy="320040"/>
          </a:xfrm>
          <a:prstGeom prst="rect">
            <a:avLst/>
          </a:prstGeom>
          <a:noFill/>
        </p:spPr>
        <p:txBody>
          <a:bodyPr wrap="square" anchor="t">
            <a:spAutoFit/>
          </a:bodyPr>
          <a:lstStyle/>
          <a:p>
            <a:pPr algn="l">
              <a:spcAft>
                <a:spcPts val="0"/>
              </a:spcAft>
            </a:pPr>
            <a:r>
              <a:rPr sz="1300" b="1">
                <a:solidFill>
                  <a:srgbClr val="EEF3FA"/>
                </a:solidFill>
                <a:latin typeface="Calibri"/>
              </a:rPr>
              <a:t>Live: </a:t>
            </a:r>
            <a:r>
              <a:rPr sz="1300" b="1">
                <a:solidFill>
                  <a:srgbClr val="F5B83D"/>
                </a:solidFill>
                <a:latin typeface="Calibri"/>
              </a:rPr>
              <a:t>monarch-4iy.pages.dev/corpus</a:t>
            </a:r>
          </a:p>
        </p:txBody>
      </p:sp>
      <p:sp>
        <p:nvSpPr>
          <p:cNvPr id="38" name="TextBox 37"/>
          <p:cNvSpPr txBox="1"/>
          <p:nvPr/>
        </p:nvSpPr>
        <p:spPr>
          <a:xfrm>
            <a:off x="6019495" y="6053328"/>
            <a:ext cx="5486400" cy="274320"/>
          </a:xfrm>
          <a:prstGeom prst="rect">
            <a:avLst/>
          </a:prstGeom>
          <a:noFill/>
        </p:spPr>
        <p:txBody>
          <a:bodyPr wrap="square" anchor="t">
            <a:spAutoFit/>
          </a:bodyPr>
          <a:lstStyle/>
          <a:p>
            <a:pPr algn="r">
              <a:spcAft>
                <a:spcPts val="0"/>
              </a:spcAft>
            </a:pPr>
            <a:r>
              <a:rPr sz="1200" b="1" i="0">
                <a:solidFill>
                  <a:srgbClr val="F5B83D"/>
                </a:solidFill>
                <a:latin typeface="Calibri"/>
              </a:rPr>
              <a:t>Next: are these differences real?  →</a:t>
            </a:r>
          </a:p>
        </p:txBody>
      </p:sp>
      <p:sp>
        <p:nvSpPr>
          <p:cNvPr id="39" name="TextBox 38"/>
          <p:cNvSpPr txBox="1"/>
          <p:nvPr/>
        </p:nvSpPr>
        <p:spPr>
          <a:xfrm>
            <a:off x="685800" y="6355080"/>
            <a:ext cx="4572000" cy="320040"/>
          </a:xfrm>
          <a:prstGeom prst="rect">
            <a:avLst/>
          </a:prstGeom>
          <a:noFill/>
        </p:spPr>
        <p:txBody>
          <a:bodyPr wrap="square" anchor="t">
            <a:spAutoFit/>
          </a:bodyPr>
          <a:lstStyle/>
          <a:p>
            <a:pPr algn="l">
              <a:spcAft>
                <a:spcPts val="0"/>
              </a:spcAft>
            </a:pPr>
            <a:r>
              <a:rPr sz="1000" b="1" i="0">
                <a:solidFill>
                  <a:srgbClr val="9AABC4"/>
                </a:solidFill>
                <a:latin typeface="Calibri"/>
              </a:rPr>
              <a:t>THE METHOD</a:t>
            </a:r>
          </a:p>
        </p:txBody>
      </p:sp>
      <p:sp>
        <p:nvSpPr>
          <p:cNvPr id="40" name="Rectangle 39"/>
          <p:cNvSpPr/>
          <p:nvPr/>
        </p:nvSpPr>
        <p:spPr>
          <a:xfrm>
            <a:off x="4692243"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268315" y="6473952"/>
            <a:ext cx="502920" cy="36576"/>
          </a:xfrm>
          <a:prstGeom prst="rect">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844387"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420459"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996531"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91495" y="6355080"/>
            <a:ext cx="914400" cy="320040"/>
          </a:xfrm>
          <a:prstGeom prst="rect">
            <a:avLst/>
          </a:prstGeom>
          <a:noFill/>
        </p:spPr>
        <p:txBody>
          <a:bodyPr wrap="square" anchor="t">
            <a:spAutoFit/>
          </a:bodyPr>
          <a:lstStyle/>
          <a:p>
            <a:pPr algn="r">
              <a:spcAft>
                <a:spcPts val="0"/>
              </a:spcAft>
            </a:pPr>
            <a:r>
              <a:rPr sz="1100" b="1" i="0">
                <a:solidFill>
                  <a:srgbClr val="9AABC4"/>
                </a:solidFill>
                <a:latin typeface="Calibri"/>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hart-bar.png"/>
          <p:cNvPicPr>
            <a:picLocks noChangeAspect="1"/>
          </p:cNvPicPr>
          <p:nvPr/>
        </p:nvPicPr>
        <p:blipFill>
          <a:blip r:embed="rId3"/>
          <a:stretch>
            <a:fillRect/>
          </a:stretch>
        </p:blipFill>
        <p:spPr>
          <a:xfrm>
            <a:off x="685800" y="457200"/>
            <a:ext cx="420624" cy="420624"/>
          </a:xfrm>
          <a:prstGeom prst="rect">
            <a:avLst/>
          </a:prstGeom>
        </p:spPr>
      </p:pic>
      <p:sp>
        <p:nvSpPr>
          <p:cNvPr id="5" name="TextBox 4"/>
          <p:cNvSpPr txBox="1"/>
          <p:nvPr/>
        </p:nvSpPr>
        <p:spPr>
          <a:xfrm>
            <a:off x="1289304" y="201168"/>
            <a:ext cx="10216591" cy="320040"/>
          </a:xfrm>
          <a:prstGeom prst="rect">
            <a:avLst/>
          </a:prstGeom>
          <a:noFill/>
        </p:spPr>
        <p:txBody>
          <a:bodyPr wrap="square" anchor="t">
            <a:spAutoFit/>
          </a:bodyPr>
          <a:lstStyle/>
          <a:p>
            <a:pPr algn="l">
              <a:spcAft>
                <a:spcPts val="0"/>
              </a:spcAft>
            </a:pPr>
            <a:r>
              <a:rPr sz="1200" b="1" i="0">
                <a:solidFill>
                  <a:srgbClr val="FF7A59"/>
                </a:solidFill>
                <a:latin typeface="Calibri"/>
              </a:rPr>
              <a:t>THE RESULTS</a:t>
            </a:r>
          </a:p>
        </p:txBody>
      </p:sp>
      <p:sp>
        <p:nvSpPr>
          <p:cNvPr id="6" name="TextBox 5"/>
          <p:cNvSpPr txBox="1"/>
          <p:nvPr/>
        </p:nvSpPr>
        <p:spPr>
          <a:xfrm>
            <a:off x="1289304" y="420624"/>
            <a:ext cx="10216591" cy="822960"/>
          </a:xfrm>
          <a:prstGeom prst="rect">
            <a:avLst/>
          </a:prstGeom>
          <a:noFill/>
        </p:spPr>
        <p:txBody>
          <a:bodyPr wrap="square" anchor="t">
            <a:spAutoFit/>
          </a:bodyPr>
          <a:lstStyle/>
          <a:p>
            <a:pPr algn="l">
              <a:spcAft>
                <a:spcPts val="0"/>
              </a:spcAft>
            </a:pPr>
            <a:r>
              <a:rPr sz="2600" b="1" i="0">
                <a:solidFill>
                  <a:srgbClr val="7CC4FF"/>
                </a:solidFill>
                <a:latin typeface="Calibri"/>
              </a:rPr>
              <a:t>Result 1: the four groups differ, η² = 0.107</a:t>
            </a:r>
          </a:p>
        </p:txBody>
      </p:sp>
      <p:graphicFrame>
        <p:nvGraphicFramePr>
          <p:cNvPr id="7" name="Chart 6"/>
          <p:cNvGraphicFramePr>
            <a:graphicFrameLocks noGrp="1"/>
          </p:cNvGraphicFramePr>
          <p:nvPr/>
        </p:nvGraphicFramePr>
        <p:xfrm>
          <a:off x="685800" y="1325880"/>
          <a:ext cx="3383280" cy="3383280"/>
        </p:xfrm>
        <a:graphic>
          <a:graphicData uri="http://schemas.openxmlformats.org/drawingml/2006/chart">
            <c:chart xmlns:c="http://schemas.openxmlformats.org/drawingml/2006/chart" r:id="rId4"/>
          </a:graphicData>
        </a:graphic>
      </p:graphicFrame>
      <p:sp>
        <p:nvSpPr>
          <p:cNvPr id="8" name="TextBox 7"/>
          <p:cNvSpPr txBox="1"/>
          <p:nvPr/>
        </p:nvSpPr>
        <p:spPr>
          <a:xfrm>
            <a:off x="685800" y="2560320"/>
            <a:ext cx="3383280" cy="914400"/>
          </a:xfrm>
          <a:prstGeom prst="rect">
            <a:avLst/>
          </a:prstGeom>
          <a:noFill/>
        </p:spPr>
        <p:txBody>
          <a:bodyPr wrap="square" anchor="t">
            <a:spAutoFit/>
          </a:bodyPr>
          <a:lstStyle/>
          <a:p>
            <a:pPr algn="ctr">
              <a:spcAft>
                <a:spcPts val="0"/>
              </a:spcAft>
            </a:pPr>
            <a:r>
              <a:rPr sz="4000" b="1" i="0">
                <a:solidFill>
                  <a:srgbClr val="EEF3FA"/>
                </a:solidFill>
                <a:latin typeface="Calibri"/>
              </a:rPr>
              <a:t>10.7%</a:t>
            </a:r>
          </a:p>
        </p:txBody>
      </p:sp>
      <p:sp>
        <p:nvSpPr>
          <p:cNvPr id="9" name="TextBox 8"/>
          <p:cNvSpPr txBox="1"/>
          <p:nvPr/>
        </p:nvSpPr>
        <p:spPr>
          <a:xfrm>
            <a:off x="685800" y="4709160"/>
            <a:ext cx="3383280" cy="822960"/>
          </a:xfrm>
          <a:prstGeom prst="rect">
            <a:avLst/>
          </a:prstGeom>
          <a:noFill/>
        </p:spPr>
        <p:txBody>
          <a:bodyPr wrap="square" anchor="t">
            <a:spAutoFit/>
          </a:bodyPr>
          <a:lstStyle/>
          <a:p>
            <a:pPr algn="ctr">
              <a:spcAft>
                <a:spcPts val="0"/>
              </a:spcAft>
            </a:pPr>
            <a:r>
              <a:rPr sz="1400" b="1">
                <a:solidFill>
                  <a:srgbClr val="7CC4FF"/>
                </a:solidFill>
                <a:latin typeface="Calibri"/>
              </a:rPr>
              <a:t>10.7% </a:t>
            </a:r>
            <a:r>
              <a:rPr sz="1400" b="0">
                <a:solidFill>
                  <a:srgbClr val="EEF3FA"/>
                </a:solidFill>
                <a:latin typeface="Calibri"/>
              </a:rPr>
              <a:t>of the variation in the score is due to the group</a:t>
            </a:r>
          </a:p>
        </p:txBody>
      </p:sp>
      <p:pic>
        <p:nvPicPr>
          <p:cNvPr id="10" name="Picture 9" descr="77685d6b0a4c6bfb.png"/>
          <p:cNvPicPr>
            <a:picLocks noChangeAspect="1"/>
          </p:cNvPicPr>
          <p:nvPr/>
        </p:nvPicPr>
        <p:blipFill>
          <a:blip r:embed="rId5"/>
          <a:stretch>
            <a:fillRect/>
          </a:stretch>
        </p:blipFill>
        <p:spPr>
          <a:xfrm>
            <a:off x="4343400" y="1371600"/>
            <a:ext cx="2768574" cy="490347"/>
          </a:xfrm>
          <a:prstGeom prst="rect">
            <a:avLst/>
          </a:prstGeom>
        </p:spPr>
      </p:pic>
      <p:sp>
        <p:nvSpPr>
          <p:cNvPr id="11" name="TextBox 10"/>
          <p:cNvSpPr txBox="1"/>
          <p:nvPr/>
        </p:nvSpPr>
        <p:spPr>
          <a:xfrm>
            <a:off x="4343400" y="2331720"/>
            <a:ext cx="7132320" cy="274320"/>
          </a:xfrm>
          <a:prstGeom prst="rect">
            <a:avLst/>
          </a:prstGeom>
          <a:noFill/>
        </p:spPr>
        <p:txBody>
          <a:bodyPr wrap="square" anchor="t">
            <a:spAutoFit/>
          </a:bodyPr>
          <a:lstStyle/>
          <a:p>
            <a:pPr algn="l">
              <a:spcAft>
                <a:spcPts val="0"/>
              </a:spcAft>
            </a:pPr>
            <a:r>
              <a:rPr sz="1100" b="1" i="0">
                <a:solidFill>
                  <a:srgbClr val="9AABC4"/>
                </a:solidFill>
                <a:latin typeface="Calibri"/>
              </a:rPr>
              <a:t>η² ON EACH RUN (one-way ANOVA), AGAINST THE SMALLEST WE COULD DETECT</a:t>
            </a:r>
          </a:p>
        </p:txBody>
      </p:sp>
      <p:sp>
        <p:nvSpPr>
          <p:cNvPr id="12" name="TextBox 11"/>
          <p:cNvSpPr txBox="1"/>
          <p:nvPr/>
        </p:nvSpPr>
        <p:spPr>
          <a:xfrm>
            <a:off x="4343399" y="2679192"/>
            <a:ext cx="1325880" cy="411480"/>
          </a:xfrm>
          <a:prstGeom prst="rect">
            <a:avLst/>
          </a:prstGeom>
          <a:noFill/>
        </p:spPr>
        <p:txBody>
          <a:bodyPr wrap="square" anchor="t">
            <a:spAutoFit/>
          </a:bodyPr>
          <a:lstStyle/>
          <a:p>
            <a:pPr algn="r">
              <a:spcAft>
                <a:spcPts val="0"/>
              </a:spcAft>
            </a:pPr>
            <a:r>
              <a:rPr sz="1400" b="0" i="0">
                <a:solidFill>
                  <a:srgbClr val="9AABC4"/>
                </a:solidFill>
                <a:latin typeface="Calibri"/>
              </a:rPr>
              <a:t>first run</a:t>
            </a:r>
          </a:p>
        </p:txBody>
      </p:sp>
      <p:sp>
        <p:nvSpPr>
          <p:cNvPr id="13" name="Rectangle 12"/>
          <p:cNvSpPr/>
          <p:nvPr/>
        </p:nvSpPr>
        <p:spPr>
          <a:xfrm>
            <a:off x="5806440" y="2743200"/>
            <a:ext cx="4206240" cy="274320"/>
          </a:xfrm>
          <a:prstGeom prst="rect">
            <a:avLst/>
          </a:prstGeom>
          <a:solidFill>
            <a:srgbClr val="2A3D5E">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806440" y="2743200"/>
            <a:ext cx="3743553" cy="274320"/>
          </a:xfrm>
          <a:prstGeom prst="rect">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0" y="2679192"/>
            <a:ext cx="2926080" cy="411480"/>
          </a:xfrm>
          <a:prstGeom prst="rect">
            <a:avLst/>
          </a:prstGeom>
          <a:noFill/>
        </p:spPr>
        <p:txBody>
          <a:bodyPr wrap="square" anchor="t">
            <a:spAutoFit/>
          </a:bodyPr>
          <a:lstStyle/>
          <a:p>
            <a:pPr algn="l">
              <a:spcAft>
                <a:spcPts val="0"/>
              </a:spcAft>
            </a:pPr>
            <a:r>
              <a:rPr sz="1400" b="1" i="0">
                <a:solidFill>
                  <a:srgbClr val="7CC4FF"/>
                </a:solidFill>
                <a:latin typeface="Calibri"/>
              </a:rPr>
              <a:t>0.107</a:t>
            </a:r>
          </a:p>
        </p:txBody>
      </p:sp>
      <p:sp>
        <p:nvSpPr>
          <p:cNvPr id="16" name="TextBox 15"/>
          <p:cNvSpPr txBox="1"/>
          <p:nvPr/>
        </p:nvSpPr>
        <p:spPr>
          <a:xfrm>
            <a:off x="4343399" y="3182112"/>
            <a:ext cx="1325880" cy="411480"/>
          </a:xfrm>
          <a:prstGeom prst="rect">
            <a:avLst/>
          </a:prstGeom>
          <a:noFill/>
        </p:spPr>
        <p:txBody>
          <a:bodyPr wrap="square" anchor="t">
            <a:spAutoFit/>
          </a:bodyPr>
          <a:lstStyle/>
          <a:p>
            <a:pPr algn="r">
              <a:spcAft>
                <a:spcPts val="0"/>
              </a:spcAft>
            </a:pPr>
            <a:r>
              <a:rPr sz="1400" b="0" i="0">
                <a:solidFill>
                  <a:srgbClr val="9AABC4"/>
                </a:solidFill>
                <a:latin typeface="Calibri"/>
              </a:rPr>
              <a:t>second run</a:t>
            </a:r>
          </a:p>
        </p:txBody>
      </p:sp>
      <p:sp>
        <p:nvSpPr>
          <p:cNvPr id="17" name="Rectangle 16"/>
          <p:cNvSpPr/>
          <p:nvPr/>
        </p:nvSpPr>
        <p:spPr>
          <a:xfrm>
            <a:off x="5806440" y="3246120"/>
            <a:ext cx="4206240" cy="274320"/>
          </a:xfrm>
          <a:prstGeom prst="rect">
            <a:avLst/>
          </a:prstGeom>
          <a:solidFill>
            <a:srgbClr val="2A3D5E">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806440" y="3246120"/>
            <a:ext cx="3112617" cy="274320"/>
          </a:xfrm>
          <a:prstGeom prst="rect">
            <a:avLst/>
          </a:prstGeom>
          <a:solidFill>
            <a:srgbClr val="3E8E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49840" y="3182112"/>
            <a:ext cx="2926080" cy="411480"/>
          </a:xfrm>
          <a:prstGeom prst="rect">
            <a:avLst/>
          </a:prstGeom>
          <a:noFill/>
        </p:spPr>
        <p:txBody>
          <a:bodyPr wrap="square" anchor="t">
            <a:spAutoFit/>
          </a:bodyPr>
          <a:lstStyle/>
          <a:p>
            <a:pPr algn="l">
              <a:spcAft>
                <a:spcPts val="0"/>
              </a:spcAft>
            </a:pPr>
            <a:r>
              <a:rPr sz="1400" b="1" i="0">
                <a:solidFill>
                  <a:srgbClr val="3E8EDE"/>
                </a:solidFill>
                <a:latin typeface="Calibri"/>
              </a:rPr>
              <a:t>0.089</a:t>
            </a:r>
          </a:p>
        </p:txBody>
      </p:sp>
      <p:sp>
        <p:nvSpPr>
          <p:cNvPr id="20" name="TextBox 19"/>
          <p:cNvSpPr txBox="1"/>
          <p:nvPr/>
        </p:nvSpPr>
        <p:spPr>
          <a:xfrm>
            <a:off x="4343399" y="3685031"/>
            <a:ext cx="1325880" cy="411480"/>
          </a:xfrm>
          <a:prstGeom prst="rect">
            <a:avLst/>
          </a:prstGeom>
          <a:noFill/>
        </p:spPr>
        <p:txBody>
          <a:bodyPr wrap="square" anchor="t">
            <a:spAutoFit/>
          </a:bodyPr>
          <a:lstStyle/>
          <a:p>
            <a:pPr algn="r">
              <a:spcAft>
                <a:spcPts val="0"/>
              </a:spcAft>
            </a:pPr>
            <a:r>
              <a:rPr sz="1400" b="0" i="0">
                <a:solidFill>
                  <a:srgbClr val="9AABC4"/>
                </a:solidFill>
                <a:latin typeface="Calibri"/>
              </a:rPr>
              <a:t>detectable</a:t>
            </a:r>
          </a:p>
        </p:txBody>
      </p:sp>
      <p:sp>
        <p:nvSpPr>
          <p:cNvPr id="21" name="Rectangle 20"/>
          <p:cNvSpPr/>
          <p:nvPr/>
        </p:nvSpPr>
        <p:spPr>
          <a:xfrm>
            <a:off x="5806440" y="3749039"/>
            <a:ext cx="4206240" cy="274320"/>
          </a:xfrm>
          <a:prstGeom prst="rect">
            <a:avLst/>
          </a:prstGeom>
          <a:solidFill>
            <a:srgbClr val="2A3D5E">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806440" y="3749039"/>
            <a:ext cx="939393" cy="274320"/>
          </a:xfrm>
          <a:prstGeom prst="rect">
            <a:avLst/>
          </a:prstGeom>
          <a:solidFill>
            <a:srgbClr val="9AA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149840" y="3685031"/>
            <a:ext cx="2926080" cy="411480"/>
          </a:xfrm>
          <a:prstGeom prst="rect">
            <a:avLst/>
          </a:prstGeom>
          <a:noFill/>
        </p:spPr>
        <p:txBody>
          <a:bodyPr wrap="square" anchor="t">
            <a:spAutoFit/>
          </a:bodyPr>
          <a:lstStyle/>
          <a:p>
            <a:pPr algn="l">
              <a:spcAft>
                <a:spcPts val="0"/>
              </a:spcAft>
            </a:pPr>
            <a:r>
              <a:rPr sz="1400" b="1" i="0">
                <a:solidFill>
                  <a:srgbClr val="9AABC4"/>
                </a:solidFill>
                <a:latin typeface="Calibri"/>
              </a:rPr>
              <a:t>0.027</a:t>
            </a:r>
          </a:p>
        </p:txBody>
      </p:sp>
      <p:sp>
        <p:nvSpPr>
          <p:cNvPr id="24" name="Rounded Rectangle 23"/>
          <p:cNvSpPr/>
          <p:nvPr/>
        </p:nvSpPr>
        <p:spPr>
          <a:xfrm>
            <a:off x="4343400" y="4343400"/>
            <a:ext cx="3474720" cy="1188720"/>
          </a:xfrm>
          <a:prstGeom prst="roundRect">
            <a:avLst>
              <a:gd name="adj" fmla="val 6000"/>
            </a:avLst>
          </a:prstGeom>
          <a:solidFill>
            <a:srgbClr val="12223C"/>
          </a:solidFill>
          <a:ln w="25400">
            <a:solidFill>
              <a:srgbClr val="3E8ED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2400" b="1" i="0">
                <a:solidFill>
                  <a:srgbClr val="3E8EDE"/>
                </a:solidFill>
                <a:latin typeface="Calibri"/>
              </a:rPr>
              <a:t>F = 15.779</a:t>
            </a:r>
          </a:p>
          <a:p>
            <a:pPr algn="ctr">
              <a:spcAft>
                <a:spcPts val="0"/>
              </a:spcAft>
            </a:pPr>
            <a:r>
              <a:rPr sz="1200" b="0" i="0">
                <a:solidFill>
                  <a:srgbClr val="EEF3FA"/>
                </a:solidFill>
                <a:latin typeface="Calibri"/>
              </a:rPr>
              <a:t>between-group spread ÷ within-group spread</a:t>
            </a:r>
          </a:p>
        </p:txBody>
      </p:sp>
      <p:sp>
        <p:nvSpPr>
          <p:cNvPr id="25" name="Rounded Rectangle 24"/>
          <p:cNvSpPr/>
          <p:nvPr/>
        </p:nvSpPr>
        <p:spPr>
          <a:xfrm>
            <a:off x="8028431" y="4343400"/>
            <a:ext cx="3474720" cy="1188720"/>
          </a:xfrm>
          <a:prstGeom prst="roundRect">
            <a:avLst>
              <a:gd name="adj" fmla="val 6000"/>
            </a:avLst>
          </a:prstGeom>
          <a:solidFill>
            <a:srgbClr val="12223C"/>
          </a:solidFill>
          <a:ln w="25400">
            <a:solidFill>
              <a:srgbClr val="5FD09A"/>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2400" b="1" i="0">
                <a:solidFill>
                  <a:srgbClr val="5FD09A"/>
                </a:solidFill>
                <a:latin typeface="Calibri"/>
              </a:rPr>
              <a:t>p = 1.0 × 10⁻⁹</a:t>
            </a:r>
          </a:p>
          <a:p>
            <a:pPr algn="ctr">
              <a:spcAft>
                <a:spcPts val="0"/>
              </a:spcAft>
            </a:pPr>
            <a:r>
              <a:rPr sz="1200" b="0" i="0">
                <a:solidFill>
                  <a:srgbClr val="EEF3FA"/>
                </a:solidFill>
                <a:latin typeface="Calibri"/>
              </a:rPr>
              <a:t>probability of F this large if all 4 groups were equal</a:t>
            </a:r>
          </a:p>
        </p:txBody>
      </p:sp>
      <p:sp>
        <p:nvSpPr>
          <p:cNvPr id="26" name="TextBox 25"/>
          <p:cNvSpPr txBox="1"/>
          <p:nvPr/>
        </p:nvSpPr>
        <p:spPr>
          <a:xfrm>
            <a:off x="685800" y="5623560"/>
            <a:ext cx="5486400" cy="320040"/>
          </a:xfrm>
          <a:prstGeom prst="rect">
            <a:avLst/>
          </a:prstGeom>
          <a:noFill/>
        </p:spPr>
        <p:txBody>
          <a:bodyPr wrap="square" anchor="t">
            <a:spAutoFit/>
          </a:bodyPr>
          <a:lstStyle/>
          <a:p>
            <a:pPr algn="l">
              <a:spcAft>
                <a:spcPts val="0"/>
              </a:spcAft>
            </a:pPr>
            <a:r>
              <a:rPr sz="1200" b="0" i="0">
                <a:solidFill>
                  <a:srgbClr val="9AABC4"/>
                </a:solidFill>
                <a:latin typeface="Calibri"/>
              </a:rPr>
              <a:t>SS = sum of squares. The other 89.3% is article to article.</a:t>
            </a:r>
          </a:p>
        </p:txBody>
      </p:sp>
      <p:sp>
        <p:nvSpPr>
          <p:cNvPr id="27" name="TextBox 26"/>
          <p:cNvSpPr txBox="1"/>
          <p:nvPr/>
        </p:nvSpPr>
        <p:spPr>
          <a:xfrm>
            <a:off x="6019495" y="6053328"/>
            <a:ext cx="5486400" cy="274320"/>
          </a:xfrm>
          <a:prstGeom prst="rect">
            <a:avLst/>
          </a:prstGeom>
          <a:noFill/>
        </p:spPr>
        <p:txBody>
          <a:bodyPr wrap="square" anchor="t">
            <a:spAutoFit/>
          </a:bodyPr>
          <a:lstStyle/>
          <a:p>
            <a:pPr algn="r">
              <a:spcAft>
                <a:spcPts val="0"/>
              </a:spcAft>
            </a:pPr>
            <a:r>
              <a:rPr sz="1200" b="1" i="0">
                <a:solidFill>
                  <a:srgbClr val="F5B83D"/>
                </a:solidFill>
                <a:latin typeface="Calibri"/>
              </a:rPr>
              <a:t>Next: which group drives it?  →</a:t>
            </a:r>
          </a:p>
        </p:txBody>
      </p:sp>
      <p:sp>
        <p:nvSpPr>
          <p:cNvPr id="28" name="TextBox 27"/>
          <p:cNvSpPr txBox="1"/>
          <p:nvPr/>
        </p:nvSpPr>
        <p:spPr>
          <a:xfrm>
            <a:off x="685800" y="6355080"/>
            <a:ext cx="4572000" cy="320040"/>
          </a:xfrm>
          <a:prstGeom prst="rect">
            <a:avLst/>
          </a:prstGeom>
          <a:noFill/>
        </p:spPr>
        <p:txBody>
          <a:bodyPr wrap="square" anchor="t">
            <a:spAutoFit/>
          </a:bodyPr>
          <a:lstStyle/>
          <a:p>
            <a:pPr algn="l">
              <a:spcAft>
                <a:spcPts val="0"/>
              </a:spcAft>
            </a:pPr>
            <a:r>
              <a:rPr sz="1000" b="1" i="0">
                <a:solidFill>
                  <a:srgbClr val="9AABC4"/>
                </a:solidFill>
                <a:latin typeface="Calibri"/>
              </a:rPr>
              <a:t>THE RESULTS</a:t>
            </a:r>
          </a:p>
        </p:txBody>
      </p:sp>
      <p:sp>
        <p:nvSpPr>
          <p:cNvPr id="29" name="Rectangle 28"/>
          <p:cNvSpPr/>
          <p:nvPr/>
        </p:nvSpPr>
        <p:spPr>
          <a:xfrm>
            <a:off x="4692243"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268315"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844387" y="6473952"/>
            <a:ext cx="502920" cy="36576"/>
          </a:xfrm>
          <a:prstGeom prst="rect">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20459"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96531"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591495" y="6355080"/>
            <a:ext cx="914400" cy="320040"/>
          </a:xfrm>
          <a:prstGeom prst="rect">
            <a:avLst/>
          </a:prstGeom>
          <a:noFill/>
        </p:spPr>
        <p:txBody>
          <a:bodyPr wrap="square" anchor="t">
            <a:spAutoFit/>
          </a:bodyPr>
          <a:lstStyle/>
          <a:p>
            <a:pPr algn="r">
              <a:spcAft>
                <a:spcPts val="0"/>
              </a:spcAft>
            </a:pPr>
            <a:r>
              <a:rPr sz="1100" b="1" i="0">
                <a:solidFill>
                  <a:srgbClr val="9AABC4"/>
                </a:solidFill>
                <a:latin typeface="Calibri"/>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hart-bar.png"/>
          <p:cNvPicPr>
            <a:picLocks noChangeAspect="1"/>
          </p:cNvPicPr>
          <p:nvPr/>
        </p:nvPicPr>
        <p:blipFill>
          <a:blip r:embed="rId3"/>
          <a:stretch>
            <a:fillRect/>
          </a:stretch>
        </p:blipFill>
        <p:spPr>
          <a:xfrm>
            <a:off x="685800" y="457200"/>
            <a:ext cx="420624" cy="420624"/>
          </a:xfrm>
          <a:prstGeom prst="rect">
            <a:avLst/>
          </a:prstGeom>
        </p:spPr>
      </p:pic>
      <p:sp>
        <p:nvSpPr>
          <p:cNvPr id="5" name="TextBox 4"/>
          <p:cNvSpPr txBox="1"/>
          <p:nvPr/>
        </p:nvSpPr>
        <p:spPr>
          <a:xfrm>
            <a:off x="1289304" y="201168"/>
            <a:ext cx="10216591" cy="320040"/>
          </a:xfrm>
          <a:prstGeom prst="rect">
            <a:avLst/>
          </a:prstGeom>
          <a:noFill/>
        </p:spPr>
        <p:txBody>
          <a:bodyPr wrap="square" anchor="t">
            <a:spAutoFit/>
          </a:bodyPr>
          <a:lstStyle/>
          <a:p>
            <a:pPr algn="l">
              <a:spcAft>
                <a:spcPts val="0"/>
              </a:spcAft>
            </a:pPr>
            <a:r>
              <a:rPr sz="1200" b="1" i="0">
                <a:solidFill>
                  <a:srgbClr val="FF7A59"/>
                </a:solidFill>
                <a:latin typeface="Calibri"/>
              </a:rPr>
              <a:t>THE RESULTS</a:t>
            </a:r>
          </a:p>
        </p:txBody>
      </p:sp>
      <p:sp>
        <p:nvSpPr>
          <p:cNvPr id="6" name="TextBox 5"/>
          <p:cNvSpPr txBox="1"/>
          <p:nvPr/>
        </p:nvSpPr>
        <p:spPr>
          <a:xfrm>
            <a:off x="1289304" y="420624"/>
            <a:ext cx="10216591" cy="822960"/>
          </a:xfrm>
          <a:prstGeom prst="rect">
            <a:avLst/>
          </a:prstGeom>
          <a:noFill/>
        </p:spPr>
        <p:txBody>
          <a:bodyPr wrap="square" anchor="t">
            <a:spAutoFit/>
          </a:bodyPr>
          <a:lstStyle/>
          <a:p>
            <a:pPr algn="l">
              <a:spcAft>
                <a:spcPts val="0"/>
              </a:spcAft>
            </a:pPr>
            <a:r>
              <a:rPr sz="2600" b="1" i="0">
                <a:solidFill>
                  <a:srgbClr val="7CC4FF"/>
                </a:solidFill>
                <a:latin typeface="Calibri"/>
              </a:rPr>
              <a:t>Result 2: fear drives it, d = 0.94; outrage lifts both sides equally</a:t>
            </a:r>
          </a:p>
        </p:txBody>
      </p:sp>
      <p:pic>
        <p:nvPicPr>
          <p:cNvPr id="7" name="Picture 6" descr="75fb8530cacd19fd.png"/>
          <p:cNvPicPr>
            <a:picLocks noChangeAspect="1"/>
          </p:cNvPicPr>
          <p:nvPr/>
        </p:nvPicPr>
        <p:blipFill>
          <a:blip r:embed="rId4"/>
          <a:stretch>
            <a:fillRect/>
          </a:stretch>
        </p:blipFill>
        <p:spPr>
          <a:xfrm>
            <a:off x="685800" y="1325880"/>
            <a:ext cx="1673352" cy="393192"/>
          </a:xfrm>
          <a:prstGeom prst="rect">
            <a:avLst/>
          </a:prstGeom>
        </p:spPr>
      </p:pic>
      <p:sp>
        <p:nvSpPr>
          <p:cNvPr id="8" name="TextBox 7"/>
          <p:cNvSpPr txBox="1"/>
          <p:nvPr/>
        </p:nvSpPr>
        <p:spPr>
          <a:xfrm>
            <a:off x="3566160" y="1417320"/>
            <a:ext cx="7772400" cy="457200"/>
          </a:xfrm>
          <a:prstGeom prst="rect">
            <a:avLst/>
          </a:prstGeom>
          <a:noFill/>
        </p:spPr>
        <p:txBody>
          <a:bodyPr wrap="square" anchor="t">
            <a:spAutoFit/>
          </a:bodyPr>
          <a:lstStyle/>
          <a:p>
            <a:pPr algn="l">
              <a:spcAft>
                <a:spcPts val="0"/>
              </a:spcAft>
            </a:pPr>
            <a:r>
              <a:rPr sz="1200" b="0" i="0">
                <a:solidFill>
                  <a:srgbClr val="9AABC4"/>
                </a:solidFill>
                <a:latin typeface="Calibri"/>
              </a:rPr>
              <a:t>d = distance from neutral in standard deviations (s). Reference marks 0.2, 0.5, 0.8.</a:t>
            </a:r>
          </a:p>
        </p:txBody>
      </p:sp>
      <p:sp>
        <p:nvSpPr>
          <p:cNvPr id="9" name="Rectangle 8"/>
          <p:cNvSpPr/>
          <p:nvPr/>
        </p:nvSpPr>
        <p:spPr>
          <a:xfrm>
            <a:off x="3858768" y="2103120"/>
            <a:ext cx="13716" cy="1554480"/>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10127" y="1901952"/>
            <a:ext cx="1097280" cy="228600"/>
          </a:xfrm>
          <a:prstGeom prst="rect">
            <a:avLst/>
          </a:prstGeom>
          <a:noFill/>
        </p:spPr>
        <p:txBody>
          <a:bodyPr wrap="square" anchor="t">
            <a:spAutoFit/>
          </a:bodyPr>
          <a:lstStyle/>
          <a:p>
            <a:pPr algn="ctr">
              <a:spcAft>
                <a:spcPts val="0"/>
              </a:spcAft>
            </a:pPr>
            <a:r>
              <a:rPr sz="1100" b="0" i="0">
                <a:solidFill>
                  <a:srgbClr val="9AABC4"/>
                </a:solidFill>
                <a:latin typeface="Calibri"/>
              </a:rPr>
              <a:t>0.2</a:t>
            </a:r>
          </a:p>
        </p:txBody>
      </p:sp>
      <p:sp>
        <p:nvSpPr>
          <p:cNvPr id="11" name="Rectangle 10"/>
          <p:cNvSpPr/>
          <p:nvPr/>
        </p:nvSpPr>
        <p:spPr>
          <a:xfrm>
            <a:off x="5669279" y="2103120"/>
            <a:ext cx="13716" cy="1554480"/>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20640" y="1901952"/>
            <a:ext cx="1097280" cy="228600"/>
          </a:xfrm>
          <a:prstGeom prst="rect">
            <a:avLst/>
          </a:prstGeom>
          <a:noFill/>
        </p:spPr>
        <p:txBody>
          <a:bodyPr wrap="square" anchor="t">
            <a:spAutoFit/>
          </a:bodyPr>
          <a:lstStyle/>
          <a:p>
            <a:pPr algn="ctr">
              <a:spcAft>
                <a:spcPts val="0"/>
              </a:spcAft>
            </a:pPr>
            <a:r>
              <a:rPr sz="1100" b="0" i="0">
                <a:solidFill>
                  <a:srgbClr val="9AABC4"/>
                </a:solidFill>
                <a:latin typeface="Calibri"/>
              </a:rPr>
              <a:t>0.5</a:t>
            </a:r>
          </a:p>
        </p:txBody>
      </p:sp>
      <p:sp>
        <p:nvSpPr>
          <p:cNvPr id="13" name="Rectangle 12"/>
          <p:cNvSpPr/>
          <p:nvPr/>
        </p:nvSpPr>
        <p:spPr>
          <a:xfrm>
            <a:off x="7479792" y="2103120"/>
            <a:ext cx="13716" cy="1554480"/>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31152" y="1901952"/>
            <a:ext cx="1097280" cy="228600"/>
          </a:xfrm>
          <a:prstGeom prst="rect">
            <a:avLst/>
          </a:prstGeom>
          <a:noFill/>
        </p:spPr>
        <p:txBody>
          <a:bodyPr wrap="square" anchor="t">
            <a:spAutoFit/>
          </a:bodyPr>
          <a:lstStyle/>
          <a:p>
            <a:pPr algn="ctr">
              <a:spcAft>
                <a:spcPts val="0"/>
              </a:spcAft>
            </a:pPr>
            <a:r>
              <a:rPr sz="1100" b="0" i="0">
                <a:solidFill>
                  <a:srgbClr val="9AABC4"/>
                </a:solidFill>
                <a:latin typeface="Calibri"/>
              </a:rPr>
              <a:t>0.8</a:t>
            </a:r>
          </a:p>
        </p:txBody>
      </p:sp>
      <p:sp>
        <p:nvSpPr>
          <p:cNvPr id="15" name="TextBox 14"/>
          <p:cNvSpPr txBox="1"/>
          <p:nvPr/>
        </p:nvSpPr>
        <p:spPr>
          <a:xfrm>
            <a:off x="685799" y="2176272"/>
            <a:ext cx="1828800" cy="411480"/>
          </a:xfrm>
          <a:prstGeom prst="rect">
            <a:avLst/>
          </a:prstGeom>
          <a:noFill/>
        </p:spPr>
        <p:txBody>
          <a:bodyPr wrap="square" anchor="t">
            <a:spAutoFit/>
          </a:bodyPr>
          <a:lstStyle/>
          <a:p>
            <a:pPr algn="r">
              <a:spcAft>
                <a:spcPts val="0"/>
              </a:spcAft>
            </a:pPr>
            <a:r>
              <a:rPr sz="1500" b="0" i="0">
                <a:solidFill>
                  <a:srgbClr val="9AABC4"/>
                </a:solidFill>
                <a:latin typeface="Calibri"/>
              </a:rPr>
              <a:t>fear-activating</a:t>
            </a:r>
          </a:p>
        </p:txBody>
      </p:sp>
      <p:sp>
        <p:nvSpPr>
          <p:cNvPr id="16" name="Rectangle 15"/>
          <p:cNvSpPr/>
          <p:nvPr/>
        </p:nvSpPr>
        <p:spPr>
          <a:xfrm>
            <a:off x="2651760" y="2240280"/>
            <a:ext cx="6035040" cy="274320"/>
          </a:xfrm>
          <a:prstGeom prst="rect">
            <a:avLst/>
          </a:prstGeom>
          <a:solidFill>
            <a:srgbClr val="2A3D5E">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651760" y="2240280"/>
            <a:ext cx="5666902" cy="274320"/>
          </a:xfrm>
          <a:prstGeom prst="rect">
            <a:avLst/>
          </a:prstGeom>
          <a:solidFill>
            <a:srgbClr val="FF7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23960" y="2176272"/>
            <a:ext cx="2926080" cy="411480"/>
          </a:xfrm>
          <a:prstGeom prst="rect">
            <a:avLst/>
          </a:prstGeom>
          <a:noFill/>
        </p:spPr>
        <p:txBody>
          <a:bodyPr wrap="square" anchor="t">
            <a:spAutoFit/>
          </a:bodyPr>
          <a:lstStyle/>
          <a:p>
            <a:pPr algn="l">
              <a:spcAft>
                <a:spcPts val="0"/>
              </a:spcAft>
            </a:pPr>
            <a:r>
              <a:rPr sz="1500" b="1" i="0">
                <a:solidFill>
                  <a:srgbClr val="FF7A59"/>
                </a:solidFill>
                <a:latin typeface="Calibri"/>
              </a:rPr>
              <a:t>0.94</a:t>
            </a:r>
          </a:p>
        </p:txBody>
      </p:sp>
      <p:sp>
        <p:nvSpPr>
          <p:cNvPr id="19" name="TextBox 18"/>
          <p:cNvSpPr txBox="1"/>
          <p:nvPr/>
        </p:nvSpPr>
        <p:spPr>
          <a:xfrm>
            <a:off x="685799" y="2679192"/>
            <a:ext cx="1828800" cy="411480"/>
          </a:xfrm>
          <a:prstGeom prst="rect">
            <a:avLst/>
          </a:prstGeom>
          <a:noFill/>
        </p:spPr>
        <p:txBody>
          <a:bodyPr wrap="square" anchor="t">
            <a:spAutoFit/>
          </a:bodyPr>
          <a:lstStyle/>
          <a:p>
            <a:pPr algn="r">
              <a:spcAft>
                <a:spcPts val="0"/>
              </a:spcAft>
            </a:pPr>
            <a:r>
              <a:rPr sz="1500" b="0" i="0">
                <a:solidFill>
                  <a:srgbClr val="9AABC4"/>
                </a:solidFill>
                <a:latin typeface="Calibri"/>
              </a:rPr>
              <a:t>reward hook</a:t>
            </a:r>
          </a:p>
        </p:txBody>
      </p:sp>
      <p:sp>
        <p:nvSpPr>
          <p:cNvPr id="20" name="Rectangle 19"/>
          <p:cNvSpPr/>
          <p:nvPr/>
        </p:nvSpPr>
        <p:spPr>
          <a:xfrm>
            <a:off x="2651760" y="2743200"/>
            <a:ext cx="6035040" cy="274320"/>
          </a:xfrm>
          <a:prstGeom prst="rect">
            <a:avLst/>
          </a:prstGeom>
          <a:solidFill>
            <a:srgbClr val="2A3D5E">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651760" y="2743200"/>
            <a:ext cx="1925177" cy="274320"/>
          </a:xfrm>
          <a:prstGeom prst="rect">
            <a:avLst/>
          </a:prstGeom>
          <a:solidFill>
            <a:srgbClr val="3E8E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23960" y="2679192"/>
            <a:ext cx="2926080" cy="411480"/>
          </a:xfrm>
          <a:prstGeom prst="rect">
            <a:avLst/>
          </a:prstGeom>
          <a:noFill/>
        </p:spPr>
        <p:txBody>
          <a:bodyPr wrap="square" anchor="t">
            <a:spAutoFit/>
          </a:bodyPr>
          <a:lstStyle/>
          <a:p>
            <a:pPr algn="l">
              <a:spcAft>
                <a:spcPts val="0"/>
              </a:spcAft>
            </a:pPr>
            <a:r>
              <a:rPr sz="1500" b="1" i="0">
                <a:solidFill>
                  <a:srgbClr val="3E8EDE"/>
                </a:solidFill>
                <a:latin typeface="Calibri"/>
              </a:rPr>
              <a:t>0.32</a:t>
            </a:r>
          </a:p>
        </p:txBody>
      </p:sp>
      <p:sp>
        <p:nvSpPr>
          <p:cNvPr id="23" name="TextBox 22"/>
          <p:cNvSpPr txBox="1"/>
          <p:nvPr/>
        </p:nvSpPr>
        <p:spPr>
          <a:xfrm>
            <a:off x="685799" y="3182112"/>
            <a:ext cx="1828800" cy="411480"/>
          </a:xfrm>
          <a:prstGeom prst="rect">
            <a:avLst/>
          </a:prstGeom>
          <a:noFill/>
        </p:spPr>
        <p:txBody>
          <a:bodyPr wrap="square" anchor="t">
            <a:spAutoFit/>
          </a:bodyPr>
          <a:lstStyle/>
          <a:p>
            <a:pPr algn="r">
              <a:spcAft>
                <a:spcPts val="0"/>
              </a:spcAft>
            </a:pPr>
            <a:r>
              <a:rPr sz="1500" b="0" i="0">
                <a:solidFill>
                  <a:srgbClr val="9AABC4"/>
                </a:solidFill>
                <a:latin typeface="Calibri"/>
              </a:rPr>
              <a:t>high outrage</a:t>
            </a:r>
          </a:p>
        </p:txBody>
      </p:sp>
      <p:sp>
        <p:nvSpPr>
          <p:cNvPr id="24" name="Rectangle 23"/>
          <p:cNvSpPr/>
          <p:nvPr/>
        </p:nvSpPr>
        <p:spPr>
          <a:xfrm>
            <a:off x="2651760" y="3246120"/>
            <a:ext cx="6035040" cy="274320"/>
          </a:xfrm>
          <a:prstGeom prst="rect">
            <a:avLst/>
          </a:prstGeom>
          <a:solidFill>
            <a:srgbClr val="2A3D5E">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651760" y="3246120"/>
            <a:ext cx="181051" cy="274320"/>
          </a:xfrm>
          <a:prstGeom prst="rect">
            <a:avLst/>
          </a:prstGeom>
          <a:solidFill>
            <a:srgbClr val="F5B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23960" y="3182112"/>
            <a:ext cx="2926080" cy="411480"/>
          </a:xfrm>
          <a:prstGeom prst="rect">
            <a:avLst/>
          </a:prstGeom>
          <a:noFill/>
        </p:spPr>
        <p:txBody>
          <a:bodyPr wrap="square" anchor="t">
            <a:spAutoFit/>
          </a:bodyPr>
          <a:lstStyle/>
          <a:p>
            <a:pPr algn="l">
              <a:spcAft>
                <a:spcPts val="0"/>
              </a:spcAft>
            </a:pPr>
            <a:r>
              <a:rPr sz="1500" b="1" i="0">
                <a:solidFill>
                  <a:srgbClr val="F5B83D"/>
                </a:solidFill>
                <a:latin typeface="Calibri"/>
              </a:rPr>
              <a:t>0.03</a:t>
            </a:r>
          </a:p>
        </p:txBody>
      </p:sp>
      <p:sp>
        <p:nvSpPr>
          <p:cNvPr id="27" name="Rounded Rectangle 26"/>
          <p:cNvSpPr/>
          <p:nvPr/>
        </p:nvSpPr>
        <p:spPr>
          <a:xfrm>
            <a:off x="685800" y="3840480"/>
            <a:ext cx="5257800" cy="1828800"/>
          </a:xfrm>
          <a:prstGeom prst="roundRect">
            <a:avLst>
              <a:gd name="adj" fmla="val 6000"/>
            </a:avLst>
          </a:prstGeom>
          <a:solidFill>
            <a:srgbClr val="12223C"/>
          </a:solidFill>
          <a:ln w="25400">
            <a:solidFill>
              <a:srgbClr val="FF7A59"/>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sp>
        <p:nvSpPr>
          <p:cNvPr id="28" name="TextBox 27"/>
          <p:cNvSpPr txBox="1"/>
          <p:nvPr/>
        </p:nvSpPr>
        <p:spPr>
          <a:xfrm>
            <a:off x="3429000" y="3977639"/>
            <a:ext cx="2377440" cy="274320"/>
          </a:xfrm>
          <a:prstGeom prst="rect">
            <a:avLst/>
          </a:prstGeom>
          <a:noFill/>
        </p:spPr>
        <p:txBody>
          <a:bodyPr wrap="square" anchor="t">
            <a:spAutoFit/>
          </a:bodyPr>
          <a:lstStyle/>
          <a:p>
            <a:pPr algn="l">
              <a:spcAft>
                <a:spcPts val="0"/>
              </a:spcAft>
            </a:pPr>
            <a:r>
              <a:rPr sz="1200" b="1" i="0">
                <a:solidFill>
                  <a:srgbClr val="FF7A59"/>
                </a:solidFill>
                <a:latin typeface="Calibri"/>
              </a:rPr>
              <a:t>FEAR, d per region</a:t>
            </a:r>
          </a:p>
        </p:txBody>
      </p:sp>
      <p:sp>
        <p:nvSpPr>
          <p:cNvPr id="29" name="Rectangle 28"/>
          <p:cNvSpPr/>
          <p:nvPr/>
        </p:nvSpPr>
        <p:spPr>
          <a:xfrm>
            <a:off x="960120" y="5074920"/>
            <a:ext cx="2194560" cy="18288"/>
          </a:xfrm>
          <a:prstGeom prst="rect">
            <a:avLst/>
          </a:prstGeom>
          <a:solidFill>
            <a:srgbClr val="9AA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43000" y="4178076"/>
            <a:ext cx="640080" cy="896843"/>
          </a:xfrm>
          <a:prstGeom prst="rect">
            <a:avLst/>
          </a:prstGeom>
          <a:solidFill>
            <a:srgbClr val="FF7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3903756"/>
            <a:ext cx="1005840" cy="274320"/>
          </a:xfrm>
          <a:prstGeom prst="rect">
            <a:avLst/>
          </a:prstGeom>
          <a:noFill/>
        </p:spPr>
        <p:txBody>
          <a:bodyPr wrap="square" anchor="t">
            <a:spAutoFit/>
          </a:bodyPr>
          <a:lstStyle/>
          <a:p>
            <a:pPr algn="ctr">
              <a:spcAft>
                <a:spcPts val="0"/>
              </a:spcAft>
            </a:pPr>
            <a:r>
              <a:rPr sz="1200" b="1" i="0">
                <a:solidFill>
                  <a:srgbClr val="FF7A59"/>
                </a:solidFill>
                <a:latin typeface="Calibri"/>
              </a:rPr>
              <a:t>+0.61</a:t>
            </a:r>
          </a:p>
        </p:txBody>
      </p:sp>
      <p:sp>
        <p:nvSpPr>
          <p:cNvPr id="32" name="TextBox 31"/>
          <p:cNvSpPr txBox="1"/>
          <p:nvPr/>
        </p:nvSpPr>
        <p:spPr>
          <a:xfrm>
            <a:off x="960120" y="5257800"/>
            <a:ext cx="1005840" cy="274320"/>
          </a:xfrm>
          <a:prstGeom prst="rect">
            <a:avLst/>
          </a:prstGeom>
          <a:noFill/>
        </p:spPr>
        <p:txBody>
          <a:bodyPr wrap="square" anchor="t">
            <a:spAutoFit/>
          </a:bodyPr>
          <a:lstStyle/>
          <a:p>
            <a:pPr algn="ctr">
              <a:spcAft>
                <a:spcPts val="0"/>
              </a:spcAft>
            </a:pPr>
            <a:r>
              <a:rPr sz="1100" b="0" i="0">
                <a:solidFill>
                  <a:srgbClr val="9AABC4"/>
                </a:solidFill>
                <a:latin typeface="Calibri"/>
              </a:rPr>
              <a:t>emotional</a:t>
            </a:r>
          </a:p>
        </p:txBody>
      </p:sp>
      <p:sp>
        <p:nvSpPr>
          <p:cNvPr id="33" name="Rectangle 32"/>
          <p:cNvSpPr/>
          <p:nvPr/>
        </p:nvSpPr>
        <p:spPr>
          <a:xfrm>
            <a:off x="2103120" y="5074920"/>
            <a:ext cx="640080" cy="143377"/>
          </a:xfrm>
          <a:prstGeom prst="rect">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920239" y="4800600"/>
            <a:ext cx="1005840" cy="274320"/>
          </a:xfrm>
          <a:prstGeom prst="rect">
            <a:avLst/>
          </a:prstGeom>
          <a:noFill/>
        </p:spPr>
        <p:txBody>
          <a:bodyPr wrap="square" anchor="t">
            <a:spAutoFit/>
          </a:bodyPr>
          <a:lstStyle/>
          <a:p>
            <a:pPr algn="ctr">
              <a:spcAft>
                <a:spcPts val="0"/>
              </a:spcAft>
            </a:pPr>
            <a:r>
              <a:rPr sz="1200" b="1" i="0">
                <a:solidFill>
                  <a:srgbClr val="7CC4FF"/>
                </a:solidFill>
                <a:latin typeface="Calibri"/>
              </a:rPr>
              <a:t>-0.10</a:t>
            </a:r>
          </a:p>
        </p:txBody>
      </p:sp>
      <p:sp>
        <p:nvSpPr>
          <p:cNvPr id="35" name="TextBox 34"/>
          <p:cNvSpPr txBox="1"/>
          <p:nvPr/>
        </p:nvSpPr>
        <p:spPr>
          <a:xfrm>
            <a:off x="1920239" y="5257800"/>
            <a:ext cx="1005840" cy="274320"/>
          </a:xfrm>
          <a:prstGeom prst="rect">
            <a:avLst/>
          </a:prstGeom>
          <a:noFill/>
        </p:spPr>
        <p:txBody>
          <a:bodyPr wrap="square" anchor="t">
            <a:spAutoFit/>
          </a:bodyPr>
          <a:lstStyle/>
          <a:p>
            <a:pPr algn="ctr">
              <a:spcAft>
                <a:spcPts val="0"/>
              </a:spcAft>
            </a:pPr>
            <a:r>
              <a:rPr sz="1100" b="0" i="0">
                <a:solidFill>
                  <a:srgbClr val="9AABC4"/>
                </a:solidFill>
                <a:latin typeface="Calibri"/>
              </a:rPr>
              <a:t>deliberate</a:t>
            </a:r>
          </a:p>
        </p:txBody>
      </p:sp>
      <p:sp>
        <p:nvSpPr>
          <p:cNvPr id="36" name="TextBox 35"/>
          <p:cNvSpPr txBox="1"/>
          <p:nvPr/>
        </p:nvSpPr>
        <p:spPr>
          <a:xfrm>
            <a:off x="3429000" y="4343400"/>
            <a:ext cx="2377440" cy="1097280"/>
          </a:xfrm>
          <a:prstGeom prst="rect">
            <a:avLst/>
          </a:prstGeom>
          <a:noFill/>
        </p:spPr>
        <p:txBody>
          <a:bodyPr wrap="square" anchor="ctr">
            <a:spAutoFit/>
          </a:bodyPr>
          <a:lstStyle/>
          <a:p>
            <a:pPr algn="l">
              <a:spcAft>
                <a:spcPts val="0"/>
              </a:spcAft>
            </a:pPr>
            <a:r>
              <a:rPr sz="1700" b="1" i="0">
                <a:solidFill>
                  <a:srgbClr val="FF7A59"/>
                </a:solidFill>
                <a:latin typeface="Calibri"/>
              </a:rPr>
              <a:t>score moves:
d = 0.94</a:t>
            </a:r>
          </a:p>
        </p:txBody>
      </p:sp>
      <p:sp>
        <p:nvSpPr>
          <p:cNvPr id="37" name="Rounded Rectangle 36"/>
          <p:cNvSpPr/>
          <p:nvPr/>
        </p:nvSpPr>
        <p:spPr>
          <a:xfrm>
            <a:off x="6245352" y="3840480"/>
            <a:ext cx="5257800" cy="1828800"/>
          </a:xfrm>
          <a:prstGeom prst="roundRect">
            <a:avLst>
              <a:gd name="adj" fmla="val 6000"/>
            </a:avLst>
          </a:prstGeom>
          <a:solidFill>
            <a:srgbClr val="12223C"/>
          </a:solidFill>
          <a:ln w="25400">
            <a:solidFill>
              <a:srgbClr val="F5B8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sp>
        <p:nvSpPr>
          <p:cNvPr id="38" name="TextBox 37"/>
          <p:cNvSpPr txBox="1"/>
          <p:nvPr/>
        </p:nvSpPr>
        <p:spPr>
          <a:xfrm>
            <a:off x="8988552" y="3977639"/>
            <a:ext cx="2377440" cy="274320"/>
          </a:xfrm>
          <a:prstGeom prst="rect">
            <a:avLst/>
          </a:prstGeom>
          <a:noFill/>
        </p:spPr>
        <p:txBody>
          <a:bodyPr wrap="square" anchor="t">
            <a:spAutoFit/>
          </a:bodyPr>
          <a:lstStyle/>
          <a:p>
            <a:pPr algn="l">
              <a:spcAft>
                <a:spcPts val="0"/>
              </a:spcAft>
            </a:pPr>
            <a:r>
              <a:rPr sz="1200" b="1" i="0">
                <a:solidFill>
                  <a:srgbClr val="F5B83D"/>
                </a:solidFill>
                <a:latin typeface="Calibri"/>
              </a:rPr>
              <a:t>OUTRAGE, d per region</a:t>
            </a:r>
          </a:p>
        </p:txBody>
      </p:sp>
      <p:sp>
        <p:nvSpPr>
          <p:cNvPr id="39" name="Rectangle 38"/>
          <p:cNvSpPr/>
          <p:nvPr/>
        </p:nvSpPr>
        <p:spPr>
          <a:xfrm>
            <a:off x="6519672" y="5074920"/>
            <a:ext cx="2194560" cy="18288"/>
          </a:xfrm>
          <a:prstGeom prst="rect">
            <a:avLst/>
          </a:prstGeom>
          <a:solidFill>
            <a:srgbClr val="9AA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702552" y="4333158"/>
            <a:ext cx="640080" cy="741761"/>
          </a:xfrm>
          <a:prstGeom prst="rect">
            <a:avLst/>
          </a:prstGeom>
          <a:solidFill>
            <a:srgbClr val="FF7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19672" y="4058838"/>
            <a:ext cx="1005840" cy="274320"/>
          </a:xfrm>
          <a:prstGeom prst="rect">
            <a:avLst/>
          </a:prstGeom>
          <a:noFill/>
        </p:spPr>
        <p:txBody>
          <a:bodyPr wrap="square" anchor="t">
            <a:spAutoFit/>
          </a:bodyPr>
          <a:lstStyle/>
          <a:p>
            <a:pPr algn="ctr">
              <a:spcAft>
                <a:spcPts val="0"/>
              </a:spcAft>
            </a:pPr>
            <a:r>
              <a:rPr sz="1200" b="1" i="0">
                <a:solidFill>
                  <a:srgbClr val="FF7A59"/>
                </a:solidFill>
                <a:latin typeface="Calibri"/>
              </a:rPr>
              <a:t>+0.51</a:t>
            </a:r>
          </a:p>
        </p:txBody>
      </p:sp>
      <p:sp>
        <p:nvSpPr>
          <p:cNvPr id="42" name="TextBox 41"/>
          <p:cNvSpPr txBox="1"/>
          <p:nvPr/>
        </p:nvSpPr>
        <p:spPr>
          <a:xfrm>
            <a:off x="6519672" y="5257800"/>
            <a:ext cx="1005840" cy="274320"/>
          </a:xfrm>
          <a:prstGeom prst="rect">
            <a:avLst/>
          </a:prstGeom>
          <a:noFill/>
        </p:spPr>
        <p:txBody>
          <a:bodyPr wrap="square" anchor="t">
            <a:spAutoFit/>
          </a:bodyPr>
          <a:lstStyle/>
          <a:p>
            <a:pPr algn="ctr">
              <a:spcAft>
                <a:spcPts val="0"/>
              </a:spcAft>
            </a:pPr>
            <a:r>
              <a:rPr sz="1100" b="0" i="0">
                <a:solidFill>
                  <a:srgbClr val="9AABC4"/>
                </a:solidFill>
                <a:latin typeface="Calibri"/>
              </a:rPr>
              <a:t>emotional</a:t>
            </a:r>
          </a:p>
        </p:txBody>
      </p:sp>
      <p:sp>
        <p:nvSpPr>
          <p:cNvPr id="43" name="Rectangle 42"/>
          <p:cNvSpPr/>
          <p:nvPr/>
        </p:nvSpPr>
        <p:spPr>
          <a:xfrm>
            <a:off x="7662672" y="4356567"/>
            <a:ext cx="640080" cy="718352"/>
          </a:xfrm>
          <a:prstGeom prst="rect">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479792" y="4082247"/>
            <a:ext cx="1005840" cy="274320"/>
          </a:xfrm>
          <a:prstGeom prst="rect">
            <a:avLst/>
          </a:prstGeom>
          <a:noFill/>
        </p:spPr>
        <p:txBody>
          <a:bodyPr wrap="square" anchor="t">
            <a:spAutoFit/>
          </a:bodyPr>
          <a:lstStyle/>
          <a:p>
            <a:pPr algn="ctr">
              <a:spcAft>
                <a:spcPts val="0"/>
              </a:spcAft>
            </a:pPr>
            <a:r>
              <a:rPr sz="1200" b="1" i="0">
                <a:solidFill>
                  <a:srgbClr val="7CC4FF"/>
                </a:solidFill>
                <a:latin typeface="Calibri"/>
              </a:rPr>
              <a:t>+0.49</a:t>
            </a:r>
          </a:p>
        </p:txBody>
      </p:sp>
      <p:sp>
        <p:nvSpPr>
          <p:cNvPr id="45" name="TextBox 44"/>
          <p:cNvSpPr txBox="1"/>
          <p:nvPr/>
        </p:nvSpPr>
        <p:spPr>
          <a:xfrm>
            <a:off x="7479792" y="5257800"/>
            <a:ext cx="1005840" cy="274320"/>
          </a:xfrm>
          <a:prstGeom prst="rect">
            <a:avLst/>
          </a:prstGeom>
          <a:noFill/>
        </p:spPr>
        <p:txBody>
          <a:bodyPr wrap="square" anchor="t">
            <a:spAutoFit/>
          </a:bodyPr>
          <a:lstStyle/>
          <a:p>
            <a:pPr algn="ctr">
              <a:spcAft>
                <a:spcPts val="0"/>
              </a:spcAft>
            </a:pPr>
            <a:r>
              <a:rPr sz="1100" b="0" i="0">
                <a:solidFill>
                  <a:srgbClr val="9AABC4"/>
                </a:solidFill>
                <a:latin typeface="Calibri"/>
              </a:rPr>
              <a:t>deliberate</a:t>
            </a:r>
          </a:p>
        </p:txBody>
      </p:sp>
      <p:sp>
        <p:nvSpPr>
          <p:cNvPr id="46" name="TextBox 45"/>
          <p:cNvSpPr txBox="1"/>
          <p:nvPr/>
        </p:nvSpPr>
        <p:spPr>
          <a:xfrm>
            <a:off x="8988552" y="4343400"/>
            <a:ext cx="2377440" cy="1097280"/>
          </a:xfrm>
          <a:prstGeom prst="rect">
            <a:avLst/>
          </a:prstGeom>
          <a:noFill/>
        </p:spPr>
        <p:txBody>
          <a:bodyPr wrap="square" anchor="ctr">
            <a:spAutoFit/>
          </a:bodyPr>
          <a:lstStyle/>
          <a:p>
            <a:pPr algn="l">
              <a:spcAft>
                <a:spcPts val="0"/>
              </a:spcAft>
            </a:pPr>
            <a:r>
              <a:rPr sz="1700" b="1" i="0">
                <a:solidFill>
                  <a:srgbClr val="F5B83D"/>
                </a:solidFill>
                <a:latin typeface="Calibri"/>
              </a:rPr>
              <a:t>score flat:
d = 0.03</a:t>
            </a:r>
          </a:p>
        </p:txBody>
      </p:sp>
      <p:sp>
        <p:nvSpPr>
          <p:cNvPr id="47" name="TextBox 46"/>
          <p:cNvSpPr txBox="1"/>
          <p:nvPr/>
        </p:nvSpPr>
        <p:spPr>
          <a:xfrm>
            <a:off x="6019495" y="6053328"/>
            <a:ext cx="5486400" cy="274320"/>
          </a:xfrm>
          <a:prstGeom prst="rect">
            <a:avLst/>
          </a:prstGeom>
          <a:noFill/>
        </p:spPr>
        <p:txBody>
          <a:bodyPr wrap="square" anchor="t">
            <a:spAutoFit/>
          </a:bodyPr>
          <a:lstStyle/>
          <a:p>
            <a:pPr algn="r">
              <a:spcAft>
                <a:spcPts val="0"/>
              </a:spcAft>
            </a:pPr>
            <a:r>
              <a:rPr sz="1200" b="1" i="0">
                <a:solidFill>
                  <a:srgbClr val="F5B83D"/>
                </a:solidFill>
                <a:latin typeface="Calibri"/>
              </a:rPr>
              <a:t>Next: can we trust the scores?  →</a:t>
            </a:r>
          </a:p>
        </p:txBody>
      </p:sp>
      <p:sp>
        <p:nvSpPr>
          <p:cNvPr id="48" name="TextBox 47"/>
          <p:cNvSpPr txBox="1"/>
          <p:nvPr/>
        </p:nvSpPr>
        <p:spPr>
          <a:xfrm>
            <a:off x="685800" y="6355080"/>
            <a:ext cx="4572000" cy="320040"/>
          </a:xfrm>
          <a:prstGeom prst="rect">
            <a:avLst/>
          </a:prstGeom>
          <a:noFill/>
        </p:spPr>
        <p:txBody>
          <a:bodyPr wrap="square" anchor="t">
            <a:spAutoFit/>
          </a:bodyPr>
          <a:lstStyle/>
          <a:p>
            <a:pPr algn="l">
              <a:spcAft>
                <a:spcPts val="0"/>
              </a:spcAft>
            </a:pPr>
            <a:r>
              <a:rPr sz="1000" b="1" i="0">
                <a:solidFill>
                  <a:srgbClr val="9AABC4"/>
                </a:solidFill>
                <a:latin typeface="Calibri"/>
              </a:rPr>
              <a:t>THE RESULTS</a:t>
            </a:r>
          </a:p>
        </p:txBody>
      </p:sp>
      <p:sp>
        <p:nvSpPr>
          <p:cNvPr id="49" name="Rectangle 48"/>
          <p:cNvSpPr/>
          <p:nvPr/>
        </p:nvSpPr>
        <p:spPr>
          <a:xfrm>
            <a:off x="4692243"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268315"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844387" y="6473952"/>
            <a:ext cx="502920" cy="36576"/>
          </a:xfrm>
          <a:prstGeom prst="rect">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420459"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996531"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591495" y="6355080"/>
            <a:ext cx="914400" cy="320040"/>
          </a:xfrm>
          <a:prstGeom prst="rect">
            <a:avLst/>
          </a:prstGeom>
          <a:noFill/>
        </p:spPr>
        <p:txBody>
          <a:bodyPr wrap="square" anchor="t">
            <a:spAutoFit/>
          </a:bodyPr>
          <a:lstStyle/>
          <a:p>
            <a:pPr algn="r">
              <a:spcAft>
                <a:spcPts val="0"/>
              </a:spcAft>
            </a:pPr>
            <a:r>
              <a:rPr sz="1100" b="1" i="0">
                <a:solidFill>
                  <a:srgbClr val="9AABC4"/>
                </a:solidFill>
                <a:latin typeface="Calibri"/>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rows-clockwise.png"/>
          <p:cNvPicPr>
            <a:picLocks noChangeAspect="1"/>
          </p:cNvPicPr>
          <p:nvPr/>
        </p:nvPicPr>
        <p:blipFill>
          <a:blip r:embed="rId3"/>
          <a:stretch>
            <a:fillRect/>
          </a:stretch>
        </p:blipFill>
        <p:spPr>
          <a:xfrm>
            <a:off x="685800" y="457200"/>
            <a:ext cx="420624" cy="420624"/>
          </a:xfrm>
          <a:prstGeom prst="rect">
            <a:avLst/>
          </a:prstGeom>
        </p:spPr>
      </p:pic>
      <p:sp>
        <p:nvSpPr>
          <p:cNvPr id="5" name="TextBox 4"/>
          <p:cNvSpPr txBox="1"/>
          <p:nvPr/>
        </p:nvSpPr>
        <p:spPr>
          <a:xfrm>
            <a:off x="1289304" y="201168"/>
            <a:ext cx="10216591" cy="320040"/>
          </a:xfrm>
          <a:prstGeom prst="rect">
            <a:avLst/>
          </a:prstGeom>
          <a:noFill/>
        </p:spPr>
        <p:txBody>
          <a:bodyPr wrap="square" anchor="t">
            <a:spAutoFit/>
          </a:bodyPr>
          <a:lstStyle/>
          <a:p>
            <a:pPr algn="l">
              <a:spcAft>
                <a:spcPts val="0"/>
              </a:spcAft>
            </a:pPr>
            <a:r>
              <a:rPr sz="1200" b="1" i="0">
                <a:solidFill>
                  <a:srgbClr val="FF7A59"/>
                </a:solidFill>
                <a:latin typeface="Calibri"/>
              </a:rPr>
              <a:t>THE RESULTS</a:t>
            </a:r>
          </a:p>
        </p:txBody>
      </p:sp>
      <p:sp>
        <p:nvSpPr>
          <p:cNvPr id="6" name="TextBox 5"/>
          <p:cNvSpPr txBox="1"/>
          <p:nvPr/>
        </p:nvSpPr>
        <p:spPr>
          <a:xfrm>
            <a:off x="1289304" y="420624"/>
            <a:ext cx="10216591" cy="822960"/>
          </a:xfrm>
          <a:prstGeom prst="rect">
            <a:avLst/>
          </a:prstGeom>
          <a:noFill/>
        </p:spPr>
        <p:txBody>
          <a:bodyPr wrap="square" anchor="t">
            <a:spAutoFit/>
          </a:bodyPr>
          <a:lstStyle/>
          <a:p>
            <a:pPr algn="l">
              <a:spcAft>
                <a:spcPts val="0"/>
              </a:spcAft>
            </a:pPr>
            <a:r>
              <a:rPr sz="2600" b="1" i="0">
                <a:solidFill>
                  <a:srgbClr val="7CC4FF"/>
                </a:solidFill>
                <a:latin typeface="Calibri"/>
              </a:rPr>
              <a:t>Result 3: scores repeat for groups, not single articles</a:t>
            </a:r>
          </a:p>
        </p:txBody>
      </p:sp>
      <p:sp>
        <p:nvSpPr>
          <p:cNvPr id="7" name="Rounded Rectangle 6"/>
          <p:cNvSpPr/>
          <p:nvPr/>
        </p:nvSpPr>
        <p:spPr>
          <a:xfrm>
            <a:off x="685800" y="1371600"/>
            <a:ext cx="5257800" cy="3108960"/>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sp>
        <p:nvSpPr>
          <p:cNvPr id="8" name="TextBox 7"/>
          <p:cNvSpPr txBox="1"/>
          <p:nvPr/>
        </p:nvSpPr>
        <p:spPr>
          <a:xfrm>
            <a:off x="685800" y="1508760"/>
            <a:ext cx="5257800" cy="1097280"/>
          </a:xfrm>
          <a:prstGeom prst="rect">
            <a:avLst/>
          </a:prstGeom>
          <a:noFill/>
        </p:spPr>
        <p:txBody>
          <a:bodyPr wrap="square" anchor="t">
            <a:spAutoFit/>
          </a:bodyPr>
          <a:lstStyle/>
          <a:p>
            <a:pPr algn="ctr">
              <a:spcAft>
                <a:spcPts val="0"/>
              </a:spcAft>
            </a:pPr>
            <a:r>
              <a:rPr sz="5400" b="1" i="0">
                <a:solidFill>
                  <a:srgbClr val="7CC4FF"/>
                </a:solidFill>
                <a:latin typeface="Calibri"/>
              </a:rPr>
              <a:t>0.8725</a:t>
            </a:r>
          </a:p>
          <a:p>
            <a:pPr algn="ctr">
              <a:spcAft>
                <a:spcPts val="0"/>
              </a:spcAft>
            </a:pPr>
            <a:r>
              <a:rPr sz="1400" b="0" i="0">
                <a:solidFill>
                  <a:srgbClr val="EEF3FA"/>
                </a:solidFill>
                <a:latin typeface="Calibri"/>
              </a:rPr>
              <a:t>ICC: agreement between two runs</a:t>
            </a:r>
          </a:p>
        </p:txBody>
      </p:sp>
      <p:sp>
        <p:nvSpPr>
          <p:cNvPr id="9" name="Rectangle 8"/>
          <p:cNvSpPr/>
          <p:nvPr/>
        </p:nvSpPr>
        <p:spPr>
          <a:xfrm>
            <a:off x="1051560" y="3200400"/>
            <a:ext cx="4526280" cy="274320"/>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51560" y="3200400"/>
            <a:ext cx="3949179" cy="274320"/>
          </a:xfrm>
          <a:prstGeom prst="rect">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566160"/>
            <a:ext cx="1280160" cy="274320"/>
          </a:xfrm>
          <a:prstGeom prst="rect">
            <a:avLst/>
          </a:prstGeom>
          <a:noFill/>
        </p:spPr>
        <p:txBody>
          <a:bodyPr wrap="square" anchor="t">
            <a:spAutoFit/>
          </a:bodyPr>
          <a:lstStyle/>
          <a:p>
            <a:pPr algn="ctr">
              <a:spcAft>
                <a:spcPts val="0"/>
              </a:spcAft>
            </a:pPr>
            <a:r>
              <a:rPr sz="1200" b="0" i="0">
                <a:solidFill>
                  <a:srgbClr val="9AABC4"/>
                </a:solidFill>
                <a:latin typeface="Calibri"/>
              </a:rPr>
              <a:t>0 = none</a:t>
            </a:r>
          </a:p>
        </p:txBody>
      </p:sp>
      <p:sp>
        <p:nvSpPr>
          <p:cNvPr id="12" name="TextBox 11"/>
          <p:cNvSpPr txBox="1"/>
          <p:nvPr/>
        </p:nvSpPr>
        <p:spPr>
          <a:xfrm>
            <a:off x="4480559" y="3566160"/>
            <a:ext cx="1280160" cy="274320"/>
          </a:xfrm>
          <a:prstGeom prst="rect">
            <a:avLst/>
          </a:prstGeom>
          <a:noFill/>
        </p:spPr>
        <p:txBody>
          <a:bodyPr wrap="square" anchor="t">
            <a:spAutoFit/>
          </a:bodyPr>
          <a:lstStyle/>
          <a:p>
            <a:pPr algn="ctr">
              <a:spcAft>
                <a:spcPts val="0"/>
              </a:spcAft>
            </a:pPr>
            <a:r>
              <a:rPr sz="1200" b="0" i="0">
                <a:solidFill>
                  <a:srgbClr val="9AABC4"/>
                </a:solidFill>
                <a:latin typeface="Calibri"/>
              </a:rPr>
              <a:t>1 = identical</a:t>
            </a:r>
          </a:p>
        </p:txBody>
      </p:sp>
      <p:sp>
        <p:nvSpPr>
          <p:cNvPr id="13" name="Rounded Rectangle 12"/>
          <p:cNvSpPr/>
          <p:nvPr/>
        </p:nvSpPr>
        <p:spPr>
          <a:xfrm>
            <a:off x="6245352" y="1371600"/>
            <a:ext cx="5257800" cy="3108960"/>
          </a:xfrm>
          <a:prstGeom prst="roundRect">
            <a:avLst>
              <a:gd name="adj" fmla="val 6000"/>
            </a:avLst>
          </a:prstGeom>
          <a:solidFill>
            <a:srgbClr val="12223C"/>
          </a:solidFill>
          <a:ln w="25400">
            <a:solidFill>
              <a:srgbClr val="FF7A59"/>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sp>
        <p:nvSpPr>
          <p:cNvPr id="14" name="TextBox 13"/>
          <p:cNvSpPr txBox="1"/>
          <p:nvPr/>
        </p:nvSpPr>
        <p:spPr>
          <a:xfrm>
            <a:off x="6245352" y="1508760"/>
            <a:ext cx="5257800" cy="1097280"/>
          </a:xfrm>
          <a:prstGeom prst="rect">
            <a:avLst/>
          </a:prstGeom>
          <a:noFill/>
        </p:spPr>
        <p:txBody>
          <a:bodyPr wrap="square" anchor="t">
            <a:spAutoFit/>
          </a:bodyPr>
          <a:lstStyle/>
          <a:p>
            <a:pPr algn="ctr">
              <a:spcAft>
                <a:spcPts val="0"/>
              </a:spcAft>
            </a:pPr>
            <a:r>
              <a:rPr sz="5400" b="1" i="0">
                <a:solidFill>
                  <a:srgbClr val="FF7A59"/>
                </a:solidFill>
                <a:latin typeface="Calibri"/>
              </a:rPr>
              <a:t>51 of 400</a:t>
            </a:r>
          </a:p>
          <a:p>
            <a:pPr algn="ctr">
              <a:spcAft>
                <a:spcPts val="0"/>
              </a:spcAft>
            </a:pPr>
            <a:r>
              <a:rPr sz="1400" b="0" i="0">
                <a:solidFill>
                  <a:srgbClr val="EEF3FA"/>
                </a:solidFill>
                <a:latin typeface="Calibri"/>
              </a:rPr>
              <a:t>changed sign between runs (12.8%)</a:t>
            </a:r>
          </a:p>
        </p:txBody>
      </p:sp>
      <p:sp>
        <p:nvSpPr>
          <p:cNvPr id="15" name="Rectangle 14"/>
          <p:cNvSpPr/>
          <p:nvPr/>
        </p:nvSpPr>
        <p:spPr>
          <a:xfrm>
            <a:off x="6583680" y="3337560"/>
            <a:ext cx="4572000" cy="18288"/>
          </a:xfrm>
          <a:prstGeom prst="rect">
            <a:avLst/>
          </a:prstGeom>
          <a:solidFill>
            <a:srgbClr val="9AA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93280" y="3200400"/>
            <a:ext cx="3505199" cy="292608"/>
          </a:xfrm>
          <a:prstGeom prst="rect">
            <a:avLst/>
          </a:prstGeom>
          <a:solidFill>
            <a:srgbClr val="3E8EDE">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897112" y="3108960"/>
            <a:ext cx="36576" cy="475488"/>
          </a:xfrm>
          <a:prstGeom prst="rect">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50352" y="3236976"/>
            <a:ext cx="219456" cy="219456"/>
          </a:xfrm>
          <a:prstGeom prst="ellipse">
            <a:avLst/>
          </a:prstGeom>
          <a:solidFill>
            <a:srgbClr val="FF7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5352" y="3749039"/>
            <a:ext cx="5257800" cy="548640"/>
          </a:xfrm>
          <a:prstGeom prst="rect">
            <a:avLst/>
          </a:prstGeom>
          <a:noFill/>
        </p:spPr>
        <p:txBody>
          <a:bodyPr wrap="square" anchor="t">
            <a:spAutoFit/>
          </a:bodyPr>
          <a:lstStyle/>
          <a:p>
            <a:pPr algn="ctr">
              <a:spcAft>
                <a:spcPts val="0"/>
              </a:spcAft>
            </a:pPr>
            <a:r>
              <a:rPr sz="1200" b="1">
                <a:solidFill>
                  <a:srgbClr val="FF7A59"/>
                </a:solidFill>
                <a:latin typeface="Calibri"/>
              </a:rPr>
              <a:t>● observed 51   </a:t>
            </a:r>
            <a:r>
              <a:rPr sz="1200" b="1">
                <a:solidFill>
                  <a:srgbClr val="7CC4FF"/>
                </a:solidFill>
                <a:latin typeface="Calibri"/>
              </a:rPr>
              <a:t>▌noise predicts 55 (95%: 44 to 67)</a:t>
            </a:r>
          </a:p>
        </p:txBody>
      </p:sp>
      <p:sp>
        <p:nvSpPr>
          <p:cNvPr id="20" name="Rounded Rectangle 19"/>
          <p:cNvSpPr/>
          <p:nvPr/>
        </p:nvSpPr>
        <p:spPr>
          <a:xfrm>
            <a:off x="685800" y="4754880"/>
            <a:ext cx="10820095" cy="566928"/>
          </a:xfrm>
          <a:prstGeom prst="roundRect">
            <a:avLst>
              <a:gd name="adj" fmla="val 6000"/>
            </a:avLst>
          </a:prstGeom>
          <a:solidFill>
            <a:srgbClr val="12223C"/>
          </a:solidFill>
          <a:ln w="25400">
            <a:solidFill>
              <a:srgbClr val="F5B83D"/>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500" b="1">
                <a:solidFill>
                  <a:srgbClr val="F5B83D"/>
                </a:solidFill>
                <a:latin typeface="Calibri"/>
              </a:rPr>
              <a:t>Meaning:  </a:t>
            </a:r>
            <a:r>
              <a:rPr sz="1500" b="0">
                <a:solidFill>
                  <a:srgbClr val="EEF3FA"/>
                </a:solidFill>
                <a:latin typeface="Calibri"/>
              </a:rPr>
              <a:t>flipped articles average |X| = 0.003 against 0.022 for the rest, so we report group averages only.</a:t>
            </a:r>
          </a:p>
        </p:txBody>
      </p:sp>
      <p:sp>
        <p:nvSpPr>
          <p:cNvPr id="21" name="TextBox 20"/>
          <p:cNvSpPr txBox="1"/>
          <p:nvPr/>
        </p:nvSpPr>
        <p:spPr>
          <a:xfrm>
            <a:off x="6019495" y="6053328"/>
            <a:ext cx="5486400" cy="274320"/>
          </a:xfrm>
          <a:prstGeom prst="rect">
            <a:avLst/>
          </a:prstGeom>
          <a:noFill/>
        </p:spPr>
        <p:txBody>
          <a:bodyPr wrap="square" anchor="t">
            <a:spAutoFit/>
          </a:bodyPr>
          <a:lstStyle/>
          <a:p>
            <a:pPr algn="r">
              <a:spcAft>
                <a:spcPts val="0"/>
              </a:spcAft>
            </a:pPr>
            <a:r>
              <a:rPr sz="1200" b="1" i="0">
                <a:solidFill>
                  <a:srgbClr val="F5B83D"/>
                </a:solidFill>
                <a:latin typeface="Calibri"/>
              </a:rPr>
              <a:t>Next: does the score detect manipulation?  →</a:t>
            </a:r>
          </a:p>
        </p:txBody>
      </p:sp>
      <p:sp>
        <p:nvSpPr>
          <p:cNvPr id="22" name="TextBox 21"/>
          <p:cNvSpPr txBox="1"/>
          <p:nvPr/>
        </p:nvSpPr>
        <p:spPr>
          <a:xfrm>
            <a:off x="685800" y="6355080"/>
            <a:ext cx="4572000" cy="320040"/>
          </a:xfrm>
          <a:prstGeom prst="rect">
            <a:avLst/>
          </a:prstGeom>
          <a:noFill/>
        </p:spPr>
        <p:txBody>
          <a:bodyPr wrap="square" anchor="t">
            <a:spAutoFit/>
          </a:bodyPr>
          <a:lstStyle/>
          <a:p>
            <a:pPr algn="l">
              <a:spcAft>
                <a:spcPts val="0"/>
              </a:spcAft>
            </a:pPr>
            <a:r>
              <a:rPr sz="1000" b="1" i="0">
                <a:solidFill>
                  <a:srgbClr val="9AABC4"/>
                </a:solidFill>
                <a:latin typeface="Calibri"/>
              </a:rPr>
              <a:t>THE RESULTS</a:t>
            </a:r>
          </a:p>
        </p:txBody>
      </p:sp>
      <p:sp>
        <p:nvSpPr>
          <p:cNvPr id="23" name="Rectangle 22"/>
          <p:cNvSpPr/>
          <p:nvPr/>
        </p:nvSpPr>
        <p:spPr>
          <a:xfrm>
            <a:off x="4692243"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268315"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844387" y="6473952"/>
            <a:ext cx="502920" cy="36576"/>
          </a:xfrm>
          <a:prstGeom prst="rect">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20459"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996531"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91495" y="6355080"/>
            <a:ext cx="914400" cy="320040"/>
          </a:xfrm>
          <a:prstGeom prst="rect">
            <a:avLst/>
          </a:prstGeom>
          <a:noFill/>
        </p:spPr>
        <p:txBody>
          <a:bodyPr wrap="square" anchor="t">
            <a:spAutoFit/>
          </a:bodyPr>
          <a:lstStyle/>
          <a:p>
            <a:pPr algn="r">
              <a:spcAft>
                <a:spcPts val="0"/>
              </a:spcAft>
            </a:pPr>
            <a:r>
              <a:rPr sz="1100" b="1" i="0">
                <a:solidFill>
                  <a:srgbClr val="9AABC4"/>
                </a:solidFill>
                <a:latin typeface="Calibri"/>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warning.png"/>
          <p:cNvPicPr>
            <a:picLocks noChangeAspect="1"/>
          </p:cNvPicPr>
          <p:nvPr/>
        </p:nvPicPr>
        <p:blipFill>
          <a:blip r:embed="rId3"/>
          <a:stretch>
            <a:fillRect/>
          </a:stretch>
        </p:blipFill>
        <p:spPr>
          <a:xfrm>
            <a:off x="685800" y="457200"/>
            <a:ext cx="420624" cy="420624"/>
          </a:xfrm>
          <a:prstGeom prst="rect">
            <a:avLst/>
          </a:prstGeom>
        </p:spPr>
      </p:pic>
      <p:sp>
        <p:nvSpPr>
          <p:cNvPr id="5" name="TextBox 4"/>
          <p:cNvSpPr txBox="1"/>
          <p:nvPr/>
        </p:nvSpPr>
        <p:spPr>
          <a:xfrm>
            <a:off x="1289304" y="201168"/>
            <a:ext cx="10216591" cy="320040"/>
          </a:xfrm>
          <a:prstGeom prst="rect">
            <a:avLst/>
          </a:prstGeom>
          <a:noFill/>
        </p:spPr>
        <p:txBody>
          <a:bodyPr wrap="square" anchor="t">
            <a:spAutoFit/>
          </a:bodyPr>
          <a:lstStyle/>
          <a:p>
            <a:pPr algn="l">
              <a:spcAft>
                <a:spcPts val="0"/>
              </a:spcAft>
            </a:pPr>
            <a:r>
              <a:rPr sz="1200" b="1" i="0">
                <a:solidFill>
                  <a:srgbClr val="FF7A59"/>
                </a:solidFill>
                <a:latin typeface="Calibri"/>
              </a:rPr>
              <a:t>THE RESULTS</a:t>
            </a:r>
          </a:p>
        </p:txBody>
      </p:sp>
      <p:sp>
        <p:nvSpPr>
          <p:cNvPr id="6" name="TextBox 5"/>
          <p:cNvSpPr txBox="1"/>
          <p:nvPr/>
        </p:nvSpPr>
        <p:spPr>
          <a:xfrm>
            <a:off x="1289304" y="420624"/>
            <a:ext cx="10216591" cy="822960"/>
          </a:xfrm>
          <a:prstGeom prst="rect">
            <a:avLst/>
          </a:prstGeom>
          <a:noFill/>
        </p:spPr>
        <p:txBody>
          <a:bodyPr wrap="square" anchor="t">
            <a:spAutoFit/>
          </a:bodyPr>
          <a:lstStyle/>
          <a:p>
            <a:pPr algn="l">
              <a:spcAft>
                <a:spcPts val="0"/>
              </a:spcAft>
            </a:pPr>
            <a:r>
              <a:rPr sz="2600" b="1" i="0">
                <a:solidFill>
                  <a:srgbClr val="7CC4FF"/>
                </a:solidFill>
                <a:latin typeface="Calibri"/>
              </a:rPr>
              <a:t>Honest check: word counting beats our score, 0.98 vs 0.63</a:t>
            </a:r>
          </a:p>
        </p:txBody>
      </p:sp>
      <p:sp>
        <p:nvSpPr>
          <p:cNvPr id="7" name="TextBox 6"/>
          <p:cNvSpPr txBox="1"/>
          <p:nvPr/>
        </p:nvSpPr>
        <p:spPr>
          <a:xfrm>
            <a:off x="685800" y="1325880"/>
            <a:ext cx="10820095" cy="320040"/>
          </a:xfrm>
          <a:prstGeom prst="rect">
            <a:avLst/>
          </a:prstGeom>
          <a:noFill/>
        </p:spPr>
        <p:txBody>
          <a:bodyPr wrap="square" anchor="t">
            <a:spAutoFit/>
          </a:bodyPr>
          <a:lstStyle/>
          <a:p>
            <a:pPr algn="l">
              <a:spcAft>
                <a:spcPts val="0"/>
              </a:spcAft>
            </a:pPr>
            <a:r>
              <a:rPr sz="1300" b="0" i="0">
                <a:solidFill>
                  <a:srgbClr val="9AABC4"/>
                </a:solidFill>
                <a:latin typeface="Calibri"/>
              </a:rPr>
              <a:t>AUC = chance a random manipulative article scores above a random neutral one</a:t>
            </a:r>
          </a:p>
        </p:txBody>
      </p:sp>
      <p:sp>
        <p:nvSpPr>
          <p:cNvPr id="8" name="Rectangle 7"/>
          <p:cNvSpPr/>
          <p:nvPr/>
        </p:nvSpPr>
        <p:spPr>
          <a:xfrm>
            <a:off x="1188720" y="2514600"/>
            <a:ext cx="9784080" cy="54864"/>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2697480"/>
            <a:ext cx="1645920" cy="274320"/>
          </a:xfrm>
          <a:prstGeom prst="rect">
            <a:avLst/>
          </a:prstGeom>
          <a:noFill/>
        </p:spPr>
        <p:txBody>
          <a:bodyPr wrap="square" anchor="t">
            <a:spAutoFit/>
          </a:bodyPr>
          <a:lstStyle/>
          <a:p>
            <a:pPr algn="ctr">
              <a:spcAft>
                <a:spcPts val="0"/>
              </a:spcAft>
            </a:pPr>
            <a:r>
              <a:rPr sz="1200" b="0" i="0">
                <a:solidFill>
                  <a:srgbClr val="9AABC4"/>
                </a:solidFill>
                <a:latin typeface="Calibri"/>
              </a:rPr>
              <a:t>0.5 = coin toss</a:t>
            </a:r>
          </a:p>
        </p:txBody>
      </p:sp>
      <p:sp>
        <p:nvSpPr>
          <p:cNvPr id="10" name="TextBox 9"/>
          <p:cNvSpPr txBox="1"/>
          <p:nvPr/>
        </p:nvSpPr>
        <p:spPr>
          <a:xfrm>
            <a:off x="10149840" y="2697480"/>
            <a:ext cx="1645920" cy="274320"/>
          </a:xfrm>
          <a:prstGeom prst="rect">
            <a:avLst/>
          </a:prstGeom>
          <a:noFill/>
        </p:spPr>
        <p:txBody>
          <a:bodyPr wrap="square" anchor="t">
            <a:spAutoFit/>
          </a:bodyPr>
          <a:lstStyle/>
          <a:p>
            <a:pPr algn="ctr">
              <a:spcAft>
                <a:spcPts val="0"/>
              </a:spcAft>
            </a:pPr>
            <a:r>
              <a:rPr sz="1200" b="0" i="0">
                <a:solidFill>
                  <a:srgbClr val="9AABC4"/>
                </a:solidFill>
                <a:latin typeface="Calibri"/>
              </a:rPr>
              <a:t>1.0 = perfect</a:t>
            </a:r>
          </a:p>
        </p:txBody>
      </p:sp>
      <p:sp>
        <p:nvSpPr>
          <p:cNvPr id="11" name="Oval 10"/>
          <p:cNvSpPr/>
          <p:nvPr/>
        </p:nvSpPr>
        <p:spPr>
          <a:xfrm>
            <a:off x="1809487" y="2395728"/>
            <a:ext cx="292608" cy="292608"/>
          </a:xfrm>
          <a:prstGeom prst="ellipse">
            <a:avLst/>
          </a:prstGeom>
          <a:solidFill>
            <a:srgbClr val="9AA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7071" y="2971800"/>
            <a:ext cx="2377440" cy="365760"/>
          </a:xfrm>
          <a:prstGeom prst="rect">
            <a:avLst/>
          </a:prstGeom>
          <a:noFill/>
        </p:spPr>
        <p:txBody>
          <a:bodyPr wrap="square" anchor="t">
            <a:spAutoFit/>
          </a:bodyPr>
          <a:lstStyle/>
          <a:p>
            <a:pPr algn="ctr">
              <a:spcAft>
                <a:spcPts val="0"/>
              </a:spcAft>
            </a:pPr>
            <a:r>
              <a:rPr sz="1600" b="1" i="0">
                <a:solidFill>
                  <a:srgbClr val="9AABC4"/>
                </a:solidFill>
                <a:latin typeface="Calibri"/>
              </a:rPr>
              <a:t>sentiment 0.54</a:t>
            </a:r>
          </a:p>
        </p:txBody>
      </p:sp>
      <p:sp>
        <p:nvSpPr>
          <p:cNvPr id="13" name="Oval 12"/>
          <p:cNvSpPr/>
          <p:nvPr/>
        </p:nvSpPr>
        <p:spPr>
          <a:xfrm>
            <a:off x="3535399" y="2395728"/>
            <a:ext cx="292608" cy="292608"/>
          </a:xfrm>
          <a:prstGeom prst="ellipse">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92983" y="1947672"/>
            <a:ext cx="2377440" cy="365760"/>
          </a:xfrm>
          <a:prstGeom prst="rect">
            <a:avLst/>
          </a:prstGeom>
          <a:noFill/>
        </p:spPr>
        <p:txBody>
          <a:bodyPr wrap="square" anchor="t">
            <a:spAutoFit/>
          </a:bodyPr>
          <a:lstStyle/>
          <a:p>
            <a:pPr algn="ctr">
              <a:spcAft>
                <a:spcPts val="0"/>
              </a:spcAft>
            </a:pPr>
            <a:r>
              <a:rPr sz="1600" b="1" i="0">
                <a:solidFill>
                  <a:srgbClr val="7CC4FF"/>
                </a:solidFill>
                <a:latin typeface="Calibri"/>
              </a:rPr>
              <a:t>our score 0.63</a:t>
            </a:r>
          </a:p>
        </p:txBody>
      </p:sp>
      <p:sp>
        <p:nvSpPr>
          <p:cNvPr id="15" name="Oval 14"/>
          <p:cNvSpPr/>
          <p:nvPr/>
        </p:nvSpPr>
        <p:spPr>
          <a:xfrm>
            <a:off x="10352946" y="2395728"/>
            <a:ext cx="292608" cy="292608"/>
          </a:xfrm>
          <a:prstGeom prst="ellipse">
            <a:avLst/>
          </a:prstGeom>
          <a:solidFill>
            <a:srgbClr val="FF7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10530" y="1947672"/>
            <a:ext cx="2377440" cy="365760"/>
          </a:xfrm>
          <a:prstGeom prst="rect">
            <a:avLst/>
          </a:prstGeom>
          <a:noFill/>
        </p:spPr>
        <p:txBody>
          <a:bodyPr wrap="square" anchor="t">
            <a:spAutoFit/>
          </a:bodyPr>
          <a:lstStyle/>
          <a:p>
            <a:pPr algn="ctr">
              <a:spcAft>
                <a:spcPts val="0"/>
              </a:spcAft>
            </a:pPr>
            <a:r>
              <a:rPr sz="1600" b="1" i="0">
                <a:solidFill>
                  <a:srgbClr val="FF7A59"/>
                </a:solidFill>
                <a:latin typeface="Calibri"/>
              </a:rPr>
              <a:t>word counting 0.98</a:t>
            </a:r>
          </a:p>
        </p:txBody>
      </p:sp>
      <p:sp>
        <p:nvSpPr>
          <p:cNvPr id="17" name="TextBox 16"/>
          <p:cNvSpPr txBox="1"/>
          <p:nvPr/>
        </p:nvSpPr>
        <p:spPr>
          <a:xfrm>
            <a:off x="685800" y="3337560"/>
            <a:ext cx="5029200" cy="274320"/>
          </a:xfrm>
          <a:prstGeom prst="rect">
            <a:avLst/>
          </a:prstGeom>
          <a:noFill/>
        </p:spPr>
        <p:txBody>
          <a:bodyPr wrap="square" anchor="t">
            <a:spAutoFit/>
          </a:bodyPr>
          <a:lstStyle/>
          <a:p>
            <a:pPr algn="l">
              <a:spcAft>
                <a:spcPts val="0"/>
              </a:spcAft>
            </a:pPr>
            <a:r>
              <a:rPr sz="1100" b="1" i="0">
                <a:solidFill>
                  <a:srgbClr val="9AABC4"/>
                </a:solidFill>
                <a:latin typeface="Calibri"/>
              </a:rPr>
              <a:t>WHY: EACH GROUP CAME FROM ONE SOURCE</a:t>
            </a:r>
          </a:p>
        </p:txBody>
      </p:sp>
      <p:sp>
        <p:nvSpPr>
          <p:cNvPr id="18" name="Rounded Rectangle 17"/>
          <p:cNvSpPr/>
          <p:nvPr/>
        </p:nvSpPr>
        <p:spPr>
          <a:xfrm>
            <a:off x="685800" y="3657600"/>
            <a:ext cx="1920240" cy="384048"/>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1300" b="0" i="0">
                <a:solidFill>
                  <a:srgbClr val="EEF3FA"/>
                </a:solidFill>
                <a:latin typeface="Calibri"/>
              </a:rPr>
              <a:t>fear</a:t>
            </a:r>
          </a:p>
        </p:txBody>
      </p:sp>
      <p:sp>
        <p:nvSpPr>
          <p:cNvPr id="19" name="Right Arrow 18"/>
          <p:cNvSpPr/>
          <p:nvPr/>
        </p:nvSpPr>
        <p:spPr>
          <a:xfrm>
            <a:off x="2697480" y="3785615"/>
            <a:ext cx="457200" cy="128016"/>
          </a:xfrm>
          <a:prstGeom prst="rightArrow">
            <a:avLst/>
          </a:prstGeom>
          <a:solidFill>
            <a:srgbClr val="FF7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246120" y="3657600"/>
            <a:ext cx="2286000" cy="384048"/>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1300" b="0" i="0">
                <a:solidFill>
                  <a:srgbClr val="EEF3FA"/>
                </a:solidFill>
                <a:latin typeface="Calibri"/>
              </a:rPr>
              <a:t>ISOT fake</a:t>
            </a:r>
          </a:p>
        </p:txBody>
      </p:sp>
      <p:sp>
        <p:nvSpPr>
          <p:cNvPr id="21" name="Rounded Rectangle 20"/>
          <p:cNvSpPr/>
          <p:nvPr/>
        </p:nvSpPr>
        <p:spPr>
          <a:xfrm>
            <a:off x="685800" y="4114800"/>
            <a:ext cx="1920240" cy="384048"/>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1300" b="0" i="0">
                <a:solidFill>
                  <a:srgbClr val="EEF3FA"/>
                </a:solidFill>
                <a:latin typeface="Calibri"/>
              </a:rPr>
              <a:t>outrage</a:t>
            </a:r>
          </a:p>
        </p:txBody>
      </p:sp>
      <p:sp>
        <p:nvSpPr>
          <p:cNvPr id="22" name="Right Arrow 21"/>
          <p:cNvSpPr/>
          <p:nvPr/>
        </p:nvSpPr>
        <p:spPr>
          <a:xfrm>
            <a:off x="2697480" y="4242816"/>
            <a:ext cx="457200" cy="128016"/>
          </a:xfrm>
          <a:prstGeom prst="rightArrow">
            <a:avLst/>
          </a:prstGeom>
          <a:solidFill>
            <a:srgbClr val="FF7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3246120" y="4114800"/>
            <a:ext cx="2286000" cy="384048"/>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1300" b="0" i="0">
                <a:solidFill>
                  <a:srgbClr val="EEF3FA"/>
                </a:solidFill>
                <a:latin typeface="Calibri"/>
              </a:rPr>
              <a:t>SemEval</a:t>
            </a:r>
          </a:p>
        </p:txBody>
      </p:sp>
      <p:sp>
        <p:nvSpPr>
          <p:cNvPr id="24" name="Rounded Rectangle 23"/>
          <p:cNvSpPr/>
          <p:nvPr/>
        </p:nvSpPr>
        <p:spPr>
          <a:xfrm>
            <a:off x="685800" y="4572000"/>
            <a:ext cx="1920240" cy="384048"/>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1300" b="0" i="0">
                <a:solidFill>
                  <a:srgbClr val="EEF3FA"/>
                </a:solidFill>
                <a:latin typeface="Calibri"/>
              </a:rPr>
              <a:t>reward hook</a:t>
            </a:r>
          </a:p>
        </p:txBody>
      </p:sp>
      <p:sp>
        <p:nvSpPr>
          <p:cNvPr id="25" name="Right Arrow 24"/>
          <p:cNvSpPr/>
          <p:nvPr/>
        </p:nvSpPr>
        <p:spPr>
          <a:xfrm>
            <a:off x="2697480" y="4700016"/>
            <a:ext cx="457200" cy="128016"/>
          </a:xfrm>
          <a:prstGeom prst="rightArrow">
            <a:avLst/>
          </a:prstGeom>
          <a:solidFill>
            <a:srgbClr val="FF7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246120" y="4572000"/>
            <a:ext cx="2286000" cy="384048"/>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1300" b="0" i="0">
                <a:solidFill>
                  <a:srgbClr val="EEF3FA"/>
                </a:solidFill>
                <a:latin typeface="Calibri"/>
              </a:rPr>
              <a:t>Webis</a:t>
            </a:r>
          </a:p>
        </p:txBody>
      </p:sp>
      <p:sp>
        <p:nvSpPr>
          <p:cNvPr id="27" name="Rounded Rectangle 26"/>
          <p:cNvSpPr/>
          <p:nvPr/>
        </p:nvSpPr>
        <p:spPr>
          <a:xfrm>
            <a:off x="685800" y="5029200"/>
            <a:ext cx="1920240" cy="384048"/>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1300" b="0" i="0">
                <a:solidFill>
                  <a:srgbClr val="EEF3FA"/>
                </a:solidFill>
                <a:latin typeface="Calibri"/>
              </a:rPr>
              <a:t>neutral</a:t>
            </a:r>
          </a:p>
        </p:txBody>
      </p:sp>
      <p:sp>
        <p:nvSpPr>
          <p:cNvPr id="28" name="Right Arrow 27"/>
          <p:cNvSpPr/>
          <p:nvPr/>
        </p:nvSpPr>
        <p:spPr>
          <a:xfrm>
            <a:off x="2697480" y="5157216"/>
            <a:ext cx="457200" cy="128016"/>
          </a:xfrm>
          <a:prstGeom prst="rightArrow">
            <a:avLst/>
          </a:prstGeom>
          <a:solidFill>
            <a:srgbClr val="FF7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246120" y="5029200"/>
            <a:ext cx="2286000" cy="384048"/>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1300" b="0" i="0">
                <a:solidFill>
                  <a:srgbClr val="EEF3FA"/>
                </a:solidFill>
                <a:latin typeface="Calibri"/>
              </a:rPr>
              <a:t>PubMed + ISOT</a:t>
            </a:r>
          </a:p>
        </p:txBody>
      </p:sp>
      <p:sp>
        <p:nvSpPr>
          <p:cNvPr id="30" name="Rounded Rectangle 29"/>
          <p:cNvSpPr/>
          <p:nvPr/>
        </p:nvSpPr>
        <p:spPr>
          <a:xfrm>
            <a:off x="6035040" y="3383280"/>
            <a:ext cx="2560320" cy="1691640"/>
          </a:xfrm>
          <a:prstGeom prst="roundRect">
            <a:avLst>
              <a:gd name="adj" fmla="val 6000"/>
            </a:avLst>
          </a:prstGeom>
          <a:solidFill>
            <a:srgbClr val="12223C"/>
          </a:solidFill>
          <a:ln w="25400">
            <a:solidFill>
              <a:srgbClr val="FF7A59"/>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3600" b="1" i="0">
                <a:solidFill>
                  <a:srgbClr val="FF7A59"/>
                </a:solidFill>
                <a:latin typeface="Calibri"/>
              </a:rPr>
              <a:t>66%</a:t>
            </a:r>
          </a:p>
          <a:p>
            <a:pPr algn="ctr">
              <a:spcAft>
                <a:spcPts val="0"/>
              </a:spcAft>
            </a:pPr>
            <a:r>
              <a:rPr sz="1300" b="0" i="0">
                <a:solidFill>
                  <a:srgbClr val="EEF3FA"/>
                </a:solidFill>
                <a:latin typeface="Calibri"/>
              </a:rPr>
              <a:t>of articles: words identify
the source (chance 25%)</a:t>
            </a:r>
          </a:p>
        </p:txBody>
      </p:sp>
      <p:sp>
        <p:nvSpPr>
          <p:cNvPr id="31" name="Rounded Rectangle 30"/>
          <p:cNvSpPr/>
          <p:nvPr/>
        </p:nvSpPr>
        <p:spPr>
          <a:xfrm>
            <a:off x="8778240" y="3383280"/>
            <a:ext cx="2724912" cy="1691640"/>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sp>
        <p:nvSpPr>
          <p:cNvPr id="32" name="TextBox 31"/>
          <p:cNvSpPr txBox="1"/>
          <p:nvPr/>
        </p:nvSpPr>
        <p:spPr>
          <a:xfrm>
            <a:off x="8915400" y="3474720"/>
            <a:ext cx="2468880" cy="1554480"/>
          </a:xfrm>
          <a:prstGeom prst="rect">
            <a:avLst/>
          </a:prstGeom>
          <a:noFill/>
        </p:spPr>
        <p:txBody>
          <a:bodyPr wrap="square" anchor="ctr">
            <a:spAutoFit/>
          </a:bodyPr>
          <a:lstStyle/>
          <a:p>
            <a:pPr algn="l">
              <a:spcAft>
                <a:spcPts val="0"/>
              </a:spcAft>
            </a:pPr>
            <a:r>
              <a:rPr sz="1500" b="1" i="0">
                <a:solidFill>
                  <a:srgbClr val="7CC4FF"/>
                </a:solidFill>
                <a:latin typeface="Calibri"/>
              </a:rPr>
              <a:t>So our score is a measurement for the physics, not a detector.</a:t>
            </a:r>
          </a:p>
        </p:txBody>
      </p:sp>
      <p:sp>
        <p:nvSpPr>
          <p:cNvPr id="33" name="TextBox 32"/>
          <p:cNvSpPr txBox="1"/>
          <p:nvPr/>
        </p:nvSpPr>
        <p:spPr>
          <a:xfrm>
            <a:off x="6019495" y="6053328"/>
            <a:ext cx="5486400" cy="274320"/>
          </a:xfrm>
          <a:prstGeom prst="rect">
            <a:avLst/>
          </a:prstGeom>
          <a:noFill/>
        </p:spPr>
        <p:txBody>
          <a:bodyPr wrap="square" anchor="t">
            <a:spAutoFit/>
          </a:bodyPr>
          <a:lstStyle/>
          <a:p>
            <a:pPr algn="r">
              <a:spcAft>
                <a:spcPts val="0"/>
              </a:spcAft>
            </a:pPr>
            <a:r>
              <a:rPr sz="1200" b="1" i="0">
                <a:solidFill>
                  <a:srgbClr val="F5B83D"/>
                </a:solidFill>
                <a:latin typeface="Calibri"/>
              </a:rPr>
              <a:t>Next: does the brain model match real brains?  →</a:t>
            </a:r>
          </a:p>
        </p:txBody>
      </p:sp>
      <p:sp>
        <p:nvSpPr>
          <p:cNvPr id="34" name="TextBox 33"/>
          <p:cNvSpPr txBox="1"/>
          <p:nvPr/>
        </p:nvSpPr>
        <p:spPr>
          <a:xfrm>
            <a:off x="685800" y="6355080"/>
            <a:ext cx="4572000" cy="320040"/>
          </a:xfrm>
          <a:prstGeom prst="rect">
            <a:avLst/>
          </a:prstGeom>
          <a:noFill/>
        </p:spPr>
        <p:txBody>
          <a:bodyPr wrap="square" anchor="t">
            <a:spAutoFit/>
          </a:bodyPr>
          <a:lstStyle/>
          <a:p>
            <a:pPr algn="l">
              <a:spcAft>
                <a:spcPts val="0"/>
              </a:spcAft>
            </a:pPr>
            <a:r>
              <a:rPr sz="1000" b="1" i="0">
                <a:solidFill>
                  <a:srgbClr val="9AABC4"/>
                </a:solidFill>
                <a:latin typeface="Calibri"/>
              </a:rPr>
              <a:t>THE RESULTS</a:t>
            </a:r>
          </a:p>
        </p:txBody>
      </p:sp>
      <p:sp>
        <p:nvSpPr>
          <p:cNvPr id="35" name="Rectangle 34"/>
          <p:cNvSpPr/>
          <p:nvPr/>
        </p:nvSpPr>
        <p:spPr>
          <a:xfrm>
            <a:off x="4692243"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268315"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844387" y="6473952"/>
            <a:ext cx="502920" cy="36576"/>
          </a:xfrm>
          <a:prstGeom prst="rect">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420459"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996531"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591495" y="6355080"/>
            <a:ext cx="914400" cy="320040"/>
          </a:xfrm>
          <a:prstGeom prst="rect">
            <a:avLst/>
          </a:prstGeom>
          <a:noFill/>
        </p:spPr>
        <p:txBody>
          <a:bodyPr wrap="square" anchor="t">
            <a:spAutoFit/>
          </a:bodyPr>
          <a:lstStyle/>
          <a:p>
            <a:pPr algn="r">
              <a:spcAft>
                <a:spcPts val="0"/>
              </a:spcAft>
            </a:pPr>
            <a:r>
              <a:rPr sz="1100" b="1" i="0">
                <a:solidFill>
                  <a:srgbClr val="9AABC4"/>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arget.png"/>
          <p:cNvPicPr>
            <a:picLocks noChangeAspect="1"/>
          </p:cNvPicPr>
          <p:nvPr/>
        </p:nvPicPr>
        <p:blipFill>
          <a:blip r:embed="rId3"/>
          <a:stretch>
            <a:fillRect/>
          </a:stretch>
        </p:blipFill>
        <p:spPr>
          <a:xfrm>
            <a:off x="685800" y="457200"/>
            <a:ext cx="420624" cy="420624"/>
          </a:xfrm>
          <a:prstGeom prst="rect">
            <a:avLst/>
          </a:prstGeom>
        </p:spPr>
      </p:pic>
      <p:sp>
        <p:nvSpPr>
          <p:cNvPr id="5" name="TextBox 4"/>
          <p:cNvSpPr txBox="1"/>
          <p:nvPr/>
        </p:nvSpPr>
        <p:spPr>
          <a:xfrm>
            <a:off x="1289304" y="201168"/>
            <a:ext cx="10216591" cy="320040"/>
          </a:xfrm>
          <a:prstGeom prst="rect">
            <a:avLst/>
          </a:prstGeom>
          <a:noFill/>
        </p:spPr>
        <p:txBody>
          <a:bodyPr wrap="square" anchor="t">
            <a:spAutoFit/>
          </a:bodyPr>
          <a:lstStyle/>
          <a:p>
            <a:pPr algn="l">
              <a:spcAft>
                <a:spcPts val="0"/>
              </a:spcAft>
            </a:pPr>
            <a:r>
              <a:rPr sz="1200" b="1" i="0">
                <a:solidFill>
                  <a:srgbClr val="FF7A59"/>
                </a:solidFill>
                <a:latin typeface="Calibri"/>
              </a:rPr>
              <a:t>THE RESULTS</a:t>
            </a:r>
          </a:p>
        </p:txBody>
      </p:sp>
      <p:sp>
        <p:nvSpPr>
          <p:cNvPr id="6" name="TextBox 5"/>
          <p:cNvSpPr txBox="1"/>
          <p:nvPr/>
        </p:nvSpPr>
        <p:spPr>
          <a:xfrm>
            <a:off x="1289304" y="420624"/>
            <a:ext cx="10216591" cy="822960"/>
          </a:xfrm>
          <a:prstGeom prst="rect">
            <a:avLst/>
          </a:prstGeom>
          <a:noFill/>
        </p:spPr>
        <p:txBody>
          <a:bodyPr wrap="square" anchor="t">
            <a:spAutoFit/>
          </a:bodyPr>
          <a:lstStyle/>
          <a:p>
            <a:pPr algn="l">
              <a:spcAft>
                <a:spcPts val="0"/>
              </a:spcAft>
            </a:pPr>
            <a:r>
              <a:rPr sz="2600" b="1" i="0">
                <a:solidFill>
                  <a:srgbClr val="7CC4FF"/>
                </a:solidFill>
                <a:latin typeface="Calibri"/>
              </a:rPr>
              <a:t>Does the brain model match real brains? r = +0.028, p = 0.048</a:t>
            </a:r>
          </a:p>
        </p:txBody>
      </p:sp>
      <p:sp>
        <p:nvSpPr>
          <p:cNvPr id="7" name="TextBox 6"/>
          <p:cNvSpPr txBox="1"/>
          <p:nvPr/>
        </p:nvSpPr>
        <p:spPr>
          <a:xfrm>
            <a:off x="685800" y="1325880"/>
            <a:ext cx="10820095" cy="320040"/>
          </a:xfrm>
          <a:prstGeom prst="rect">
            <a:avLst/>
          </a:prstGeom>
          <a:noFill/>
        </p:spPr>
        <p:txBody>
          <a:bodyPr wrap="square" anchor="t">
            <a:spAutoFit/>
          </a:bodyPr>
          <a:lstStyle/>
          <a:p>
            <a:pPr algn="l">
              <a:spcAft>
                <a:spcPts val="0"/>
              </a:spcAft>
            </a:pPr>
            <a:r>
              <a:rPr sz="1300" b="0" i="0">
                <a:solidFill>
                  <a:srgbClr val="9AABC4"/>
                </a:solidFill>
                <a:latin typeface="Calibri"/>
              </a:rPr>
              <a:t>Public brain scans of 4 people watching Friends (Algonauts 2025).  r = correlation: 0 = no match, 1 = perfect.</a:t>
            </a:r>
          </a:p>
        </p:txBody>
      </p:sp>
      <p:sp>
        <p:nvSpPr>
          <p:cNvPr id="8" name="TextBox 7"/>
          <p:cNvSpPr txBox="1"/>
          <p:nvPr/>
        </p:nvSpPr>
        <p:spPr>
          <a:xfrm>
            <a:off x="777240" y="1856232"/>
            <a:ext cx="2377440" cy="411480"/>
          </a:xfrm>
          <a:prstGeom prst="rect">
            <a:avLst/>
          </a:prstGeom>
          <a:noFill/>
        </p:spPr>
        <p:txBody>
          <a:bodyPr wrap="square" anchor="t">
            <a:spAutoFit/>
          </a:bodyPr>
          <a:lstStyle/>
          <a:p>
            <a:pPr algn="r">
              <a:spcAft>
                <a:spcPts val="0"/>
              </a:spcAft>
            </a:pPr>
            <a:r>
              <a:rPr sz="1400" b="0" i="0">
                <a:solidFill>
                  <a:srgbClr val="9AABC4"/>
                </a:solidFill>
                <a:latin typeface="Calibri"/>
              </a:rPr>
              <a:t>people vs each other,
full episode</a:t>
            </a:r>
          </a:p>
        </p:txBody>
      </p:sp>
      <p:sp>
        <p:nvSpPr>
          <p:cNvPr id="9" name="Rectangle 8"/>
          <p:cNvSpPr/>
          <p:nvPr/>
        </p:nvSpPr>
        <p:spPr>
          <a:xfrm>
            <a:off x="3291840" y="1920240"/>
            <a:ext cx="6217920" cy="274320"/>
          </a:xfrm>
          <a:prstGeom prst="rect">
            <a:avLst/>
          </a:prstGeom>
          <a:solidFill>
            <a:srgbClr val="2A3D5E">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91840" y="1920240"/>
            <a:ext cx="5548579" cy="274320"/>
          </a:xfrm>
          <a:prstGeom prst="rect">
            <a:avLst/>
          </a:prstGeom>
          <a:solidFill>
            <a:srgbClr val="9AA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46920" y="1856232"/>
            <a:ext cx="2926080" cy="411480"/>
          </a:xfrm>
          <a:prstGeom prst="rect">
            <a:avLst/>
          </a:prstGeom>
          <a:noFill/>
        </p:spPr>
        <p:txBody>
          <a:bodyPr wrap="square" anchor="t">
            <a:spAutoFit/>
          </a:bodyPr>
          <a:lstStyle/>
          <a:p>
            <a:pPr algn="l">
              <a:spcAft>
                <a:spcPts val="0"/>
              </a:spcAft>
            </a:pPr>
            <a:r>
              <a:rPr sz="1400" b="1" i="0">
                <a:solidFill>
                  <a:srgbClr val="9AABC4"/>
                </a:solidFill>
                <a:latin typeface="Calibri"/>
              </a:rPr>
              <a:t>0.152</a:t>
            </a:r>
          </a:p>
        </p:txBody>
      </p:sp>
      <p:sp>
        <p:nvSpPr>
          <p:cNvPr id="12" name="TextBox 11"/>
          <p:cNvSpPr txBox="1"/>
          <p:nvPr/>
        </p:nvSpPr>
        <p:spPr>
          <a:xfrm>
            <a:off x="777240" y="2587752"/>
            <a:ext cx="2377440" cy="411480"/>
          </a:xfrm>
          <a:prstGeom prst="rect">
            <a:avLst/>
          </a:prstGeom>
          <a:noFill/>
        </p:spPr>
        <p:txBody>
          <a:bodyPr wrap="square" anchor="t">
            <a:spAutoFit/>
          </a:bodyPr>
          <a:lstStyle/>
          <a:p>
            <a:pPr algn="r">
              <a:spcAft>
                <a:spcPts val="0"/>
              </a:spcAft>
            </a:pPr>
            <a:r>
              <a:rPr sz="1400" b="0" i="0">
                <a:solidFill>
                  <a:srgbClr val="9AABC4"/>
                </a:solidFill>
                <a:latin typeface="Calibri"/>
              </a:rPr>
              <a:t>ceiling,
2-minute clip</a:t>
            </a:r>
          </a:p>
        </p:txBody>
      </p:sp>
      <p:sp>
        <p:nvSpPr>
          <p:cNvPr id="13" name="Rectangle 12"/>
          <p:cNvSpPr/>
          <p:nvPr/>
        </p:nvSpPr>
        <p:spPr>
          <a:xfrm>
            <a:off x="3291840" y="2651760"/>
            <a:ext cx="6217920" cy="274320"/>
          </a:xfrm>
          <a:prstGeom prst="rect">
            <a:avLst/>
          </a:prstGeom>
          <a:solidFill>
            <a:srgbClr val="2A3D5E">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91840" y="2651760"/>
            <a:ext cx="3507638" cy="274320"/>
          </a:xfrm>
          <a:prstGeom prst="rect">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46920" y="2587752"/>
            <a:ext cx="2926080" cy="411480"/>
          </a:xfrm>
          <a:prstGeom prst="rect">
            <a:avLst/>
          </a:prstGeom>
          <a:noFill/>
        </p:spPr>
        <p:txBody>
          <a:bodyPr wrap="square" anchor="t">
            <a:spAutoFit/>
          </a:bodyPr>
          <a:lstStyle/>
          <a:p>
            <a:pPr algn="l">
              <a:spcAft>
                <a:spcPts val="0"/>
              </a:spcAft>
            </a:pPr>
            <a:r>
              <a:rPr sz="1400" b="1" i="0">
                <a:solidFill>
                  <a:srgbClr val="7CC4FF"/>
                </a:solidFill>
                <a:latin typeface="Calibri"/>
              </a:rPr>
              <a:t>0.096</a:t>
            </a:r>
          </a:p>
        </p:txBody>
      </p:sp>
      <p:sp>
        <p:nvSpPr>
          <p:cNvPr id="16" name="TextBox 15"/>
          <p:cNvSpPr txBox="1"/>
          <p:nvPr/>
        </p:nvSpPr>
        <p:spPr>
          <a:xfrm>
            <a:off x="777240" y="3319272"/>
            <a:ext cx="2377440" cy="411480"/>
          </a:xfrm>
          <a:prstGeom prst="rect">
            <a:avLst/>
          </a:prstGeom>
          <a:noFill/>
        </p:spPr>
        <p:txBody>
          <a:bodyPr wrap="square" anchor="t">
            <a:spAutoFit/>
          </a:bodyPr>
          <a:lstStyle/>
          <a:p>
            <a:pPr algn="r">
              <a:spcAft>
                <a:spcPts val="0"/>
              </a:spcAft>
            </a:pPr>
            <a:r>
              <a:rPr sz="1400" b="0" i="0">
                <a:solidFill>
                  <a:srgbClr val="9AABC4"/>
                </a:solidFill>
                <a:latin typeface="Calibri"/>
              </a:rPr>
              <a:t>our model,
2-minute clip</a:t>
            </a:r>
          </a:p>
        </p:txBody>
      </p:sp>
      <p:sp>
        <p:nvSpPr>
          <p:cNvPr id="17" name="Rectangle 16"/>
          <p:cNvSpPr/>
          <p:nvPr/>
        </p:nvSpPr>
        <p:spPr>
          <a:xfrm>
            <a:off x="3291840" y="3383280"/>
            <a:ext cx="6217920" cy="274320"/>
          </a:xfrm>
          <a:prstGeom prst="rect">
            <a:avLst/>
          </a:prstGeom>
          <a:solidFill>
            <a:srgbClr val="2A3D5E">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291840" y="3383280"/>
            <a:ext cx="1035100" cy="274320"/>
          </a:xfrm>
          <a:prstGeom prst="rect">
            <a:avLst/>
          </a:prstGeom>
          <a:solidFill>
            <a:srgbClr val="5FD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46920" y="3319272"/>
            <a:ext cx="2926080" cy="411480"/>
          </a:xfrm>
          <a:prstGeom prst="rect">
            <a:avLst/>
          </a:prstGeom>
          <a:noFill/>
        </p:spPr>
        <p:txBody>
          <a:bodyPr wrap="square" anchor="t">
            <a:spAutoFit/>
          </a:bodyPr>
          <a:lstStyle/>
          <a:p>
            <a:pPr algn="l">
              <a:spcAft>
                <a:spcPts val="0"/>
              </a:spcAft>
            </a:pPr>
            <a:r>
              <a:rPr sz="1400" b="1" i="0">
                <a:solidFill>
                  <a:srgbClr val="5FD09A"/>
                </a:solidFill>
                <a:latin typeface="Calibri"/>
              </a:rPr>
              <a:t>0.028</a:t>
            </a:r>
          </a:p>
        </p:txBody>
      </p:sp>
      <p:sp>
        <p:nvSpPr>
          <p:cNvPr id="20" name="Rounded Rectangle 19"/>
          <p:cNvSpPr/>
          <p:nvPr/>
        </p:nvSpPr>
        <p:spPr>
          <a:xfrm>
            <a:off x="685800" y="4251960"/>
            <a:ext cx="3429000" cy="1234440"/>
          </a:xfrm>
          <a:prstGeom prst="roundRect">
            <a:avLst>
              <a:gd name="adj" fmla="val 6000"/>
            </a:avLst>
          </a:prstGeom>
          <a:solidFill>
            <a:srgbClr val="12223C"/>
          </a:solidFill>
          <a:ln w="25400">
            <a:solidFill>
              <a:srgbClr val="5FD09A"/>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3000" b="1" i="0">
                <a:solidFill>
                  <a:srgbClr val="5FD09A"/>
                </a:solidFill>
                <a:latin typeface="Calibri"/>
              </a:rPr>
              <a:t>30%</a:t>
            </a:r>
          </a:p>
          <a:p>
            <a:pPr algn="ctr">
              <a:spcAft>
                <a:spcPts val="0"/>
              </a:spcAft>
            </a:pPr>
            <a:r>
              <a:rPr sz="1300" b="0" i="0">
                <a:solidFill>
                  <a:srgbClr val="EEF3FA"/>
                </a:solidFill>
                <a:latin typeface="Calibri"/>
              </a:rPr>
              <a:t>of the clip ceiling
(0.028 ÷ 0.096)</a:t>
            </a:r>
          </a:p>
        </p:txBody>
      </p:sp>
      <p:sp>
        <p:nvSpPr>
          <p:cNvPr id="21" name="Rounded Rectangle 20"/>
          <p:cNvSpPr/>
          <p:nvPr/>
        </p:nvSpPr>
        <p:spPr>
          <a:xfrm>
            <a:off x="4379976" y="4251960"/>
            <a:ext cx="3429000" cy="1234440"/>
          </a:xfrm>
          <a:prstGeom prst="roundRect">
            <a:avLst>
              <a:gd name="adj" fmla="val 6000"/>
            </a:avLst>
          </a:prstGeom>
          <a:solidFill>
            <a:srgbClr val="12223C"/>
          </a:solidFill>
          <a:ln w="25400">
            <a:solidFill>
              <a:srgbClr val="F5B83D"/>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3000" b="1" i="0">
                <a:solidFill>
                  <a:srgbClr val="F5B83D"/>
                </a:solidFill>
                <a:latin typeface="Calibri"/>
              </a:rPr>
              <a:t>p = 0.048</a:t>
            </a:r>
          </a:p>
          <a:p>
            <a:pPr algn="ctr">
              <a:spcAft>
                <a:spcPts val="0"/>
              </a:spcAft>
            </a:pPr>
            <a:r>
              <a:rPr sz="1300" b="0" i="0">
                <a:solidFill>
                  <a:srgbClr val="EEF3FA"/>
                </a:solidFill>
                <a:latin typeface="Calibri"/>
              </a:rPr>
              <a:t>against 61 time-shifted copies;
cut-off 0.05</a:t>
            </a:r>
          </a:p>
        </p:txBody>
      </p:sp>
      <p:sp>
        <p:nvSpPr>
          <p:cNvPr id="22" name="Rounded Rectangle 21"/>
          <p:cNvSpPr/>
          <p:nvPr/>
        </p:nvSpPr>
        <p:spPr>
          <a:xfrm>
            <a:off x="8074152" y="4251960"/>
            <a:ext cx="3429000" cy="1234440"/>
          </a:xfrm>
          <a:prstGeom prst="roundRect">
            <a:avLst>
              <a:gd name="adj" fmla="val 6000"/>
            </a:avLst>
          </a:prstGeom>
          <a:solidFill>
            <a:srgbClr val="12223C"/>
          </a:solidFill>
          <a:ln w="25400">
            <a:solidFill>
              <a:srgbClr val="FF7A59"/>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3000" b="1" i="0">
                <a:solidFill>
                  <a:srgbClr val="FF7A59"/>
                </a:solidFill>
                <a:latin typeface="Calibri"/>
              </a:rPr>
              <a:t>3 bugs</a:t>
            </a:r>
          </a:p>
          <a:p>
            <a:pPr algn="ctr">
              <a:spcAft>
                <a:spcPts val="0"/>
              </a:spcAft>
            </a:pPr>
            <a:r>
              <a:rPr sz="1300" b="0" i="0">
                <a:solidFill>
                  <a:srgbClr val="EEF3FA"/>
                </a:solidFill>
                <a:latin typeface="Calibri"/>
              </a:rPr>
              <a:t>found and fixed along the way</a:t>
            </a:r>
          </a:p>
        </p:txBody>
      </p:sp>
      <p:sp>
        <p:nvSpPr>
          <p:cNvPr id="23" name="Rounded Rectangle 22"/>
          <p:cNvSpPr/>
          <p:nvPr/>
        </p:nvSpPr>
        <p:spPr>
          <a:xfrm>
            <a:off x="685800" y="5577840"/>
            <a:ext cx="10820095" cy="457200"/>
          </a:xfrm>
          <a:prstGeom prst="roundRect">
            <a:avLst>
              <a:gd name="adj" fmla="val 6000"/>
            </a:avLst>
          </a:prstGeom>
          <a:solidFill>
            <a:srgbClr val="12223C"/>
          </a:solidFill>
          <a:ln w="25400">
            <a:solidFill>
              <a:srgbClr val="F5B83D"/>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500" b="1">
                <a:solidFill>
                  <a:srgbClr val="F5B83D"/>
                </a:solidFill>
                <a:latin typeface="Calibri"/>
              </a:rPr>
              <a:t>Meaning:  </a:t>
            </a:r>
            <a:r>
              <a:rPr sz="1500" b="0">
                <a:solidFill>
                  <a:srgbClr val="EEF3FA"/>
                </a:solidFill>
                <a:latin typeface="Calibri"/>
              </a:rPr>
              <a:t>the sign is positive (+0.028). The full-episode run is next, in Paper 3.</a:t>
            </a:r>
          </a:p>
        </p:txBody>
      </p:sp>
      <p:sp>
        <p:nvSpPr>
          <p:cNvPr id="24" name="TextBox 23"/>
          <p:cNvSpPr txBox="1"/>
          <p:nvPr/>
        </p:nvSpPr>
        <p:spPr>
          <a:xfrm>
            <a:off x="6019495" y="6053328"/>
            <a:ext cx="5486400" cy="274320"/>
          </a:xfrm>
          <a:prstGeom prst="rect">
            <a:avLst/>
          </a:prstGeom>
          <a:noFill/>
        </p:spPr>
        <p:txBody>
          <a:bodyPr wrap="square" anchor="t">
            <a:spAutoFit/>
          </a:bodyPr>
          <a:lstStyle/>
          <a:p>
            <a:pPr algn="r">
              <a:spcAft>
                <a:spcPts val="0"/>
              </a:spcAft>
            </a:pPr>
            <a:r>
              <a:rPr sz="1200" b="1" i="0">
                <a:solidFill>
                  <a:srgbClr val="F5B83D"/>
                </a:solidFill>
                <a:latin typeface="Calibri"/>
              </a:rPr>
              <a:t>Next: the physics  →</a:t>
            </a:r>
          </a:p>
        </p:txBody>
      </p:sp>
      <p:sp>
        <p:nvSpPr>
          <p:cNvPr id="25" name="TextBox 24"/>
          <p:cNvSpPr txBox="1"/>
          <p:nvPr/>
        </p:nvSpPr>
        <p:spPr>
          <a:xfrm>
            <a:off x="685800" y="6355080"/>
            <a:ext cx="4572000" cy="320040"/>
          </a:xfrm>
          <a:prstGeom prst="rect">
            <a:avLst/>
          </a:prstGeom>
          <a:noFill/>
        </p:spPr>
        <p:txBody>
          <a:bodyPr wrap="square" anchor="t">
            <a:spAutoFit/>
          </a:bodyPr>
          <a:lstStyle/>
          <a:p>
            <a:pPr algn="l">
              <a:spcAft>
                <a:spcPts val="0"/>
              </a:spcAft>
            </a:pPr>
            <a:r>
              <a:rPr sz="1000" b="1" i="0">
                <a:solidFill>
                  <a:srgbClr val="9AABC4"/>
                </a:solidFill>
                <a:latin typeface="Calibri"/>
              </a:rPr>
              <a:t>THE RESULTS</a:t>
            </a:r>
          </a:p>
        </p:txBody>
      </p:sp>
      <p:sp>
        <p:nvSpPr>
          <p:cNvPr id="26" name="Rectangle 25"/>
          <p:cNvSpPr/>
          <p:nvPr/>
        </p:nvSpPr>
        <p:spPr>
          <a:xfrm>
            <a:off x="4692243"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268315"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844387" y="6473952"/>
            <a:ext cx="502920" cy="36576"/>
          </a:xfrm>
          <a:prstGeom prst="rect">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20459"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996531"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591495" y="6355080"/>
            <a:ext cx="914400" cy="320040"/>
          </a:xfrm>
          <a:prstGeom prst="rect">
            <a:avLst/>
          </a:prstGeom>
          <a:noFill/>
        </p:spPr>
        <p:txBody>
          <a:bodyPr wrap="square" anchor="t">
            <a:spAutoFit/>
          </a:bodyPr>
          <a:lstStyle/>
          <a:p>
            <a:pPr algn="r">
              <a:spcAft>
                <a:spcPts val="0"/>
              </a:spcAft>
            </a:pPr>
            <a:r>
              <a:rPr sz="1100" b="1" i="0">
                <a:solidFill>
                  <a:srgbClr val="9AABC4"/>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ler.png"/>
          <p:cNvPicPr>
            <a:picLocks noChangeAspect="1"/>
          </p:cNvPicPr>
          <p:nvPr/>
        </p:nvPicPr>
        <p:blipFill>
          <a:blip r:embed="rId3"/>
          <a:stretch>
            <a:fillRect/>
          </a:stretch>
        </p:blipFill>
        <p:spPr>
          <a:xfrm>
            <a:off x="685800" y="457200"/>
            <a:ext cx="420624" cy="420624"/>
          </a:xfrm>
          <a:prstGeom prst="rect">
            <a:avLst/>
          </a:prstGeom>
        </p:spPr>
      </p:pic>
      <p:sp>
        <p:nvSpPr>
          <p:cNvPr id="5" name="TextBox 4"/>
          <p:cNvSpPr txBox="1"/>
          <p:nvPr/>
        </p:nvSpPr>
        <p:spPr>
          <a:xfrm>
            <a:off x="1289304" y="201168"/>
            <a:ext cx="10216591" cy="320040"/>
          </a:xfrm>
          <a:prstGeom prst="rect">
            <a:avLst/>
          </a:prstGeom>
          <a:noFill/>
        </p:spPr>
        <p:txBody>
          <a:bodyPr wrap="square" anchor="t">
            <a:spAutoFit/>
          </a:bodyPr>
          <a:lstStyle/>
          <a:p>
            <a:pPr algn="l">
              <a:spcAft>
                <a:spcPts val="0"/>
              </a:spcAft>
            </a:pPr>
            <a:r>
              <a:rPr sz="1200" b="1" i="0">
                <a:solidFill>
                  <a:srgbClr val="FF7A59"/>
                </a:solidFill>
                <a:latin typeface="Calibri"/>
              </a:rPr>
              <a:t>THE PHYSICS</a:t>
            </a:r>
          </a:p>
        </p:txBody>
      </p:sp>
      <p:sp>
        <p:nvSpPr>
          <p:cNvPr id="6" name="TextBox 5"/>
          <p:cNvSpPr txBox="1"/>
          <p:nvPr/>
        </p:nvSpPr>
        <p:spPr>
          <a:xfrm>
            <a:off x="1289304" y="420624"/>
            <a:ext cx="10216591" cy="822960"/>
          </a:xfrm>
          <a:prstGeom prst="rect">
            <a:avLst/>
          </a:prstGeom>
          <a:noFill/>
        </p:spPr>
        <p:txBody>
          <a:bodyPr wrap="square" anchor="t">
            <a:spAutoFit/>
          </a:bodyPr>
          <a:lstStyle/>
          <a:p>
            <a:pPr algn="l">
              <a:spcAft>
                <a:spcPts val="0"/>
              </a:spcAft>
            </a:pPr>
            <a:r>
              <a:rPr sz="2600" b="1" i="0">
                <a:solidFill>
                  <a:srgbClr val="7CC4FF"/>
                </a:solidFill>
                <a:latin typeface="Calibri"/>
              </a:rPr>
              <a:t>The minimum push media would need: α ≥ 4.29</a:t>
            </a:r>
          </a:p>
        </p:txBody>
      </p:sp>
      <p:sp>
        <p:nvSpPr>
          <p:cNvPr id="7" name="Rounded Rectangle 6"/>
          <p:cNvSpPr/>
          <p:nvPr/>
        </p:nvSpPr>
        <p:spPr>
          <a:xfrm>
            <a:off x="685800" y="1325880"/>
            <a:ext cx="5212080" cy="4343400"/>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pic>
        <p:nvPicPr>
          <p:cNvPr id="8" name="Picture 7" descr="1d5e9130446c2757.png"/>
          <p:cNvPicPr>
            <a:picLocks noChangeAspect="1"/>
          </p:cNvPicPr>
          <p:nvPr/>
        </p:nvPicPr>
        <p:blipFill>
          <a:blip r:embed="rId4"/>
          <a:stretch>
            <a:fillRect/>
          </a:stretch>
        </p:blipFill>
        <p:spPr>
          <a:xfrm>
            <a:off x="1718843" y="1508760"/>
            <a:ext cx="3145993" cy="579272"/>
          </a:xfrm>
          <a:prstGeom prst="rect">
            <a:avLst/>
          </a:prstGeom>
        </p:spPr>
      </p:pic>
      <p:pic>
        <p:nvPicPr>
          <p:cNvPr id="9" name="Picture 8" descr="20c93cf97540e448.png"/>
          <p:cNvPicPr>
            <a:picLocks noChangeAspect="1"/>
          </p:cNvPicPr>
          <p:nvPr/>
        </p:nvPicPr>
        <p:blipFill>
          <a:blip r:embed="rId5"/>
          <a:stretch>
            <a:fillRect/>
          </a:stretch>
        </p:blipFill>
        <p:spPr>
          <a:xfrm>
            <a:off x="1181290" y="2542032"/>
            <a:ext cx="152019" cy="247573"/>
          </a:xfrm>
          <a:prstGeom prst="rect">
            <a:avLst/>
          </a:prstGeom>
        </p:spPr>
      </p:pic>
      <p:sp>
        <p:nvSpPr>
          <p:cNvPr id="10" name="TextBox 9"/>
          <p:cNvSpPr txBox="1"/>
          <p:nvPr/>
        </p:nvSpPr>
        <p:spPr>
          <a:xfrm>
            <a:off x="1783080" y="2487168"/>
            <a:ext cx="4023360" cy="502920"/>
          </a:xfrm>
          <a:prstGeom prst="rect">
            <a:avLst/>
          </a:prstGeom>
          <a:noFill/>
        </p:spPr>
        <p:txBody>
          <a:bodyPr wrap="square" anchor="ctr">
            <a:spAutoFit/>
          </a:bodyPr>
          <a:lstStyle/>
          <a:p>
            <a:pPr algn="l">
              <a:spcAft>
                <a:spcPts val="0"/>
              </a:spcAft>
            </a:pPr>
            <a:r>
              <a:rPr sz="1300" b="1">
                <a:solidFill>
                  <a:srgbClr val="7CC4FF"/>
                </a:solidFill>
                <a:latin typeface="Calibri"/>
              </a:rPr>
              <a:t>external field  </a:t>
            </a:r>
            <a:r>
              <a:rPr sz="1300" b="0">
                <a:solidFill>
                  <a:srgbClr val="EEF3FA"/>
                </a:solidFill>
                <a:latin typeface="Calibri"/>
              </a:rPr>
              <a:t>= media's push on everyone</a:t>
            </a:r>
          </a:p>
        </p:txBody>
      </p:sp>
      <p:pic>
        <p:nvPicPr>
          <p:cNvPr id="11" name="Picture 10" descr="a2dd4f017e3f8d43.png"/>
          <p:cNvPicPr>
            <a:picLocks noChangeAspect="1"/>
          </p:cNvPicPr>
          <p:nvPr/>
        </p:nvPicPr>
        <p:blipFill>
          <a:blip r:embed="rId6"/>
          <a:stretch>
            <a:fillRect/>
          </a:stretch>
        </p:blipFill>
        <p:spPr>
          <a:xfrm>
            <a:off x="1144371" y="3063240"/>
            <a:ext cx="225856" cy="247573"/>
          </a:xfrm>
          <a:prstGeom prst="rect">
            <a:avLst/>
          </a:prstGeom>
        </p:spPr>
      </p:pic>
      <p:sp>
        <p:nvSpPr>
          <p:cNvPr id="12" name="TextBox 11"/>
          <p:cNvSpPr txBox="1"/>
          <p:nvPr/>
        </p:nvSpPr>
        <p:spPr>
          <a:xfrm>
            <a:off x="1783080" y="3008376"/>
            <a:ext cx="4023360" cy="502920"/>
          </a:xfrm>
          <a:prstGeom prst="rect">
            <a:avLst/>
          </a:prstGeom>
          <a:noFill/>
        </p:spPr>
        <p:txBody>
          <a:bodyPr wrap="square" anchor="ctr">
            <a:spAutoFit/>
          </a:bodyPr>
          <a:lstStyle/>
          <a:p>
            <a:pPr algn="l">
              <a:spcAft>
                <a:spcPts val="0"/>
              </a:spcAft>
            </a:pPr>
            <a:r>
              <a:rPr sz="1300" b="1">
                <a:solidFill>
                  <a:srgbClr val="7CC4FF"/>
                </a:solidFill>
                <a:latin typeface="Calibri"/>
              </a:rPr>
              <a:t>observable  </a:t>
            </a:r>
            <a:r>
              <a:rPr sz="1300" b="0">
                <a:solidFill>
                  <a:srgbClr val="EEF3FA"/>
                </a:solidFill>
                <a:latin typeface="Calibri"/>
              </a:rPr>
              <a:t>= our score for an article</a:t>
            </a:r>
          </a:p>
        </p:txBody>
      </p:sp>
      <p:pic>
        <p:nvPicPr>
          <p:cNvPr id="13" name="Picture 12" descr="5272f2755a3e4bf7.png"/>
          <p:cNvPicPr>
            <a:picLocks noChangeAspect="1"/>
          </p:cNvPicPr>
          <p:nvPr/>
        </p:nvPicPr>
        <p:blipFill>
          <a:blip r:embed="rId7"/>
          <a:stretch>
            <a:fillRect/>
          </a:stretch>
        </p:blipFill>
        <p:spPr>
          <a:xfrm>
            <a:off x="1174775" y="3584448"/>
            <a:ext cx="165049" cy="247573"/>
          </a:xfrm>
          <a:prstGeom prst="rect">
            <a:avLst/>
          </a:prstGeom>
        </p:spPr>
      </p:pic>
      <p:sp>
        <p:nvSpPr>
          <p:cNvPr id="14" name="TextBox 13"/>
          <p:cNvSpPr txBox="1"/>
          <p:nvPr/>
        </p:nvSpPr>
        <p:spPr>
          <a:xfrm>
            <a:off x="1783080" y="3529584"/>
            <a:ext cx="4023360" cy="502920"/>
          </a:xfrm>
          <a:prstGeom prst="rect">
            <a:avLst/>
          </a:prstGeom>
          <a:noFill/>
        </p:spPr>
        <p:txBody>
          <a:bodyPr wrap="square" anchor="ctr">
            <a:spAutoFit/>
          </a:bodyPr>
          <a:lstStyle/>
          <a:p>
            <a:pPr algn="l">
              <a:spcAft>
                <a:spcPts val="0"/>
              </a:spcAft>
            </a:pPr>
            <a:r>
              <a:rPr sz="1300" b="1">
                <a:solidFill>
                  <a:srgbClr val="7CC4FF"/>
                </a:solidFill>
                <a:latin typeface="Calibri"/>
              </a:rPr>
              <a:t>coupling constant  </a:t>
            </a:r>
            <a:r>
              <a:rPr sz="1300" b="0">
                <a:solidFill>
                  <a:srgbClr val="EEF3FA"/>
                </a:solidFill>
                <a:latin typeface="Calibri"/>
              </a:rPr>
              <a:t>= push per unit of score</a:t>
            </a:r>
          </a:p>
        </p:txBody>
      </p:sp>
      <p:pic>
        <p:nvPicPr>
          <p:cNvPr id="15" name="Picture 14" descr="3083b7f6cdc240b3.png"/>
          <p:cNvPicPr>
            <a:picLocks noChangeAspect="1"/>
          </p:cNvPicPr>
          <p:nvPr/>
        </p:nvPicPr>
        <p:blipFill>
          <a:blip r:embed="rId8"/>
          <a:stretch>
            <a:fillRect/>
          </a:stretch>
        </p:blipFill>
        <p:spPr>
          <a:xfrm>
            <a:off x="1141114" y="4105655"/>
            <a:ext cx="232371" cy="247573"/>
          </a:xfrm>
          <a:prstGeom prst="rect">
            <a:avLst/>
          </a:prstGeom>
        </p:spPr>
      </p:pic>
      <p:sp>
        <p:nvSpPr>
          <p:cNvPr id="16" name="TextBox 15"/>
          <p:cNvSpPr txBox="1"/>
          <p:nvPr/>
        </p:nvSpPr>
        <p:spPr>
          <a:xfrm>
            <a:off x="1783080" y="4050791"/>
            <a:ext cx="4023360" cy="502920"/>
          </a:xfrm>
          <a:prstGeom prst="rect">
            <a:avLst/>
          </a:prstGeom>
          <a:noFill/>
        </p:spPr>
        <p:txBody>
          <a:bodyPr wrap="square" anchor="ctr">
            <a:spAutoFit/>
          </a:bodyPr>
          <a:lstStyle/>
          <a:p>
            <a:pPr algn="l">
              <a:spcAft>
                <a:spcPts val="0"/>
              </a:spcAft>
            </a:pPr>
            <a:r>
              <a:rPr sz="1300" b="1">
                <a:solidFill>
                  <a:srgbClr val="7CC4FF"/>
                </a:solidFill>
                <a:latin typeface="Calibri"/>
              </a:rPr>
              <a:t>critical field  </a:t>
            </a:r>
            <a:r>
              <a:rPr sz="1300" b="0">
                <a:solidFill>
                  <a:srgbClr val="EEF3FA"/>
                </a:solidFill>
                <a:latin typeface="Calibri"/>
              </a:rPr>
              <a:t>= smallest push that flips the majority</a:t>
            </a:r>
          </a:p>
        </p:txBody>
      </p:sp>
      <p:pic>
        <p:nvPicPr>
          <p:cNvPr id="17" name="Picture 16" descr="92db4915de0152da.png"/>
          <p:cNvPicPr>
            <a:picLocks noChangeAspect="1"/>
          </p:cNvPicPr>
          <p:nvPr/>
        </p:nvPicPr>
        <p:blipFill>
          <a:blip r:embed="rId9"/>
          <a:stretch>
            <a:fillRect/>
          </a:stretch>
        </p:blipFill>
        <p:spPr>
          <a:xfrm>
            <a:off x="1102023" y="4626864"/>
            <a:ext cx="310553" cy="249745"/>
          </a:xfrm>
          <a:prstGeom prst="rect">
            <a:avLst/>
          </a:prstGeom>
        </p:spPr>
      </p:pic>
      <p:sp>
        <p:nvSpPr>
          <p:cNvPr id="18" name="TextBox 17"/>
          <p:cNvSpPr txBox="1"/>
          <p:nvPr/>
        </p:nvSpPr>
        <p:spPr>
          <a:xfrm>
            <a:off x="1783080" y="4572000"/>
            <a:ext cx="4023360" cy="502920"/>
          </a:xfrm>
          <a:prstGeom prst="rect">
            <a:avLst/>
          </a:prstGeom>
          <a:noFill/>
        </p:spPr>
        <p:txBody>
          <a:bodyPr wrap="square" anchor="ctr">
            <a:spAutoFit/>
          </a:bodyPr>
          <a:lstStyle/>
          <a:p>
            <a:pPr algn="l">
              <a:spcAft>
                <a:spcPts val="0"/>
              </a:spcAft>
            </a:pPr>
            <a:r>
              <a:rPr sz="1300" b="1">
                <a:solidFill>
                  <a:srgbClr val="7CC4FF"/>
                </a:solidFill>
                <a:latin typeface="Calibri"/>
              </a:rPr>
              <a:t>reduced coupling  </a:t>
            </a:r>
            <a:r>
              <a:rPr sz="1300" b="0">
                <a:solidFill>
                  <a:srgbClr val="EEF3FA"/>
                </a:solidFill>
                <a:latin typeface="Calibri"/>
              </a:rPr>
              <a:t>= how strongly people copy each other</a:t>
            </a:r>
          </a:p>
        </p:txBody>
      </p:sp>
      <p:pic>
        <p:nvPicPr>
          <p:cNvPr id="19" name="Picture 18" descr="4b880f26890debb7.png"/>
          <p:cNvPicPr>
            <a:picLocks noChangeAspect="1"/>
          </p:cNvPicPr>
          <p:nvPr/>
        </p:nvPicPr>
        <p:blipFill>
          <a:blip r:embed="rId10"/>
          <a:stretch>
            <a:fillRect/>
          </a:stretch>
        </p:blipFill>
        <p:spPr>
          <a:xfrm>
            <a:off x="1043387" y="5148072"/>
            <a:ext cx="427824" cy="247573"/>
          </a:xfrm>
          <a:prstGeom prst="rect">
            <a:avLst/>
          </a:prstGeom>
        </p:spPr>
      </p:pic>
      <p:sp>
        <p:nvSpPr>
          <p:cNvPr id="20" name="TextBox 19"/>
          <p:cNvSpPr txBox="1"/>
          <p:nvPr/>
        </p:nvSpPr>
        <p:spPr>
          <a:xfrm>
            <a:off x="1783080" y="5093208"/>
            <a:ext cx="4023360" cy="502920"/>
          </a:xfrm>
          <a:prstGeom prst="rect">
            <a:avLst/>
          </a:prstGeom>
          <a:noFill/>
        </p:spPr>
        <p:txBody>
          <a:bodyPr wrap="square" anchor="ctr">
            <a:spAutoFit/>
          </a:bodyPr>
          <a:lstStyle/>
          <a:p>
            <a:pPr algn="l">
              <a:spcAft>
                <a:spcPts val="0"/>
              </a:spcAft>
            </a:pPr>
            <a:r>
              <a:rPr sz="1300" b="1">
                <a:solidFill>
                  <a:srgbClr val="7CC4FF"/>
                </a:solidFill>
                <a:latin typeface="Calibri"/>
              </a:rPr>
              <a:t>spread  </a:t>
            </a:r>
            <a:r>
              <a:rPr sz="1300" b="0">
                <a:solidFill>
                  <a:srgbClr val="EEF3FA"/>
                </a:solidFill>
                <a:latin typeface="Calibri"/>
              </a:rPr>
              <a:t>= highest − lowest score = 0.124</a:t>
            </a:r>
          </a:p>
        </p:txBody>
      </p:sp>
      <p:graphicFrame>
        <p:nvGraphicFramePr>
          <p:cNvPr id="21" name="Chart 20"/>
          <p:cNvGraphicFramePr>
            <a:graphicFrameLocks noGrp="1"/>
          </p:cNvGraphicFramePr>
          <p:nvPr/>
        </p:nvGraphicFramePr>
        <p:xfrm>
          <a:off x="6172200" y="1280160"/>
          <a:ext cx="5394960" cy="3383280"/>
        </p:xfrm>
        <a:graphic>
          <a:graphicData uri="http://schemas.openxmlformats.org/drawingml/2006/chart">
            <c:chart xmlns:c="http://schemas.openxmlformats.org/drawingml/2006/chart" r:id="rId11"/>
          </a:graphicData>
        </a:graphic>
      </p:graphicFrame>
      <p:sp>
        <p:nvSpPr>
          <p:cNvPr id="22" name="TextBox 21"/>
          <p:cNvSpPr txBox="1"/>
          <p:nvPr/>
        </p:nvSpPr>
        <p:spPr>
          <a:xfrm>
            <a:off x="6172200" y="4572000"/>
            <a:ext cx="5394960" cy="274320"/>
          </a:xfrm>
          <a:prstGeom prst="rect">
            <a:avLst/>
          </a:prstGeom>
          <a:noFill/>
        </p:spPr>
        <p:txBody>
          <a:bodyPr wrap="square" anchor="t">
            <a:spAutoFit/>
          </a:bodyPr>
          <a:lstStyle/>
          <a:p>
            <a:pPr algn="ctr">
              <a:spcAft>
                <a:spcPts val="0"/>
              </a:spcAft>
            </a:pPr>
            <a:r>
              <a:rPr sz="1200" b="0" i="0">
                <a:solidFill>
                  <a:srgbClr val="9AABC4"/>
                </a:solidFill>
                <a:latin typeface="Calibri"/>
              </a:rPr>
              <a:t>reduced coupling βJ  →</a:t>
            </a:r>
          </a:p>
        </p:txBody>
      </p:sp>
      <p:sp>
        <p:nvSpPr>
          <p:cNvPr id="23" name="TextBox 22"/>
          <p:cNvSpPr txBox="1"/>
          <p:nvPr/>
        </p:nvSpPr>
        <p:spPr>
          <a:xfrm>
            <a:off x="6355080" y="1234440"/>
            <a:ext cx="2743200" cy="274320"/>
          </a:xfrm>
          <a:prstGeom prst="rect">
            <a:avLst/>
          </a:prstGeom>
          <a:noFill/>
        </p:spPr>
        <p:txBody>
          <a:bodyPr wrap="square" anchor="t">
            <a:spAutoFit/>
          </a:bodyPr>
          <a:lstStyle/>
          <a:p>
            <a:pPr algn="l">
              <a:spcAft>
                <a:spcPts val="0"/>
              </a:spcAft>
            </a:pPr>
            <a:r>
              <a:rPr sz="1200" b="0" i="0">
                <a:solidFill>
                  <a:srgbClr val="9AABC4"/>
                </a:solidFill>
                <a:latin typeface="Calibri"/>
              </a:rPr>
              <a:t>minimum α</a:t>
            </a:r>
          </a:p>
        </p:txBody>
      </p:sp>
      <p:sp>
        <p:nvSpPr>
          <p:cNvPr id="24" name="Rounded Rectangle 23"/>
          <p:cNvSpPr/>
          <p:nvPr/>
        </p:nvSpPr>
        <p:spPr>
          <a:xfrm>
            <a:off x="6172200" y="4892040"/>
            <a:ext cx="5330952" cy="777240"/>
          </a:xfrm>
          <a:prstGeom prst="roundRect">
            <a:avLst>
              <a:gd name="adj" fmla="val 6000"/>
            </a:avLst>
          </a:prstGeom>
          <a:solidFill>
            <a:srgbClr val="12223C"/>
          </a:solidFill>
          <a:ln w="25400">
            <a:solidFill>
              <a:srgbClr val="FF7A59"/>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2200" b="1" i="0">
                <a:solidFill>
                  <a:srgbClr val="FF7A59"/>
                </a:solidFill>
                <a:latin typeface="Calibri"/>
              </a:rPr>
              <a:t>α ≥ 0.533 ÷ 0.124 = 4.29</a:t>
            </a:r>
          </a:p>
          <a:p>
            <a:pPr algn="ctr">
              <a:spcAft>
                <a:spcPts val="0"/>
              </a:spcAft>
            </a:pPr>
            <a:r>
              <a:rPr sz="1300" b="0" i="0">
                <a:solidFill>
                  <a:srgbClr val="EEF3FA"/>
                </a:solidFill>
                <a:latin typeface="Calibri"/>
              </a:rPr>
              <a:t>at βJ = 2, where the critical field is 0.533</a:t>
            </a:r>
          </a:p>
        </p:txBody>
      </p:sp>
      <p:sp>
        <p:nvSpPr>
          <p:cNvPr id="25" name="TextBox 24"/>
          <p:cNvSpPr txBox="1"/>
          <p:nvPr/>
        </p:nvSpPr>
        <p:spPr>
          <a:xfrm>
            <a:off x="6019495" y="6053328"/>
            <a:ext cx="5486400" cy="274320"/>
          </a:xfrm>
          <a:prstGeom prst="rect">
            <a:avLst/>
          </a:prstGeom>
          <a:noFill/>
        </p:spPr>
        <p:txBody>
          <a:bodyPr wrap="square" anchor="t">
            <a:spAutoFit/>
          </a:bodyPr>
          <a:lstStyle/>
          <a:p>
            <a:pPr algn="r">
              <a:spcAft>
                <a:spcPts val="0"/>
              </a:spcAft>
            </a:pPr>
            <a:r>
              <a:rPr sz="1200" b="1" i="0">
                <a:solidFill>
                  <a:srgbClr val="F5B83D"/>
                </a:solidFill>
                <a:latin typeface="Calibri"/>
              </a:rPr>
              <a:t>Next: what it could be used for  →</a:t>
            </a:r>
          </a:p>
        </p:txBody>
      </p:sp>
      <p:sp>
        <p:nvSpPr>
          <p:cNvPr id="26" name="TextBox 25"/>
          <p:cNvSpPr txBox="1"/>
          <p:nvPr/>
        </p:nvSpPr>
        <p:spPr>
          <a:xfrm>
            <a:off x="685800" y="6355080"/>
            <a:ext cx="4572000" cy="320040"/>
          </a:xfrm>
          <a:prstGeom prst="rect">
            <a:avLst/>
          </a:prstGeom>
          <a:noFill/>
        </p:spPr>
        <p:txBody>
          <a:bodyPr wrap="square" anchor="t">
            <a:spAutoFit/>
          </a:bodyPr>
          <a:lstStyle/>
          <a:p>
            <a:pPr algn="l">
              <a:spcAft>
                <a:spcPts val="0"/>
              </a:spcAft>
            </a:pPr>
            <a:r>
              <a:rPr sz="1000" b="1" i="0">
                <a:solidFill>
                  <a:srgbClr val="9AABC4"/>
                </a:solidFill>
                <a:latin typeface="Calibri"/>
              </a:rPr>
              <a:t>THE PHYSICS</a:t>
            </a:r>
          </a:p>
        </p:txBody>
      </p:sp>
      <p:sp>
        <p:nvSpPr>
          <p:cNvPr id="27" name="Rectangle 26"/>
          <p:cNvSpPr/>
          <p:nvPr/>
        </p:nvSpPr>
        <p:spPr>
          <a:xfrm>
            <a:off x="4692243"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268315"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844387"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20459" y="6473952"/>
            <a:ext cx="502920" cy="36576"/>
          </a:xfrm>
          <a:prstGeom prst="rect">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996531"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591495" y="6355080"/>
            <a:ext cx="914400" cy="320040"/>
          </a:xfrm>
          <a:prstGeom prst="rect">
            <a:avLst/>
          </a:prstGeom>
          <a:noFill/>
        </p:spPr>
        <p:txBody>
          <a:bodyPr wrap="square" anchor="t">
            <a:spAutoFit/>
          </a:bodyPr>
          <a:lstStyle/>
          <a:p>
            <a:pPr algn="r">
              <a:spcAft>
                <a:spcPts val="0"/>
              </a:spcAft>
            </a:pPr>
            <a:r>
              <a:rPr sz="1100" b="1" i="0">
                <a:solidFill>
                  <a:srgbClr val="9AABC4"/>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arget.png"/>
          <p:cNvPicPr>
            <a:picLocks noChangeAspect="1"/>
          </p:cNvPicPr>
          <p:nvPr/>
        </p:nvPicPr>
        <p:blipFill>
          <a:blip r:embed="rId3"/>
          <a:stretch>
            <a:fillRect/>
          </a:stretch>
        </p:blipFill>
        <p:spPr>
          <a:xfrm>
            <a:off x="685800" y="457200"/>
            <a:ext cx="420624" cy="420624"/>
          </a:xfrm>
          <a:prstGeom prst="rect">
            <a:avLst/>
          </a:prstGeom>
        </p:spPr>
      </p:pic>
      <p:sp>
        <p:nvSpPr>
          <p:cNvPr id="5" name="TextBox 4"/>
          <p:cNvSpPr txBox="1"/>
          <p:nvPr/>
        </p:nvSpPr>
        <p:spPr>
          <a:xfrm>
            <a:off x="1289304" y="201168"/>
            <a:ext cx="10216591" cy="320040"/>
          </a:xfrm>
          <a:prstGeom prst="rect">
            <a:avLst/>
          </a:prstGeom>
          <a:noFill/>
        </p:spPr>
        <p:txBody>
          <a:bodyPr wrap="square" anchor="t">
            <a:spAutoFit/>
          </a:bodyPr>
          <a:lstStyle/>
          <a:p>
            <a:pPr algn="l">
              <a:spcAft>
                <a:spcPts val="0"/>
              </a:spcAft>
            </a:pPr>
            <a:r>
              <a:rPr sz="1200" b="1" i="0">
                <a:solidFill>
                  <a:srgbClr val="FF7A59"/>
                </a:solidFill>
                <a:latin typeface="Calibri"/>
              </a:rPr>
              <a:t>WHAT'S NEXT</a:t>
            </a:r>
          </a:p>
        </p:txBody>
      </p:sp>
      <p:sp>
        <p:nvSpPr>
          <p:cNvPr id="6" name="TextBox 5"/>
          <p:cNvSpPr txBox="1"/>
          <p:nvPr/>
        </p:nvSpPr>
        <p:spPr>
          <a:xfrm>
            <a:off x="1289304" y="420624"/>
            <a:ext cx="10216591" cy="822960"/>
          </a:xfrm>
          <a:prstGeom prst="rect">
            <a:avLst/>
          </a:prstGeom>
          <a:noFill/>
        </p:spPr>
        <p:txBody>
          <a:bodyPr wrap="square" anchor="t">
            <a:spAutoFit/>
          </a:bodyPr>
          <a:lstStyle/>
          <a:p>
            <a:pPr algn="l">
              <a:spcAft>
                <a:spcPts val="0"/>
              </a:spcAft>
            </a:pPr>
            <a:r>
              <a:rPr sz="2600" b="1" i="0">
                <a:solidFill>
                  <a:srgbClr val="7CC4FF"/>
                </a:solidFill>
                <a:latin typeface="Calibri"/>
              </a:rPr>
              <a:t>Can it analyse any content, even what children watch?</a:t>
            </a:r>
          </a:p>
        </p:txBody>
      </p:sp>
      <p:sp>
        <p:nvSpPr>
          <p:cNvPr id="7" name="Rounded Rectangle 6"/>
          <p:cNvSpPr/>
          <p:nvPr/>
        </p:nvSpPr>
        <p:spPr>
          <a:xfrm>
            <a:off x="685800" y="1371600"/>
            <a:ext cx="3429000" cy="3520440"/>
          </a:xfrm>
          <a:prstGeom prst="roundRect">
            <a:avLst>
              <a:gd name="adj" fmla="val 6000"/>
            </a:avLst>
          </a:prstGeom>
          <a:solidFill>
            <a:srgbClr val="12223C"/>
          </a:solidFill>
          <a:ln w="25400">
            <a:solidFill>
              <a:srgbClr val="5FD09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pic>
        <p:nvPicPr>
          <p:cNvPr id="8" name="Picture 7" descr="check-circle.png"/>
          <p:cNvPicPr>
            <a:picLocks noChangeAspect="1"/>
          </p:cNvPicPr>
          <p:nvPr/>
        </p:nvPicPr>
        <p:blipFill>
          <a:blip r:embed="rId4"/>
          <a:stretch>
            <a:fillRect/>
          </a:stretch>
        </p:blipFill>
        <p:spPr>
          <a:xfrm>
            <a:off x="2125980" y="1554480"/>
            <a:ext cx="548640" cy="548640"/>
          </a:xfrm>
          <a:prstGeom prst="rect">
            <a:avLst/>
          </a:prstGeom>
        </p:spPr>
      </p:pic>
      <p:sp>
        <p:nvSpPr>
          <p:cNvPr id="9" name="TextBox 8"/>
          <p:cNvSpPr txBox="1"/>
          <p:nvPr/>
        </p:nvSpPr>
        <p:spPr>
          <a:xfrm>
            <a:off x="685800" y="2194560"/>
            <a:ext cx="3429000" cy="365760"/>
          </a:xfrm>
          <a:prstGeom prst="rect">
            <a:avLst/>
          </a:prstGeom>
          <a:noFill/>
        </p:spPr>
        <p:txBody>
          <a:bodyPr wrap="square" anchor="t">
            <a:spAutoFit/>
          </a:bodyPr>
          <a:lstStyle/>
          <a:p>
            <a:pPr algn="ctr">
              <a:spcAft>
                <a:spcPts val="0"/>
              </a:spcAft>
            </a:pPr>
            <a:r>
              <a:rPr sz="1600" b="1" i="0">
                <a:solidFill>
                  <a:srgbClr val="5FD09A"/>
                </a:solidFill>
                <a:latin typeface="Calibri"/>
              </a:rPr>
              <a:t>CAN DO</a:t>
            </a:r>
          </a:p>
        </p:txBody>
      </p:sp>
      <p:sp>
        <p:nvSpPr>
          <p:cNvPr id="10" name="Rounded Rectangle 9"/>
          <p:cNvSpPr/>
          <p:nvPr/>
        </p:nvSpPr>
        <p:spPr>
          <a:xfrm>
            <a:off x="868680" y="2697480"/>
            <a:ext cx="3063240" cy="603504"/>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1400" b="0" i="0">
                <a:solidFill>
                  <a:srgbClr val="EEF3FA"/>
                </a:solidFill>
                <a:latin typeface="Calibri"/>
              </a:rPr>
              <a:t>Score video, audio and text</a:t>
            </a:r>
          </a:p>
        </p:txBody>
      </p:sp>
      <p:sp>
        <p:nvSpPr>
          <p:cNvPr id="11" name="Rounded Rectangle 10"/>
          <p:cNvSpPr/>
          <p:nvPr/>
        </p:nvSpPr>
        <p:spPr>
          <a:xfrm>
            <a:off x="868680" y="3410712"/>
            <a:ext cx="3063240" cy="603504"/>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1400" b="0" i="0">
                <a:solidFill>
                  <a:srgbClr val="EEF3FA"/>
                </a:solidFill>
                <a:latin typeface="Calibri"/>
              </a:rPr>
              <a:t>Compare groups of content</a:t>
            </a:r>
          </a:p>
        </p:txBody>
      </p:sp>
      <p:sp>
        <p:nvSpPr>
          <p:cNvPr id="12" name="Rounded Rectangle 11"/>
          <p:cNvSpPr/>
          <p:nvPr/>
        </p:nvSpPr>
        <p:spPr>
          <a:xfrm>
            <a:off x="868680" y="4123944"/>
            <a:ext cx="3063240" cy="603504"/>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1400" b="0" i="0">
                <a:solidFill>
                  <a:srgbClr val="EEF3FA"/>
                </a:solidFill>
                <a:latin typeface="Calibri"/>
              </a:rPr>
              <a:t>Rate content, never the viewer</a:t>
            </a:r>
          </a:p>
        </p:txBody>
      </p:sp>
      <p:sp>
        <p:nvSpPr>
          <p:cNvPr id="13" name="Rounded Rectangle 12"/>
          <p:cNvSpPr/>
          <p:nvPr/>
        </p:nvSpPr>
        <p:spPr>
          <a:xfrm>
            <a:off x="4379976" y="1371600"/>
            <a:ext cx="3429000" cy="3520440"/>
          </a:xfrm>
          <a:prstGeom prst="roundRect">
            <a:avLst>
              <a:gd name="adj" fmla="val 6000"/>
            </a:avLst>
          </a:prstGeom>
          <a:solidFill>
            <a:srgbClr val="12223C"/>
          </a:solidFill>
          <a:ln w="25400">
            <a:solidFill>
              <a:srgbClr val="FF7A59"/>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pic>
        <p:nvPicPr>
          <p:cNvPr id="14" name="Picture 13" descr="x-circle.png"/>
          <p:cNvPicPr>
            <a:picLocks noChangeAspect="1"/>
          </p:cNvPicPr>
          <p:nvPr/>
        </p:nvPicPr>
        <p:blipFill>
          <a:blip r:embed="rId5"/>
          <a:stretch>
            <a:fillRect/>
          </a:stretch>
        </p:blipFill>
        <p:spPr>
          <a:xfrm>
            <a:off x="5820156" y="1554480"/>
            <a:ext cx="548640" cy="548640"/>
          </a:xfrm>
          <a:prstGeom prst="rect">
            <a:avLst/>
          </a:prstGeom>
        </p:spPr>
      </p:pic>
      <p:sp>
        <p:nvSpPr>
          <p:cNvPr id="15" name="TextBox 14"/>
          <p:cNvSpPr txBox="1"/>
          <p:nvPr/>
        </p:nvSpPr>
        <p:spPr>
          <a:xfrm>
            <a:off x="4379976" y="2194560"/>
            <a:ext cx="3429000" cy="365760"/>
          </a:xfrm>
          <a:prstGeom prst="rect">
            <a:avLst/>
          </a:prstGeom>
          <a:noFill/>
        </p:spPr>
        <p:txBody>
          <a:bodyPr wrap="square" anchor="t">
            <a:spAutoFit/>
          </a:bodyPr>
          <a:lstStyle/>
          <a:p>
            <a:pPr algn="ctr">
              <a:spcAft>
                <a:spcPts val="0"/>
              </a:spcAft>
            </a:pPr>
            <a:r>
              <a:rPr sz="1600" b="1" i="0">
                <a:solidFill>
                  <a:srgbClr val="FF7A59"/>
                </a:solidFill>
                <a:latin typeface="Calibri"/>
              </a:rPr>
              <a:t>NOT YET</a:t>
            </a:r>
          </a:p>
        </p:txBody>
      </p:sp>
      <p:sp>
        <p:nvSpPr>
          <p:cNvPr id="16" name="Rounded Rectangle 15"/>
          <p:cNvSpPr/>
          <p:nvPr/>
        </p:nvSpPr>
        <p:spPr>
          <a:xfrm>
            <a:off x="4562856" y="2697480"/>
            <a:ext cx="3063240" cy="603504"/>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1400" b="0" i="0">
                <a:solidFill>
                  <a:srgbClr val="EEF3FA"/>
                </a:solidFill>
                <a:latin typeface="Calibri"/>
              </a:rPr>
              <a:t>Model learned from adult brains</a:t>
            </a:r>
          </a:p>
        </p:txBody>
      </p:sp>
      <p:sp>
        <p:nvSpPr>
          <p:cNvPr id="17" name="Rounded Rectangle 16"/>
          <p:cNvSpPr/>
          <p:nvPr/>
        </p:nvSpPr>
        <p:spPr>
          <a:xfrm>
            <a:off x="4562856" y="3410712"/>
            <a:ext cx="3063240" cy="603504"/>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1400" b="0" i="0">
                <a:solidFill>
                  <a:srgbClr val="EEF3FA"/>
                </a:solidFill>
                <a:latin typeface="Calibri"/>
              </a:rPr>
              <a:t>Only news text was tested</a:t>
            </a:r>
          </a:p>
        </p:txBody>
      </p:sp>
      <p:sp>
        <p:nvSpPr>
          <p:cNvPr id="18" name="Rounded Rectangle 17"/>
          <p:cNvSpPr/>
          <p:nvPr/>
        </p:nvSpPr>
        <p:spPr>
          <a:xfrm>
            <a:off x="4562856" y="4123944"/>
            <a:ext cx="3063240" cy="603504"/>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1400" b="0" i="0">
                <a:solidFill>
                  <a:srgbClr val="EEF3FA"/>
                </a:solidFill>
                <a:latin typeface="Calibri"/>
              </a:rPr>
              <a:t>1 in 8 single scores flip</a:t>
            </a:r>
          </a:p>
        </p:txBody>
      </p:sp>
      <p:sp>
        <p:nvSpPr>
          <p:cNvPr id="19" name="Rounded Rectangle 18"/>
          <p:cNvSpPr/>
          <p:nvPr/>
        </p:nvSpPr>
        <p:spPr>
          <a:xfrm>
            <a:off x="8074152" y="1371600"/>
            <a:ext cx="3429000" cy="3520440"/>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pic>
        <p:nvPicPr>
          <p:cNvPr id="20" name="Picture 19" descr="flag-banner.png"/>
          <p:cNvPicPr>
            <a:picLocks noChangeAspect="1"/>
          </p:cNvPicPr>
          <p:nvPr/>
        </p:nvPicPr>
        <p:blipFill>
          <a:blip r:embed="rId6"/>
          <a:stretch>
            <a:fillRect/>
          </a:stretch>
        </p:blipFill>
        <p:spPr>
          <a:xfrm>
            <a:off x="9514332" y="1554480"/>
            <a:ext cx="548640" cy="548640"/>
          </a:xfrm>
          <a:prstGeom prst="rect">
            <a:avLst/>
          </a:prstGeom>
        </p:spPr>
      </p:pic>
      <p:sp>
        <p:nvSpPr>
          <p:cNvPr id="21" name="TextBox 20"/>
          <p:cNvSpPr txBox="1"/>
          <p:nvPr/>
        </p:nvSpPr>
        <p:spPr>
          <a:xfrm>
            <a:off x="8074152" y="2194560"/>
            <a:ext cx="3429000" cy="365760"/>
          </a:xfrm>
          <a:prstGeom prst="rect">
            <a:avLst/>
          </a:prstGeom>
          <a:noFill/>
        </p:spPr>
        <p:txBody>
          <a:bodyPr wrap="square" anchor="t">
            <a:spAutoFit/>
          </a:bodyPr>
          <a:lstStyle/>
          <a:p>
            <a:pPr algn="ctr">
              <a:spcAft>
                <a:spcPts val="0"/>
              </a:spcAft>
            </a:pPr>
            <a:r>
              <a:rPr sz="1600" b="1" i="0">
                <a:solidFill>
                  <a:srgbClr val="7CC4FF"/>
                </a:solidFill>
                <a:latin typeface="Calibri"/>
              </a:rPr>
              <a:t>WOULD TAKE</a:t>
            </a:r>
          </a:p>
        </p:txBody>
      </p:sp>
      <p:sp>
        <p:nvSpPr>
          <p:cNvPr id="22" name="Rounded Rectangle 21"/>
          <p:cNvSpPr/>
          <p:nvPr/>
        </p:nvSpPr>
        <p:spPr>
          <a:xfrm>
            <a:off x="8257031" y="2697480"/>
            <a:ext cx="3063240" cy="603504"/>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1400" b="0" i="0">
                <a:solidFill>
                  <a:srgbClr val="EEF3FA"/>
                </a:solidFill>
                <a:latin typeface="Calibri"/>
              </a:rPr>
              <a:t>Child brain data, with ethics approval</a:t>
            </a:r>
          </a:p>
        </p:txBody>
      </p:sp>
      <p:sp>
        <p:nvSpPr>
          <p:cNvPr id="23" name="Rounded Rectangle 22"/>
          <p:cNvSpPr/>
          <p:nvPr/>
        </p:nvSpPr>
        <p:spPr>
          <a:xfrm>
            <a:off x="8257031" y="3410712"/>
            <a:ext cx="3063240" cy="603504"/>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1400" b="0" i="0">
                <a:solidFill>
                  <a:srgbClr val="EEF3FA"/>
                </a:solidFill>
                <a:latin typeface="Calibri"/>
              </a:rPr>
              <a:t>A children's video test set</a:t>
            </a:r>
          </a:p>
        </p:txBody>
      </p:sp>
      <p:sp>
        <p:nvSpPr>
          <p:cNvPr id="24" name="Rounded Rectangle 23"/>
          <p:cNvSpPr/>
          <p:nvPr/>
        </p:nvSpPr>
        <p:spPr>
          <a:xfrm>
            <a:off x="8257031" y="4123944"/>
            <a:ext cx="3063240" cy="603504"/>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1400" b="0" i="0">
                <a:solidFill>
                  <a:srgbClr val="EEF3FA"/>
                </a:solidFill>
                <a:latin typeface="Calibri"/>
              </a:rPr>
              <a:t>Safeguards against targeting children</a:t>
            </a:r>
          </a:p>
        </p:txBody>
      </p:sp>
      <p:sp>
        <p:nvSpPr>
          <p:cNvPr id="25" name="Rounded Rectangle 24"/>
          <p:cNvSpPr/>
          <p:nvPr/>
        </p:nvSpPr>
        <p:spPr>
          <a:xfrm>
            <a:off x="685800" y="5120640"/>
            <a:ext cx="10820095" cy="548640"/>
          </a:xfrm>
          <a:prstGeom prst="roundRect">
            <a:avLst>
              <a:gd name="adj" fmla="val 6000"/>
            </a:avLst>
          </a:prstGeom>
          <a:solidFill>
            <a:srgbClr val="12223C"/>
          </a:solidFill>
          <a:ln w="25400">
            <a:solidFill>
              <a:srgbClr val="F5B83D"/>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600" b="1">
                <a:solidFill>
                  <a:srgbClr val="F5B83D"/>
                </a:solidFill>
                <a:latin typeface="Calibri"/>
              </a:rPr>
              <a:t>Short answer:  </a:t>
            </a:r>
            <a:r>
              <a:rPr sz="1600" b="0">
                <a:solidFill>
                  <a:srgbClr val="EEF3FA"/>
                </a:solidFill>
                <a:latin typeface="Calibri"/>
              </a:rPr>
              <a:t>technically possible, but not yet valid for children.</a:t>
            </a:r>
          </a:p>
        </p:txBody>
      </p:sp>
      <p:sp>
        <p:nvSpPr>
          <p:cNvPr id="26" name="TextBox 25"/>
          <p:cNvSpPr txBox="1"/>
          <p:nvPr/>
        </p:nvSpPr>
        <p:spPr>
          <a:xfrm>
            <a:off x="6019495" y="6053328"/>
            <a:ext cx="5486400" cy="274320"/>
          </a:xfrm>
          <a:prstGeom prst="rect">
            <a:avLst/>
          </a:prstGeom>
          <a:noFill/>
        </p:spPr>
        <p:txBody>
          <a:bodyPr wrap="square" anchor="t">
            <a:spAutoFit/>
          </a:bodyPr>
          <a:lstStyle/>
          <a:p>
            <a:pPr algn="r">
              <a:spcAft>
                <a:spcPts val="0"/>
              </a:spcAft>
            </a:pPr>
            <a:r>
              <a:rPr sz="1200" b="1" i="0">
                <a:solidFill>
                  <a:srgbClr val="F5B83D"/>
                </a:solidFill>
                <a:latin typeface="Calibri"/>
              </a:rPr>
              <a:t>Next: the limits, and what fixes each  →</a:t>
            </a:r>
          </a:p>
        </p:txBody>
      </p:sp>
      <p:sp>
        <p:nvSpPr>
          <p:cNvPr id="27" name="TextBox 26"/>
          <p:cNvSpPr txBox="1"/>
          <p:nvPr/>
        </p:nvSpPr>
        <p:spPr>
          <a:xfrm>
            <a:off x="685800" y="6355080"/>
            <a:ext cx="4572000" cy="320040"/>
          </a:xfrm>
          <a:prstGeom prst="rect">
            <a:avLst/>
          </a:prstGeom>
          <a:noFill/>
        </p:spPr>
        <p:txBody>
          <a:bodyPr wrap="square" anchor="t">
            <a:spAutoFit/>
          </a:bodyPr>
          <a:lstStyle/>
          <a:p>
            <a:pPr algn="l">
              <a:spcAft>
                <a:spcPts val="0"/>
              </a:spcAft>
            </a:pPr>
            <a:r>
              <a:rPr sz="1000" b="1" i="0">
                <a:solidFill>
                  <a:srgbClr val="9AABC4"/>
                </a:solidFill>
                <a:latin typeface="Calibri"/>
              </a:rPr>
              <a:t>WHAT'S NEXT</a:t>
            </a:r>
          </a:p>
        </p:txBody>
      </p:sp>
      <p:sp>
        <p:nvSpPr>
          <p:cNvPr id="28" name="Rectangle 27"/>
          <p:cNvSpPr/>
          <p:nvPr/>
        </p:nvSpPr>
        <p:spPr>
          <a:xfrm>
            <a:off x="4692243"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268315"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844387"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20459"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996531" y="6473952"/>
            <a:ext cx="502920" cy="36576"/>
          </a:xfrm>
          <a:prstGeom prst="rect">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91495" y="6355080"/>
            <a:ext cx="914400" cy="320040"/>
          </a:xfrm>
          <a:prstGeom prst="rect">
            <a:avLst/>
          </a:prstGeom>
          <a:noFill/>
        </p:spPr>
        <p:txBody>
          <a:bodyPr wrap="square" anchor="t">
            <a:spAutoFit/>
          </a:bodyPr>
          <a:lstStyle/>
          <a:p>
            <a:pPr algn="r">
              <a:spcAft>
                <a:spcPts val="0"/>
              </a:spcAft>
            </a:pPr>
            <a:r>
              <a:rPr sz="1100" b="1" i="0">
                <a:solidFill>
                  <a:srgbClr val="9AABC4"/>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x-circle.png"/>
          <p:cNvPicPr>
            <a:picLocks noChangeAspect="1"/>
          </p:cNvPicPr>
          <p:nvPr/>
        </p:nvPicPr>
        <p:blipFill>
          <a:blip r:embed="rId3"/>
          <a:stretch>
            <a:fillRect/>
          </a:stretch>
        </p:blipFill>
        <p:spPr>
          <a:xfrm>
            <a:off x="685800" y="457200"/>
            <a:ext cx="420624" cy="420624"/>
          </a:xfrm>
          <a:prstGeom prst="rect">
            <a:avLst/>
          </a:prstGeom>
        </p:spPr>
      </p:pic>
      <p:sp>
        <p:nvSpPr>
          <p:cNvPr id="5" name="TextBox 4"/>
          <p:cNvSpPr txBox="1"/>
          <p:nvPr/>
        </p:nvSpPr>
        <p:spPr>
          <a:xfrm>
            <a:off x="1289304" y="201168"/>
            <a:ext cx="10216591" cy="320040"/>
          </a:xfrm>
          <a:prstGeom prst="rect">
            <a:avLst/>
          </a:prstGeom>
          <a:noFill/>
        </p:spPr>
        <p:txBody>
          <a:bodyPr wrap="square" anchor="t">
            <a:spAutoFit/>
          </a:bodyPr>
          <a:lstStyle/>
          <a:p>
            <a:pPr algn="l">
              <a:spcAft>
                <a:spcPts val="0"/>
              </a:spcAft>
            </a:pPr>
            <a:r>
              <a:rPr sz="1200" b="1" i="0">
                <a:solidFill>
                  <a:srgbClr val="FF7A59"/>
                </a:solidFill>
                <a:latin typeface="Calibri"/>
              </a:rPr>
              <a:t>WHAT'S NEXT</a:t>
            </a:r>
          </a:p>
        </p:txBody>
      </p:sp>
      <p:sp>
        <p:nvSpPr>
          <p:cNvPr id="6" name="TextBox 5"/>
          <p:cNvSpPr txBox="1"/>
          <p:nvPr/>
        </p:nvSpPr>
        <p:spPr>
          <a:xfrm>
            <a:off x="1289304" y="420624"/>
            <a:ext cx="10216591" cy="822960"/>
          </a:xfrm>
          <a:prstGeom prst="rect">
            <a:avLst/>
          </a:prstGeom>
          <a:noFill/>
        </p:spPr>
        <p:txBody>
          <a:bodyPr wrap="square" anchor="t">
            <a:spAutoFit/>
          </a:bodyPr>
          <a:lstStyle/>
          <a:p>
            <a:pPr algn="l">
              <a:spcAft>
                <a:spcPts val="0"/>
              </a:spcAft>
            </a:pPr>
            <a:r>
              <a:rPr sz="2600" b="1" i="0">
                <a:solidFill>
                  <a:srgbClr val="7CC4FF"/>
                </a:solidFill>
                <a:latin typeface="Calibri"/>
              </a:rPr>
              <a:t>Each limit points to the next study</a:t>
            </a:r>
          </a:p>
        </p:txBody>
      </p:sp>
      <p:sp>
        <p:nvSpPr>
          <p:cNvPr id="7" name="TextBox 6"/>
          <p:cNvSpPr txBox="1"/>
          <p:nvPr/>
        </p:nvSpPr>
        <p:spPr>
          <a:xfrm>
            <a:off x="685800" y="1325880"/>
            <a:ext cx="3657600" cy="274320"/>
          </a:xfrm>
          <a:prstGeom prst="rect">
            <a:avLst/>
          </a:prstGeom>
          <a:noFill/>
        </p:spPr>
        <p:txBody>
          <a:bodyPr wrap="square" anchor="t">
            <a:spAutoFit/>
          </a:bodyPr>
          <a:lstStyle/>
          <a:p>
            <a:pPr algn="l">
              <a:spcAft>
                <a:spcPts val="0"/>
              </a:spcAft>
            </a:pPr>
            <a:r>
              <a:rPr sz="1100" b="1" i="0">
                <a:solidFill>
                  <a:srgbClr val="FF7A59"/>
                </a:solidFill>
                <a:latin typeface="Calibri"/>
              </a:rPr>
              <a:t>LIMIT</a:t>
            </a:r>
          </a:p>
        </p:txBody>
      </p:sp>
      <p:sp>
        <p:nvSpPr>
          <p:cNvPr id="8" name="TextBox 7"/>
          <p:cNvSpPr txBox="1"/>
          <p:nvPr/>
        </p:nvSpPr>
        <p:spPr>
          <a:xfrm>
            <a:off x="5669280" y="1325880"/>
            <a:ext cx="3657600" cy="274320"/>
          </a:xfrm>
          <a:prstGeom prst="rect">
            <a:avLst/>
          </a:prstGeom>
          <a:noFill/>
        </p:spPr>
        <p:txBody>
          <a:bodyPr wrap="square" anchor="t">
            <a:spAutoFit/>
          </a:bodyPr>
          <a:lstStyle/>
          <a:p>
            <a:pPr algn="l">
              <a:spcAft>
                <a:spcPts val="0"/>
              </a:spcAft>
            </a:pPr>
            <a:r>
              <a:rPr sz="1100" b="1" i="0">
                <a:solidFill>
                  <a:srgbClr val="5FD09A"/>
                </a:solidFill>
                <a:latin typeface="Calibri"/>
              </a:rPr>
              <a:t>NEXT STUDY</a:t>
            </a:r>
          </a:p>
        </p:txBody>
      </p:sp>
      <p:sp>
        <p:nvSpPr>
          <p:cNvPr id="9" name="Rounded Rectangle 8"/>
          <p:cNvSpPr/>
          <p:nvPr/>
        </p:nvSpPr>
        <p:spPr>
          <a:xfrm>
            <a:off x="685800" y="1645920"/>
            <a:ext cx="4434840" cy="658368"/>
          </a:xfrm>
          <a:prstGeom prst="roundRect">
            <a:avLst>
              <a:gd name="adj" fmla="val 6000"/>
            </a:avLst>
          </a:prstGeom>
          <a:solidFill>
            <a:srgbClr val="12223C"/>
          </a:solidFill>
          <a:ln w="25400">
            <a:solidFill>
              <a:srgbClr val="FF7A59"/>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500" b="1" i="0">
                <a:solidFill>
                  <a:srgbClr val="EEF3FA"/>
                </a:solidFill>
                <a:latin typeface="Calibri"/>
              </a:rPr>
              <a:t>Predictions, not brain scans</a:t>
            </a:r>
          </a:p>
        </p:txBody>
      </p:sp>
      <p:sp>
        <p:nvSpPr>
          <p:cNvPr id="10" name="Right Arrow 9"/>
          <p:cNvSpPr/>
          <p:nvPr/>
        </p:nvSpPr>
        <p:spPr>
          <a:xfrm>
            <a:off x="5166360" y="1911095"/>
            <a:ext cx="411480" cy="146304"/>
          </a:xfrm>
          <a:prstGeom prst="rightArrow">
            <a:avLst/>
          </a:prstGeom>
          <a:solidFill>
            <a:srgbClr val="5FD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669280" y="1645920"/>
            <a:ext cx="5833872" cy="658368"/>
          </a:xfrm>
          <a:prstGeom prst="roundRect">
            <a:avLst>
              <a:gd name="adj" fmla="val 6000"/>
            </a:avLst>
          </a:prstGeom>
          <a:solidFill>
            <a:srgbClr val="12223C"/>
          </a:solidFill>
          <a:ln w="25400">
            <a:solidFill>
              <a:srgbClr val="5FD09A"/>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500" b="0" i="0">
                <a:solidFill>
                  <a:srgbClr val="EEF3FA"/>
                </a:solidFill>
                <a:latin typeface="Calibri"/>
              </a:rPr>
              <a:t>Check against more real brain data</a:t>
            </a:r>
          </a:p>
        </p:txBody>
      </p:sp>
      <p:sp>
        <p:nvSpPr>
          <p:cNvPr id="12" name="Rounded Rectangle 11"/>
          <p:cNvSpPr/>
          <p:nvPr/>
        </p:nvSpPr>
        <p:spPr>
          <a:xfrm>
            <a:off x="685800" y="2432304"/>
            <a:ext cx="4434840" cy="658368"/>
          </a:xfrm>
          <a:prstGeom prst="roundRect">
            <a:avLst>
              <a:gd name="adj" fmla="val 6000"/>
            </a:avLst>
          </a:prstGeom>
          <a:solidFill>
            <a:srgbClr val="12223C"/>
          </a:solidFill>
          <a:ln w="25400">
            <a:solidFill>
              <a:srgbClr val="FF7A59"/>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500" b="1" i="0">
                <a:solidFill>
                  <a:srgbClr val="EEF3FA"/>
                </a:solidFill>
                <a:latin typeface="Calibri"/>
              </a:rPr>
              <a:t>Group mixed up with source</a:t>
            </a:r>
          </a:p>
        </p:txBody>
      </p:sp>
      <p:sp>
        <p:nvSpPr>
          <p:cNvPr id="13" name="Right Arrow 12"/>
          <p:cNvSpPr/>
          <p:nvPr/>
        </p:nvSpPr>
        <p:spPr>
          <a:xfrm>
            <a:off x="5166360" y="2697480"/>
            <a:ext cx="411480" cy="146304"/>
          </a:xfrm>
          <a:prstGeom prst="rightArrow">
            <a:avLst/>
          </a:prstGeom>
          <a:solidFill>
            <a:srgbClr val="5FD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669280" y="2432304"/>
            <a:ext cx="5833872" cy="658368"/>
          </a:xfrm>
          <a:prstGeom prst="roundRect">
            <a:avLst>
              <a:gd name="adj" fmla="val 6000"/>
            </a:avLst>
          </a:prstGeom>
          <a:solidFill>
            <a:srgbClr val="12223C"/>
          </a:solidFill>
          <a:ln w="25400">
            <a:solidFill>
              <a:srgbClr val="5FD09A"/>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500" b="0" i="0">
                <a:solidFill>
                  <a:srgbClr val="EEF3FA"/>
                </a:solidFill>
                <a:latin typeface="Calibri"/>
              </a:rPr>
              <a:t>New set: every source has every type</a:t>
            </a:r>
          </a:p>
        </p:txBody>
      </p:sp>
      <p:sp>
        <p:nvSpPr>
          <p:cNvPr id="15" name="Rounded Rectangle 14"/>
          <p:cNvSpPr/>
          <p:nvPr/>
        </p:nvSpPr>
        <p:spPr>
          <a:xfrm>
            <a:off x="685800" y="3218688"/>
            <a:ext cx="4434840" cy="658368"/>
          </a:xfrm>
          <a:prstGeom prst="roundRect">
            <a:avLst>
              <a:gd name="adj" fmla="val 6000"/>
            </a:avLst>
          </a:prstGeom>
          <a:solidFill>
            <a:srgbClr val="12223C"/>
          </a:solidFill>
          <a:ln w="25400">
            <a:solidFill>
              <a:srgbClr val="FF7A59"/>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500" b="1" i="0">
                <a:solidFill>
                  <a:srgbClr val="EEF3FA"/>
                </a:solidFill>
                <a:latin typeface="Calibri"/>
              </a:rPr>
              <a:t>Brain surface only</a:t>
            </a:r>
          </a:p>
        </p:txBody>
      </p:sp>
      <p:sp>
        <p:nvSpPr>
          <p:cNvPr id="16" name="Right Arrow 15"/>
          <p:cNvSpPr/>
          <p:nvPr/>
        </p:nvSpPr>
        <p:spPr>
          <a:xfrm>
            <a:off x="5166360" y="3483864"/>
            <a:ext cx="411480" cy="146304"/>
          </a:xfrm>
          <a:prstGeom prst="rightArrow">
            <a:avLst/>
          </a:prstGeom>
          <a:solidFill>
            <a:srgbClr val="5FD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669280" y="3218688"/>
            <a:ext cx="5833872" cy="658368"/>
          </a:xfrm>
          <a:prstGeom prst="roundRect">
            <a:avLst>
              <a:gd name="adj" fmla="val 6000"/>
            </a:avLst>
          </a:prstGeom>
          <a:solidFill>
            <a:srgbClr val="12223C"/>
          </a:solidFill>
          <a:ln w="25400">
            <a:solidFill>
              <a:srgbClr val="5FD09A"/>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500" b="0" i="0">
                <a:solidFill>
                  <a:srgbClr val="EEF3FA"/>
                </a:solidFill>
                <a:latin typeface="Calibri"/>
              </a:rPr>
              <a:t>A model that predicts deep areas</a:t>
            </a:r>
          </a:p>
        </p:txBody>
      </p:sp>
      <p:sp>
        <p:nvSpPr>
          <p:cNvPr id="18" name="Rounded Rectangle 17"/>
          <p:cNvSpPr/>
          <p:nvPr/>
        </p:nvSpPr>
        <p:spPr>
          <a:xfrm>
            <a:off x="685800" y="4005072"/>
            <a:ext cx="4434840" cy="658368"/>
          </a:xfrm>
          <a:prstGeom prst="roundRect">
            <a:avLst>
              <a:gd name="adj" fmla="val 6000"/>
            </a:avLst>
          </a:prstGeom>
          <a:solidFill>
            <a:srgbClr val="12223C"/>
          </a:solidFill>
          <a:ln w="25400">
            <a:solidFill>
              <a:srgbClr val="FF7A59"/>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500" b="1" i="0">
                <a:solidFill>
                  <a:srgbClr val="EEF3FA"/>
                </a:solidFill>
                <a:latin typeface="Calibri"/>
              </a:rPr>
              <a:t>α not measured</a:t>
            </a:r>
          </a:p>
        </p:txBody>
      </p:sp>
      <p:sp>
        <p:nvSpPr>
          <p:cNvPr id="19" name="Right Arrow 18"/>
          <p:cNvSpPr/>
          <p:nvPr/>
        </p:nvSpPr>
        <p:spPr>
          <a:xfrm>
            <a:off x="5166360" y="4270248"/>
            <a:ext cx="411480" cy="146304"/>
          </a:xfrm>
          <a:prstGeom prst="rightArrow">
            <a:avLst/>
          </a:prstGeom>
          <a:solidFill>
            <a:srgbClr val="5FD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669280" y="4005072"/>
            <a:ext cx="5833872" cy="658368"/>
          </a:xfrm>
          <a:prstGeom prst="roundRect">
            <a:avLst>
              <a:gd name="adj" fmla="val 6000"/>
            </a:avLst>
          </a:prstGeom>
          <a:solidFill>
            <a:srgbClr val="12223C"/>
          </a:solidFill>
          <a:ln w="25400">
            <a:solidFill>
              <a:srgbClr val="5FD09A"/>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500" b="0" i="0">
                <a:solidFill>
                  <a:srgbClr val="EEF3FA"/>
                </a:solidFill>
                <a:latin typeface="Calibri"/>
              </a:rPr>
              <a:t>Link scores to real opinion data (polls)</a:t>
            </a:r>
          </a:p>
        </p:txBody>
      </p:sp>
      <p:sp>
        <p:nvSpPr>
          <p:cNvPr id="21" name="Rounded Rectangle 20"/>
          <p:cNvSpPr/>
          <p:nvPr/>
        </p:nvSpPr>
        <p:spPr>
          <a:xfrm>
            <a:off x="685800" y="4791456"/>
            <a:ext cx="4434840" cy="658368"/>
          </a:xfrm>
          <a:prstGeom prst="roundRect">
            <a:avLst>
              <a:gd name="adj" fmla="val 6000"/>
            </a:avLst>
          </a:prstGeom>
          <a:solidFill>
            <a:srgbClr val="12223C"/>
          </a:solidFill>
          <a:ln w="25400">
            <a:solidFill>
              <a:srgbClr val="FF7A59"/>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500" b="1" i="0">
                <a:solidFill>
                  <a:srgbClr val="EEF3FA"/>
                </a:solidFill>
                <a:latin typeface="Calibri"/>
              </a:rPr>
              <a:t>Brain check is 2 minutes</a:t>
            </a:r>
          </a:p>
        </p:txBody>
      </p:sp>
      <p:sp>
        <p:nvSpPr>
          <p:cNvPr id="22" name="Right Arrow 21"/>
          <p:cNvSpPr/>
          <p:nvPr/>
        </p:nvSpPr>
        <p:spPr>
          <a:xfrm>
            <a:off x="5166360" y="5056632"/>
            <a:ext cx="411480" cy="146304"/>
          </a:xfrm>
          <a:prstGeom prst="rightArrow">
            <a:avLst/>
          </a:prstGeom>
          <a:solidFill>
            <a:srgbClr val="5FD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669280" y="4791456"/>
            <a:ext cx="5833872" cy="658368"/>
          </a:xfrm>
          <a:prstGeom prst="roundRect">
            <a:avLst>
              <a:gd name="adj" fmla="val 6000"/>
            </a:avLst>
          </a:prstGeom>
          <a:solidFill>
            <a:srgbClr val="12223C"/>
          </a:solidFill>
          <a:ln w="25400">
            <a:solidFill>
              <a:srgbClr val="5FD09A"/>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500" b="0" i="0">
                <a:solidFill>
                  <a:srgbClr val="EEF3FA"/>
                </a:solidFill>
                <a:latin typeface="Calibri"/>
              </a:rPr>
              <a:t>The full episode</a:t>
            </a:r>
          </a:p>
        </p:txBody>
      </p:sp>
      <p:sp>
        <p:nvSpPr>
          <p:cNvPr id="24" name="TextBox 23"/>
          <p:cNvSpPr txBox="1"/>
          <p:nvPr/>
        </p:nvSpPr>
        <p:spPr>
          <a:xfrm>
            <a:off x="6019495" y="6053328"/>
            <a:ext cx="5486400" cy="274320"/>
          </a:xfrm>
          <a:prstGeom prst="rect">
            <a:avLst/>
          </a:prstGeom>
          <a:noFill/>
        </p:spPr>
        <p:txBody>
          <a:bodyPr wrap="square" anchor="t">
            <a:spAutoFit/>
          </a:bodyPr>
          <a:lstStyle/>
          <a:p>
            <a:pPr algn="r">
              <a:spcAft>
                <a:spcPts val="0"/>
              </a:spcAft>
            </a:pPr>
            <a:r>
              <a:rPr sz="1200" b="1" i="0">
                <a:solidFill>
                  <a:srgbClr val="F5B83D"/>
                </a:solidFill>
                <a:latin typeface="Calibri"/>
              </a:rPr>
              <a:t>Next: where the work goes  →</a:t>
            </a:r>
          </a:p>
        </p:txBody>
      </p:sp>
      <p:sp>
        <p:nvSpPr>
          <p:cNvPr id="25" name="TextBox 24"/>
          <p:cNvSpPr txBox="1"/>
          <p:nvPr/>
        </p:nvSpPr>
        <p:spPr>
          <a:xfrm>
            <a:off x="685800" y="6355080"/>
            <a:ext cx="4572000" cy="320040"/>
          </a:xfrm>
          <a:prstGeom prst="rect">
            <a:avLst/>
          </a:prstGeom>
          <a:noFill/>
        </p:spPr>
        <p:txBody>
          <a:bodyPr wrap="square" anchor="t">
            <a:spAutoFit/>
          </a:bodyPr>
          <a:lstStyle/>
          <a:p>
            <a:pPr algn="l">
              <a:spcAft>
                <a:spcPts val="0"/>
              </a:spcAft>
            </a:pPr>
            <a:r>
              <a:rPr sz="1000" b="1" i="0">
                <a:solidFill>
                  <a:srgbClr val="9AABC4"/>
                </a:solidFill>
                <a:latin typeface="Calibri"/>
              </a:rPr>
              <a:t>WHAT'S NEXT</a:t>
            </a:r>
          </a:p>
        </p:txBody>
      </p:sp>
      <p:sp>
        <p:nvSpPr>
          <p:cNvPr id="26" name="Rectangle 25"/>
          <p:cNvSpPr/>
          <p:nvPr/>
        </p:nvSpPr>
        <p:spPr>
          <a:xfrm>
            <a:off x="4692243"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268315"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844387"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20459"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996531" y="6473952"/>
            <a:ext cx="502920" cy="36576"/>
          </a:xfrm>
          <a:prstGeom prst="rect">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591495" y="6355080"/>
            <a:ext cx="914400" cy="320040"/>
          </a:xfrm>
          <a:prstGeom prst="rect">
            <a:avLst/>
          </a:prstGeom>
          <a:noFill/>
        </p:spPr>
        <p:txBody>
          <a:bodyPr wrap="square" anchor="t">
            <a:spAutoFit/>
          </a:bodyPr>
          <a:lstStyle/>
          <a:p>
            <a:pPr algn="r">
              <a:spcAft>
                <a:spcPts val="0"/>
              </a:spcAft>
            </a:pPr>
            <a:r>
              <a:rPr sz="1100" b="1" i="0">
                <a:solidFill>
                  <a:srgbClr val="9AABC4"/>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lag-banner.png"/>
          <p:cNvPicPr>
            <a:picLocks noChangeAspect="1"/>
          </p:cNvPicPr>
          <p:nvPr/>
        </p:nvPicPr>
        <p:blipFill>
          <a:blip r:embed="rId3"/>
          <a:stretch>
            <a:fillRect/>
          </a:stretch>
        </p:blipFill>
        <p:spPr>
          <a:xfrm>
            <a:off x="685800" y="457200"/>
            <a:ext cx="420624" cy="420624"/>
          </a:xfrm>
          <a:prstGeom prst="rect">
            <a:avLst/>
          </a:prstGeom>
        </p:spPr>
      </p:pic>
      <p:sp>
        <p:nvSpPr>
          <p:cNvPr id="5" name="TextBox 4"/>
          <p:cNvSpPr txBox="1"/>
          <p:nvPr/>
        </p:nvSpPr>
        <p:spPr>
          <a:xfrm>
            <a:off x="1289304" y="201168"/>
            <a:ext cx="10216591" cy="320040"/>
          </a:xfrm>
          <a:prstGeom prst="rect">
            <a:avLst/>
          </a:prstGeom>
          <a:noFill/>
        </p:spPr>
        <p:txBody>
          <a:bodyPr wrap="square" anchor="t">
            <a:spAutoFit/>
          </a:bodyPr>
          <a:lstStyle/>
          <a:p>
            <a:pPr algn="l">
              <a:spcAft>
                <a:spcPts val="0"/>
              </a:spcAft>
            </a:pPr>
            <a:r>
              <a:rPr sz="1200" b="1" i="0">
                <a:solidFill>
                  <a:srgbClr val="FF7A59"/>
                </a:solidFill>
                <a:latin typeface="Calibri"/>
              </a:rPr>
              <a:t>WHAT'S NEXT</a:t>
            </a:r>
          </a:p>
        </p:txBody>
      </p:sp>
      <p:sp>
        <p:nvSpPr>
          <p:cNvPr id="6" name="TextBox 5"/>
          <p:cNvSpPr txBox="1"/>
          <p:nvPr/>
        </p:nvSpPr>
        <p:spPr>
          <a:xfrm>
            <a:off x="1289304" y="420624"/>
            <a:ext cx="10216591" cy="822960"/>
          </a:xfrm>
          <a:prstGeom prst="rect">
            <a:avLst/>
          </a:prstGeom>
          <a:noFill/>
        </p:spPr>
        <p:txBody>
          <a:bodyPr wrap="square" anchor="t">
            <a:spAutoFit/>
          </a:bodyPr>
          <a:lstStyle/>
          <a:p>
            <a:pPr algn="l">
              <a:spcAft>
                <a:spcPts val="0"/>
              </a:spcAft>
            </a:pPr>
            <a:r>
              <a:rPr sz="2600" b="1" i="0">
                <a:solidFill>
                  <a:srgbClr val="7CC4FF"/>
                </a:solidFill>
                <a:latin typeface="Calibri"/>
              </a:rPr>
              <a:t>Taking it further: where this research can go</a:t>
            </a:r>
          </a:p>
        </p:txBody>
      </p:sp>
      <p:sp>
        <p:nvSpPr>
          <p:cNvPr id="7" name="Rounded Rectangle 6"/>
          <p:cNvSpPr/>
          <p:nvPr/>
        </p:nvSpPr>
        <p:spPr>
          <a:xfrm>
            <a:off x="685800" y="1371600"/>
            <a:ext cx="3429000" cy="4160520"/>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pic>
        <p:nvPicPr>
          <p:cNvPr id="8" name="Picture 7" descr="books.png"/>
          <p:cNvPicPr>
            <a:picLocks noChangeAspect="1"/>
          </p:cNvPicPr>
          <p:nvPr/>
        </p:nvPicPr>
        <p:blipFill>
          <a:blip r:embed="rId4"/>
          <a:stretch>
            <a:fillRect/>
          </a:stretch>
        </p:blipFill>
        <p:spPr>
          <a:xfrm>
            <a:off x="914400" y="1554480"/>
            <a:ext cx="411480" cy="411480"/>
          </a:xfrm>
          <a:prstGeom prst="rect">
            <a:avLst/>
          </a:prstGeom>
        </p:spPr>
      </p:pic>
      <p:sp>
        <p:nvSpPr>
          <p:cNvPr id="9" name="TextBox 8"/>
          <p:cNvSpPr txBox="1"/>
          <p:nvPr/>
        </p:nvSpPr>
        <p:spPr>
          <a:xfrm>
            <a:off x="1463040" y="1572768"/>
            <a:ext cx="2560320" cy="411480"/>
          </a:xfrm>
          <a:prstGeom prst="rect">
            <a:avLst/>
          </a:prstGeom>
          <a:noFill/>
        </p:spPr>
        <p:txBody>
          <a:bodyPr wrap="square" anchor="t">
            <a:spAutoFit/>
          </a:bodyPr>
          <a:lstStyle/>
          <a:p>
            <a:pPr algn="l">
              <a:spcAft>
                <a:spcPts val="0"/>
              </a:spcAft>
            </a:pPr>
            <a:r>
              <a:rPr sz="1500" b="1" i="0">
                <a:solidFill>
                  <a:srgbClr val="7CC4FF"/>
                </a:solidFill>
                <a:latin typeface="Calibri"/>
              </a:rPr>
              <a:t>PUBLISH</a:t>
            </a:r>
          </a:p>
        </p:txBody>
      </p:sp>
      <p:sp>
        <p:nvSpPr>
          <p:cNvPr id="10" name="Rounded Rectangle 9"/>
          <p:cNvSpPr/>
          <p:nvPr/>
        </p:nvSpPr>
        <p:spPr>
          <a:xfrm>
            <a:off x="868680" y="2240280"/>
            <a:ext cx="3063240" cy="676656"/>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400" b="0" i="0">
                <a:solidFill>
                  <a:srgbClr val="EEF3FA"/>
                </a:solidFill>
                <a:latin typeface="Calibri"/>
              </a:rPr>
              <a:t>Paper 1 → Physica A</a:t>
            </a:r>
          </a:p>
        </p:txBody>
      </p:sp>
      <p:sp>
        <p:nvSpPr>
          <p:cNvPr id="11" name="Rounded Rectangle 10"/>
          <p:cNvSpPr/>
          <p:nvPr/>
        </p:nvSpPr>
        <p:spPr>
          <a:xfrm>
            <a:off x="868680" y="3044952"/>
            <a:ext cx="3063240" cy="676656"/>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400" b="0" i="0">
                <a:solidFill>
                  <a:srgbClr val="EEF3FA"/>
                </a:solidFill>
                <a:latin typeface="Calibri"/>
              </a:rPr>
              <a:t>Paper 2 → Physica A</a:t>
            </a:r>
          </a:p>
        </p:txBody>
      </p:sp>
      <p:sp>
        <p:nvSpPr>
          <p:cNvPr id="12" name="Rounded Rectangle 11"/>
          <p:cNvSpPr/>
          <p:nvPr/>
        </p:nvSpPr>
        <p:spPr>
          <a:xfrm>
            <a:off x="868680" y="3849624"/>
            <a:ext cx="3063240" cy="676656"/>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400" b="0" i="0">
                <a:solidFill>
                  <a:srgbClr val="EEF3FA"/>
                </a:solidFill>
                <a:latin typeface="Calibri"/>
              </a:rPr>
              <a:t>Paper 3 → Imaging Neuroscience</a:t>
            </a:r>
          </a:p>
        </p:txBody>
      </p:sp>
      <p:sp>
        <p:nvSpPr>
          <p:cNvPr id="13" name="Rounded Rectangle 12"/>
          <p:cNvSpPr/>
          <p:nvPr/>
        </p:nvSpPr>
        <p:spPr>
          <a:xfrm>
            <a:off x="868680" y="4654296"/>
            <a:ext cx="3063240" cy="676656"/>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400" b="0" i="0">
                <a:solidFill>
                  <a:srgbClr val="EEF3FA"/>
                </a:solidFill>
                <a:latin typeface="Calibri"/>
              </a:rPr>
              <a:t>Preprints first (arXiv)</a:t>
            </a:r>
          </a:p>
        </p:txBody>
      </p:sp>
      <p:sp>
        <p:nvSpPr>
          <p:cNvPr id="14" name="Rounded Rectangle 13"/>
          <p:cNvSpPr/>
          <p:nvPr/>
        </p:nvSpPr>
        <p:spPr>
          <a:xfrm>
            <a:off x="4379976" y="1371600"/>
            <a:ext cx="3429000" cy="4160520"/>
          </a:xfrm>
          <a:prstGeom prst="roundRect">
            <a:avLst>
              <a:gd name="adj" fmla="val 6000"/>
            </a:avLst>
          </a:prstGeom>
          <a:solidFill>
            <a:srgbClr val="12223C"/>
          </a:solidFill>
          <a:ln w="25400">
            <a:solidFill>
              <a:srgbClr val="5FD09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pic>
        <p:nvPicPr>
          <p:cNvPr id="15" name="Picture 14" descr="atom.png"/>
          <p:cNvPicPr>
            <a:picLocks noChangeAspect="1"/>
          </p:cNvPicPr>
          <p:nvPr/>
        </p:nvPicPr>
        <p:blipFill>
          <a:blip r:embed="rId5"/>
          <a:stretch>
            <a:fillRect/>
          </a:stretch>
        </p:blipFill>
        <p:spPr>
          <a:xfrm>
            <a:off x="4608576" y="1554480"/>
            <a:ext cx="411480" cy="411480"/>
          </a:xfrm>
          <a:prstGeom prst="rect">
            <a:avLst/>
          </a:prstGeom>
        </p:spPr>
      </p:pic>
      <p:sp>
        <p:nvSpPr>
          <p:cNvPr id="16" name="TextBox 15"/>
          <p:cNvSpPr txBox="1"/>
          <p:nvPr/>
        </p:nvSpPr>
        <p:spPr>
          <a:xfrm>
            <a:off x="5157216" y="1572768"/>
            <a:ext cx="2560320" cy="411480"/>
          </a:xfrm>
          <a:prstGeom prst="rect">
            <a:avLst/>
          </a:prstGeom>
          <a:noFill/>
        </p:spPr>
        <p:txBody>
          <a:bodyPr wrap="square" anchor="t">
            <a:spAutoFit/>
          </a:bodyPr>
          <a:lstStyle/>
          <a:p>
            <a:pPr algn="l">
              <a:spcAft>
                <a:spcPts val="0"/>
              </a:spcAft>
            </a:pPr>
            <a:r>
              <a:rPr sz="1500" b="1" i="0">
                <a:solidFill>
                  <a:srgbClr val="5FD09A"/>
                </a:solidFill>
                <a:latin typeface="Calibri"/>
              </a:rPr>
              <a:t>EXTEND THE SCIENCE</a:t>
            </a:r>
          </a:p>
        </p:txBody>
      </p:sp>
      <p:sp>
        <p:nvSpPr>
          <p:cNvPr id="17" name="Rounded Rectangle 16"/>
          <p:cNvSpPr/>
          <p:nvPr/>
        </p:nvSpPr>
        <p:spPr>
          <a:xfrm>
            <a:off x="4562856" y="2240280"/>
            <a:ext cx="3063240" cy="676656"/>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400" b="0" i="0">
                <a:solidFill>
                  <a:srgbClr val="EEF3FA"/>
                </a:solidFill>
                <a:latin typeface="Calibri"/>
              </a:rPr>
              <a:t>Kenya: 2024 Finance Bill (funding)</a:t>
            </a:r>
          </a:p>
        </p:txBody>
      </p:sp>
      <p:sp>
        <p:nvSpPr>
          <p:cNvPr id="18" name="Rounded Rectangle 17"/>
          <p:cNvSpPr/>
          <p:nvPr/>
        </p:nvSpPr>
        <p:spPr>
          <a:xfrm>
            <a:off x="4562856" y="3044952"/>
            <a:ext cx="3063240" cy="676656"/>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400" b="0" i="0">
                <a:solidFill>
                  <a:srgbClr val="EEF3FA"/>
                </a:solidFill>
                <a:latin typeface="Calibri"/>
              </a:rPr>
              <a:t>Video and audio content</a:t>
            </a:r>
          </a:p>
        </p:txBody>
      </p:sp>
      <p:sp>
        <p:nvSpPr>
          <p:cNvPr id="19" name="Rounded Rectangle 18"/>
          <p:cNvSpPr/>
          <p:nvPr/>
        </p:nvSpPr>
        <p:spPr>
          <a:xfrm>
            <a:off x="4562856" y="3849624"/>
            <a:ext cx="3063240" cy="676656"/>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400" b="0" i="0">
                <a:solidFill>
                  <a:srgbClr val="EEF3FA"/>
                </a:solidFill>
                <a:latin typeface="Calibri"/>
              </a:rPr>
              <a:t>Measure α with opinion data</a:t>
            </a:r>
          </a:p>
        </p:txBody>
      </p:sp>
      <p:sp>
        <p:nvSpPr>
          <p:cNvPr id="20" name="Rounded Rectangle 19"/>
          <p:cNvSpPr/>
          <p:nvPr/>
        </p:nvSpPr>
        <p:spPr>
          <a:xfrm>
            <a:off x="4562856" y="4654296"/>
            <a:ext cx="3063240" cy="676656"/>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400" b="0" i="0">
                <a:solidFill>
                  <a:srgbClr val="EEF3FA"/>
                </a:solidFill>
                <a:latin typeface="Calibri"/>
              </a:rPr>
              <a:t>Children's media, ethically</a:t>
            </a:r>
          </a:p>
        </p:txBody>
      </p:sp>
      <p:sp>
        <p:nvSpPr>
          <p:cNvPr id="21" name="Rounded Rectangle 20"/>
          <p:cNvSpPr/>
          <p:nvPr/>
        </p:nvSpPr>
        <p:spPr>
          <a:xfrm>
            <a:off x="8074152" y="1371600"/>
            <a:ext cx="3429000" cy="4160520"/>
          </a:xfrm>
          <a:prstGeom prst="roundRect">
            <a:avLst>
              <a:gd name="adj" fmla="val 6000"/>
            </a:avLst>
          </a:prstGeom>
          <a:solidFill>
            <a:srgbClr val="12223C"/>
          </a:solidFill>
          <a:ln w="25400">
            <a:solidFill>
              <a:srgbClr val="F5B8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pic>
        <p:nvPicPr>
          <p:cNvPr id="22" name="Picture 21" descr="target.png"/>
          <p:cNvPicPr>
            <a:picLocks noChangeAspect="1"/>
          </p:cNvPicPr>
          <p:nvPr/>
        </p:nvPicPr>
        <p:blipFill>
          <a:blip r:embed="rId6"/>
          <a:stretch>
            <a:fillRect/>
          </a:stretch>
        </p:blipFill>
        <p:spPr>
          <a:xfrm>
            <a:off x="8302752" y="1554480"/>
            <a:ext cx="411480" cy="411480"/>
          </a:xfrm>
          <a:prstGeom prst="rect">
            <a:avLst/>
          </a:prstGeom>
        </p:spPr>
      </p:pic>
      <p:sp>
        <p:nvSpPr>
          <p:cNvPr id="23" name="TextBox 22"/>
          <p:cNvSpPr txBox="1"/>
          <p:nvPr/>
        </p:nvSpPr>
        <p:spPr>
          <a:xfrm>
            <a:off x="8851392" y="1572768"/>
            <a:ext cx="2560320" cy="411480"/>
          </a:xfrm>
          <a:prstGeom prst="rect">
            <a:avLst/>
          </a:prstGeom>
          <a:noFill/>
        </p:spPr>
        <p:txBody>
          <a:bodyPr wrap="square" anchor="t">
            <a:spAutoFit/>
          </a:bodyPr>
          <a:lstStyle/>
          <a:p>
            <a:pPr algn="l">
              <a:spcAft>
                <a:spcPts val="0"/>
              </a:spcAft>
            </a:pPr>
            <a:r>
              <a:rPr sz="1500" b="1" i="0">
                <a:solidFill>
                  <a:srgbClr val="F5B83D"/>
                </a:solidFill>
                <a:latin typeface="Calibri"/>
              </a:rPr>
              <a:t>OPPORTUNITIES</a:t>
            </a:r>
          </a:p>
        </p:txBody>
      </p:sp>
      <p:sp>
        <p:nvSpPr>
          <p:cNvPr id="24" name="Rounded Rectangle 23"/>
          <p:cNvSpPr/>
          <p:nvPr/>
        </p:nvSpPr>
        <p:spPr>
          <a:xfrm>
            <a:off x="8257031" y="2240280"/>
            <a:ext cx="3063240" cy="676656"/>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400" b="0" i="0">
                <a:solidFill>
                  <a:srgbClr val="EEF3FA"/>
                </a:solidFill>
                <a:latin typeface="Calibri"/>
              </a:rPr>
              <a:t>Postgraduate research topic</a:t>
            </a:r>
          </a:p>
        </p:txBody>
      </p:sp>
      <p:sp>
        <p:nvSpPr>
          <p:cNvPr id="25" name="Rounded Rectangle 24"/>
          <p:cNvSpPr/>
          <p:nvPr/>
        </p:nvSpPr>
        <p:spPr>
          <a:xfrm>
            <a:off x="8257031" y="3044952"/>
            <a:ext cx="3063240" cy="676656"/>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400" b="0" i="0">
                <a:solidFill>
                  <a:srgbClr val="EEF3FA"/>
                </a:solidFill>
                <a:latin typeface="Calibri"/>
              </a:rPr>
              <a:t>Neuroscience + media collaborations</a:t>
            </a:r>
          </a:p>
        </p:txBody>
      </p:sp>
      <p:sp>
        <p:nvSpPr>
          <p:cNvPr id="26" name="Rounded Rectangle 25"/>
          <p:cNvSpPr/>
          <p:nvPr/>
        </p:nvSpPr>
        <p:spPr>
          <a:xfrm>
            <a:off x="8257031" y="3849624"/>
            <a:ext cx="3063240" cy="676656"/>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400" b="0" i="0">
                <a:solidFill>
                  <a:srgbClr val="EEF3FA"/>
                </a:solidFill>
                <a:latin typeface="Calibri"/>
              </a:rPr>
              <a:t>Open tool, already online</a:t>
            </a:r>
          </a:p>
        </p:txBody>
      </p:sp>
      <p:sp>
        <p:nvSpPr>
          <p:cNvPr id="27" name="Rounded Rectangle 26"/>
          <p:cNvSpPr/>
          <p:nvPr/>
        </p:nvSpPr>
        <p:spPr>
          <a:xfrm>
            <a:off x="8257031" y="4654296"/>
            <a:ext cx="3063240" cy="676656"/>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400" b="0" i="0">
                <a:solidFill>
                  <a:srgbClr val="EEF3FA"/>
                </a:solidFill>
                <a:latin typeface="Calibri"/>
              </a:rPr>
              <a:t>Group-level media audits</a:t>
            </a:r>
          </a:p>
        </p:txBody>
      </p:sp>
      <p:sp>
        <p:nvSpPr>
          <p:cNvPr id="28" name="TextBox 27"/>
          <p:cNvSpPr txBox="1"/>
          <p:nvPr/>
        </p:nvSpPr>
        <p:spPr>
          <a:xfrm>
            <a:off x="6019495" y="6053328"/>
            <a:ext cx="5486400" cy="274320"/>
          </a:xfrm>
          <a:prstGeom prst="rect">
            <a:avLst/>
          </a:prstGeom>
          <a:noFill/>
        </p:spPr>
        <p:txBody>
          <a:bodyPr wrap="square" anchor="t">
            <a:spAutoFit/>
          </a:bodyPr>
          <a:lstStyle/>
          <a:p>
            <a:pPr algn="r">
              <a:spcAft>
                <a:spcPts val="0"/>
              </a:spcAft>
            </a:pPr>
            <a:r>
              <a:rPr sz="1200" b="1" i="0">
                <a:solidFill>
                  <a:srgbClr val="F5B83D"/>
                </a:solidFill>
                <a:latin typeface="Calibri"/>
              </a:rPr>
              <a:t>Next: conclusions  →</a:t>
            </a:r>
          </a:p>
        </p:txBody>
      </p:sp>
      <p:sp>
        <p:nvSpPr>
          <p:cNvPr id="29" name="TextBox 28"/>
          <p:cNvSpPr txBox="1"/>
          <p:nvPr/>
        </p:nvSpPr>
        <p:spPr>
          <a:xfrm>
            <a:off x="685800" y="6355080"/>
            <a:ext cx="4572000" cy="320040"/>
          </a:xfrm>
          <a:prstGeom prst="rect">
            <a:avLst/>
          </a:prstGeom>
          <a:noFill/>
        </p:spPr>
        <p:txBody>
          <a:bodyPr wrap="square" anchor="t">
            <a:spAutoFit/>
          </a:bodyPr>
          <a:lstStyle/>
          <a:p>
            <a:pPr algn="l">
              <a:spcAft>
                <a:spcPts val="0"/>
              </a:spcAft>
            </a:pPr>
            <a:r>
              <a:rPr sz="1000" b="1" i="0">
                <a:solidFill>
                  <a:srgbClr val="9AABC4"/>
                </a:solidFill>
                <a:latin typeface="Calibri"/>
              </a:rPr>
              <a:t>WHAT'S NEXT</a:t>
            </a:r>
          </a:p>
        </p:txBody>
      </p:sp>
      <p:sp>
        <p:nvSpPr>
          <p:cNvPr id="30" name="Rectangle 29"/>
          <p:cNvSpPr/>
          <p:nvPr/>
        </p:nvSpPr>
        <p:spPr>
          <a:xfrm>
            <a:off x="4692243"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268315"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844387"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420459"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996531" y="6473952"/>
            <a:ext cx="502920" cy="36576"/>
          </a:xfrm>
          <a:prstGeom prst="rect">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91495" y="6355080"/>
            <a:ext cx="914400" cy="320040"/>
          </a:xfrm>
          <a:prstGeom prst="rect">
            <a:avLst/>
          </a:prstGeom>
          <a:noFill/>
        </p:spPr>
        <p:txBody>
          <a:bodyPr wrap="square" anchor="t">
            <a:spAutoFit/>
          </a:bodyPr>
          <a:lstStyle/>
          <a:p>
            <a:pPr algn="r">
              <a:spcAft>
                <a:spcPts val="0"/>
              </a:spcAft>
            </a:pPr>
            <a:r>
              <a:rPr sz="1100" b="1" i="0">
                <a:solidFill>
                  <a:srgbClr val="9AABC4"/>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heck-circle.png"/>
          <p:cNvPicPr>
            <a:picLocks noChangeAspect="1"/>
          </p:cNvPicPr>
          <p:nvPr/>
        </p:nvPicPr>
        <p:blipFill>
          <a:blip r:embed="rId3"/>
          <a:stretch>
            <a:fillRect/>
          </a:stretch>
        </p:blipFill>
        <p:spPr>
          <a:xfrm>
            <a:off x="685800" y="457200"/>
            <a:ext cx="420624" cy="420624"/>
          </a:xfrm>
          <a:prstGeom prst="rect">
            <a:avLst/>
          </a:prstGeom>
        </p:spPr>
      </p:pic>
      <p:sp>
        <p:nvSpPr>
          <p:cNvPr id="5" name="TextBox 4"/>
          <p:cNvSpPr txBox="1"/>
          <p:nvPr/>
        </p:nvSpPr>
        <p:spPr>
          <a:xfrm>
            <a:off x="1289304" y="201168"/>
            <a:ext cx="10216591" cy="320040"/>
          </a:xfrm>
          <a:prstGeom prst="rect">
            <a:avLst/>
          </a:prstGeom>
          <a:noFill/>
        </p:spPr>
        <p:txBody>
          <a:bodyPr wrap="square" anchor="t">
            <a:spAutoFit/>
          </a:bodyPr>
          <a:lstStyle/>
          <a:p>
            <a:pPr algn="l">
              <a:spcAft>
                <a:spcPts val="0"/>
              </a:spcAft>
            </a:pPr>
            <a:r>
              <a:rPr sz="1200" b="1" i="0">
                <a:solidFill>
                  <a:srgbClr val="FF7A59"/>
                </a:solidFill>
                <a:latin typeface="Calibri"/>
              </a:rPr>
              <a:t>WHAT'S NEXT</a:t>
            </a:r>
          </a:p>
        </p:txBody>
      </p:sp>
      <p:sp>
        <p:nvSpPr>
          <p:cNvPr id="6" name="TextBox 5"/>
          <p:cNvSpPr txBox="1"/>
          <p:nvPr/>
        </p:nvSpPr>
        <p:spPr>
          <a:xfrm>
            <a:off x="1289304" y="420624"/>
            <a:ext cx="10216591" cy="822960"/>
          </a:xfrm>
          <a:prstGeom prst="rect">
            <a:avLst/>
          </a:prstGeom>
          <a:noFill/>
        </p:spPr>
        <p:txBody>
          <a:bodyPr wrap="square" anchor="t">
            <a:spAutoFit/>
          </a:bodyPr>
          <a:lstStyle/>
          <a:p>
            <a:pPr algn="l">
              <a:spcAft>
                <a:spcPts val="0"/>
              </a:spcAft>
            </a:pPr>
            <a:r>
              <a:rPr sz="2600" b="1" i="0">
                <a:solidFill>
                  <a:srgbClr val="7CC4FF"/>
                </a:solidFill>
                <a:latin typeface="Calibri"/>
              </a:rPr>
              <a:t>Conclusions</a:t>
            </a:r>
          </a:p>
        </p:txBody>
      </p:sp>
      <p:sp>
        <p:nvSpPr>
          <p:cNvPr id="7" name="Rounded Rectangle 6"/>
          <p:cNvSpPr/>
          <p:nvPr/>
        </p:nvSpPr>
        <p:spPr>
          <a:xfrm>
            <a:off x="685800" y="1371600"/>
            <a:ext cx="5257800" cy="1508760"/>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sp>
        <p:nvSpPr>
          <p:cNvPr id="8" name="TextBox 7"/>
          <p:cNvSpPr txBox="1"/>
          <p:nvPr/>
        </p:nvSpPr>
        <p:spPr>
          <a:xfrm>
            <a:off x="868680" y="1463040"/>
            <a:ext cx="457200" cy="457200"/>
          </a:xfrm>
          <a:prstGeom prst="rect">
            <a:avLst/>
          </a:prstGeom>
          <a:noFill/>
        </p:spPr>
        <p:txBody>
          <a:bodyPr wrap="square" anchor="t">
            <a:spAutoFit/>
          </a:bodyPr>
          <a:lstStyle/>
          <a:p>
            <a:pPr algn="l">
              <a:spcAft>
                <a:spcPts val="0"/>
              </a:spcAft>
            </a:pPr>
            <a:r>
              <a:rPr sz="2000" b="1" i="0">
                <a:solidFill>
                  <a:srgbClr val="7CC4FF"/>
                </a:solidFill>
                <a:latin typeface="Calibri"/>
              </a:rPr>
              <a:t>1</a:t>
            </a:r>
          </a:p>
        </p:txBody>
      </p:sp>
      <p:sp>
        <p:nvSpPr>
          <p:cNvPr id="9" name="TextBox 8"/>
          <p:cNvSpPr txBox="1"/>
          <p:nvPr/>
        </p:nvSpPr>
        <p:spPr>
          <a:xfrm>
            <a:off x="1325880" y="1481328"/>
            <a:ext cx="4480560" cy="1325880"/>
          </a:xfrm>
          <a:prstGeom prst="rect">
            <a:avLst/>
          </a:prstGeom>
          <a:noFill/>
        </p:spPr>
        <p:txBody>
          <a:bodyPr wrap="square" anchor="t">
            <a:spAutoFit/>
          </a:bodyPr>
          <a:lstStyle/>
          <a:p>
            <a:pPr algn="l">
              <a:spcAft>
                <a:spcPts val="200"/>
              </a:spcAft>
            </a:pPr>
            <a:r>
              <a:rPr sz="3000" b="1" i="0">
                <a:solidFill>
                  <a:srgbClr val="7CC4FF"/>
                </a:solidFill>
                <a:latin typeface="Calibri"/>
              </a:rPr>
              <a:t>0.8725</a:t>
            </a:r>
          </a:p>
          <a:p>
            <a:pPr algn="l">
              <a:spcAft>
                <a:spcPts val="0"/>
              </a:spcAft>
            </a:pPr>
            <a:r>
              <a:rPr sz="1500" b="1" i="0">
                <a:solidFill>
                  <a:srgbClr val="EEF3FA"/>
                </a:solidFill>
                <a:latin typeface="Calibri"/>
              </a:rPr>
              <a:t>A field observable can be measured</a:t>
            </a:r>
          </a:p>
          <a:p>
            <a:pPr algn="l">
              <a:spcAft>
                <a:spcPts val="0"/>
              </a:spcAft>
            </a:pPr>
            <a:r>
              <a:rPr sz="1200" b="0" i="0">
                <a:solidFill>
                  <a:srgbClr val="9AABC4"/>
                </a:solidFill>
                <a:latin typeface="Calibri"/>
              </a:rPr>
              <a:t>ICC: agreement between two runs</a:t>
            </a:r>
          </a:p>
        </p:txBody>
      </p:sp>
      <p:sp>
        <p:nvSpPr>
          <p:cNvPr id="10" name="Rounded Rectangle 9"/>
          <p:cNvSpPr/>
          <p:nvPr/>
        </p:nvSpPr>
        <p:spPr>
          <a:xfrm>
            <a:off x="6245352" y="1371600"/>
            <a:ext cx="5257800" cy="1508760"/>
          </a:xfrm>
          <a:prstGeom prst="roundRect">
            <a:avLst>
              <a:gd name="adj" fmla="val 6000"/>
            </a:avLst>
          </a:prstGeom>
          <a:solidFill>
            <a:srgbClr val="12223C"/>
          </a:solidFill>
          <a:ln w="25400">
            <a:solidFill>
              <a:srgbClr val="5FD09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sp>
        <p:nvSpPr>
          <p:cNvPr id="11" name="TextBox 10"/>
          <p:cNvSpPr txBox="1"/>
          <p:nvPr/>
        </p:nvSpPr>
        <p:spPr>
          <a:xfrm>
            <a:off x="6428232" y="1463040"/>
            <a:ext cx="457200" cy="457200"/>
          </a:xfrm>
          <a:prstGeom prst="rect">
            <a:avLst/>
          </a:prstGeom>
          <a:noFill/>
        </p:spPr>
        <p:txBody>
          <a:bodyPr wrap="square" anchor="t">
            <a:spAutoFit/>
          </a:bodyPr>
          <a:lstStyle/>
          <a:p>
            <a:pPr algn="l">
              <a:spcAft>
                <a:spcPts val="0"/>
              </a:spcAft>
            </a:pPr>
            <a:r>
              <a:rPr sz="2000" b="1" i="0">
                <a:solidFill>
                  <a:srgbClr val="5FD09A"/>
                </a:solidFill>
                <a:latin typeface="Calibri"/>
              </a:rPr>
              <a:t>2</a:t>
            </a:r>
          </a:p>
        </p:txBody>
      </p:sp>
      <p:sp>
        <p:nvSpPr>
          <p:cNvPr id="12" name="TextBox 11"/>
          <p:cNvSpPr txBox="1"/>
          <p:nvPr/>
        </p:nvSpPr>
        <p:spPr>
          <a:xfrm>
            <a:off x="6885432" y="1481328"/>
            <a:ext cx="4480560" cy="1325880"/>
          </a:xfrm>
          <a:prstGeom prst="rect">
            <a:avLst/>
          </a:prstGeom>
          <a:noFill/>
        </p:spPr>
        <p:txBody>
          <a:bodyPr wrap="square" anchor="t">
            <a:spAutoFit/>
          </a:bodyPr>
          <a:lstStyle/>
          <a:p>
            <a:pPr algn="l">
              <a:spcAft>
                <a:spcPts val="200"/>
              </a:spcAft>
            </a:pPr>
            <a:r>
              <a:rPr sz="3000" b="1" i="0">
                <a:solidFill>
                  <a:srgbClr val="5FD09A"/>
                </a:solidFill>
                <a:latin typeface="Calibri"/>
              </a:rPr>
              <a:t>0.107</a:t>
            </a:r>
          </a:p>
          <a:p>
            <a:pPr algn="l">
              <a:spcAft>
                <a:spcPts val="0"/>
              </a:spcAft>
            </a:pPr>
            <a:r>
              <a:rPr sz="1500" b="1" i="0">
                <a:solidFill>
                  <a:srgbClr val="EEF3FA"/>
                </a:solidFill>
                <a:latin typeface="Calibri"/>
              </a:rPr>
              <a:t>It separates the four groups</a:t>
            </a:r>
          </a:p>
          <a:p>
            <a:pPr algn="l">
              <a:spcAft>
                <a:spcPts val="0"/>
              </a:spcAft>
            </a:pPr>
            <a:r>
              <a:rPr sz="1200" b="0" i="0">
                <a:solidFill>
                  <a:srgbClr val="9AABC4"/>
                </a:solidFill>
                <a:latin typeface="Calibri"/>
              </a:rPr>
              <a:t>η²: 10.7% of variation due to group; source mixed in</a:t>
            </a:r>
          </a:p>
        </p:txBody>
      </p:sp>
      <p:sp>
        <p:nvSpPr>
          <p:cNvPr id="13" name="Rounded Rectangle 12"/>
          <p:cNvSpPr/>
          <p:nvPr/>
        </p:nvSpPr>
        <p:spPr>
          <a:xfrm>
            <a:off x="685800" y="3063240"/>
            <a:ext cx="5257800" cy="1508760"/>
          </a:xfrm>
          <a:prstGeom prst="roundRect">
            <a:avLst>
              <a:gd name="adj" fmla="val 6000"/>
            </a:avLst>
          </a:prstGeom>
          <a:solidFill>
            <a:srgbClr val="12223C"/>
          </a:solidFill>
          <a:ln w="25400">
            <a:solidFill>
              <a:srgbClr val="FF7A59"/>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sp>
        <p:nvSpPr>
          <p:cNvPr id="14" name="TextBox 13"/>
          <p:cNvSpPr txBox="1"/>
          <p:nvPr/>
        </p:nvSpPr>
        <p:spPr>
          <a:xfrm>
            <a:off x="868680" y="3154680"/>
            <a:ext cx="457200" cy="457200"/>
          </a:xfrm>
          <a:prstGeom prst="rect">
            <a:avLst/>
          </a:prstGeom>
          <a:noFill/>
        </p:spPr>
        <p:txBody>
          <a:bodyPr wrap="square" anchor="t">
            <a:spAutoFit/>
          </a:bodyPr>
          <a:lstStyle/>
          <a:p>
            <a:pPr algn="l">
              <a:spcAft>
                <a:spcPts val="0"/>
              </a:spcAft>
            </a:pPr>
            <a:r>
              <a:rPr sz="2000" b="1" i="0">
                <a:solidFill>
                  <a:srgbClr val="FF7A59"/>
                </a:solidFill>
                <a:latin typeface="Calibri"/>
              </a:rPr>
              <a:t>3</a:t>
            </a:r>
          </a:p>
        </p:txBody>
      </p:sp>
      <p:sp>
        <p:nvSpPr>
          <p:cNvPr id="15" name="TextBox 14"/>
          <p:cNvSpPr txBox="1"/>
          <p:nvPr/>
        </p:nvSpPr>
        <p:spPr>
          <a:xfrm>
            <a:off x="1325880" y="3172968"/>
            <a:ext cx="4480560" cy="1325880"/>
          </a:xfrm>
          <a:prstGeom prst="rect">
            <a:avLst/>
          </a:prstGeom>
          <a:noFill/>
        </p:spPr>
        <p:txBody>
          <a:bodyPr wrap="square" anchor="t">
            <a:spAutoFit/>
          </a:bodyPr>
          <a:lstStyle/>
          <a:p>
            <a:pPr algn="l">
              <a:spcAft>
                <a:spcPts val="200"/>
              </a:spcAft>
            </a:pPr>
            <a:r>
              <a:rPr sz="3000" b="1" i="0">
                <a:solidFill>
                  <a:srgbClr val="FF7A59"/>
                </a:solidFill>
                <a:latin typeface="Calibri"/>
              </a:rPr>
              <a:t>α ≥ 4.29</a:t>
            </a:r>
          </a:p>
          <a:p>
            <a:pPr algn="l">
              <a:spcAft>
                <a:spcPts val="0"/>
              </a:spcAft>
            </a:pPr>
            <a:r>
              <a:rPr sz="1500" b="1" i="0">
                <a:solidFill>
                  <a:srgbClr val="EEF3FA"/>
                </a:solidFill>
                <a:latin typeface="Calibri"/>
              </a:rPr>
              <a:t>Media strength has a minimum</a:t>
            </a:r>
          </a:p>
          <a:p>
            <a:pPr algn="l">
              <a:spcAft>
                <a:spcPts val="0"/>
              </a:spcAft>
            </a:pPr>
            <a:r>
              <a:rPr sz="1200" b="0" i="0">
                <a:solidFill>
                  <a:srgbClr val="9AABC4"/>
                </a:solidFill>
                <a:latin typeface="Calibri"/>
              </a:rPr>
              <a:t>at βJ = 2, within the mean-field model</a:t>
            </a:r>
          </a:p>
        </p:txBody>
      </p:sp>
      <p:sp>
        <p:nvSpPr>
          <p:cNvPr id="16" name="Rounded Rectangle 15"/>
          <p:cNvSpPr/>
          <p:nvPr/>
        </p:nvSpPr>
        <p:spPr>
          <a:xfrm>
            <a:off x="6245352" y="3063240"/>
            <a:ext cx="5257800" cy="1508760"/>
          </a:xfrm>
          <a:prstGeom prst="roundRect">
            <a:avLst>
              <a:gd name="adj" fmla="val 6000"/>
            </a:avLst>
          </a:prstGeom>
          <a:solidFill>
            <a:srgbClr val="12223C"/>
          </a:solidFill>
          <a:ln w="25400">
            <a:solidFill>
              <a:srgbClr val="F5B8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sp>
        <p:nvSpPr>
          <p:cNvPr id="17" name="TextBox 16"/>
          <p:cNvSpPr txBox="1"/>
          <p:nvPr/>
        </p:nvSpPr>
        <p:spPr>
          <a:xfrm>
            <a:off x="6428232" y="3154680"/>
            <a:ext cx="457200" cy="457200"/>
          </a:xfrm>
          <a:prstGeom prst="rect">
            <a:avLst/>
          </a:prstGeom>
          <a:noFill/>
        </p:spPr>
        <p:txBody>
          <a:bodyPr wrap="square" anchor="t">
            <a:spAutoFit/>
          </a:bodyPr>
          <a:lstStyle/>
          <a:p>
            <a:pPr algn="l">
              <a:spcAft>
                <a:spcPts val="0"/>
              </a:spcAft>
            </a:pPr>
            <a:r>
              <a:rPr sz="2000" b="1" i="0">
                <a:solidFill>
                  <a:srgbClr val="F5B83D"/>
                </a:solidFill>
                <a:latin typeface="Calibri"/>
              </a:rPr>
              <a:t>4</a:t>
            </a:r>
          </a:p>
        </p:txBody>
      </p:sp>
      <p:sp>
        <p:nvSpPr>
          <p:cNvPr id="18" name="TextBox 17"/>
          <p:cNvSpPr txBox="1"/>
          <p:nvPr/>
        </p:nvSpPr>
        <p:spPr>
          <a:xfrm>
            <a:off x="6885432" y="3172968"/>
            <a:ext cx="4480560" cy="1325880"/>
          </a:xfrm>
          <a:prstGeom prst="rect">
            <a:avLst/>
          </a:prstGeom>
          <a:noFill/>
        </p:spPr>
        <p:txBody>
          <a:bodyPr wrap="square" anchor="t">
            <a:spAutoFit/>
          </a:bodyPr>
          <a:lstStyle/>
          <a:p>
            <a:pPr algn="l">
              <a:spcAft>
                <a:spcPts val="200"/>
              </a:spcAft>
            </a:pPr>
            <a:r>
              <a:rPr sz="3000" b="1" i="0">
                <a:solidFill>
                  <a:srgbClr val="F5B83D"/>
                </a:solidFill>
                <a:latin typeface="Calibri"/>
              </a:rPr>
              <a:t>r = 0.028</a:t>
            </a:r>
          </a:p>
          <a:p>
            <a:pPr algn="l">
              <a:spcAft>
                <a:spcPts val="0"/>
              </a:spcAft>
            </a:pPr>
            <a:r>
              <a:rPr sz="1500" b="1" i="0">
                <a:solidFill>
                  <a:srgbClr val="EEF3FA"/>
                </a:solidFill>
                <a:latin typeface="Calibri"/>
              </a:rPr>
              <a:t>The brain model matches real brains</a:t>
            </a:r>
          </a:p>
          <a:p>
            <a:pPr algn="l">
              <a:spcAft>
                <a:spcPts val="0"/>
              </a:spcAft>
            </a:pPr>
            <a:r>
              <a:rPr sz="1200" b="0" i="0">
                <a:solidFill>
                  <a:srgbClr val="9AABC4"/>
                </a:solidFill>
                <a:latin typeface="Calibri"/>
              </a:rPr>
              <a:t>positive; 30% of the 0.096 ceiling</a:t>
            </a:r>
          </a:p>
        </p:txBody>
      </p:sp>
      <p:sp>
        <p:nvSpPr>
          <p:cNvPr id="19" name="Rounded Rectangle 18"/>
          <p:cNvSpPr/>
          <p:nvPr/>
        </p:nvSpPr>
        <p:spPr>
          <a:xfrm>
            <a:off x="685800" y="4892040"/>
            <a:ext cx="10820095" cy="502920"/>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400" b="1">
                <a:solidFill>
                  <a:srgbClr val="7CC4FF"/>
                </a:solidFill>
                <a:latin typeface="Calibri"/>
              </a:rPr>
              <a:t>Three papers follow.  </a:t>
            </a:r>
            <a:r>
              <a:rPr sz="1400" b="0">
                <a:solidFill>
                  <a:srgbClr val="EEF3FA"/>
                </a:solidFill>
                <a:latin typeface="Calibri"/>
              </a:rPr>
              <a:t>Paper 1 and Paper 2 → Physica A,  Paper 3 → Imaging Neuroscience.</a:t>
            </a:r>
          </a:p>
        </p:txBody>
      </p:sp>
      <p:sp>
        <p:nvSpPr>
          <p:cNvPr id="20" name="TextBox 19"/>
          <p:cNvSpPr txBox="1"/>
          <p:nvPr/>
        </p:nvSpPr>
        <p:spPr>
          <a:xfrm>
            <a:off x="685800" y="5532120"/>
            <a:ext cx="10820095" cy="457200"/>
          </a:xfrm>
          <a:prstGeom prst="rect">
            <a:avLst/>
          </a:prstGeom>
          <a:noFill/>
        </p:spPr>
        <p:txBody>
          <a:bodyPr wrap="square" anchor="t">
            <a:spAutoFit/>
          </a:bodyPr>
          <a:lstStyle/>
          <a:p>
            <a:pPr algn="ctr">
              <a:spcAft>
                <a:spcPts val="0"/>
              </a:spcAft>
            </a:pPr>
            <a:r>
              <a:rPr sz="2200" b="1" i="0">
                <a:solidFill>
                  <a:srgbClr val="F5B83D"/>
                </a:solidFill>
                <a:latin typeface="Calibri"/>
              </a:rPr>
              <a:t>Thank you.  Questions welcome.</a:t>
            </a:r>
          </a:p>
        </p:txBody>
      </p:sp>
      <p:sp>
        <p:nvSpPr>
          <p:cNvPr id="21" name="TextBox 20"/>
          <p:cNvSpPr txBox="1"/>
          <p:nvPr/>
        </p:nvSpPr>
        <p:spPr>
          <a:xfrm>
            <a:off x="685800" y="6355080"/>
            <a:ext cx="4572000" cy="320040"/>
          </a:xfrm>
          <a:prstGeom prst="rect">
            <a:avLst/>
          </a:prstGeom>
          <a:noFill/>
        </p:spPr>
        <p:txBody>
          <a:bodyPr wrap="square" anchor="t">
            <a:spAutoFit/>
          </a:bodyPr>
          <a:lstStyle/>
          <a:p>
            <a:pPr algn="l">
              <a:spcAft>
                <a:spcPts val="0"/>
              </a:spcAft>
            </a:pPr>
            <a:r>
              <a:rPr sz="1000" b="1" i="0">
                <a:solidFill>
                  <a:srgbClr val="9AABC4"/>
                </a:solidFill>
                <a:latin typeface="Calibri"/>
              </a:rPr>
              <a:t>WHAT'S NEXT</a:t>
            </a:r>
          </a:p>
        </p:txBody>
      </p:sp>
      <p:sp>
        <p:nvSpPr>
          <p:cNvPr id="22" name="Rectangle 21"/>
          <p:cNvSpPr/>
          <p:nvPr/>
        </p:nvSpPr>
        <p:spPr>
          <a:xfrm>
            <a:off x="4692243"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268315"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844387"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20459"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996531" y="6473952"/>
            <a:ext cx="502920" cy="36576"/>
          </a:xfrm>
          <a:prstGeom prst="rect">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591495" y="6355080"/>
            <a:ext cx="914400" cy="320040"/>
          </a:xfrm>
          <a:prstGeom prst="rect">
            <a:avLst/>
          </a:prstGeom>
          <a:noFill/>
        </p:spPr>
        <p:txBody>
          <a:bodyPr wrap="square" anchor="t">
            <a:spAutoFit/>
          </a:bodyPr>
          <a:lstStyle/>
          <a:p>
            <a:pPr algn="r">
              <a:spcAft>
                <a:spcPts val="0"/>
              </a:spcAft>
            </a:pPr>
            <a:r>
              <a:rPr sz="1100" b="1" i="0">
                <a:solidFill>
                  <a:srgbClr val="9AABC4"/>
                </a:solidFill>
                <a:latin typeface="Calibri"/>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