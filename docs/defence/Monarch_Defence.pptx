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 Arrow 3"/>
          <p:cNvSpPr/>
          <p:nvPr/>
        </p:nvSpPr>
        <p:spPr>
          <a:xfrm>
            <a:off x="8170939" y="117994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 Arrow 4"/>
          <p:cNvSpPr/>
          <p:nvPr/>
        </p:nvSpPr>
        <p:spPr>
          <a:xfrm>
            <a:off x="8646427" y="1179941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9121915" y="1179941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9597403" y="117994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10072891" y="117994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10548379" y="117994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1023867" y="117994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8170939" y="1655429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8646427" y="1655429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9121915" y="165542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9597403" y="165542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0072891" y="165542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0548379" y="1655429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1023867" y="165542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170939" y="213091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8646427" y="2130917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9121915" y="213091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9597403" y="2130917"/>
            <a:ext cx="135609" cy="218724"/>
          </a:xfrm>
          <a:prstGeom prst="downArrow">
            <a:avLst/>
          </a:prstGeom>
          <a:solidFill>
            <a:srgbClr val="FF7A59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10072891" y="2130917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548379" y="213091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1023867" y="2130917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170939" y="260640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46427" y="260640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9121915" y="2606405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597403" y="260640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072891" y="2606405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548379" y="260640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1023867" y="260640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170939" y="3081893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646427" y="3081893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121915" y="3081893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597403" y="3081893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072891" y="3081893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Up Arrow 36"/>
          <p:cNvSpPr/>
          <p:nvPr/>
        </p:nvSpPr>
        <p:spPr>
          <a:xfrm>
            <a:off x="10548379" y="3081893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11023867" y="3081893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8170939" y="355738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646427" y="3557381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121915" y="3557381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p Arrow 41"/>
          <p:cNvSpPr/>
          <p:nvPr/>
        </p:nvSpPr>
        <p:spPr>
          <a:xfrm>
            <a:off x="9597403" y="355738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072891" y="355738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10548379" y="355738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1023867" y="355738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8170939" y="4032869"/>
            <a:ext cx="135609" cy="218724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8646427" y="4032869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9121915" y="403286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>
            <a:off x="9597403" y="403286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Up Arrow 49"/>
          <p:cNvSpPr/>
          <p:nvPr/>
        </p:nvSpPr>
        <p:spPr>
          <a:xfrm>
            <a:off x="10072891" y="403286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548379" y="4032869"/>
            <a:ext cx="135609" cy="218724"/>
          </a:xfrm>
          <a:prstGeom prst="downArrow">
            <a:avLst/>
          </a:prstGeom>
          <a:solidFill>
            <a:srgbClr val="FF7A59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11023867" y="403286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170939" y="450835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646427" y="4508357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Up Arrow 54"/>
          <p:cNvSpPr/>
          <p:nvPr/>
        </p:nvSpPr>
        <p:spPr>
          <a:xfrm>
            <a:off x="9121915" y="450835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9597403" y="4508357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10072891" y="4508357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Up Arrow 57"/>
          <p:cNvSpPr/>
          <p:nvPr/>
        </p:nvSpPr>
        <p:spPr>
          <a:xfrm>
            <a:off x="10548379" y="450835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Up Arrow 58"/>
          <p:cNvSpPr/>
          <p:nvPr/>
        </p:nvSpPr>
        <p:spPr>
          <a:xfrm>
            <a:off x="11023867" y="4508357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Up Arrow 59"/>
          <p:cNvSpPr/>
          <p:nvPr/>
        </p:nvSpPr>
        <p:spPr>
          <a:xfrm>
            <a:off x="8170939" y="498384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646427" y="498384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own Arrow 61"/>
          <p:cNvSpPr/>
          <p:nvPr/>
        </p:nvSpPr>
        <p:spPr>
          <a:xfrm>
            <a:off x="9121915" y="4983845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9597403" y="498384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72891" y="4983845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Up Arrow 64"/>
          <p:cNvSpPr/>
          <p:nvPr/>
        </p:nvSpPr>
        <p:spPr>
          <a:xfrm>
            <a:off x="10548379" y="498384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023867" y="498384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5440680"/>
            <a:ext cx="33284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m = tanh(βJ m + h),   h = αX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10515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B.Sc. PHYSICS   ·   NATURAL SCIENCES   ·   CUEA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150876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EEF3FA"/>
                </a:solidFill>
                <a:latin typeface="Calibri"/>
              </a:rPr>
              <a:t>Measuring the</a:t>
            </a:r>
          </a:p>
          <a:p>
            <a:pPr>
              <a:spcAft>
                <a:spcPts val="0"/>
              </a:spcAft>
            </a:pPr>
            <a:r>
              <a:rPr sz="5000" b="1" i="0">
                <a:solidFill>
                  <a:srgbClr val="7CC4FF"/>
                </a:solidFill>
                <a:latin typeface="Calibri"/>
              </a:rPr>
              <a:t>External Field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3246120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9AABC4"/>
                </a:solidFill>
                <a:latin typeface="Calibri"/>
              </a:rPr>
              <a:t>A cortical-proxy content observable and the mean-field bound on media-driven opinion change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43400"/>
            <a:ext cx="1280160" cy="5080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57200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EF3FA"/>
                </a:solidFill>
                <a:latin typeface="Calibri"/>
              </a:rPr>
              <a:t>Brian Mwai</a:t>
            </a:r>
            <a:r>
              <a:rPr sz="2000" b="0">
                <a:solidFill>
                  <a:srgbClr val="9AABC4"/>
                </a:solidFill>
                <a:latin typeface="Calibri"/>
              </a:rPr>
              <a:t>   1050555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Supervisor: Dr. Songa Mutambi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Media is modelled as a field on opinion. That field is assumed, never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WIRE REPORT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EEF3FA"/>
                </a:solidFill>
                <a:latin typeface="Calibri"/>
              </a:rPr>
              <a:t>Federal Reserve holds interest rates steady, citing a stable inflation outlook.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9AABC4"/>
                </a:solidFill>
                <a:latin typeface="Calibri"/>
              </a:rPr>
              <a:t>informs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THE SAME EVENT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EEF3FA"/>
                </a:solidFill>
                <a:latin typeface="Calibri"/>
              </a:rPr>
              <a:t>FED DESTROYS AMERICA. </a:t>
            </a:r>
            <a:r>
              <a:rPr sz="1800" b="0">
                <a:solidFill>
                  <a:srgbClr val="EEF3FA"/>
                </a:solidFill>
                <a:latin typeface="Calibri"/>
              </a:rPr>
              <a:t>Your savings are GONE. The collapse they hid from you!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1546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7A59"/>
                </a:solidFill>
                <a:latin typeface="Calibri"/>
              </a:rPr>
              <a:t>provokes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8200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9AABC4"/>
                </a:solidFill>
                <a:latin typeface="Calibri"/>
              </a:rPr>
              <a:t>Readers notice the difference and cannot quantify it. Sentiment, readability and stance measure the words, not the response.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43484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spcAft>
                <a:spcPts val="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This project measures the field from content itself, applies it to 400 articles, and derives how strong the coupling must be for that spread to move a population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434840"/>
            <a:ext cx="50800" cy="11430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A five-stage cascade turns one article into one number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Text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one article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5415" y="1970532"/>
            <a:ext cx="219456" cy="128016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Speech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synthesised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1970532"/>
            <a:ext cx="219456" cy="128016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34256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per word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2744" y="1970532"/>
            <a:ext cx="219456" cy="128016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text + audio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36408" y="1970532"/>
            <a:ext cx="219456" cy="128016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1583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encoder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20072" y="1970532"/>
            <a:ext cx="219456" cy="128016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8524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20,484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vertices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62488" y="2514600"/>
            <a:ext cx="19050" cy="41148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4519" y="2926080"/>
            <a:ext cx="8897112" cy="1905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2386584" y="2926080"/>
            <a:ext cx="164592" cy="384048"/>
          </a:xfrm>
          <a:prstGeom prst="downArrow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25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Affective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1,030 vertices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815584" y="2926080"/>
            <a:ext cx="164592" cy="384048"/>
          </a:xfrm>
          <a:prstGeom prst="downArrow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Deliberative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851 vertices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721608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9AABC4"/>
                </a:solidFill>
                <a:latin typeface="Calibri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721608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7CC4FF"/>
                </a:solidFill>
                <a:latin typeface="Calibri"/>
              </a:rPr>
              <a:t>=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520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7CC4FF"/>
                </a:solidFill>
                <a:latin typeface="Calibri"/>
              </a:rPr>
              <a:t>One number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per article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7492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Encoder: TRIBE v2, d'Ascoli et al., Meta FAIR (2025), arXiv:2507.22229.  Regions from HCP MMP1.0, Glasser et al. (2016).  Instrument at monarch-4iy.pages.dev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INSTRUMENT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index contrasts two cortical networks, 1,030 vertices against 851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380743"/>
            <a:ext cx="6839712" cy="32186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1_roi_defin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08760"/>
            <a:ext cx="6583680" cy="29626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09560" y="1380744"/>
            <a:ext cx="3611880" cy="321868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Aft>
                <a:spcPts val="100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THE OBSERVABLE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7CC4FF"/>
                </a:solidFill>
                <a:latin typeface="Calibri"/>
              </a:rPr>
              <a:t>NAA</a:t>
            </a:r>
            <a:r>
              <a:rPr sz="3000" b="1" baseline="-25000">
                <a:solidFill>
                  <a:srgbClr val="7CC4FF"/>
                </a:solidFill>
                <a:latin typeface="Calibri"/>
              </a:rPr>
              <a:t>signed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7CC4FF"/>
                </a:solidFill>
                <a:latin typeface="Calibri"/>
              </a:rPr>
              <a:t>= A</a:t>
            </a:r>
            <a:r>
              <a:rPr sz="3000" b="1" baseline="-25000">
                <a:solidFill>
                  <a:srgbClr val="7CC4FF"/>
                </a:solidFill>
                <a:latin typeface="Calibri"/>
              </a:rPr>
              <a:t>aff</a:t>
            </a:r>
            <a:r>
              <a:rPr sz="3000" b="1">
                <a:solidFill>
                  <a:srgbClr val="7CC4FF"/>
                </a:solidFill>
                <a:latin typeface="Calibri"/>
              </a:rPr>
              <a:t>  −  A</a:t>
            </a:r>
            <a:r>
              <a:rPr sz="3000" b="1" baseline="-25000">
                <a:solidFill>
                  <a:srgbClr val="7CC4FF"/>
                </a:solidFill>
                <a:latin typeface="Calibri"/>
              </a:rPr>
              <a:t>del</a:t>
            </a:r>
          </a:p>
          <a:p>
            <a:pPr>
              <a:spcAft>
                <a:spcPts val="600"/>
              </a:spcAft>
            </a:pPr>
            <a:r>
              <a:rPr sz="800" b="0" i="0">
                <a:solidFill>
                  <a:srgbClr val="EEF3FA"/>
                </a:solidFill>
                <a:latin typeface="Calibri"/>
              </a:rPr>
              <a:t> </a:t>
            </a:r>
          </a:p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7A59"/>
                </a:solidFill>
                <a:latin typeface="Calibri"/>
              </a:rPr>
              <a:t>&gt; 0   </a:t>
            </a:r>
            <a:r>
              <a:rPr sz="1700" b="0">
                <a:solidFill>
                  <a:srgbClr val="EEF3FA"/>
                </a:solidFill>
                <a:latin typeface="Calibri"/>
              </a:rPr>
              <a:t>emotion leads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7CC4FF"/>
                </a:solidFill>
                <a:latin typeface="Calibri"/>
              </a:rPr>
              <a:t>&lt; 0   </a:t>
            </a:r>
            <a:r>
              <a:rPr sz="1700" b="0">
                <a:solidFill>
                  <a:srgbClr val="EEF3FA"/>
                </a:solidFill>
                <a:latin typeface="Calibri"/>
              </a:rPr>
              <a:t>reasoning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EF3FA"/>
                </a:solidFill>
                <a:latin typeface="Calibri"/>
              </a:rPr>
              <a:t>A cortical proxy: </a:t>
            </a:r>
            <a:r>
              <a:rPr sz="1600" b="0">
                <a:solidFill>
                  <a:srgbClr val="9AABC4"/>
                </a:solidFill>
                <a:latin typeface="Calibri"/>
              </a:rPr>
              <a:t>it rates content, never a person, and is never called the amygdala. Regions resolved once and cached, so all 400 items average over identical vertices.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Regions on HCP MMP1.0 (Glasser et al., 2016); fsaverage5 surfaces.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INSTRUMENT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Inspecting the checkpoint changed what the project could 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429000" cy="3154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FF7A59"/>
                </a:solidFill>
                <a:latin typeface="Calibri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EEF3FA"/>
                </a:solidFill>
                <a:latin typeface="Calibri"/>
              </a:rPr>
              <a:t>Cortical only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9AABC4"/>
                </a:solidFill>
                <a:latin typeface="Calibri"/>
              </a:rPr>
              <a:t>No subcortical output.</a:t>
            </a:r>
          </a:p>
          <a:p>
            <a:pPr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No amygdala, so the proposal's equation cannot be computed.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1463040"/>
            <a:ext cx="3429000" cy="3154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3E8EDE"/>
                </a:solidFill>
                <a:latin typeface="Calibri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EEF3FA"/>
                </a:solidFill>
                <a:latin typeface="Calibri"/>
              </a:rPr>
              <a:t>Averaged over subjects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9AABC4"/>
                </a:solidFill>
                <a:latin typeface="Calibri"/>
              </a:rPr>
              <a:t>The loader forces it.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It predicts a typical viewer, which Paper 3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11896" y="1463040"/>
            <a:ext cx="3429000" cy="3154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3E8EDE"/>
                </a:solidFill>
                <a:latin typeface="Calibri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EEF3FA"/>
                </a:solidFill>
                <a:latin typeface="Calibri"/>
              </a:rPr>
              <a:t>Standardised output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9AABC4"/>
                </a:solidFill>
                <a:latin typeface="Calibri"/>
              </a:rPr>
              <a:t>Means sit near zero, so a ratio breaks.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Undefined for 69 of 400 items; the difference replaces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37760"/>
            <a:ext cx="108200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9AABC4"/>
                </a:solidFill>
                <a:latin typeface="Calibri"/>
              </a:rPr>
              <a:t>All three were found by testing the checkpoint, before any result.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INSTRUMENT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corpus is length-matched and was powered before the scan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487168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F7A5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fear-activating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ISOT-fake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50800" cy="160020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62832" y="1463040"/>
            <a:ext cx="2487168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5B83D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high 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SemEval-2019 T4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2832" y="1463040"/>
            <a:ext cx="50800" cy="160020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9865" y="1463040"/>
            <a:ext cx="2487168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3E8EDE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reward hook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Webis-Clickbait-17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9865" y="1463040"/>
            <a:ext cx="50800" cy="160020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16898" y="1463040"/>
            <a:ext cx="2487168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9AABC4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neutral informational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PubMed + ISOT-true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16898" y="1463040"/>
            <a:ext cx="50800" cy="160020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5257800" cy="14630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7CC4FF"/>
                </a:solidFill>
                <a:latin typeface="Calibri"/>
              </a:rPr>
              <a:t>≈ 164 words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length-matched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means 167.4, 163.5, 163.7, 162.2; sd near 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383280"/>
            <a:ext cx="5257800" cy="14630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7CC4FF"/>
                </a:solidFill>
                <a:latin typeface="Calibri"/>
              </a:rPr>
              <a:t>η² ≥ 0.0268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detectable, fixed before the scan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smallest detectable AUC = 0.5916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25780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Corpora: Ahmed et al. (ISOT, 2017); Kiesel et al. (SemEval-2019 Task 4); Potthast et al. (Webis-Clickbait-17); PubMed open abstracts.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124047" y="-45719"/>
            <a:ext cx="5943600" cy="5943600"/>
          </a:xfrm>
          <a:prstGeom prst="ellipse">
            <a:avLst/>
          </a:prstGeom>
          <a:gradFill rotWithShape="1">
            <a:gsLst>
              <a:gs pos="0">
                <a:srgbClr val="3E8EDE">
                  <a:alpha val="35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AABC4"/>
                </a:solidFill>
                <a:latin typeface="Calibri"/>
              </a:rPr>
              <a:t>THE FOUR CATEGORIES SEPARATE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628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800" b="1" i="0">
                <a:solidFill>
                  <a:srgbClr val="EEF3FA"/>
                </a:solidFill>
                <a:latin typeface="Calibri"/>
              </a:rPr>
              <a:t>η² = 0.1068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46120"/>
            <a:ext cx="8534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EEF3FA"/>
                </a:solidFill>
                <a:latin typeface="Calibri"/>
              </a:rPr>
              <a:t>F = 15.779    p = 1.03 × 10⁻⁹    n = 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39" y="4096511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first session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4160520"/>
            <a:ext cx="548640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4160520"/>
            <a:ext cx="4882896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4096511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0.1068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39" y="46634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second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4727448"/>
            <a:ext cx="548640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4727448"/>
            <a:ext cx="4059936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66344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0.0888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39" y="5230368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powered to detect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5294376"/>
            <a:ext cx="548640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5294376"/>
            <a:ext cx="1225296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523036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9AABC4"/>
                </a:solidFill>
                <a:latin typeface="Calibri"/>
              </a:rPr>
              <a:t>0.0268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Categories shift against each other, but the distributions overlap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3760" y="1289304"/>
            <a:ext cx="6624174" cy="382219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776" y="1417320"/>
            <a:ext cx="6368142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30352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Every category mean is negative: the deliberative network leads throughout, and the categories differ in how far below zero they sit.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Fear-activating content carries the effect; outrage moves both networks equally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COHEN'S d AGAINST THE NEUTRAL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59" y="176479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fear-activating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82880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08960" y="1828800"/>
            <a:ext cx="5666902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6479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d = 0.939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59" y="233172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reward 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2395728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2395728"/>
            <a:ext cx="192517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233172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d = 0.319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59" y="2898648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high outrage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2962656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08960" y="2962656"/>
            <a:ext cx="181051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89864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d = 0.030  (p = 0.832)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94760"/>
            <a:ext cx="10820095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OUTRAGE, TAKEN APART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EEF3FA"/>
                </a:solidFill>
                <a:latin typeface="Calibri"/>
              </a:rPr>
              <a:t>Affective d = +0.507, deliberative d = +0.491. </a:t>
            </a:r>
            <a:r>
              <a:rPr sz="1800" b="0">
                <a:solidFill>
                  <a:srgbClr val="EEF3FA"/>
                </a:solidFill>
                <a:latin typeface="Calibri"/>
              </a:rPr>
              <a:t>A flat index here is a symmetric response, not an absent one. Fear raises one network only (d = +0.613 and −0.098).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Category is confounded with source, and a bag of words beats the index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3258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SOURCE DATASET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fear-activating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ISOT-fake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99232" y="1920240"/>
            <a:ext cx="54864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377439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high outrage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377439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SemEval-2019 T4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99232" y="2560320"/>
            <a:ext cx="54864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reward 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3017520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Webis-Clickbait-17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99232" y="3200400"/>
            <a:ext cx="54864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657599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neutral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3657599"/>
            <a:ext cx="2240280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PubMed + ISOT-true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999232" y="3840479"/>
            <a:ext cx="54864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92240" y="1417320"/>
            <a:ext cx="242316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9AABC4"/>
                </a:solidFill>
                <a:latin typeface="Calibri"/>
              </a:rPr>
              <a:t>0.6274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AUC, the index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nothing fitted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417320"/>
            <a:ext cx="242316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0.9758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AUC, TF-IDF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logistic, 5-fold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5029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Same 400 rows, same label. VADER sits at chance, 0.5392. The same words guess the source 66% of the time against 25%, so much of the lexical win is provenance.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26280"/>
            <a:ext cx="10820095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EEF3FA"/>
                </a:solidFill>
                <a:latin typeface="Calibri"/>
              </a:rPr>
              <a:t>Length is controlled; provenance is not.  </a:t>
            </a:r>
            <a:r>
              <a:rPr sz="1800" b="1">
                <a:solidFill>
                  <a:srgbClr val="FF7A59"/>
                </a:solidFill>
                <a:latin typeface="Calibri"/>
              </a:rPr>
              <a:t>The index is a field observable for the physics, not a detector.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50800" cy="9601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2356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Hutto &amp; Gilbert (2014), VADER.  One source per category, so the separation cannot be attributed to framing.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Group-level claims hold at this precision; per-item claims do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7CC4FF"/>
                </a:solidFill>
                <a:latin typeface="Calibri"/>
              </a:rPr>
              <a:t>0.8725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ICC between two GPU sessions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separation replicates: η² = 0.0888 against 0.1068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7A59"/>
                </a:solidFill>
                <a:latin typeface="Calibri"/>
              </a:rPr>
              <a:t>12.8%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of items reverse direction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51 of 400; no verdict on one article is ever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REVERSALS: OBSERVED AGAINST WHAT MEASURED NOISE ALONE PREDICTS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26280"/>
            <a:ext cx="8138160" cy="1905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96768" y="4379976"/>
            <a:ext cx="6239256" cy="310896"/>
          </a:xfrm>
          <a:prstGeom prst="rect">
            <a:avLst/>
          </a:prstGeom>
          <a:solidFill>
            <a:srgbClr val="3E8ED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8425" y="4251960"/>
            <a:ext cx="38100" cy="5669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76800" y="4416552"/>
            <a:ext cx="237744" cy="237744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8006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48006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1359" y="48006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48006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541" y="3840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noise predicts 55.3, 95% [44, 67]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8391" y="50749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observed 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MEASUREMENT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Media enters as a field h = αX, and the corpus cannot pin down 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532120" cy="36118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THE MODEL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Opinions ±1, pulled toward neighbours by J, pushed by media with field h = αX.</a:t>
            </a:r>
          </a:p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7CC4FF"/>
                </a:solidFill>
                <a:latin typeface="Calibri"/>
              </a:rPr>
              <a:t>m = tanh(βJ m + h)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7CC4FF"/>
                </a:solidFill>
                <a:latin typeface="Calibri"/>
              </a:rPr>
              <a:t>F(m) = a m² + b m⁴ − h m</a:t>
            </a:r>
          </a:p>
          <a:p>
            <a:pPr algn="ctr">
              <a:spcAft>
                <a:spcPts val="140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a = (1 − βJ)/2,   b = 1/12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Coefficients derived, correcting the proposal's a and 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029200" cy="36118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THE COUPLING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EF3FA"/>
                </a:solidFill>
                <a:latin typeface="Calibri"/>
              </a:rPr>
              <a:t>Tried. </a:t>
            </a:r>
            <a:r>
              <a:rPr sz="1700" b="0">
                <a:solidFill>
                  <a:srgbClr val="EEF3FA"/>
                </a:solidFill>
                <a:latin typeface="Calibri"/>
              </a:rPr>
              <a:t>Fit the outcome to the index and read off α.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EF3FA"/>
                </a:solidFill>
                <a:latin typeface="Calibri"/>
              </a:rPr>
              <a:t>Result. </a:t>
            </a:r>
            <a:r>
              <a:rPr sz="1700" b="0">
                <a:solidFill>
                  <a:srgbClr val="EEF3FA"/>
                </a:solidFill>
                <a:latin typeface="Calibri"/>
              </a:rPr>
              <a:t>Out of sample the fit does worse than the average, and the estimate depends on βJ, which nothing here measures.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FF7A59"/>
                </a:solidFill>
                <a:latin typeface="Calibri"/>
              </a:rPr>
              <a:t>So no value of α is quoted anywhere.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0352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9AABC4"/>
                </a:solidFill>
                <a:latin typeface="Calibri"/>
              </a:rPr>
              <a:t>What replaces it needs no fit at all: the bound.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Any content observable must clear a bound to drive a transition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335024"/>
            <a:ext cx="5945108" cy="4142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6_alpha_requ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463040"/>
            <a:ext cx="5689076" cy="38862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7406640" y="365759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E8EDE">
                  <a:alpha val="35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73736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EEF3FA"/>
                </a:solidFill>
                <a:latin typeface="Calibri"/>
              </a:rPr>
              <a:t>α  ≥  h</a:t>
            </a:r>
            <a:r>
              <a:rPr sz="3600" b="1" baseline="-25000">
                <a:solidFill>
                  <a:srgbClr val="EEF3FA"/>
                </a:solidFill>
                <a:latin typeface="Calibri"/>
              </a:rPr>
              <a:t>c</a:t>
            </a:r>
            <a:r>
              <a:rPr sz="3600" b="1">
                <a:solidFill>
                  <a:srgbClr val="EEF3FA"/>
                </a:solidFill>
                <a:latin typeface="Calibri"/>
              </a:rPr>
              <a:t>(βJ) / ΔX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88920"/>
            <a:ext cx="4572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9AABC4"/>
                </a:solidFill>
                <a:latin typeface="Calibri"/>
              </a:rPr>
              <a:t>What α would have to be for media to tip opinion, for any observable, before any data. Within the mean-field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3931920"/>
            <a:ext cx="4572000" cy="14173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FF7A59"/>
                </a:solidFill>
                <a:latin typeface="Calibri"/>
              </a:rPr>
              <a:t>α ≥ 4.29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at βJ = 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measured ΔX = 0.1241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Four claims the work supports, and four it does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00200"/>
            <a:ext cx="347472" cy="34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581912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CC4FF"/>
                </a:solidFill>
                <a:latin typeface="Calibri"/>
              </a:rPr>
              <a:t>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 content observable that can be measured, with its reliability stated.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That it separates these four corpora at 0.1068, power attached.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 bound any candidate observable must satisfy, usable before data exists.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 noise ceiling on public fMRI (0.1517), and a first check of the encoder against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71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600200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76872" y="1581912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7A59"/>
                </a:solidFill>
                <a:latin typeface="Calibri"/>
              </a:rPr>
              <a:t>NOT 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1488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That the index detects manipulation. Source is confounded; TF-IDF scores 0.9758.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Anything about the amygdala. The checkpoint does not predict it.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Any value of the coupling α. The corpus does not identify it.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EEF3FA"/>
                </a:solidFill>
                <a:latin typeface="Calibri"/>
              </a:rPr>
              <a:t>•  Any verdict on one article. 12.8% reverse between sessions.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STANDING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7A59"/>
                </a:solidFill>
                <a:latin typeface="Calibri"/>
              </a:rPr>
              <a:t>1.  </a:t>
            </a:r>
            <a:r>
              <a:rPr sz="1700" b="1">
                <a:solidFill>
                  <a:srgbClr val="EEF3FA"/>
                </a:solidFill>
                <a:latin typeface="Calibri"/>
              </a:rPr>
              <a:t>A field observable can be measured from content. </a:t>
            </a:r>
            <a:r>
              <a:rPr sz="1700" b="0">
                <a:solidFill>
                  <a:srgbClr val="9AABC4"/>
                </a:solidFill>
                <a:latin typeface="Calibri"/>
              </a:rPr>
              <a:t>The instrument runs, the corpus is complete, and reliability is measured: ICC = 0.8725.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7A59"/>
                </a:solidFill>
                <a:latin typeface="Calibri"/>
              </a:rPr>
              <a:t>2.  </a:t>
            </a:r>
            <a:r>
              <a:rPr sz="1700" b="1">
                <a:solidFill>
                  <a:srgbClr val="EEF3FA"/>
                </a:solidFill>
                <a:latin typeface="Calibri"/>
              </a:rPr>
              <a:t>It separates four corpora at 0.1068, confounded with source. </a:t>
            </a:r>
            <a:r>
              <a:rPr sz="1700" b="0">
                <a:solidFill>
                  <a:srgbClr val="9AABC4"/>
                </a:solidFill>
                <a:latin typeface="Calibri"/>
              </a:rPr>
              <a:t>Both halves are reported, the confound first.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7A59"/>
                </a:solidFill>
                <a:latin typeface="Calibri"/>
              </a:rPr>
              <a:t>3.  </a:t>
            </a:r>
            <a:r>
              <a:rPr sz="1700" b="1">
                <a:solidFill>
                  <a:srgbClr val="EEF3FA"/>
                </a:solidFill>
                <a:latin typeface="Calibri"/>
              </a:rPr>
              <a:t>The coupling is unidentified, so the thesis reports a bound. </a:t>
            </a:r>
            <a:r>
              <a:rPr sz="1700" b="0">
                <a:solidFill>
                  <a:srgbClr val="9AABC4"/>
                </a:solidFill>
                <a:latin typeface="Calibri"/>
              </a:rPr>
              <a:t>With ΔX = 0.1241, α ≥ 4.294 at βJ = 2: a constraint on any future proposal of this mechanism.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7A59"/>
                </a:solidFill>
                <a:latin typeface="Calibri"/>
              </a:rPr>
              <a:t>4.  </a:t>
            </a:r>
            <a:r>
              <a:rPr sz="1700" b="1">
                <a:solidFill>
                  <a:srgbClr val="EEF3FA"/>
                </a:solidFill>
                <a:latin typeface="Calibri"/>
              </a:rPr>
              <a:t>The encoder is weakly positive against real brains. </a:t>
            </a:r>
            <a:r>
              <a:rPr sz="1700" b="0">
                <a:solidFill>
                  <a:srgbClr val="9AABC4"/>
                </a:solidFill>
                <a:latin typeface="Calibri"/>
              </a:rPr>
              <a:t>r = +0.028 against a ceiling of 0.096 on the same scans; not yet decisive.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526280"/>
            <a:ext cx="2487168" cy="868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81 pp   </a:t>
            </a:r>
            <a:r>
              <a:rPr sz="1500" b="0">
                <a:solidFill>
                  <a:srgbClr val="EEF3FA"/>
                </a:solidFill>
                <a:latin typeface="Calibri"/>
              </a:rPr>
              <a:t>Dissertation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832" y="4526280"/>
            <a:ext cx="2487168" cy="868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12 pp   </a:t>
            </a:r>
            <a:r>
              <a:rPr sz="1500" b="0">
                <a:solidFill>
                  <a:srgbClr val="EEF3FA"/>
                </a:solidFill>
                <a:latin typeface="Calibri"/>
              </a:rPr>
              <a:t>Paper 1 · Physica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9865" y="4526280"/>
            <a:ext cx="2487168" cy="868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16 pp   </a:t>
            </a:r>
            <a:r>
              <a:rPr sz="1500" b="0">
                <a:solidFill>
                  <a:srgbClr val="EEF3FA"/>
                </a:solidFill>
                <a:latin typeface="Calibri"/>
              </a:rPr>
              <a:t>Paper 2 · Physica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6898" y="4526280"/>
            <a:ext cx="2487168" cy="868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8 pp   </a:t>
            </a:r>
            <a:r>
              <a:rPr sz="1500" b="0">
                <a:solidFill>
                  <a:srgbClr val="EEF3FA"/>
                </a:solidFill>
                <a:latin typeface="Calibri"/>
              </a:rPr>
              <a:t>Paper 3 · Imaging Neurosci.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Every number comes from a re-runnable script  ·  github.com/brn-mwai/monarch  ·  monarch-4iy.pages.dev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STANDING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92243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8315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44387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0459" y="6428232"/>
            <a:ext cx="502920" cy="381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6531" y="6428232"/>
            <a:ext cx="502920" cy="381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