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B.Sc. PHYSICS   ·   DEPARTMENT OF NATURAL SCIENCES   ·   CUEA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1F4E79"/>
                </a:solidFill>
                <a:latin typeface="Calibri"/>
              </a:rPr>
              <a:t>Measuring the External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144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95959"/>
                </a:solidFill>
                <a:latin typeface="Calibri"/>
              </a:rPr>
              <a:t>A cortical-proxy content observable and the mean-field bound on media-driven opinion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069080"/>
            <a:ext cx="1005840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A1A1A"/>
                </a:solidFill>
                <a:latin typeface="Calibri"/>
              </a:rPr>
              <a:t>Brian Mwai</a:t>
            </a:r>
            <a:r>
              <a:rPr sz="1900" b="0">
                <a:solidFill>
                  <a:srgbClr val="595959"/>
                </a:solidFill>
                <a:latin typeface="Calibri"/>
              </a:rPr>
              <a:t>   1050555</a:t>
            </a:r>
          </a:p>
          <a:p>
            <a:pPr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3 September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Supervisor: Dr. Songa Mutambi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v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057400"/>
            <a:ext cx="9692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Statistical physics has always modelled media as a field pushing on a population of coupled opinions.</a:t>
            </a:r>
          </a:p>
          <a:p>
            <a:pPr>
              <a:spcAft>
                <a:spcPts val="0"/>
              </a:spcAft>
            </a:pPr>
            <a:r>
              <a:rPr sz="2200" b="0" i="0">
                <a:solidFill>
                  <a:srgbClr val="1A1A1A"/>
                </a:solidFill>
                <a:latin typeface="Calibri"/>
              </a:rPr>
              <a:t>That field is assumed. It is not measured.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969264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9692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F4E79"/>
                </a:solidFill>
                <a:latin typeface="Calibri"/>
              </a:rPr>
              <a:t>This project measures one from content itself, applies it to 400 articles, and derives how strong the coupling would have to be for a spread that size to move a population at all.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01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problem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is missing from the way media is modelled.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Two articles can report one event and leave readers in different states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002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WIRE REPORT</a:t>
            </a:r>
          </a:p>
          <a:p>
            <a:pPr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Federal Reserve holds interest rates steady, citing a stable inflation outlook.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0" y="1600200"/>
            <a:ext cx="50292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THE SAME EVENT</a:t>
            </a:r>
          </a:p>
          <a:p>
            <a:pPr>
              <a:spcAft>
                <a:spcPts val="0"/>
              </a:spcAft>
            </a:pPr>
            <a:r>
              <a:rPr sz="1800" b="1">
                <a:solidFill>
                  <a:srgbClr val="1A1A1A"/>
                </a:solidFill>
                <a:latin typeface="Calibri"/>
              </a:rPr>
              <a:t>FED DESTROYS AMERICA. </a:t>
            </a:r>
            <a:r>
              <a:rPr sz="1800" b="0">
                <a:solidFill>
                  <a:srgbClr val="1A1A1A"/>
                </a:solidFill>
                <a:latin typeface="Calibri"/>
              </a:rPr>
              <a:t>Your savings are GONE. The collapse they hid from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01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informs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401568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provokes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Readers notice the difference and cannot quantify it. The platforms distributing both have no objective measure of which they are amplifying.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xt-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Existing tools measure the words; none measures the predicted response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34440" y="196596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SENTIMENT, READABILITY, STANCE</a:t>
            </a:r>
          </a:p>
          <a:p>
            <a:pPr algn="ctr">
              <a:spcAft>
                <a:spcPts val="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characterise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words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532120" y="2560320"/>
            <a:ext cx="1097280" cy="18288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95160" y="1965960"/>
            <a:ext cx="3931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1F4E79"/>
                </a:solidFill>
                <a:latin typeface="Calibri"/>
              </a:rPr>
              <a:t>THIS PROJECT</a:t>
            </a:r>
          </a:p>
          <a:p>
            <a:pPr algn="ctr">
              <a:spcAft>
                <a:spcPts val="0"/>
              </a:spcAft>
            </a:pPr>
            <a:r>
              <a:rPr sz="1900" b="0">
                <a:solidFill>
                  <a:srgbClr val="1A1A1A"/>
                </a:solidFill>
                <a:latin typeface="Calibri"/>
              </a:rPr>
              <a:t>estimate </a:t>
            </a:r>
            <a:r>
              <a:rPr sz="1900" b="1">
                <a:solidFill>
                  <a:srgbClr val="1A1A1A"/>
                </a:solidFill>
                <a:latin typeface="Calibri"/>
              </a:rPr>
              <a:t>the response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108200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 released neural encoder predicts cortical activity from the content, and the measurement is taken on that prediction.</a:t>
            </a:r>
          </a:p>
          <a:p>
            <a:pPr>
              <a:spcAft>
                <a:spcPts val="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The instrument is a thermometer for one property of media. The thesis is an account of building it, running it, and stating what its readings support.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02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instrument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From a passage of text to a single number.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 five-stage cascade turns one article into one number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Text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one article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85415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450592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Speech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synthesised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4256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Timings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per word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52744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Embeddings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text + audio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6408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01583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TRIBE v2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encoder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2" y="1970532"/>
            <a:ext cx="219456" cy="128016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85248" y="1554480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20,484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vertices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762488" y="2514600"/>
            <a:ext cx="19050" cy="41148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74519" y="2926080"/>
            <a:ext cx="8897112" cy="1905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wn Arrow 16"/>
          <p:cNvSpPr/>
          <p:nvPr/>
        </p:nvSpPr>
        <p:spPr>
          <a:xfrm>
            <a:off x="2386584" y="2926080"/>
            <a:ext cx="164592" cy="384048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325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Affective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1,030 vertices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815584" y="2926080"/>
            <a:ext cx="164592" cy="384048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0" y="3520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A1A1A"/>
                </a:solidFill>
                <a:latin typeface="Calibri"/>
              </a:rPr>
              <a:t>Deliberative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851 vertices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377647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595959"/>
                </a:solidFill>
                <a:latin typeface="Calibri"/>
              </a:rPr>
              <a:t>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776472"/>
            <a:ext cx="914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=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0" y="3520440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4E79"/>
                </a:solidFill>
                <a:latin typeface="Calibri"/>
              </a:rPr>
              <a:t>One number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per article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Encoder: TRIBE v2, d'Ascoli et al., Meta FAIR (2025), arXiv:2507.22229.  Regions from HCP MMP1.0, Glasser et al. (2016).  Instrument at monarch-4iy.pages.dev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index contrasts two cortical networks, 1,030 vertices against 851</a:t>
            </a:r>
          </a:p>
        </p:txBody>
      </p:sp>
      <p:pic>
        <p:nvPicPr>
          <p:cNvPr id="4" name="Picture 3" descr="B1_roi_defin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1371600"/>
            <a:ext cx="9326880" cy="41970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4632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Affective salience in orange, deliberative control in blue. Resolved once into vertex index sets and cached, so all 400 items are averaged over identical regions.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Regions defined on HCP MMP1.0 (Glasser et al., 2016); surfaces are fsaverage5.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observable is a signed difference, defined for every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820095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1F4E79"/>
                </a:solidFill>
                <a:latin typeface="Calibri"/>
              </a:rPr>
              <a:t>NAA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signed</a:t>
            </a:r>
            <a:r>
              <a:rPr sz="3800" b="1">
                <a:solidFill>
                  <a:srgbClr val="1F4E79"/>
                </a:solidFill>
                <a:latin typeface="Calibri"/>
              </a:rPr>
              <a:t>  =  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affective</a:t>
            </a:r>
            <a:r>
              <a:rPr sz="3800" b="1">
                <a:solidFill>
                  <a:srgbClr val="1F4E79"/>
                </a:solidFill>
                <a:latin typeface="Calibri"/>
              </a:rPr>
              <a:t>  −  A</a:t>
            </a:r>
            <a:r>
              <a:rPr sz="3800" b="1" baseline="-25000">
                <a:solidFill>
                  <a:srgbClr val="1F4E79"/>
                </a:solidFill>
                <a:latin typeface="Calibri"/>
              </a:rPr>
              <a:t>deliberative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2834640" y="3429000"/>
            <a:ext cx="6492240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62472" y="3291840"/>
            <a:ext cx="19050" cy="2560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3566160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reasoning leads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971800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emotion leads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348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A cortical proxy</a:t>
            </a:r>
            <a:r>
              <a:rPr sz="2000" b="0">
                <a:solidFill>
                  <a:srgbClr val="1A1A1A"/>
                </a:solidFill>
                <a:latin typeface="Calibri"/>
              </a:rPr>
              <a:t>: it rates content, never a person, and is never called the amygdala.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ying-g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Inspecting the checkpoint changed what the project could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01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Cortical only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Output is (T, 20484). There is no subcortical head.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C0392B"/>
                </a:solidFill>
                <a:latin typeface="Calibri"/>
              </a:rPr>
              <a:t>The amygdala is not predicted, so the proposal's central equation cannot be computed.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2628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02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Averaged over subjects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The loader forces average_subjects.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It predicts a typical viewer. Whether that carries signal is the third paper's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508760"/>
            <a:ext cx="3429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Calibri"/>
              </a:rPr>
              <a:t>03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1A1A1A"/>
                </a:solidFill>
                <a:latin typeface="Calibri"/>
              </a:rPr>
              <a:t>Standardised output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Region means sit near zero, so a ratio sign-flips or explodes.</a:t>
            </a:r>
          </a:p>
          <a:p>
            <a:pPr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Undefined for 69 of 400 items. Replaced by the difference.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Each was found by testing the artifact, and each is stated in the abstract rather than the limitations.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instrument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03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measurement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400 articles, scanned twice.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corpus is length-matched and was powered before the scan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fear-activating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ISOT-fake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84448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high outrage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SemEval-2019 T4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83096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reward hook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Webis-Clickbait-17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381744" y="1463040"/>
            <a:ext cx="260604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100</a:t>
            </a:r>
          </a:p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Calibri"/>
              </a:rPr>
              <a:t>neutral informational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PubMed + ISOT-true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0820095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Length-matched. </a:t>
            </a:r>
            <a:r>
              <a:rPr sz="2000" b="0">
                <a:solidFill>
                  <a:srgbClr val="1A1A1A"/>
                </a:solidFill>
                <a:latin typeface="Calibri"/>
              </a:rPr>
              <a:t>Mean word counts 167.4, 163.5, 163.7, 162.2; standard deviations near 11.</a:t>
            </a:r>
          </a:p>
          <a:p>
            <a:pPr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Powered first. </a:t>
            </a:r>
            <a:r>
              <a:rPr sz="2000" b="0">
                <a:solidFill>
                  <a:srgbClr val="1A1A1A"/>
                </a:solidFill>
                <a:latin typeface="Calibri"/>
              </a:rPr>
              <a:t>Smallest detectable η² = 0.0268, smallest detectable AUC = 0.5916, both fixed before a single item was scanned.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Corpora: Ahmed et al. (ISOT, 2017); Kiesel et al. (SemEval-2019 Task 4); Potthast et al. (Webis-Clickbait-17); PubMed open abstracts.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48840"/>
            <a:ext cx="103628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FOUR CATEGORIES SEPARATE 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697480"/>
            <a:ext cx="103628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200" b="1" i="0">
                <a:solidFill>
                  <a:srgbClr val="1F4E79"/>
                </a:solidFill>
                <a:latin typeface="Calibri"/>
              </a:rPr>
              <a:t>η² = 0.1068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160520"/>
            <a:ext cx="8534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 = 15.779    p = 1.03 × 10⁻⁹    n = 400</a:t>
            </a:r>
          </a:p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against a design powered to detect 0.0268; AUC against the pre-scan label is 0.6274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Categories shift against each other, but the distributions overlap</a:t>
            </a:r>
          </a:p>
        </p:txBody>
      </p:sp>
      <p:pic>
        <p:nvPicPr>
          <p:cNvPr id="4" name="Picture 3" descr="fig_viol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325880"/>
            <a:ext cx="6613071" cy="3703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12064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Every category mean is negative: the deliberative network leads throughout, and the categories differ in how far below zero they sit.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art-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Fear-activating content carries the effect; outrage does not separate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46120" y="1600200"/>
            <a:ext cx="19050" cy="23317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2821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fear-activating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264408" y="1783080"/>
            <a:ext cx="6010351" cy="32918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02775" y="172821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d = 0.939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0545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reward hook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64408" y="2560320"/>
            <a:ext cx="2041855" cy="32918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34279" y="250545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E75B6"/>
                </a:solidFill>
                <a:latin typeface="Calibri"/>
              </a:rPr>
              <a:t>d = 0.319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82696"/>
            <a:ext cx="2423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high outrage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3337560"/>
            <a:ext cx="192024" cy="3291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3282696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C0392B"/>
                </a:solidFill>
                <a:latin typeface="Calibri"/>
              </a:rPr>
              <a:t>d = 0.030   </a:t>
            </a:r>
            <a:r>
              <a:rPr sz="1700" b="0">
                <a:solidFill>
                  <a:srgbClr val="595959"/>
                </a:solidFill>
                <a:latin typeface="Calibri"/>
              </a:rPr>
              <a:t>p = 0.832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389120"/>
            <a:ext cx="108200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Cohen's d against the neutral baseline.</a:t>
            </a:r>
          </a:p>
          <a:p>
            <a:pPr>
              <a:spcAft>
                <a:spcPts val="0"/>
              </a:spcAft>
            </a:pPr>
            <a:r>
              <a:rPr sz="2000" b="1" i="0">
                <a:solidFill>
                  <a:srgbClr val="C0392B"/>
                </a:solidFill>
                <a:latin typeface="Calibri"/>
              </a:rPr>
              <a:t>Outrage is the category the proposal expected to separate most, and it does not separate at 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Category cannot be told apart from source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14173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CATEGORY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35240" y="141732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5959"/>
                </a:solidFill>
                <a:latin typeface="Calibri"/>
              </a:rPr>
              <a:t>SOURCE DATASET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874519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fear-activating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709160" y="2084831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35240" y="1874519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ISOT-fake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17320" y="2587752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high outrage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709160" y="2798064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35240" y="2587752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SemEval-2019 Task 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3300984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reward hook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09160" y="3511296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35240" y="3300984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Webis-Clickbait-17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014215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neutral informational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709160" y="4224528"/>
            <a:ext cx="2743200" cy="128016"/>
          </a:xfrm>
          <a:prstGeom prst="righ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35240" y="4014215"/>
            <a:ext cx="31089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PubMed + ISOT-true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9204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source per category, so the separation is between corpora and cannot be attributed to framing. Length is controlled; provenance is not.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rows-clock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Group-level claims hold at this precision; per-item claims do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1F4E79"/>
                </a:solidFill>
                <a:latin typeface="Calibri"/>
              </a:rPr>
              <a:t>0.8725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ICC between two GPU 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5468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The separation replicates: 0.0888 on the second session against 0.1068 on the first. Both clear the detectable floor.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5029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C0392B"/>
                </a:solidFill>
                <a:latin typeface="Calibri"/>
              </a:rPr>
              <a:t>12.8%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60604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of items reverse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15468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51 of 400 items flip sign between sessions, so no verdict on one article appears anywhere in the analysis, the figures or the public site.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A second session scanned all 400 items with identical text, code and regions. Neither run is corrected toward the other, and they are not averaged.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encoder returns a full cortical map, not a summary statistic</a:t>
            </a:r>
          </a:p>
        </p:txBody>
      </p:sp>
      <p:pic>
        <p:nvPicPr>
          <p:cNvPr id="4" name="Picture 3" descr="B3_per_vertex_fear_activating-0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325880"/>
            <a:ext cx="7863840" cy="3538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89204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595959"/>
                </a:solidFill>
                <a:latin typeface="Calibri"/>
              </a:rPr>
              <a:t>One fear-activating item at all 20,484 vertices, painted above the map's 70th percentile. Nothing is smoothed, interpolated or simulated.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measurement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04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The physics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a measured field is worth.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Media enters the mean-field model as a field on the measured observable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Each person holds an opinion ±1, is pulled toward their neighbours with strength J, and is pushed by media with field h: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24028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m  =  tanh( βJ m + h ),        h  =  α 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971800"/>
            <a:ext cx="108200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where X is the measured observable and α the unknown coupling. Expanding artanh(m) ≈ m + m³/3: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65760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1F4E79"/>
                </a:solidFill>
                <a:latin typeface="Calibri"/>
              </a:rPr>
              <a:t>F(m) = a m² + b m⁴ − h m,        a = (1 − βJ)/2,        b = 1/12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1082009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595959"/>
                </a:solidFill>
                <a:latin typeface="Calibri"/>
              </a:rPr>
              <a:t>Coefficients derived from the self-consistency condition. </a:t>
            </a:r>
            <a:r>
              <a:rPr sz="1700" b="0">
                <a:solidFill>
                  <a:srgbClr val="595959"/>
                </a:solidFill>
                <a:latin typeface="Calibri"/>
              </a:rPr>
              <a:t>The proposal carried a = 1 − βJ, b = (βJ)³/3, which do not follow from it. The solver reproduces the exact exponents 1/2, 1 and 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x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corpus does not identify the coupling, so no value is quoted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60350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What was tried. </a:t>
            </a:r>
            <a:r>
              <a:rPr sz="2000" b="0">
                <a:solidFill>
                  <a:srgbClr val="1A1A1A"/>
                </a:solidFill>
                <a:latin typeface="Calibri"/>
              </a:rPr>
              <a:t>Regress the outcome on the measured index and read off α.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A1A1A"/>
                </a:solidFill>
                <a:latin typeface="Calibri"/>
              </a:rPr>
              <a:t>What happened. </a:t>
            </a:r>
            <a:r>
              <a:rPr sz="2000" b="0">
                <a:solidFill>
                  <a:srgbClr val="1A1A1A"/>
                </a:solidFill>
                <a:latin typeface="Calibri"/>
              </a:rPr>
              <a:t>The fit performs worse than the sample mean out of sample, and the estimate scales inversely with a coupling βJ that no measurement here fixes.</a:t>
            </a:r>
          </a:p>
          <a:p>
            <a:pPr>
              <a:spcAft>
                <a:spcPts val="0"/>
              </a:spcAft>
            </a:pPr>
            <a:r>
              <a:rPr sz="2000" b="1" i="0">
                <a:solidFill>
                  <a:srgbClr val="C0392B"/>
                </a:solidFill>
                <a:latin typeface="Calibri"/>
              </a:rPr>
              <a:t>So no value of α-hat appears anywhere — not in a table, a caption, or “for illustration”.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691640"/>
            <a:ext cx="4160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Reporting an unidentified coupling as though it were measured would be the failure here. Declining to quote it is not.</a:t>
            </a:r>
          </a:p>
          <a:p>
            <a:pPr>
              <a:spcAft>
                <a:spcPts val="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replaces it is a statement that does not need the fit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u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Any content observable must clear a bound to drive a transition</a:t>
            </a:r>
          </a:p>
        </p:txBody>
      </p:sp>
      <p:pic>
        <p:nvPicPr>
          <p:cNvPr id="4" name="Picture 3" descr="F6_alpha_requi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63040"/>
            <a:ext cx="461819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720840" y="1737360"/>
            <a:ext cx="4800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1F4E79"/>
                </a:solidFill>
                <a:latin typeface="Calibri"/>
              </a:rPr>
              <a:t>α  ≥  h</a:t>
            </a:r>
            <a:r>
              <a:rPr sz="3200" b="1" baseline="-25000">
                <a:solidFill>
                  <a:srgbClr val="1F4E79"/>
                </a:solidFill>
                <a:latin typeface="Calibri"/>
              </a:rPr>
              <a:t>c</a:t>
            </a:r>
            <a:r>
              <a:rPr sz="3200" b="1">
                <a:solidFill>
                  <a:srgbClr val="1F4E79"/>
                </a:solidFill>
                <a:latin typeface="Calibri"/>
              </a:rPr>
              <a:t>(βJ) / ΔX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697480"/>
            <a:ext cx="4800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Rather than fitting α and hoping it clears zero, this states what α would have to be for the mechanism to work at all — for any candidate observable, before a corpus exists.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892040"/>
            <a:ext cx="108200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Measured spread ΔX = 0.1241  ⇒  α ≥ 0.169 at βJ = 1.10,   1.655 at 1.50,   </a:t>
            </a:r>
            <a:r>
              <a:rPr sz="1800" b="1">
                <a:solidFill>
                  <a:srgbClr val="1F4E79"/>
                </a:solidFill>
                <a:latin typeface="Calibri"/>
              </a:rPr>
              <a:t>4.294 at 2.00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The physics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148840"/>
            <a:ext cx="658368" cy="65836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88720" y="2971800"/>
            <a:ext cx="8229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2E75B6"/>
                </a:solidFill>
                <a:latin typeface="Calibri"/>
              </a:rPr>
              <a:t>05</a:t>
            </a:r>
          </a:p>
          <a:p>
            <a:pPr>
              <a:spcAft>
                <a:spcPts val="8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Standing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</a:rPr>
              <a:t>What holds, and what is still open.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Whether the encoder tracks real cortex is measurable, and one pass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A commercial lab reports the released checkpoint, in the averaged configuration this project runs, is anti-correlated with real cortex. Four subjects, one stimulus, not independently replicated.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00200" y="251460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F4E79"/>
                </a:solidFill>
                <a:latin typeface="Calibri"/>
              </a:rPr>
              <a:t>0.1517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measured noise ceiling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CI [0.1484, 0.1551], 4 subjects, 1000 parcels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51460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Calibri"/>
              </a:rPr>
              <a:t>0.2247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withdrawn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95959"/>
                </a:solidFill>
                <a:latin typeface="Calibri"/>
              </a:rPr>
              <a:t>an episode picked by position, and a guard that could not fire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108200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Replaying the old code path reproduces the wrong number exactly, which proved the cause. Both defects were silent: nothing crashed.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97880"/>
            <a:ext cx="1082009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Schaefer et al. (2018); Algonauts 2025 (CC0); audit self-published, Sapient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Four claims the work supports, and four it does not</a:t>
            </a:r>
          </a:p>
        </p:txBody>
      </p:sp>
      <p:pic>
        <p:nvPicPr>
          <p:cNvPr id="4" name="Picture 3" descr="check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4712" y="137160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F4E79"/>
                </a:solidFill>
                <a:latin typeface="Calibri"/>
              </a:rPr>
              <a:t>SUPPORTED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51206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content observable that can be measured, with its reliability stated.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That it separates these four corpora at 0.1068, power attached.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bound any candidate observable must satisfy, usable before data exists.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 measured noise ceiling for the checkpoint on public data.</a:t>
            </a:r>
          </a:p>
        </p:txBody>
      </p:sp>
      <p:pic>
        <p:nvPicPr>
          <p:cNvPr id="7" name="Picture 6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31152" y="1371600"/>
            <a:ext cx="4572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C0392B"/>
                </a:solidFill>
                <a:latin typeface="Calibri"/>
              </a:rPr>
              <a:t>NOT SUPPORTED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That the index detects manipulation. Category is confounded with source.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Anything about the amygdala. The checkpoint does not predict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 value of the coupling α. The corpus does not identify it.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Any verdict on one article. 12.8% reverse between sessions.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The work yields a dissertation and three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72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Dissertation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Complete draft.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4448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12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1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bound and the screening criterion. Physica A. Independent of the scan.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3096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12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2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instrument, the corpus, the field bound. Physica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744" y="1554480"/>
            <a:ext cx="2606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2E75B6"/>
                </a:solidFill>
                <a:latin typeface="Calibri"/>
              </a:rPr>
              <a:t>6 pp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1A1A1A"/>
                </a:solidFill>
                <a:latin typeface="Calibri"/>
              </a:rPr>
              <a:t>Paper 3</a:t>
            </a:r>
          </a:p>
          <a:p>
            <a:pPr>
              <a:spcAft>
                <a:spcPts val="0"/>
              </a:spcAft>
            </a:pPr>
            <a:r>
              <a:rPr sz="1500" b="0" i="0">
                <a:solidFill>
                  <a:srgbClr val="595959"/>
                </a:solidFill>
                <a:latin typeface="Calibri"/>
              </a:rPr>
              <a:t>The measured ceiling and the replication. Imaging Neuroscience. One computation on its final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26280"/>
            <a:ext cx="10820095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54880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Calibri"/>
              </a:rPr>
              <a:t>Every number in all four comes from a re-runnable script. Nothing is transcribed by hand.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-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59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9304" y="310896"/>
            <a:ext cx="10216591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71600"/>
            <a:ext cx="1082009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1.  </a:t>
            </a:r>
            <a:r>
              <a:rPr sz="1800" b="1">
                <a:solidFill>
                  <a:srgbClr val="1A1A1A"/>
                </a:solidFill>
                <a:latin typeface="Calibri"/>
              </a:rPr>
              <a:t>A field observable can be measured from content.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instrument runs, the corpus is complete, and reliability is measured rather than assumed: ICC = 0.8725.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2.  </a:t>
            </a:r>
            <a:r>
              <a:rPr sz="1800" b="1">
                <a:solidFill>
                  <a:srgbClr val="1A1A1A"/>
                </a:solidFill>
                <a:latin typeface="Calibri"/>
              </a:rPr>
              <a:t>It separates four corpora at 0.1068, and the separation is confounded with source. </a:t>
            </a:r>
            <a:r>
              <a:rPr sz="1800" b="0">
                <a:solidFill>
                  <a:srgbClr val="1A1A1A"/>
                </a:solidFill>
                <a:latin typeface="Calibri"/>
              </a:rPr>
              <a:t>Both halves are reported, the confound first.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3.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coupling is unidentified, so the thesis reports a bound instead. </a:t>
            </a:r>
            <a:r>
              <a:rPr sz="1800" b="0">
                <a:solidFill>
                  <a:srgbClr val="1A1A1A"/>
                </a:solidFill>
                <a:latin typeface="Calibri"/>
              </a:rPr>
              <a:t>With ΔX = 0.1241, α ≥ 4.294 at βJ = 2 — a constraint on any future proposal of this mechanism.</a:t>
            </a:r>
          </a:p>
          <a:p>
            <a:pPr>
              <a:spcAft>
                <a:spcPts val="1400"/>
              </a:spcAft>
            </a:pPr>
            <a:r>
              <a:rPr sz="1800" b="1">
                <a:solidFill>
                  <a:srgbClr val="2E75B6"/>
                </a:solidFill>
                <a:latin typeface="Calibri"/>
              </a:rPr>
              <a:t>4.  </a:t>
            </a:r>
            <a:r>
              <a:rPr sz="1800" b="1">
                <a:solidFill>
                  <a:srgbClr val="1A1A1A"/>
                </a:solidFill>
                <a:latin typeface="Calibri"/>
              </a:rPr>
              <a:t>The instrument's own validity is now a measurable question. </a:t>
            </a:r>
            <a:r>
              <a:rPr sz="1800" b="0">
                <a:solidFill>
                  <a:srgbClr val="1A1A1A"/>
                </a:solidFill>
                <a:latin typeface="Calibri"/>
              </a:rPr>
              <a:t>The noise ceiling is 0.1517; one prediction pass remains.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5349240"/>
            <a:ext cx="10820095" cy="190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53212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95959"/>
                </a:solidFill>
                <a:latin typeface="Calibri"/>
              </a:rPr>
              <a:t>Brian Mwai  ·  1050555  ·  monarch-4iy.pages.dev  ·  github.com/brn-mwai/monarch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10896"/>
            <a:ext cx="108200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4E79"/>
                </a:solidFill>
                <a:latin typeface="Calibri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10820095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Ahmed, H., Traore, I., Saad, S. (2017). Detection of online fake news using n-gram analysis and machine learning. ISDDC.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d'Ascoli, S. et al. (2025). TRIBE: a trimodal brain encoder for whole-brain fMRI response prediction. Meta FAIR. arXiv:2507.22229.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Glasser, M. F. et al. (2016). A multi-modal parcellation of human cerebral cortex. Nature 536, 171–178.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Kiesel, J. et al. (2019). SemEval-2019 Task 4: hyperpartisan news detection. SemEval.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Korbel, J., Dahdoul, R., Thurner, S. (2026). Critical campaign spending in a double-random field Ising model of elections. Phys. Rev. Lett. 136, 127402.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Potthast, M. et al. (2018). The Webis clickbait challenge 2017. ECIR.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Schaefer, A. et al. (2018). Local-global parcellation of the human cerebral cortex. Cereb. Cortex 28, 3095–3114.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Algonauts Project 2025 Challenge. arXiv:2501.00504.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2910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291072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