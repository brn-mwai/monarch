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1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234440"/>
            <a:ext cx="108200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B.Sc. PHYSICS   ·   DEPARTMENT OF NATURAL SCIENCES   ·   CUEA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8308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1F4E79"/>
                </a:solidFill>
                <a:latin typeface="Calibri"/>
              </a:rPr>
              <a:t>Measuring the External 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9144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595959"/>
                </a:solidFill>
                <a:latin typeface="Calibri"/>
              </a:rPr>
              <a:t>A cortical-proxy content observable and the mean-field bound on media-driven opinion change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069080"/>
            <a:ext cx="1005840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A1A1A"/>
                </a:solidFill>
                <a:latin typeface="Calibri"/>
              </a:rPr>
              <a:t>Brian Mwai</a:t>
            </a:r>
            <a:r>
              <a:rPr sz="1900" b="0">
                <a:solidFill>
                  <a:srgbClr val="595959"/>
                </a:solidFill>
                <a:latin typeface="Calibri"/>
              </a:rPr>
              <a:t>   1050555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3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4297680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Supervisor: Dr. Songa Mutambi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ave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4572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2057400"/>
            <a:ext cx="96926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Statistical physics has always modelled media as a field pushing on a population of coupled opinions.</a:t>
            </a:r>
          </a:p>
          <a:p>
            <a:pPr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That field is assumed. It is not measured.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03320"/>
            <a:ext cx="969264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9692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F4E79"/>
                </a:solidFill>
                <a:latin typeface="Calibri"/>
              </a:rPr>
              <a:t>This project measures one from content itself, applies it to 400 articles, and derives how strong the coupling would have to be for a spread that size to move a population at all.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spa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48840"/>
            <a:ext cx="658368" cy="65836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2971800"/>
            <a:ext cx="8229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2E75B6"/>
                </a:solidFill>
                <a:latin typeface="Calibri"/>
              </a:rPr>
              <a:t>01</a:t>
            </a:r>
          </a:p>
          <a:p>
            <a:pPr>
              <a:spcAft>
                <a:spcPts val="800"/>
              </a:spcAft>
            </a:pPr>
            <a:r>
              <a:rPr sz="3000" b="1" i="0">
                <a:solidFill>
                  <a:srgbClr val="1F4E79"/>
                </a:solidFill>
                <a:latin typeface="Calibri"/>
              </a:rPr>
              <a:t>The problem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Calibri"/>
              </a:rPr>
              <a:t>What is missing from the way media is modelled.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spa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Two articles can report one event and leave readers in different states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00200"/>
            <a:ext cx="50292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46304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WIRE REPORT</a:t>
            </a:r>
          </a:p>
          <a:p>
            <a:pPr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Federal Reserve holds interest rates steady, citing a stable inflation outlook.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600200"/>
            <a:ext cx="50292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46304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THE SAME EVENT</a:t>
            </a:r>
          </a:p>
          <a:p>
            <a:pPr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FED DESTROYS AMERICA. </a:t>
            </a:r>
            <a:r>
              <a:rPr sz="1800" b="0">
                <a:solidFill>
                  <a:srgbClr val="1A1A1A"/>
                </a:solidFill>
                <a:latin typeface="Calibri"/>
              </a:rPr>
              <a:t>Your savings are GONE. The collapse they hid from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401568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0" i="0">
                <a:solidFill>
                  <a:srgbClr val="595959"/>
                </a:solidFill>
                <a:latin typeface="Calibri"/>
              </a:rPr>
              <a:t>informs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3401568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C0392B"/>
                </a:solidFill>
                <a:latin typeface="Calibri"/>
              </a:rPr>
              <a:t>provokes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60520"/>
            <a:ext cx="108200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Readers notice the difference and cannot quantify it. The platforms distributing both have no objective measure of which they are amplifying.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xt-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Existing tools measure the words; none measures the predicted response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34440" y="1965960"/>
            <a:ext cx="39319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SENTIMENT, READABILITY, STANCE</a:t>
            </a:r>
          </a:p>
          <a:p>
            <a:pPr algn="ctr">
              <a:spcAft>
                <a:spcPts val="0"/>
              </a:spcAft>
            </a:pPr>
            <a:r>
              <a:rPr sz="1900" b="0">
                <a:solidFill>
                  <a:srgbClr val="1A1A1A"/>
                </a:solidFill>
                <a:latin typeface="Calibri"/>
              </a:rPr>
              <a:t>characterise </a:t>
            </a:r>
            <a:r>
              <a:rPr sz="1900" b="1">
                <a:solidFill>
                  <a:srgbClr val="1A1A1A"/>
                </a:solidFill>
                <a:latin typeface="Calibri"/>
              </a:rPr>
              <a:t>the words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532120" y="2560320"/>
            <a:ext cx="1097280" cy="182880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995160" y="1965960"/>
            <a:ext cx="39319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1F4E79"/>
                </a:solidFill>
                <a:latin typeface="Calibri"/>
              </a:rPr>
              <a:t>THIS PROJECT</a:t>
            </a:r>
          </a:p>
          <a:p>
            <a:pPr algn="ctr">
              <a:spcAft>
                <a:spcPts val="0"/>
              </a:spcAft>
            </a:pPr>
            <a:r>
              <a:rPr sz="1900" b="0">
                <a:solidFill>
                  <a:srgbClr val="1A1A1A"/>
                </a:solidFill>
                <a:latin typeface="Calibri"/>
              </a:rPr>
              <a:t>estimate </a:t>
            </a:r>
            <a:r>
              <a:rPr sz="1900" b="1">
                <a:solidFill>
                  <a:srgbClr val="1A1A1A"/>
                </a:solidFill>
                <a:latin typeface="Calibri"/>
              </a:rPr>
              <a:t>the response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77639"/>
            <a:ext cx="1082009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 released neural encoder predicts cortical activity from the content, and the measurement is taken on that prediction.</a:t>
            </a:r>
          </a:p>
          <a:p>
            <a:pPr>
              <a:spcAft>
                <a:spcPts val="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The instrument is a thermometer for one property of media. The thesis is an account of building it, running it, and stating what its readings support.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48840"/>
            <a:ext cx="658368" cy="65836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2971800"/>
            <a:ext cx="8229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2E75B6"/>
                </a:solidFill>
                <a:latin typeface="Calibri"/>
              </a:rPr>
              <a:t>02</a:t>
            </a:r>
          </a:p>
          <a:p>
            <a:pPr>
              <a:spcAft>
                <a:spcPts val="800"/>
              </a:spcAft>
            </a:pPr>
            <a:r>
              <a:rPr sz="3000" b="1" i="0">
                <a:solidFill>
                  <a:srgbClr val="1F4E79"/>
                </a:solidFill>
                <a:latin typeface="Calibri"/>
              </a:rPr>
              <a:t>The instrument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Calibri"/>
              </a:rPr>
              <a:t>From a passage of text to a single number.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A five-stage cascade turns one article into one number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554480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Text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one article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85415" y="1970532"/>
            <a:ext cx="219456" cy="12801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450592" y="1554480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Speech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synthesised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69080" y="1970532"/>
            <a:ext cx="219456" cy="12801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34256" y="1554480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Timings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per word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52744" y="1970532"/>
            <a:ext cx="219456" cy="12801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Embeddings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text + audio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36408" y="1970532"/>
            <a:ext cx="219456" cy="12801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01583" y="1554480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TRIBE v2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encoder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20072" y="1970532"/>
            <a:ext cx="219456" cy="12801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985248" y="1554480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20,484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vertices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762488" y="2514600"/>
            <a:ext cx="19050" cy="4114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74519" y="2926080"/>
            <a:ext cx="8897112" cy="1905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wn Arrow 16"/>
          <p:cNvSpPr/>
          <p:nvPr/>
        </p:nvSpPr>
        <p:spPr>
          <a:xfrm>
            <a:off x="2386584" y="2926080"/>
            <a:ext cx="164592" cy="384048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325880" y="352044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Affective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1,030 vertices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5815584" y="2926080"/>
            <a:ext cx="164592" cy="384048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0" y="352044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Deliberative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851 vertices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3320" y="377647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595959"/>
                </a:solidFill>
                <a:latin typeface="Calibri"/>
              </a:rPr>
              <a:t>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377647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=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3520440"/>
            <a:ext cx="26517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F4E79"/>
                </a:solidFill>
                <a:latin typeface="Calibri"/>
              </a:rPr>
              <a:t>One number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per article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074920"/>
            <a:ext cx="1082009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Encoder: TRIBE v2, d'Ascoli et al., Meta FAIR (2025), arXiv:2507.22229.  Regions from HCP MMP1.0, Glasser et al. (2016).  Instrument at monarch-4iy.pages.dev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instrument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The index contrasts two cortical networks, 1,030 vertices against 851</a:t>
            </a:r>
          </a:p>
        </p:txBody>
      </p:sp>
      <p:pic>
        <p:nvPicPr>
          <p:cNvPr id="4" name="Picture 3" descr="B1_roi_defin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1371600"/>
            <a:ext cx="9326880" cy="41970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4846320"/>
            <a:ext cx="108200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Calibri"/>
              </a:rPr>
              <a:t>Affective salience in orange, deliberative control in blue. Resolved once into vertex index sets and cached, so all 400 items are averaged over identical regions.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897880"/>
            <a:ext cx="1082009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Regions defined on HCP MMP1.0 (Glasser et al., 2016); surfaces are fsaverage5.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instrument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The observable is a signed difference, defined for every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2009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800" b="1">
                <a:solidFill>
                  <a:srgbClr val="1F4E79"/>
                </a:solidFill>
                <a:latin typeface="Calibri"/>
              </a:rPr>
              <a:t>NAA</a:t>
            </a:r>
            <a:r>
              <a:rPr sz="3800" b="1" baseline="-25000">
                <a:solidFill>
                  <a:srgbClr val="1F4E79"/>
                </a:solidFill>
                <a:latin typeface="Calibri"/>
              </a:rPr>
              <a:t>signed</a:t>
            </a:r>
            <a:r>
              <a:rPr sz="3800" b="1">
                <a:solidFill>
                  <a:srgbClr val="1F4E79"/>
                </a:solidFill>
                <a:latin typeface="Calibri"/>
              </a:rPr>
              <a:t>  =  A</a:t>
            </a:r>
            <a:r>
              <a:rPr sz="3800" b="1" baseline="-25000">
                <a:solidFill>
                  <a:srgbClr val="1F4E79"/>
                </a:solidFill>
                <a:latin typeface="Calibri"/>
              </a:rPr>
              <a:t>affective</a:t>
            </a:r>
            <a:r>
              <a:rPr sz="3800" b="1">
                <a:solidFill>
                  <a:srgbClr val="1F4E79"/>
                </a:solidFill>
                <a:latin typeface="Calibri"/>
              </a:rPr>
              <a:t>  −  A</a:t>
            </a:r>
            <a:r>
              <a:rPr sz="3800" b="1" baseline="-25000">
                <a:solidFill>
                  <a:srgbClr val="1F4E79"/>
                </a:solidFill>
                <a:latin typeface="Calibri"/>
              </a:rPr>
              <a:t>deliberative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2834640" y="3429000"/>
            <a:ext cx="649224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62472" y="3291840"/>
            <a:ext cx="19050" cy="2560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15000" y="356616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297180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C0392B"/>
                </a:solidFill>
                <a:latin typeface="Calibri"/>
              </a:rPr>
              <a:t>reasoning leads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97180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1" i="0">
                <a:solidFill>
                  <a:srgbClr val="1F4E79"/>
                </a:solidFill>
                <a:latin typeface="Calibri"/>
              </a:rPr>
              <a:t>emotion leads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434840"/>
            <a:ext cx="108200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Calibri"/>
              </a:rPr>
              <a:t>A cortical proxy</a:t>
            </a:r>
            <a:r>
              <a:rPr sz="2000" b="0">
                <a:solidFill>
                  <a:srgbClr val="1A1A1A"/>
                </a:solidFill>
                <a:latin typeface="Calibri"/>
              </a:rPr>
              <a:t>: it rates content, never a person, and is never called the amygdala.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instrument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gnifying-g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Inspecting the checkpoint changed what the project could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34290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E75B6"/>
                </a:solidFill>
                <a:latin typeface="Calibri"/>
              </a:rPr>
              <a:t>01</a:t>
            </a:r>
          </a:p>
          <a:p>
            <a:pPr>
              <a:spcAft>
                <a:spcPts val="800"/>
              </a:spcAft>
            </a:pPr>
            <a:r>
              <a:rPr sz="1900" b="1" i="0">
                <a:solidFill>
                  <a:srgbClr val="1A1A1A"/>
                </a:solidFill>
                <a:latin typeface="Calibri"/>
              </a:rPr>
              <a:t>Cortical only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Output is (T, 20484). There is no subcortical head.</a:t>
            </a:r>
          </a:p>
          <a:p>
            <a:pPr>
              <a:spcAft>
                <a:spcPts val="0"/>
              </a:spcAft>
            </a:pPr>
            <a:r>
              <a:rPr sz="1600" b="0" i="0">
                <a:solidFill>
                  <a:srgbClr val="C0392B"/>
                </a:solidFill>
                <a:latin typeface="Calibri"/>
              </a:rPr>
              <a:t>The amygdala is not predicted, so the proposal's central equation cannot be computed.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26280" y="1508760"/>
            <a:ext cx="34290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E75B6"/>
                </a:solidFill>
                <a:latin typeface="Calibri"/>
              </a:rPr>
              <a:t>02</a:t>
            </a:r>
          </a:p>
          <a:p>
            <a:pPr>
              <a:spcAft>
                <a:spcPts val="800"/>
              </a:spcAft>
            </a:pPr>
            <a:r>
              <a:rPr sz="1900" b="1" i="0">
                <a:solidFill>
                  <a:srgbClr val="1A1A1A"/>
                </a:solidFill>
                <a:latin typeface="Calibri"/>
              </a:rPr>
              <a:t>Averaged over subjects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The loader forces average_subjects.</a:t>
            </a:r>
          </a:p>
          <a:p>
            <a:pPr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It predicts a typical viewer. Whether that carries signal is the third paper's question.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1508760"/>
            <a:ext cx="34290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E75B6"/>
                </a:solidFill>
                <a:latin typeface="Calibri"/>
              </a:rPr>
              <a:t>03</a:t>
            </a:r>
          </a:p>
          <a:p>
            <a:pPr>
              <a:spcAft>
                <a:spcPts val="800"/>
              </a:spcAft>
            </a:pPr>
            <a:r>
              <a:rPr sz="1900" b="1" i="0">
                <a:solidFill>
                  <a:srgbClr val="1A1A1A"/>
                </a:solidFill>
                <a:latin typeface="Calibri"/>
              </a:rPr>
              <a:t>Standardised output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Region means sit near zero, so a ratio sign-flips or explodes.</a:t>
            </a:r>
          </a:p>
          <a:p>
            <a:pPr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Undefined for 69 of 400 items. Replaced by the difference.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89204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595959"/>
                </a:solidFill>
                <a:latin typeface="Calibri"/>
              </a:rPr>
              <a:t>Each was found by testing the artifact, and each is stated in the abstract rather than the limitations.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instrument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rt-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48840"/>
            <a:ext cx="658368" cy="65836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2971800"/>
            <a:ext cx="8229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2E75B6"/>
                </a:solidFill>
                <a:latin typeface="Calibri"/>
              </a:rPr>
              <a:t>03</a:t>
            </a:r>
          </a:p>
          <a:p>
            <a:pPr>
              <a:spcAft>
                <a:spcPts val="800"/>
              </a:spcAft>
            </a:pPr>
            <a:r>
              <a:rPr sz="3000" b="1" i="0">
                <a:solidFill>
                  <a:srgbClr val="1F4E79"/>
                </a:solidFill>
                <a:latin typeface="Calibri"/>
              </a:rPr>
              <a:t>The measurement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Calibri"/>
              </a:rPr>
              <a:t>400 articles, scanned twice.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o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The corpus is length-matched and was powered before the scan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463040"/>
            <a:ext cx="260604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100</a:t>
            </a:r>
          </a:p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fear-activating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ISOT-fake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84448" y="1463040"/>
            <a:ext cx="260604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100</a:t>
            </a:r>
          </a:p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high outrage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SemEval-2019 T4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3096" y="1463040"/>
            <a:ext cx="260604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100</a:t>
            </a:r>
          </a:p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reward hook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Webis-Clickbait-17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81744" y="1463040"/>
            <a:ext cx="260604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100</a:t>
            </a:r>
          </a:p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neutral informational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PubMed + ISOT-true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46120"/>
            <a:ext cx="10820095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1A1A1A"/>
                </a:solidFill>
                <a:latin typeface="Calibri"/>
              </a:rPr>
              <a:t>Length-matched. </a:t>
            </a:r>
            <a:r>
              <a:rPr sz="2000" b="0">
                <a:solidFill>
                  <a:srgbClr val="1A1A1A"/>
                </a:solidFill>
                <a:latin typeface="Calibri"/>
              </a:rPr>
              <a:t>Mean word counts 167.4, 163.5, 163.7, 162.2; standard deviations near 11.</a:t>
            </a:r>
          </a:p>
          <a:p>
            <a:pPr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Calibri"/>
              </a:rPr>
              <a:t>Powered first. </a:t>
            </a:r>
            <a:r>
              <a:rPr sz="2000" b="0">
                <a:solidFill>
                  <a:srgbClr val="1A1A1A"/>
                </a:solidFill>
                <a:latin typeface="Calibri"/>
              </a:rPr>
              <a:t>Smallest detectable η² = 0.0268, smallest detectable AUC = 0.5916, both fixed before a single item was scanned.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897880"/>
            <a:ext cx="1082009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Corpora: Ahmed et al. (ISOT, 2017); Kiesel et al. (SemEval-2019 Task 4); Potthast et al. (Webis-Clickbait-17); PubMed open abstracts.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measurement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48840"/>
            <a:ext cx="103628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THE FOUR CATEGORIES SEPARATE 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97480"/>
            <a:ext cx="1036289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200" b="1" i="0">
                <a:solidFill>
                  <a:srgbClr val="1F4E79"/>
                </a:solidFill>
                <a:latin typeface="Calibri"/>
              </a:rPr>
              <a:t>η² = 0.1068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160520"/>
            <a:ext cx="85340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 = 15.779    p = 1.03 × 10⁻⁹    n = 400</a:t>
            </a:r>
          </a:p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against a design powered to detect 0.0268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rt-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Categories shift against each other, but the distributions overlap</a:t>
            </a:r>
          </a:p>
        </p:txBody>
      </p:sp>
      <p:pic>
        <p:nvPicPr>
          <p:cNvPr id="4" name="Picture 3" descr="fig_viol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" y="1325880"/>
            <a:ext cx="6613071" cy="3703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12064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Calibri"/>
              </a:rPr>
              <a:t>Every category mean is negative: the deliberative network leads throughout, and the categories differ in how far below zero they sit.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rt-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Fear-activating content carries the effect; outrage moves both networks equally</a:t>
            </a:r>
          </a:p>
        </p:txBody>
      </p:sp>
      <p:sp>
        <p:nvSpPr>
          <p:cNvPr id="4" name="Rectangle 3"/>
          <p:cNvSpPr/>
          <p:nvPr/>
        </p:nvSpPr>
        <p:spPr>
          <a:xfrm>
            <a:off x="3246120" y="1600200"/>
            <a:ext cx="19050" cy="23317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28216"/>
            <a:ext cx="2423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fear-activating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264408" y="1783080"/>
            <a:ext cx="6010351" cy="32918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02775" y="1728216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F4E79"/>
                </a:solidFill>
                <a:latin typeface="Calibri"/>
              </a:rPr>
              <a:t>d = 0.939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05456"/>
            <a:ext cx="2423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reward hook</a:t>
            </a:r>
          </a:p>
        </p:txBody>
      </p:sp>
      <p:sp>
        <p:nvSpPr>
          <p:cNvPr id="9" name="Rectangle 8"/>
          <p:cNvSpPr/>
          <p:nvPr/>
        </p:nvSpPr>
        <p:spPr>
          <a:xfrm>
            <a:off x="3264408" y="2560320"/>
            <a:ext cx="2041855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34279" y="2505456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E75B6"/>
                </a:solidFill>
                <a:latin typeface="Calibri"/>
              </a:rPr>
              <a:t>d = 0.319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82696"/>
            <a:ext cx="2423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high outrage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64408" y="3337560"/>
            <a:ext cx="192024" cy="32918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448" y="3282696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C0392B"/>
                </a:solidFill>
                <a:latin typeface="Calibri"/>
              </a:rPr>
              <a:t>d = 0.030   </a:t>
            </a:r>
            <a:r>
              <a:rPr sz="1700" b="0">
                <a:solidFill>
                  <a:srgbClr val="595959"/>
                </a:solidFill>
                <a:latin typeface="Calibri"/>
              </a:rPr>
              <a:t>p = 0.832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389120"/>
            <a:ext cx="108200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Cohen's d against the neutral baseline.</a:t>
            </a:r>
          </a:p>
          <a:p>
            <a:pPr>
              <a:spcAft>
                <a:spcPts val="0"/>
              </a:spcAft>
            </a:pPr>
            <a:r>
              <a:rPr sz="1900" b="1" i="0">
                <a:solidFill>
                  <a:srgbClr val="C0392B"/>
                </a:solidFill>
                <a:latin typeface="Calibri"/>
              </a:rPr>
              <a:t>Outrage is the category the proposal expected to separate most. Taken apart, it raises both networks: affective d = +0.507, deliberative d = +0.491. Fear raises one only.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measurement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Category cannot be told apart from source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14173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Calibri"/>
              </a:rPr>
              <a:t>CATEGORY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35240" y="14173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Calibri"/>
              </a:rPr>
              <a:t>SOURCE DATASET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17320" y="1874519"/>
            <a:ext cx="31089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fear-activating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09160" y="2084831"/>
            <a:ext cx="2743200" cy="128016"/>
          </a:xfrm>
          <a:prstGeom prst="rightArrow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35240" y="1874519"/>
            <a:ext cx="31089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ISOT-fake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17320" y="2587752"/>
            <a:ext cx="31089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high outrage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709160" y="2798064"/>
            <a:ext cx="2743200" cy="128016"/>
          </a:xfrm>
          <a:prstGeom prst="rightArrow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35240" y="2587752"/>
            <a:ext cx="31089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SemEval-2019 Task 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17320" y="3300984"/>
            <a:ext cx="31089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reward hook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709160" y="3511296"/>
            <a:ext cx="2743200" cy="128016"/>
          </a:xfrm>
          <a:prstGeom prst="rightArrow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35240" y="3300984"/>
            <a:ext cx="31089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Webis-Clickbait-17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17320" y="4014215"/>
            <a:ext cx="31089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neutral informational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709160" y="4224528"/>
            <a:ext cx="2743200" cy="128016"/>
          </a:xfrm>
          <a:prstGeom prst="rightArrow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35240" y="4014215"/>
            <a:ext cx="31089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PubMed + ISOT-true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892040"/>
            <a:ext cx="108200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One source per category, so the separation is between corpora and cannot be attributed to framing. Length is controlled; provenance is not.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measurement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A bag of words beats the index on the label, so the index is not a classifier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120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400" b="1" i="0">
                <a:solidFill>
                  <a:srgbClr val="595959"/>
                </a:solidFill>
                <a:latin typeface="Calibri"/>
              </a:rPr>
              <a:t>0.6274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06040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Calibri"/>
              </a:rPr>
              <a:t>AUC, the index, nothing fitted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554480"/>
            <a:ext cx="50292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400" b="1" i="0">
                <a:solidFill>
                  <a:srgbClr val="C0392B"/>
                </a:solidFill>
                <a:latin typeface="Calibri"/>
              </a:rPr>
              <a:t>0.9758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606040"/>
            <a:ext cx="5029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Calibri"/>
              </a:rPr>
              <a:t>AUC, TF-IDF + logistic, 5-fold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46120"/>
            <a:ext cx="1082009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Same 400 rows, same pre-scan label. Sentiment (VADER) does not clear chance, 0.5392. On the 150 ISOT items, the one source carrying both classes, TF-IDF still reaches 0.9724. A probe on the same words recovers the source dataset at 66.25% against 25% chance, so much of the lexical win is provenance.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84632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C0392B"/>
                </a:solidFill>
                <a:latin typeface="Calibri"/>
              </a:rPr>
              <a:t>The index is carried forward as the field observable the physics needs, not as a detector.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measurement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rrows-clockw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Group-level claims hold at this precision; per-item claims do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120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400" b="1" i="0">
                <a:solidFill>
                  <a:srgbClr val="1F4E79"/>
                </a:solidFill>
                <a:latin typeface="Calibri"/>
              </a:rPr>
              <a:t>0.8725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06040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Calibri"/>
              </a:rPr>
              <a:t>ICC between two GPU sessions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154680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The separation replicates: 0.0888 on the second session against 0.1068 on the first. Both clear the detectable floor.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554480"/>
            <a:ext cx="50292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400" b="1" i="0">
                <a:solidFill>
                  <a:srgbClr val="C0392B"/>
                </a:solidFill>
                <a:latin typeface="Calibri"/>
              </a:rPr>
              <a:t>12.8%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606040"/>
            <a:ext cx="5029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Calibri"/>
              </a:rPr>
              <a:t>of items reverse direction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3154680"/>
            <a:ext cx="50292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51 of 400 items flip sign between sessions, so no verdict on one article appears anywhere in the analysis, the figures or the public site.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892040"/>
            <a:ext cx="108200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595959"/>
                </a:solidFill>
                <a:latin typeface="Calibri"/>
              </a:rPr>
              <a:t>Additive noise at the measured session error predicts 55.3 reversals, 95% [44, 67]; 51 are observed. Reversing items sit near zero and spread evenly across categories.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The encoder returns a full cortical map, not a summary statistic</a:t>
            </a:r>
          </a:p>
        </p:txBody>
      </p:sp>
      <p:pic>
        <p:nvPicPr>
          <p:cNvPr id="4" name="Picture 3" descr="B3_per_vertex_fear_activating-00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1325880"/>
            <a:ext cx="7863840" cy="35387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4892040"/>
            <a:ext cx="108200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Calibri"/>
              </a:rPr>
              <a:t>One fear-activating item at all 20,484 vertices, painted above the map's 70th percentile. Nothing is smoothed, interpolated or simulated.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t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48840"/>
            <a:ext cx="658368" cy="65836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2971800"/>
            <a:ext cx="8229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2E75B6"/>
                </a:solidFill>
                <a:latin typeface="Calibri"/>
              </a:rPr>
              <a:t>04</a:t>
            </a:r>
          </a:p>
          <a:p>
            <a:pPr>
              <a:spcAft>
                <a:spcPts val="800"/>
              </a:spcAft>
            </a:pPr>
            <a:r>
              <a:rPr sz="3000" b="1" i="0">
                <a:solidFill>
                  <a:srgbClr val="1F4E79"/>
                </a:solidFill>
                <a:latin typeface="Calibri"/>
              </a:rPr>
              <a:t>The physics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Calibri"/>
              </a:rPr>
              <a:t>What a measured field is worth.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t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Media enters the mean-field model as a field on the measured observable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200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Calibri"/>
              </a:rPr>
              <a:t>Each person holds an opinion ±1, is pulled toward their neighbours with strength J, and is pushed by media with field h: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240280"/>
            <a:ext cx="108200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m  =  tanh( βJ m + h ),        h  =  α 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97180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Calibri"/>
              </a:rPr>
              <a:t>where X is the measured observable and α the unknown coupling. Expanding artanh(m) ≈ m + m³/3: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57600"/>
            <a:ext cx="108200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1F4E79"/>
                </a:solidFill>
                <a:latin typeface="Calibri"/>
              </a:rPr>
              <a:t>F(m) = a m² + b m⁴ − h m,        a = (1 − βJ)/2,        b = 1/12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108200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595959"/>
                </a:solidFill>
                <a:latin typeface="Calibri"/>
              </a:rPr>
              <a:t>Coefficients derived from the self-consistency condition. </a:t>
            </a:r>
            <a:r>
              <a:rPr sz="1700" b="0">
                <a:solidFill>
                  <a:srgbClr val="595959"/>
                </a:solidFill>
                <a:latin typeface="Calibri"/>
              </a:rPr>
              <a:t>The proposal carried a = 1 − βJ, b = (βJ)³/3, which do not follow from it. The solver reproduces the exact exponents 1/2, 1 and 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physics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x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The corpus does not identify the coupling, so no value is quoted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603504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1">
                <a:solidFill>
                  <a:srgbClr val="1A1A1A"/>
                </a:solidFill>
                <a:latin typeface="Calibri"/>
              </a:rPr>
              <a:t>What was tried. </a:t>
            </a:r>
            <a:r>
              <a:rPr sz="2000" b="0">
                <a:solidFill>
                  <a:srgbClr val="1A1A1A"/>
                </a:solidFill>
                <a:latin typeface="Calibri"/>
              </a:rPr>
              <a:t>Regress the outcome on the measured index and read off α.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1A1A1A"/>
                </a:solidFill>
                <a:latin typeface="Calibri"/>
              </a:rPr>
              <a:t>What happened. </a:t>
            </a:r>
            <a:r>
              <a:rPr sz="2000" b="0">
                <a:solidFill>
                  <a:srgbClr val="1A1A1A"/>
                </a:solidFill>
                <a:latin typeface="Calibri"/>
              </a:rPr>
              <a:t>The fit performs worse than the sample mean out of sample, and the estimate scales inversely with a coupling βJ that no measurement here fixes.</a:t>
            </a:r>
          </a:p>
          <a:p>
            <a:pPr>
              <a:spcAft>
                <a:spcPts val="0"/>
              </a:spcAft>
            </a:pPr>
            <a:r>
              <a:rPr sz="2000" b="1" i="0">
                <a:solidFill>
                  <a:srgbClr val="C0392B"/>
                </a:solidFill>
                <a:latin typeface="Calibri"/>
              </a:rPr>
              <a:t>So no value of α-hat appears anywhere — not in a table, a caption, or “for illustration”.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691640"/>
            <a:ext cx="416052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595959"/>
                </a:solidFill>
                <a:latin typeface="Calibri"/>
              </a:rPr>
              <a:t>Reporting an unidentified coupling as though it were measured would be the failure here. Declining to quote it is not.</a:t>
            </a:r>
          </a:p>
          <a:p>
            <a:pPr>
              <a:spcAft>
                <a:spcPts val="0"/>
              </a:spcAft>
            </a:pPr>
            <a:r>
              <a:rPr sz="1700" b="0" i="0">
                <a:solidFill>
                  <a:srgbClr val="595959"/>
                </a:solidFill>
                <a:latin typeface="Calibri"/>
              </a:rPr>
              <a:t>What replaces it is a statement that does not need the fit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physics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Any content observable must clear a bound to drive a transition</a:t>
            </a:r>
          </a:p>
        </p:txBody>
      </p:sp>
      <p:pic>
        <p:nvPicPr>
          <p:cNvPr id="4" name="Picture 3" descr="F6_alpha_requi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463040"/>
            <a:ext cx="461819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720840" y="1737360"/>
            <a:ext cx="4800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>
                <a:solidFill>
                  <a:srgbClr val="1F4E79"/>
                </a:solidFill>
                <a:latin typeface="Calibri"/>
              </a:rPr>
              <a:t>α  ≥  h</a:t>
            </a:r>
            <a:r>
              <a:rPr sz="3200" b="1" baseline="-25000">
                <a:solidFill>
                  <a:srgbClr val="1F4E79"/>
                </a:solidFill>
                <a:latin typeface="Calibri"/>
              </a:rPr>
              <a:t>c</a:t>
            </a:r>
            <a:r>
              <a:rPr sz="3200" b="1">
                <a:solidFill>
                  <a:srgbClr val="1F4E79"/>
                </a:solidFill>
                <a:latin typeface="Calibri"/>
              </a:rPr>
              <a:t>(βJ) / ΔX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20840" y="2697480"/>
            <a:ext cx="48006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Rather than fitting α and hoping it clears zero, this states what α would have to be for the mechanism to work at all — for any candidate observable, before a corpus exists.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892040"/>
            <a:ext cx="108200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Measured spread ΔX = 0.1241  ⇒  α ≥ 0.169 at βJ = 1.10,   1.655 at 1.50,   </a:t>
            </a:r>
            <a:r>
              <a:rPr sz="1800" b="1">
                <a:solidFill>
                  <a:srgbClr val="1F4E79"/>
                </a:solidFill>
                <a:latin typeface="Calibri"/>
              </a:rPr>
              <a:t>4.294 at 2.00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physics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g-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48840"/>
            <a:ext cx="658368" cy="65836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2971800"/>
            <a:ext cx="8229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2E75B6"/>
                </a:solidFill>
                <a:latin typeface="Calibri"/>
              </a:rPr>
              <a:t>05</a:t>
            </a:r>
          </a:p>
          <a:p>
            <a:pPr>
              <a:spcAft>
                <a:spcPts val="800"/>
              </a:spcAft>
            </a:pPr>
            <a:r>
              <a:rPr sz="3000" b="1" i="0">
                <a:solidFill>
                  <a:srgbClr val="1F4E79"/>
                </a:solidFill>
                <a:latin typeface="Calibri"/>
              </a:rPr>
              <a:t>Standing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Calibri"/>
              </a:rPr>
              <a:t>What holds, and what is still open.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Whether the encoder tracks real cortex is measurable, and one pass remains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200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Calibri"/>
              </a:rPr>
              <a:t>A commercial lab reports the released checkpoint, in the averaged configuration this project runs, is anti-correlated with real cortex. Four subjects, one stimulus, not independently replicated.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00200" y="2514600"/>
            <a:ext cx="41148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1F4E79"/>
                </a:solidFill>
                <a:latin typeface="Calibri"/>
              </a:rPr>
              <a:t>0.1517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measured noise ceiling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CI [0.1484, 0.1551], 4 subjects, 1000 parcels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514600"/>
            <a:ext cx="41148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C0392B"/>
                </a:solidFill>
                <a:latin typeface="Calibri"/>
              </a:rPr>
              <a:t>0.2247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withdrawn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an episode picked by position, and a guard that could not fire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60520"/>
            <a:ext cx="108200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Calibri"/>
              </a:rPr>
              <a:t>Replaying the old code path reproduces the wrong number exactly, which proved the cause. Both defects were silent: nothing crashed.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897880"/>
            <a:ext cx="1082009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Schaefer et al. (2018); Algonauts 2025 (CC0); audit self-published, Sapient (2026).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Standing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eck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Four claims the work supports, and four it does not</a:t>
            </a:r>
          </a:p>
        </p:txBody>
      </p:sp>
      <p:pic>
        <p:nvPicPr>
          <p:cNvPr id="4" name="Picture 3" descr="check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4712" y="1371600"/>
            <a:ext cx="4572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F4E79"/>
                </a:solidFill>
                <a:latin typeface="Calibri"/>
              </a:rPr>
              <a:t>SUPPORTED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512064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A content observable that can be measured, with its reliability stated.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That it separates these four corpora at 0.1068, power attached.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A bound any candidate observable must satisfy, usable before data exists.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A measured noise ceiling for the checkpoint on public data.</a:t>
            </a:r>
          </a:p>
        </p:txBody>
      </p:sp>
      <p:pic>
        <p:nvPicPr>
          <p:cNvPr id="7" name="Picture 6" descr="x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4173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31152" y="1371600"/>
            <a:ext cx="4572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C0392B"/>
                </a:solidFill>
                <a:latin typeface="Calibri"/>
              </a:rPr>
              <a:t>NOT SUPPORTED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50292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That the index detects manipulation. Source is confounded; TF-IDF scores 0.9758.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Anything about the amygdala. The checkpoint does not predict it.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Any value of the coupling α. The corpus does not identify it.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Any verdict on one article. 12.8% reverse between sessions.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Standing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o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The work yields a dissertation and three papers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2606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2E75B6"/>
                </a:solidFill>
                <a:latin typeface="Calibri"/>
              </a:rPr>
              <a:t>78 pp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1A1A1A"/>
                </a:solidFill>
                <a:latin typeface="Calibri"/>
              </a:rPr>
              <a:t>Dissertation</a:t>
            </a:r>
          </a:p>
          <a:p>
            <a:pPr>
              <a:spcAft>
                <a:spcPts val="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Complete, review answered.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84448" y="1554480"/>
            <a:ext cx="2606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2E75B6"/>
                </a:solidFill>
                <a:latin typeface="Calibri"/>
              </a:rPr>
              <a:t>12 pp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1A1A1A"/>
                </a:solidFill>
                <a:latin typeface="Calibri"/>
              </a:rPr>
              <a:t>Paper 1</a:t>
            </a:r>
          </a:p>
          <a:p>
            <a:pPr>
              <a:spcAft>
                <a:spcPts val="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The bound and the screening criterion. Physica A. Independent of the scan.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83096" y="1554480"/>
            <a:ext cx="2606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2E75B6"/>
                </a:solidFill>
                <a:latin typeface="Calibri"/>
              </a:rPr>
              <a:t>15 pp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1A1A1A"/>
                </a:solidFill>
                <a:latin typeface="Calibri"/>
              </a:rPr>
              <a:t>Paper 2</a:t>
            </a:r>
          </a:p>
          <a:p>
            <a:pPr>
              <a:spcAft>
                <a:spcPts val="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The instrument, the corpus, the field bound. Physica 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81744" y="1554480"/>
            <a:ext cx="2606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2E75B6"/>
                </a:solidFill>
                <a:latin typeface="Calibri"/>
              </a:rPr>
              <a:t>6 pp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1A1A1A"/>
                </a:solidFill>
                <a:latin typeface="Calibri"/>
              </a:rPr>
              <a:t>Paper 3</a:t>
            </a:r>
          </a:p>
          <a:p>
            <a:pPr>
              <a:spcAft>
                <a:spcPts val="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The measured ceiling and the replication. Imaging Neuroscience. One computation on its final run.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526280"/>
            <a:ext cx="10820095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754880"/>
            <a:ext cx="108200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Calibri"/>
              </a:rPr>
              <a:t>Every number in all four comes from a re-runnable script. Nothing is transcribed by hand.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Standing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g-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82009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2E75B6"/>
                </a:solidFill>
                <a:latin typeface="Calibri"/>
              </a:rPr>
              <a:t>1.  </a:t>
            </a:r>
            <a:r>
              <a:rPr sz="1800" b="1">
                <a:solidFill>
                  <a:srgbClr val="1A1A1A"/>
                </a:solidFill>
                <a:latin typeface="Calibri"/>
              </a:rPr>
              <a:t>A field observable can be measured from content. </a:t>
            </a:r>
            <a:r>
              <a:rPr sz="1800" b="0">
                <a:solidFill>
                  <a:srgbClr val="1A1A1A"/>
                </a:solidFill>
                <a:latin typeface="Calibri"/>
              </a:rPr>
              <a:t>The instrument runs, the corpus is complete, and reliability is measured rather than assumed: ICC = 0.8725.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2E75B6"/>
                </a:solidFill>
                <a:latin typeface="Calibri"/>
              </a:rPr>
              <a:t>2.  </a:t>
            </a:r>
            <a:r>
              <a:rPr sz="1800" b="1">
                <a:solidFill>
                  <a:srgbClr val="1A1A1A"/>
                </a:solidFill>
                <a:latin typeface="Calibri"/>
              </a:rPr>
              <a:t>It separates four corpora at 0.1068, and the separation is confounded with source. </a:t>
            </a:r>
            <a:r>
              <a:rPr sz="1800" b="0">
                <a:solidFill>
                  <a:srgbClr val="1A1A1A"/>
                </a:solidFill>
                <a:latin typeface="Calibri"/>
              </a:rPr>
              <a:t>Both halves are reported, the confound first.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2E75B6"/>
                </a:solidFill>
                <a:latin typeface="Calibri"/>
              </a:rPr>
              <a:t>3.  </a:t>
            </a:r>
            <a:r>
              <a:rPr sz="1800" b="1">
                <a:solidFill>
                  <a:srgbClr val="1A1A1A"/>
                </a:solidFill>
                <a:latin typeface="Calibri"/>
              </a:rPr>
              <a:t>The coupling is unidentified, so the thesis reports a bound instead. </a:t>
            </a:r>
            <a:r>
              <a:rPr sz="1800" b="0">
                <a:solidFill>
                  <a:srgbClr val="1A1A1A"/>
                </a:solidFill>
                <a:latin typeface="Calibri"/>
              </a:rPr>
              <a:t>With ΔX = 0.1241, α ≥ 4.294 at βJ = 2 — a constraint on any future proposal of this mechanism.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2E75B6"/>
                </a:solidFill>
                <a:latin typeface="Calibri"/>
              </a:rPr>
              <a:t>4.  </a:t>
            </a:r>
            <a:r>
              <a:rPr sz="1800" b="1">
                <a:solidFill>
                  <a:srgbClr val="1A1A1A"/>
                </a:solidFill>
                <a:latin typeface="Calibri"/>
              </a:rPr>
              <a:t>The instrument's own validity is now a measurable question. </a:t>
            </a:r>
            <a:r>
              <a:rPr sz="1800" b="0">
                <a:solidFill>
                  <a:srgbClr val="1A1A1A"/>
                </a:solidFill>
                <a:latin typeface="Calibri"/>
              </a:rPr>
              <a:t>The noise ceiling is 0.1517; one prediction pass remains.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5349240"/>
            <a:ext cx="10820095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532120"/>
            <a:ext cx="108200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Brian Mwai  ·  1050555  ·  monarch-4iy.pages.dev  ·  github.com/brn-mwai/monarch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Standing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10896"/>
            <a:ext cx="108200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20095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Ahmed, H., Traore, I., Saad, S. (2017). Detection of online fake news using n-gram analysis and machine learning. ISDDC.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d'Ascoli, S. et al. (2025). TRIBE: a trimodal brain encoder for whole-brain fMRI response prediction. Meta FAIR. arXiv:2507.22229.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Glasser, M. F. et al. (2016). A multi-modal parcellation of human cerebral cortex. Nature 536, 171–178.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Kiesel, J. et al. (2019). SemEval-2019 Task 4: hyperpartisan news detection. SemEval.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Korbel, J., Dahdoul, R., Thurner, S. (2026). Critical campaign spending in a double-random field Ising model of elections. Phys. Rev. Lett. 136, 127402.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Potthast, M. et al. (2018). The Webis clickbait challenge 2017. ECIR.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Schaefer, A. et al. (2018). Local-global parcellation of the human cerebral cortex. Cereb. Cortex 28, 3095–3114.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The Algonauts Project 2025 Challenge. arXiv:2501.00504.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