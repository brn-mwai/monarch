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share</c:v>
                </c:pt>
              </c:strCache>
            </c:strRef>
          </c:tx>
          <c:dPt>
            <c:idx val="0"/>
            <c:spPr>
              <a:solidFill>
                <a:srgbClr val="7CC4FF"/>
              </a:solidFill>
              <a:ln>
                <a:noFill/>
              </a:ln>
            </c:spPr>
          </c:dPt>
          <c:dPt>
            <c:idx val="1"/>
            <c:spPr>
              <a:solidFill>
                <a:srgbClr val="2A3D5E"/>
              </a:solidFill>
              <a:ln>
                <a:noFill/>
              </a:ln>
            </c:spPr>
          </c:dPt>
          <c:cat>
            <c:strRef>
              <c:f>Sheet1!$A$2:$A$3</c:f>
              <c:strCache>
                <c:ptCount val="2"/>
                <c:pt idx="0">
                  <c:v>group</c:v>
                </c:pt>
                <c:pt idx="1">
                  <c:v>rest</c:v>
                </c:pt>
              </c:strCache>
            </c:strRef>
          </c:cat>
          <c:val>
            <c:numRef>
              <c:f>Sheet1!$B$2:$B$3</c:f>
              <c:numCache>
                <c:formatCode>General</c:formatCode>
                <c:ptCount val="2"/>
                <c:pt idx="0">
                  <c:v>0.1068</c:v>
                </c:pt>
                <c:pt idx="1">
                  <c:v>0.8932</c:v>
                </c:pt>
              </c:numCache>
            </c:numRef>
          </c:val>
        </c:ser>
        <c:dLbls>
          <c:showLegendKey val="0"/>
          <c:showVal val="0"/>
          <c:showCatName val="0"/>
          <c:showSerName val="0"/>
          <c:showPercent val="0"/>
          <c:showBubbleSize val="0"/>
          <c:showLeaderLines val="1"/>
        </c:dLbls>
        <c:firstSliceAng val="0"/>
        <c:holeSize val="70"/>
      </c:doughnutChart>
    </c:plotArea>
    <c:plotVisOnly val="1"/>
    <c:dispBlanksAs val="gap"/>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plotArea>
      <c:scatterChart>
        <c:scatterStyle val="smoothMarker"/>
        <c:varyColors val="0"/>
        <c:ser>
          <c:idx val="0"/>
          <c:order val="0"/>
          <c:tx>
            <c:strRef>
              <c:f>Sheet1!$B$1</c:f>
              <c:strCache>
                <c:ptCount val="1"/>
                <c:pt idx="0">
                  <c:v>alpha required</c:v>
                </c:pt>
              </c:strCache>
            </c:strRef>
          </c:tx>
          <c:spPr>
            <a:ln w="38100">
              <a:solidFill>
                <a:srgbClr val="7CC4FF"/>
              </a:solidFill>
            </a:ln>
          </c:spPr>
          <c:marker>
            <c:symbol val="none"/>
          </c:marker>
          <c:xVal>
            <c:numRef>
              <c:f>Sheet1!$A$2:$A$32</c:f>
              <c:numCache>
                <c:formatCode>General</c:formatCode>
                <c:ptCount val="31"/>
                <c:pt idx="0">
                  <c:v>1.0</c:v>
                </c:pt>
                <c:pt idx="1">
                  <c:v>1.05</c:v>
                </c:pt>
                <c:pt idx="2">
                  <c:v>1.1</c:v>
                </c:pt>
                <c:pt idx="3">
                  <c:v>1.15</c:v>
                </c:pt>
                <c:pt idx="4">
                  <c:v>1.2</c:v>
                </c:pt>
                <c:pt idx="5">
                  <c:v>1.25</c:v>
                </c:pt>
                <c:pt idx="6">
                  <c:v>1.3</c:v>
                </c:pt>
                <c:pt idx="7">
                  <c:v>1.35</c:v>
                </c:pt>
                <c:pt idx="8">
                  <c:v>1.4</c:v>
                </c:pt>
                <c:pt idx="9">
                  <c:v>1.45</c:v>
                </c:pt>
                <c:pt idx="10">
                  <c:v>1.5</c:v>
                </c:pt>
                <c:pt idx="11">
                  <c:v>1.55</c:v>
                </c:pt>
                <c:pt idx="12">
                  <c:v>1.6</c:v>
                </c:pt>
                <c:pt idx="13">
                  <c:v>1.65</c:v>
                </c:pt>
                <c:pt idx="14">
                  <c:v>1.7</c:v>
                </c:pt>
                <c:pt idx="15">
                  <c:v>1.75</c:v>
                </c:pt>
                <c:pt idx="16">
                  <c:v>1.8</c:v>
                </c:pt>
                <c:pt idx="17">
                  <c:v>1.85</c:v>
                </c:pt>
                <c:pt idx="18">
                  <c:v>1.9</c:v>
                </c:pt>
                <c:pt idx="19">
                  <c:v>1.95</c:v>
                </c:pt>
                <c:pt idx="20">
                  <c:v>2.0</c:v>
                </c:pt>
                <c:pt idx="21">
                  <c:v>2.05</c:v>
                </c:pt>
                <c:pt idx="22">
                  <c:v>2.1</c:v>
                </c:pt>
                <c:pt idx="23">
                  <c:v>2.15</c:v>
                </c:pt>
                <c:pt idx="24">
                  <c:v>2.2</c:v>
                </c:pt>
                <c:pt idx="25">
                  <c:v>2.25</c:v>
                </c:pt>
                <c:pt idx="26">
                  <c:v>2.3</c:v>
                </c:pt>
                <c:pt idx="27">
                  <c:v>2.35</c:v>
                </c:pt>
                <c:pt idx="28">
                  <c:v>2.4</c:v>
                </c:pt>
                <c:pt idx="29">
                  <c:v>2.45</c:v>
                </c:pt>
                <c:pt idx="30">
                  <c:v>2.5</c:v>
                </c:pt>
              </c:numCache>
            </c:numRef>
          </c:xVal>
          <c:yVal>
            <c:numRef>
              <c:f>Sheet1!$B$2:$B$32</c:f>
              <c:numCache>
                <c:formatCode>General</c:formatCode>
                <c:ptCount val="31"/>
                <c:pt idx="0">
                  <c:v>0.0</c:v>
                </c:pt>
                <c:pt idx="1">
                  <c:v>0.05918338078351689</c:v>
                </c:pt>
                <c:pt idx="2">
                  <c:v>0.1650380916853392</c:v>
                </c:pt>
                <c:pt idx="3">
                  <c:v>0.2990712144836746</c:v>
                </c:pt>
                <c:pt idx="4">
                  <c:v>0.4543963361108232</c:v>
                </c:pt>
                <c:pt idx="5">
                  <c:v>0.6269554336449967</c:v>
                </c:pt>
                <c:pt idx="6">
                  <c:v>0.81398744833397</c:v>
                </c:pt>
                <c:pt idx="7">
                  <c:v>1.0134638432693657</c:v>
                </c:pt>
                <c:pt idx="8">
                  <c:v>1.2238204017587742</c:v>
                </c:pt>
                <c:pt idx="9">
                  <c:v>1.4438098933923091</c:v>
                </c:pt>
                <c:pt idx="10">
                  <c:v>1.6724130162935578</c:v>
                </c:pt>
                <c:pt idx="11">
                  <c:v>1.9087807696186925</c:v>
                </c:pt>
                <c:pt idx="12">
                  <c:v>2.1521952101367066</c:v>
                </c:pt>
                <c:pt idx="13">
                  <c:v>2.402041645767016</c:v>
                </c:pt>
                <c:pt idx="14">
                  <c:v>2.657788297596657</c:v>
                </c:pt>
                <c:pt idx="15">
                  <c:v>2.9189710334629715</c:v>
                </c:pt>
                <c:pt idx="16">
                  <c:v>3.1851816582026613</c:v>
                </c:pt>
                <c:pt idx="17">
                  <c:v>3.456058766387657</c:v>
                </c:pt>
                <c:pt idx="18">
                  <c:v>3.7312804840616804</c:v>
                </c:pt>
                <c:pt idx="19">
                  <c:v>4.0105586307024526</c:v>
                </c:pt>
                <c:pt idx="20">
                  <c:v>4.2936339673936565</c:v>
                </c:pt>
                <c:pt idx="21">
                  <c:v>4.580272288302001</c:v>
                </c:pt>
                <c:pt idx="22">
                  <c:v>4.870261175613264</c:v>
                </c:pt>
                <c:pt idx="23">
                  <c:v>5.163407282634284</c:v>
                </c:pt>
                <c:pt idx="24">
                  <c:v>5.45953404182952</c:v>
                </c:pt>
                <c:pt idx="25">
                  <c:v>5.758479718014789</c:v>
                </c:pt>
                <c:pt idx="26">
                  <c:v>6.060095744343501</c:v>
                </c:pt>
                <c:pt idx="27">
                  <c:v>6.364245291821802</c:v>
                </c:pt>
                <c:pt idx="28">
                  <c:v>6.670802033066661</c:v>
                </c:pt>
                <c:pt idx="29">
                  <c:v>6.979649068704033</c:v>
                </c:pt>
                <c:pt idx="30">
                  <c:v>7.290677990781043</c:v>
                </c:pt>
              </c:numCache>
            </c:numRef>
          </c:yVal>
          <c:smooth val="0"/>
        </c:ser>
        <c:ser>
          <c:idx val="1"/>
          <c:order val="1"/>
          <c:tx>
            <c:strRef>
              <c:f>Sheet1!$B$34</c:f>
              <c:strCache>
                <c:ptCount val="1"/>
                <c:pt idx="0">
                  <c:v>our case</c:v>
                </c:pt>
              </c:strCache>
            </c:strRef>
          </c:tx>
          <c:spPr>
            <a:ln>
              <a:noFill/>
            </a:ln>
          </c:spPr>
          <c:marker>
            <c:symbol val="circle"/>
            <c:size val="12"/>
            <c:spPr>
              <a:solidFill>
                <a:srgbClr val="FF7A59"/>
              </a:solidFill>
              <a:ln>
                <a:noFill/>
              </a:ln>
            </c:spPr>
          </c:marker>
          <c:xVal>
            <c:numRef>
              <c:f>Sheet1!$A$35:$A$35</c:f>
              <c:numCache>
                <c:formatCode>General</c:formatCode>
                <c:ptCount val="1"/>
                <c:pt idx="0">
                  <c:v>2.0</c:v>
                </c:pt>
              </c:numCache>
            </c:numRef>
          </c:xVal>
          <c:yVal>
            <c:numRef>
              <c:f>Sheet1!$B$35:$B$35</c:f>
              <c:numCache>
                <c:formatCode>General</c:formatCode>
                <c:ptCount val="1"/>
                <c:pt idx="0">
                  <c:v>4.29363396739365</c:v>
                </c:pt>
              </c:numCache>
            </c:numRef>
          </c:yVal>
          <c:smooth val="0"/>
        </c:ser>
        <c:axId val="-2128940872"/>
        <c:axId val="-2129643912"/>
      </c:scatterChart>
      <c:valAx>
        <c:axId val="-2128940872"/>
        <c:scaling>
          <c:orientation val="minMax"/>
          <c:max val="2.5"/>
          <c:min val="1.0"/>
        </c:scaling>
        <c:delete val="0"/>
        <c:axPos val="b"/>
        <c:numFmt formatCode="General" sourceLinked="1"/>
        <c:majorTickMark val="out"/>
        <c:minorTickMark val="none"/>
        <c:tickLblPos val="nextTo"/>
        <c:spPr>
          <a:ln>
            <a:solidFill>
              <a:srgbClr val="2A3D5E"/>
            </a:solidFill>
          </a:ln>
        </c:spPr>
        <c:crossAx val="-2129643912"/>
        <c:crosses val="autoZero"/>
        <c:crossBetween val="midCat"/>
        <c:majorUnit val="0.5"/>
      </c:valAx>
      <c:valAx>
        <c:axId val="-2129643912"/>
        <c:scaling>
          <c:orientation val="minMax"/>
          <c:max val="8.0"/>
          <c:min val="0.0"/>
        </c:scaling>
        <c:delete val="0"/>
        <c:axPos val="l"/>
        <c:majorGridlines>
          <c:spPr>
            <a:ln>
              <a:solidFill>
                <a:srgbClr val="2A3D5E"/>
              </a:solidFill>
            </a:ln>
          </c:spPr>
        </c:majorGridlines>
        <c:numFmt formatCode="General" sourceLinked="1"/>
        <c:majorTickMark val="out"/>
        <c:minorTickMark val="none"/>
        <c:tickLblPos val="nextTo"/>
        <c:spPr>
          <a:ln>
            <a:solidFill>
              <a:srgbClr val="2A3D5E"/>
            </a:solidFill>
          </a:ln>
        </c:spPr>
        <c:crossAx val="-2128940872"/>
        <c:crosses val="autoZero"/>
        <c:crossBetween val="midCat"/>
        <c:majorUnit val="2.0"/>
      </c:valAx>
    </c:plotArea>
    <c:plotVisOnly val="1"/>
    <c:dispBlanksAs val="gap"/>
    <c:showDLblsOverMax val="0"/>
  </c:chart>
  <c:txPr>
    <a:bodyPr/>
    <a:lstStyle/>
    <a:p>
      <a:pPr>
        <a:defRPr sz="1200">
          <a:solidFill>
            <a:srgbClr val="9AABC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Media's push on opinion is always guessed. This work measures a candidate for it and turns its unknown strength into a minimum any claim must meet.</a:t>
            </a:r>
          </a:p>
          <a:p/>
          <a:p>
            <a:r>
              <a:t>SCRIPT (about 1 min)</a:t>
            </a:r>
          </a:p>
          <a:p>
            <a:r>
              <a:t>Good morning, Dr. Songa, and thank you for the time. I'll go through what I set out to do, how I did it, what I found, what the work cannot claim, where it can go next, and the three papers. About fifteen minutes, and I'll end with what I need from you.</a:t>
            </a:r>
          </a:p>
          <a:p/>
          <a:p>
            <a:r>
              <a:t>NUMBERS TO SAY</a:t>
            </a:r>
          </a:p>
          <a:p>
            <a:r>
              <a:t>- About 15 minutes</a:t>
            </a:r>
          </a:p>
          <a:p>
            <a:r>
              <a:t>- End with the four requests</a:t>
            </a:r>
          </a:p>
          <a:p/>
          <a:p>
            <a:r>
              <a:t>DEFINITIONS (if asked)</a:t>
            </a:r>
          </a:p>
          <a:p>
            <a:r>
              <a:t>- Sociophysics: using the tools of statistical physics to model how groups of people behave.</a:t>
            </a:r>
          </a:p>
          <a:p/>
          <a:p>
            <a:r>
              <a:t>IF ASKED "SO WHAT?"</a:t>
            </a:r>
          </a:p>
          <a:p>
            <a:r>
              <a:t>Opinion models treat media as a push, but everyone guesses how big it is. I built a way to measure a candidate for that push from the content itself. It picks up real, repeatable differences between kinds of articles, though it is tangled with where they came from, so I don't claim it detects manipulation. But even without knowing the exact strength, the measured spread gives a floor: media would need a coupling of at least 4.29 to flip a strongly connected group. That turns a guessed number into a testable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In the opinion model, the external field (media's push) is an input nobody measures. That gap is the whole project.</a:t>
            </a:r>
          </a:p>
          <a:p/>
          <a:p>
            <a:r>
              <a:t>SCRIPT (about 1 min)</a:t>
            </a:r>
          </a:p>
          <a:p>
            <a:r>
              <a:t>This is the Ising model, the maths of magnets lining up, used here for opinions. Each person is like a spin, pointing for or against. The magnetisation, m, not mass, is the group's average opinion, from minus one to plus one. The coupling, J, is how strongly people copy those around them. Beta, the inverse temperature, is how firmly they follow that pull rather than act at random. The external field, h, is media's push on everyone. Every study picks h by hand. My question: can we measure it from the content itself?</a:t>
            </a:r>
          </a:p>
          <a:p/>
          <a:p>
            <a:r>
              <a:t>NUMBERS TO SAY</a:t>
            </a:r>
          </a:p>
          <a:p>
            <a:r>
              <a:t>- m = magnetisation (not mass) = average opinion, -1 to +1</a:t>
            </a:r>
          </a:p>
          <a:p>
            <a:r>
              <a:t>- J = coupling = pull toward neighbours</a:t>
            </a:r>
          </a:p>
          <a:p>
            <a:r>
              <a:t>- beta = inverse temperature = how firmly people follow the pull</a:t>
            </a:r>
          </a:p>
          <a:p>
            <a:r>
              <a:t>- h = external field = media's push on everyone</a:t>
            </a:r>
          </a:p>
          <a:p/>
          <a:p>
            <a:r>
              <a:t>DEFINITIONS (if asked)</a:t>
            </a:r>
          </a:p>
          <a:p>
            <a:r>
              <a:t>- Ising model: a model of magnets where each spin points up or down and prefers to match its neighbours; used here for two-sided opinions.</a:t>
            </a:r>
          </a:p>
          <a:p>
            <a:r>
              <a:t>- Mean field: each person feels the average of the whole group, not particular neighbours; it makes the maths solvable.</a:t>
            </a:r>
          </a:p>
          <a:p>
            <a:r>
              <a:t>- Spin: the up or down state of one atom; here, one person's opinion.</a:t>
            </a:r>
          </a:p>
          <a:p>
            <a:r>
              <a:t>- tanh: a smooth S-shaped function that keeps the magnetisation between -1 and +1.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Testing the tools changed the plan. Every change is documented and approved, not hidden.</a:t>
            </a:r>
          </a:p>
          <a:p/>
          <a:p>
            <a:r>
              <a:t>SCRIPT (about 1.5 min)</a:t>
            </a:r>
          </a:p>
          <a:p>
            <a:r>
              <a:t>Before the results, here is what changed from the proposal once we tested the tools. Five things. We planned to measure the amygdala, but the model only sees the brain's surface. The ratio score broke, so we used a difference. Outrage didn't stand out; fear did. We couldn't measure the coupling constant alpha, which turns our score into a push, so we derived its minimum instead. And the score turned out to be a measurement, not a detector. All of this is in the amendment you approved.</a:t>
            </a:r>
          </a:p>
          <a:p/>
          <a:p>
            <a:r>
              <a:t>NUMBERS TO SAY</a:t>
            </a:r>
          </a:p>
          <a:p>
            <a:r>
              <a:t>- 5 changes, all in the approved amendment</a:t>
            </a:r>
          </a:p>
          <a:p>
            <a:r>
              <a:t>- Ratio broke on 69 of 400</a:t>
            </a:r>
          </a:p>
          <a:p/>
          <a:p>
            <a:r>
              <a:t>DEFINITIONS (if asked)</a:t>
            </a:r>
          </a:p>
          <a:p>
            <a:r>
              <a:t>- Amygdala: a small structure deep in the brain linked to fear and threat.</a:t>
            </a:r>
          </a:p>
          <a:p>
            <a:r>
              <a:t>- Cortex: the brain's outer surface layer, where the model makes its predictions.</a:t>
            </a:r>
          </a:p>
          <a:p>
            <a:r>
              <a:t>- Amendment: the approved change to the proposal's scope and title.</a:t>
            </a:r>
          </a:p>
          <a:p/>
          <a:p>
            <a:r>
              <a:t>IF ASKED</a:t>
            </a:r>
          </a:p>
          <a:p>
            <a:r>
              <a:t>Q: Why no amygdala?</a:t>
            </a:r>
          </a:p>
          <a:p>
            <a:r>
              <a:t>A: The released model only predicts the brain's surface. The amygdala is deep inside, so we make no claim about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Every value is a prediction from a published brain model, not a scan of anyone, and anyone can check it on the live tool.</a:t>
            </a:r>
          </a:p>
          <a:p/>
          <a:p>
            <a:r>
              <a:t>SCRIPT (about 1.5 min)</a:t>
            </a:r>
          </a:p>
          <a:p>
            <a:r>
              <a:t>This is how one article becomes one number. The article is read aloud by a text-to-speech voice, because the brain model was built on people listening. A timing tool marks when each word is said. Then TRIBE v2, a model from Meta's research lab trained on brain scans of adult volunteers watching TV, predicts activity at 20,484 points on the brain's surface. A standard brain map picks 1,030 points linked to emotion and 851 linked to reasoning. The score, which we call the observable X, is the emotion average minus the reasoning average. Nobody was scanned: every value is a prediction. On the left is the live tool, at monarch-4iy.pages.dev: this article scores plus 0.054, the highest in the corpus. Anyone can open it and check any article.</a:t>
            </a:r>
          </a:p>
          <a:p/>
          <a:p>
            <a:r>
              <a:t>NUMBERS TO SAY</a:t>
            </a:r>
          </a:p>
          <a:p>
            <a:r>
              <a:t>- 20,484 points on the brain surface</a:t>
            </a:r>
          </a:p>
          <a:p>
            <a:r>
              <a:t>- 1,030 emotion, 851 reasoning</a:t>
            </a:r>
          </a:p>
          <a:p>
            <a:r>
              <a:t>- About 70 seconds per article on a free Kaggle GPU</a:t>
            </a:r>
          </a:p>
          <a:p/>
          <a:p>
            <a:r>
              <a:t>DEFINITIONS (if asked)</a:t>
            </a:r>
          </a:p>
          <a:p>
            <a:r>
              <a:t>- TRIBE v2: Meta's published brain encoder: it predicts fMRI responses from text, audio and video.</a:t>
            </a:r>
          </a:p>
          <a:p>
            <a:r>
              <a:t>- fMRI: brain scanning that tracks blood flow as a stand-in for activity.</a:t>
            </a:r>
          </a:p>
          <a:p>
            <a:r>
              <a:t>- Encoder: a model that maps a stimulus to a predicted brain response.</a:t>
            </a:r>
          </a:p>
          <a:p>
            <a:r>
              <a:t>- Forced alignment: finding the exact time each word is spoken in the audio.</a:t>
            </a:r>
          </a:p>
          <a:p>
            <a:r>
              <a:t>- fsaverage5: a standard brain surface with 20,484 points, 10,242 per hemisphere.</a:t>
            </a:r>
          </a:p>
          <a:p>
            <a:r>
              <a:t>- HCP atlas (Glasser 2016): a standard map dividing the cortex into named areas.</a:t>
            </a:r>
          </a:p>
          <a:p>
            <a:r>
              <a:t>- Cortical proxy: a measure built from predicted surface activity; it rates content, not people.</a:t>
            </a:r>
          </a:p>
          <a:p/>
          <a:p>
            <a:r>
              <a:t>IF ASKED</a:t>
            </a:r>
          </a:p>
          <a:p>
            <a:r>
              <a:t>Q: Was anyone scanned? Is it reading minds?</a:t>
            </a:r>
          </a:p>
          <a:p>
            <a:r>
              <a:t>A: No. Nobody was scanned. The scores are predictions of a typical adult brain. The tool rates content, not people.</a:t>
            </a:r>
          </a:p>
          <a:p/>
          <a:p>
            <a:r>
              <a:t>Q: Why read the articles aloud?</a:t>
            </a:r>
          </a:p>
          <a:p>
            <a:r>
              <a:t>A: The model was trained on people watching and listening, so it expects speech with word timings.</a:t>
            </a:r>
          </a:p>
          <a:p/>
          <a:p>
            <a:r>
              <a:t>Q: Is it okay to use Meta's model?</a:t>
            </a:r>
          </a:p>
          <a:p>
            <a:r>
              <a:t>A: Yes, for research. It's under a non-commercial licence, cited throughout, and this project makes no money from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The article set was designed fairly before scanning: equal groups, equal length, big enough to see a small effect.</a:t>
            </a:r>
          </a:p>
          <a:p/>
          <a:p>
            <a:r>
              <a:t>SCRIPT (about 1 min)</a:t>
            </a:r>
          </a:p>
          <a:p>
            <a:r>
              <a:t>We scored 400 articles from four public collections, 100 each: fear-driven fake news, outrage-style partisan news, clickbait, and neutral writing. Lengths are matched so no group wins by being longer. We worked out before scanning that 400 could detect an effect as small as 0.027, and we scanned every article twice.</a:t>
            </a:r>
          </a:p>
          <a:p/>
          <a:p>
            <a:r>
              <a:t>NUMBERS TO SAY</a:t>
            </a:r>
          </a:p>
          <a:p>
            <a:r>
              <a:t>- 4 groups x 100</a:t>
            </a:r>
          </a:p>
          <a:p>
            <a:r>
              <a:t>- About 164 words each</a:t>
            </a:r>
          </a:p>
          <a:p>
            <a:r>
              <a:t>- Smallest detectable 0.027</a:t>
            </a:r>
          </a:p>
          <a:p>
            <a:r>
              <a:t>- Scanned twice</a:t>
            </a:r>
          </a:p>
          <a:p/>
          <a:p>
            <a:r>
              <a:t>DEFINITIONS (if asked)</a:t>
            </a:r>
          </a:p>
          <a:p>
            <a:r>
              <a:t>- Corpus: the collection of articles studied.</a:t>
            </a:r>
          </a:p>
          <a:p>
            <a:r>
              <a:t>- Power analysis: working out in advance how big a study must be to detect an effect of a given size.</a:t>
            </a:r>
          </a:p>
          <a:p>
            <a:r>
              <a:t>- Length-matched: groups have the same average word count, so length can't explain a difference.</a:t>
            </a:r>
          </a:p>
          <a:p/>
          <a:p>
            <a:r>
              <a:t>IF ASKED</a:t>
            </a:r>
          </a:p>
          <a:p>
            <a:r>
              <a:t>Q: Why only 400 articles?</a:t>
            </a:r>
          </a:p>
          <a:p>
            <a:r>
              <a:t>A: We calculated before scanning that 400 detects an effect of 0.027. Each article costs about a minute of GPU time, and we ran them twice.</a:t>
            </a:r>
          </a:p>
          <a:p/>
          <a:p>
            <a:r>
              <a:t>Q: Why didn't you use Kenyan media?</a:t>
            </a:r>
          </a:p>
          <a:p>
            <a:r>
              <a:t>A: Cost. Each article takes about 70 seconds of GPU time and every article was scanned twice, so the 400 articles alone used about 16 GPU hours of the free Kaggle allowance, which ran out mid-project and had to reset on 15 August. A Kenyan set would also have to be collected and labelled by hand, because no ready-made labelled set of manipulative and neutral Kenyan articles was available to us, and hand-labelling needs paid annotators. With no funding, public labelled collections were the only affordable choice. The Kenyan case, coverage of the 2024 Finance Bill, is the first extension once there is funding.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The groups really differ, but group explains only about 11%. Most variation is between individual articles.</a:t>
            </a:r>
          </a:p>
          <a:p/>
          <a:p>
            <a:r>
              <a:t>SCRIPT (about 1 min)</a:t>
            </a:r>
          </a:p>
          <a:p>
            <a:r>
              <a:t>First result: the groups really differ. The measure is eta squared, the share of the variation explained by group: 0.107. The ring shows what that means: about 11 percent of the differences between articles come from which group they are in, and the rest is article to article. The chance this is luck is about one in a billion, and the second run gave 0.089, both far above the 0.027 we could detect.</a:t>
            </a:r>
          </a:p>
          <a:p/>
          <a:p>
            <a:r>
              <a:t>NUMBERS TO SAY</a:t>
            </a:r>
          </a:p>
          <a:p>
            <a:r>
              <a:t>- 0.107 = 11% explained by group</a:t>
            </a:r>
          </a:p>
          <a:p>
            <a:r>
              <a:t>- p about 1 in a billion</a:t>
            </a:r>
          </a:p>
          <a:p>
            <a:r>
              <a:t>- Second run 0.089</a:t>
            </a:r>
          </a:p>
          <a:p/>
          <a:p>
            <a:r>
              <a:t>DEFINITIONS (if asked)</a:t>
            </a:r>
          </a:p>
          <a:p>
            <a:r>
              <a:t>- η² (eta squared): share of the total variation explained by group membership.</a:t>
            </a:r>
          </a:p>
          <a:p>
            <a:r>
              <a:t>- F-statistic: the ANOVA test value comparing variation between groups with variation within groups; ours is 15.779.</a:t>
            </a:r>
          </a:p>
          <a:p>
            <a:r>
              <a:t>- p-value: the chance of a result at least this strong if there were truly no difference.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Fear drives the effect. Outrage stays flat because it lifts emotion and reasoning together, not because it has no effect.</a:t>
            </a:r>
          </a:p>
          <a:p/>
          <a:p>
            <a:r>
              <a:t>SCRIPT (about 1 min)</a:t>
            </a:r>
          </a:p>
          <a:p>
            <a:r>
              <a:t>Which group drives it? Fear. Measured against neutral articles, fear sits 0.94 spreads away, which is large. Clickbait is small and outrage is almost zero. The two small charts show why. Fear raises the emotion areas and leaves reasoning flat, so the gap, our score, moves. Outrage raises both by the same amount, so the gap stays flat. The proposal expected outrage to be strongest, and this is why it isn't.</a:t>
            </a:r>
          </a:p>
          <a:p/>
          <a:p>
            <a:r>
              <a:t>NUMBERS TO SAY</a:t>
            </a:r>
          </a:p>
          <a:p>
            <a:r>
              <a:t>- Fear 0.94 large, clickbait 0.32 small, outrage 0.03</a:t>
            </a:r>
          </a:p>
          <a:p>
            <a:r>
              <a:t>- Outrage: emotion +0.51, reasoning +0.49</a:t>
            </a:r>
          </a:p>
          <a:p>
            <a:r>
              <a:t>- Fear: emotion +0.61, reasoning -0.10</a:t>
            </a:r>
          </a:p>
          <a:p/>
          <a:p>
            <a:r>
              <a:t>DEFINITIONS (if asked)</a:t>
            </a:r>
          </a:p>
          <a:p>
            <a:r>
              <a:t>- Cohen's d: the difference between two group averages divided by the typical spread; 0.2 small, 0.5 medium, 0.8 large.</a:t>
            </a:r>
          </a:p>
          <a:p>
            <a:r>
              <a:t>- Welch's t-test: a test comparing two group averages that does not assume equal spreads.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The score is reliable for groups, not for single articles.</a:t>
            </a:r>
          </a:p>
          <a:p/>
          <a:p>
            <a:r>
              <a:t>SCRIPT (about 1 min)</a:t>
            </a:r>
          </a:p>
          <a:p>
            <a:r>
              <a:t>Can we trust the score? Running all 400 articles twice gives agreement of 0.87, where 1 means identical. That is high. 51 articles flipped sign between runs, but noise alone predicts about 55, and they all sit near zero where a tiny wobble tips them. So group averages are trustworthy, and we never judge a single article.</a:t>
            </a:r>
          </a:p>
          <a:p/>
          <a:p>
            <a:r>
              <a:t>NUMBERS TO SAY</a:t>
            </a:r>
          </a:p>
          <a:p>
            <a:r>
              <a:t>- Agreement 0.87 (1 = identical)</a:t>
            </a:r>
          </a:p>
          <a:p>
            <a:r>
              <a:t>- 51 flipped, 55 expected (44 to 67)</a:t>
            </a:r>
          </a:p>
          <a:p/>
          <a:p>
            <a:r>
              <a:t>DEFINITIONS (if asked)</a:t>
            </a:r>
          </a:p>
          <a:p>
            <a:r>
              <a:t>- ICC (intraclass correlation): agreement between repeated measurements of the same items; 1 is identical.</a:t>
            </a:r>
          </a:p>
          <a:p>
            <a:r>
              <a:t>- Test-retest: measuring the same thing twice to check it repeats.</a:t>
            </a:r>
          </a:p>
          <a:p>
            <a:r>
              <a:t>- Sign reversal: a score that is positive on one run and negative on the other.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The score is tangled with source, so it is a physics measurement, not a manipulation detector.</a:t>
            </a:r>
          </a:p>
          <a:p/>
          <a:p>
            <a:r>
              <a:t>SCRIPT (about 1.5 min)</a:t>
            </a:r>
          </a:p>
          <a:p>
            <a:r>
              <a:t>The most important honest check. Plain word counting sorts manipulative from neutral articles far better than our score: 0.98 against 0.63, where 0.5 is a coin toss. That's because each group came from a different source, and the words give the source away. So we cannot say the difference comes from writing style alone. Our score is a measurement for the physics, not a manipulation detector.</a:t>
            </a:r>
          </a:p>
          <a:p/>
          <a:p>
            <a:r>
              <a:t>NUMBERS TO SAY</a:t>
            </a:r>
          </a:p>
          <a:p>
            <a:r>
              <a:t>- Word counting 0.98, ours 0.63, sentiment tool 0.54</a:t>
            </a:r>
          </a:p>
          <a:p>
            <a:r>
              <a:t>- Words guess the source 66% vs 25% chance</a:t>
            </a:r>
          </a:p>
          <a:p/>
          <a:p>
            <a:r>
              <a:t>DEFINITIONS (if asked)</a:t>
            </a:r>
          </a:p>
          <a:p>
            <a:r>
              <a:t>- AUC: the chance that a randomly chosen manipulative article scores higher than a randomly chosen neutral one; 0.5 is a coin toss.</a:t>
            </a:r>
          </a:p>
          <a:p>
            <a:r>
              <a:t>- TF-IDF: a word-counting method that weights words by how distinctive they are.</a:t>
            </a:r>
          </a:p>
          <a:p>
            <a:r>
              <a:t>- Logistic regression: a simple model that turns word counts into a probability.</a:t>
            </a:r>
          </a:p>
          <a:p>
            <a:r>
              <a:t>- VADER: a standard sentiment tool that scores text as positive or negative.</a:t>
            </a:r>
          </a:p>
          <a:p>
            <a:r>
              <a:t>- Confound: a second factor, here the source, that moves with the one you study, so the two can't be separated.</a:t>
            </a:r>
          </a:p>
          <a:p/>
          <a:p>
            <a:r>
              <a:t>IF ASKED</a:t>
            </a:r>
          </a:p>
          <a:p>
            <a:r>
              <a:t>Q: If word counting does better, why not use that?</a:t>
            </a:r>
          </a:p>
          <a:p>
            <a:r>
              <a:t>A: Word counting mostly learns the source. Our score is meant to be the push h in the opinion model. The comparison is there to be honest.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The brain model matches real brains weakly but positively: a usable, not perfect, instrument.</a:t>
            </a:r>
          </a:p>
          <a:p/>
          <a:p>
            <a:r>
              <a:t>SCRIPT (about 1 min)</a:t>
            </a:r>
          </a:p>
          <a:p>
            <a:r>
              <a:t>Does the brain model match real brains? A company audit claimed it was the opposite, so we tested it on public brain scans of people watching Friends. Real people agree with each other at 0.152 over the episode; that's the ceiling. On a two-minute clip, the best possible is 0.096 and the model reaches 0.028, about 30 percent of the way. The p-value, the chance this match is luck, is 0.048. Weak but positive. We also found and fixed three hidden bugs. This is Paper 3.</a:t>
            </a:r>
          </a:p>
          <a:p/>
          <a:p>
            <a:r>
              <a:t>NUMBERS TO SAY</a:t>
            </a:r>
          </a:p>
          <a:p>
            <a:r>
              <a:t>- Ceiling 0.152 (full episode)</a:t>
            </a:r>
          </a:p>
          <a:p>
            <a:r>
              <a:t>- Clip: model 0.028 vs best 0.096</a:t>
            </a:r>
          </a:p>
          <a:p>
            <a:r>
              <a:t>- p = 0.048</a:t>
            </a:r>
          </a:p>
          <a:p>
            <a:r>
              <a:t>- 3 bugs fixed</a:t>
            </a:r>
          </a:p>
          <a:p/>
          <a:p>
            <a:r>
              <a:t>DEFINITIONS (if asked)</a:t>
            </a:r>
          </a:p>
          <a:p>
            <a:r>
              <a:t>- Noise ceiling: how well real brains predict each other; the best any model can do.</a:t>
            </a:r>
          </a:p>
          <a:p>
            <a:r>
              <a:t>- r (Pearson correlation): how closely two signals rise and fall together; 0 none, 1 perfect.</a:t>
            </a:r>
          </a:p>
          <a:p>
            <a:r>
              <a:t>- Algonauts 2025: a public brain-scan challenge using people watching Friends (the CNeuroMod recordings).</a:t>
            </a:r>
          </a:p>
          <a:p>
            <a:r>
              <a:t>- Circular-shift test: shifting one signal in time many times to see how often chance gives a match this good.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Even without measuring alpha, the measured spread sets a floor: alpha at least 4.29 at beta J = 2. The source confound does not break it.</a:t>
            </a:r>
          </a:p>
          <a:p/>
          <a:p>
            <a:r>
              <a:t>SCRIPT (about 1.5 min)</a:t>
            </a:r>
          </a:p>
          <a:p>
            <a:r>
              <a:t>We link our score to the model: the external field equals a coupling constant, alpha, times our score X. We couldn't measure alpha, so we asked how big it must be to flip a majority. The critical field, h c, is the smallest push that does that, and it grows with the reduced coupling, beta J, how strongly people copy each other. Divide it by the spread of our scores, 0.124, and you get this curve. At beta J of 2, alpha must be at least 4.29. A bar to clear, not a claim that media flips opinion.</a:t>
            </a:r>
          </a:p>
          <a:p/>
          <a:p>
            <a:r>
              <a:t>NUMBERS TO SAY</a:t>
            </a:r>
          </a:p>
          <a:p>
            <a:r>
              <a:t>- h = external field = media push = alpha x X</a:t>
            </a:r>
          </a:p>
          <a:p>
            <a:r>
              <a:t>- alpha = coupling constant = push per unit of score</a:t>
            </a:r>
          </a:p>
          <a:p>
            <a:r>
              <a:t>- h_c = critical field = smallest push that flips the majority</a:t>
            </a:r>
          </a:p>
          <a:p>
            <a:r>
              <a:t>- beta J = reduced coupling = how strongly people copy each other</a:t>
            </a:r>
          </a:p>
          <a:p>
            <a:r>
              <a:t>- Delta X = spread of scores = 0.124 (-0.070 to +0.054)</a:t>
            </a:r>
          </a:p>
          <a:p>
            <a:r>
              <a:t>- alpha &gt;= 4.29 at beta J = 2</a:t>
            </a:r>
          </a:p>
          <a:p/>
          <a:p>
            <a:r>
              <a:t>DEFINITIONS (if asked)</a:t>
            </a:r>
          </a:p>
          <a:p>
            <a:r>
              <a:t>- Critical field: the smallest outside field that flips the magnetisation, here the majority opinion.</a:t>
            </a:r>
          </a:p>
          <a:p>
            <a:r>
              <a:t>- Curie temperature: the temperature below which a magnet lines up by itself; for us, reduced coupling above 1.</a:t>
            </a:r>
          </a:p>
          <a:p>
            <a:r>
              <a:t>- Lower bound: a minimum value; the result says alpha can't be smaller than this.</a:t>
            </a:r>
          </a:p>
          <a:p/>
          <a:p>
            <a:r>
              <a:t>IF ASKED "SO WHAT?"</a:t>
            </a:r>
          </a:p>
          <a:p>
            <a:r>
              <a:t>Opinion models treat media as a push, but everyone guesses how big it is. I built a way to measure a candidate for that push from the content itself. It picks up real, repeatable differences between kinds of articles, though it is tangled with where they came from, so I don't claim it detects manipulation. But even without knowing the exact strength, the measured spread gives a floor: media would need a coupling of at least 4.29 to flip a strongly connected group. That turns a guessed number into a testable one.</a:t>
            </a:r>
          </a:p>
          <a:p/>
          <a:p>
            <a:r>
              <a:t>IF ASKED</a:t>
            </a:r>
          </a:p>
          <a:p>
            <a:r>
              <a:t>Q: Why is this physics?</a:t>
            </a:r>
          </a:p>
          <a:p>
            <a:r>
              <a:t>A: The opinion model is statistical physics, the maths of magnets lining up. The contribution is measuring the push and deriving its minimum.</a:t>
            </a:r>
          </a:p>
          <a:p/>
          <a:p>
            <a:r>
              <a:t>Q: What does alpha &gt;= 4.29 mean in practice?</a:t>
            </a:r>
          </a:p>
          <a:p>
            <a:r>
              <a:t>A: It's a bar. Alpha is the coupling constant that turns our score into a push. Any claim that such content flips a strongly connected group must use an alpha of at least 4.29, or the model says it can't happen.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Technically possible, not yet valid for children: the model learned from adult brains.</a:t>
            </a:r>
          </a:p>
          <a:p/>
          <a:p>
            <a:r>
              <a:t>SCRIPT (about 1 min)</a:t>
            </a:r>
          </a:p>
          <a:p>
            <a:r>
              <a:t>At my first presentation I was asked whether this could analyse any content, even what children watch. Technically yes: it takes video and audio, so it could score a cartoon. But the model learned from adult brains, so it can't say how a child reacts. We only tested news text, and one show on its own isn't reliable. For children we'd need child brain data and ethics approval first.</a:t>
            </a:r>
          </a:p>
          <a:p/>
          <a:p>
            <a:r>
              <a:t>NUMBERS TO SAY</a:t>
            </a:r>
          </a:p>
          <a:p>
            <a:r>
              <a:t>- Adult-trained model</a:t>
            </a:r>
          </a:p>
          <a:p>
            <a:r>
              <a:t>- 1 in 8 items flip between runs</a:t>
            </a:r>
          </a:p>
          <a:p/>
          <a:p>
            <a:r>
              <a:t>DEFINITIONS (if asked)</a:t>
            </a:r>
          </a:p>
          <a:p>
            <a:r>
              <a:t>- Ethics approval: formal permission from a review board before research involving people, required for children.</a:t>
            </a:r>
          </a:p>
          <a:p/>
          <a:p>
            <a:r>
              <a:t>IF ASKED</a:t>
            </a:r>
          </a:p>
          <a:p>
            <a:r>
              <a:t>Q: Can this analyse any content, even what children watch?</a:t>
            </a:r>
          </a:p>
          <a:p>
            <a:r>
              <a:t>A: Technically it can score video and audio. But the model learned from adult brains, so it can't say how a child reacts, and we only tested news text. It would need child brain data and ethics approval first.</a:t>
            </a:r>
          </a:p>
          <a:p/>
          <a:p>
            <a:r>
              <a:t>Q: Could a parent or a regulator use it to rate one show?</a:t>
            </a:r>
          </a:p>
          <a:p>
            <a:r>
              <a:t>A: Not yet. About 1 in 8 items flip between runs, so single scores aren't reliable. It is only trustworthy for comparing groups of content.</a:t>
            </a:r>
          </a:p>
          <a:p/>
          <a:p>
            <a:r>
              <a:t>Q: What would it take for children's media?</a:t>
            </a:r>
          </a:p>
          <a:p>
            <a:r>
              <a:t>A: Child brain scans with ethics approval and consent, a children's video test set, and content where source and type are mixed.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Every limit is stated openly and points to a specific next study.</a:t>
            </a:r>
          </a:p>
          <a:p/>
          <a:p>
            <a:r>
              <a:t>SCRIPT (about 0.5 min)</a:t>
            </a:r>
          </a:p>
          <a:p>
            <a:r>
              <a:t>Every limit here points to the next study. Predictions need checking against more real brain data. Group and source need separating with a new set of articles. Deep brain areas need a model that predicts them. Alpha needs real opinion data. And the brain check needs longer clips.</a:t>
            </a:r>
          </a:p>
          <a:p/>
          <a:p>
            <a:r>
              <a:t>NUMBERS TO SAY</a:t>
            </a:r>
          </a:p>
          <a:p>
            <a:r>
              <a:t>- 5 limits, each stated in the thesis</a:t>
            </a:r>
          </a:p>
          <a:p/>
          <a:p>
            <a:r>
              <a:t>DEFINITIONS (if asked)</a:t>
            </a:r>
          </a:p>
          <a:p>
            <a:r>
              <a:t>- Crossed design: every source contributes every type of article, so source and type can be separated.</a:t>
            </a:r>
          </a:p>
          <a:p>
            <a:r>
              <a:t>- Subcortical: structures deep in the brain, below the cortex.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The work opens three paths: publishing, extensions (Kenya, video, children), and postgraduate research.</a:t>
            </a:r>
          </a:p>
          <a:p/>
          <a:p>
            <a:r>
              <a:t>SCRIPT (about 1 min)</a:t>
            </a:r>
          </a:p>
          <a:p>
            <a:r>
              <a:t>Where this can go. First, publishing the three papers, with preprints first. Second, extending the science: the Kenyan case study from the proposal, coverage of the 2024 Finance Bill; video and audio content; measuring alpha against real opinion data; and children's media once the data and ethics allow. Third, opportunities: this is a natural postgraduate topic, it invites collaboration with neuroscience and media researchers, and the tool is already public online.</a:t>
            </a:r>
          </a:p>
          <a:p/>
          <a:p>
            <a:r>
              <a:t>NUMBERS TO SAY</a:t>
            </a:r>
          </a:p>
          <a:p>
            <a:r>
              <a:t>- Kenya 2024 Finance Bill case</a:t>
            </a:r>
          </a:p>
          <a:p>
            <a:r>
              <a:t>- Tool live: monarch-4iy.pages.dev</a:t>
            </a:r>
          </a:p>
          <a:p/>
          <a:p>
            <a:r>
              <a:t>DEFINITIONS (if asked)</a:t>
            </a:r>
          </a:p>
          <a:p>
            <a:r>
              <a:t>- Preprint: a paper shared publicly before peer review, for example on arXiv.</a:t>
            </a:r>
          </a:p>
          <a:p>
            <a:r>
              <a:t>- Physica A: a peer-reviewed journal for statistical physics, including sociophysics.</a:t>
            </a:r>
          </a:p>
          <a:p>
            <a:r>
              <a:t>- Imaging Neuroscience: a peer-reviewed journal for brain imaging methods.</a:t>
            </a:r>
          </a:p>
          <a:p/>
          <a:p>
            <a:r>
              <a:t>IF ASKED</a:t>
            </a:r>
          </a:p>
          <a:p>
            <a:r>
              <a:t>Q: Could someone use it to make content more manipulative?</a:t>
            </a:r>
          </a:p>
          <a:p>
            <a:r>
              <a:t>A: It's a real risk for any content measure. That's why it reports group results only, for research, and the model's licence is non-commercial.</a:t>
            </a:r>
          </a:p>
          <a:p/>
          <a:p>
            <a:r>
              <a:t>Q: Why didn't you use Kenyan media?</a:t>
            </a:r>
          </a:p>
          <a:p>
            <a:r>
              <a:t>A: Cost. Each article takes about 70 seconds of GPU time and every article was scanned twice, so the 400 articles alone used about 16 GPU hours of the free Kaggle allowance, which ran out mid-project and had to reset on 15 August. A Kenyan set would also have to be collected and labelled by hand, because no ready-made labelled set of manipulative and neutral Kenyan articles was available to us, and hand-labelling needs paid annotators. With no funding, public labelled collections were the only affordable choice. The Kenyan case, coverage of the 2024 Finance Bill, is the first extension once there is funding.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Three papers follow. Today I need corrections, the signature and library clearance.</a:t>
            </a:r>
          </a:p>
          <a:p/>
          <a:p>
            <a:r>
              <a:t>SCRIPT (about 1.5 min)</a:t>
            </a:r>
          </a:p>
          <a:p>
            <a:r>
              <a:t>Three papers come out of this. Paper 1 is pure physics, the minimum-push rule. Paper 2 is the measuring tool and the 400 articles, including the word-counting comparison. Paper 3 is the check against real brains. The dissertation comes first. I'm asking for any corrections, your signature on the declaration page, clearance for the library by Thursday, and your view on co-authorship.</a:t>
            </a:r>
          </a:p>
          <a:p/>
          <a:p>
            <a:r>
              <a:t>NUMBERS TO SAY</a:t>
            </a:r>
          </a:p>
          <a:p>
            <a:r>
              <a:t>- Bound copy by Thu 24 Sep</a:t>
            </a:r>
          </a:p>
          <a:p>
            <a:r>
              <a:t>- Clearance by Mon 28 Sep</a:t>
            </a:r>
          </a:p>
          <a:p/>
          <a:p>
            <a:r>
              <a:t>DEFINITIONS (if asked)</a:t>
            </a:r>
          </a:p>
          <a:p>
            <a:r>
              <a:t>- Library deposit: submitting the bound thesis to the university library, needed for graduation clearance.</a:t>
            </a:r>
          </a:p>
          <a:p/>
          <a:p>
            <a:r>
              <a:t>IF ASKED "SO WHAT?"</a:t>
            </a:r>
          </a:p>
          <a:p>
            <a:r>
              <a:t>Opinion models treat media as a push, but everyone guesses how big it is. I built a way to measure a candidate for that push from the content itself. It picks up real, repeatable differences between kinds of articles, though it is tangled with where they came from, so I don't claim it detects manipulation. But even without knowing the exact strength, the measured spread gives a floor: media would need a coupling of at least 4.29 to flip a strongly connected group. That turns a guessed number into a testable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hyperlink" Target="https://monarch-4iy.pages.dev"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chart" Target="../charts/chart1.xml"/><Relationship Id="rId5"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6.png"/><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6.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image" Target="../media/image26.png"/><Relationship Id="rId10" Type="http://schemas.openxmlformats.org/officeDocument/2006/relationships/image" Target="../media/image27.png"/><Relationship Id="rId11"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2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9.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28.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Up Arrow 3"/>
          <p:cNvSpPr/>
          <p:nvPr/>
        </p:nvSpPr>
        <p:spPr>
          <a:xfrm>
            <a:off x="8170939" y="1179941"/>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Up Arrow 4"/>
          <p:cNvSpPr/>
          <p:nvPr/>
        </p:nvSpPr>
        <p:spPr>
          <a:xfrm>
            <a:off x="8646427" y="1179941"/>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own Arrow 5"/>
          <p:cNvSpPr/>
          <p:nvPr/>
        </p:nvSpPr>
        <p:spPr>
          <a:xfrm>
            <a:off x="9121915" y="1179941"/>
            <a:ext cx="135609" cy="218724"/>
          </a:xfrm>
          <a:prstGeom prst="downArrow">
            <a:avLst/>
          </a:prstGeom>
          <a:solidFill>
            <a:srgbClr val="FF7A59">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Up Arrow 6"/>
          <p:cNvSpPr/>
          <p:nvPr/>
        </p:nvSpPr>
        <p:spPr>
          <a:xfrm>
            <a:off x="9597403" y="1179941"/>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Up Arrow 7"/>
          <p:cNvSpPr/>
          <p:nvPr/>
        </p:nvSpPr>
        <p:spPr>
          <a:xfrm>
            <a:off x="10072891" y="1179941"/>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Up Arrow 8"/>
          <p:cNvSpPr/>
          <p:nvPr/>
        </p:nvSpPr>
        <p:spPr>
          <a:xfrm>
            <a:off x="10548379" y="1179941"/>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Up Arrow 9"/>
          <p:cNvSpPr/>
          <p:nvPr/>
        </p:nvSpPr>
        <p:spPr>
          <a:xfrm>
            <a:off x="11023867" y="1179941"/>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Up Arrow 10"/>
          <p:cNvSpPr/>
          <p:nvPr/>
        </p:nvSpPr>
        <p:spPr>
          <a:xfrm>
            <a:off x="8170939" y="1655429"/>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Up Arrow 11"/>
          <p:cNvSpPr/>
          <p:nvPr/>
        </p:nvSpPr>
        <p:spPr>
          <a:xfrm>
            <a:off x="8646427" y="1655429"/>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p Arrow 12"/>
          <p:cNvSpPr/>
          <p:nvPr/>
        </p:nvSpPr>
        <p:spPr>
          <a:xfrm>
            <a:off x="9121915" y="1655429"/>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Up Arrow 13"/>
          <p:cNvSpPr/>
          <p:nvPr/>
        </p:nvSpPr>
        <p:spPr>
          <a:xfrm>
            <a:off x="9597403" y="1655429"/>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Up Arrow 14"/>
          <p:cNvSpPr/>
          <p:nvPr/>
        </p:nvSpPr>
        <p:spPr>
          <a:xfrm>
            <a:off x="10072891" y="1655429"/>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Up Arrow 15"/>
          <p:cNvSpPr/>
          <p:nvPr/>
        </p:nvSpPr>
        <p:spPr>
          <a:xfrm>
            <a:off x="10548379" y="1655429"/>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11023867" y="1655429"/>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Up Arrow 17"/>
          <p:cNvSpPr/>
          <p:nvPr/>
        </p:nvSpPr>
        <p:spPr>
          <a:xfrm>
            <a:off x="8170939" y="2130917"/>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Up Arrow 18"/>
          <p:cNvSpPr/>
          <p:nvPr/>
        </p:nvSpPr>
        <p:spPr>
          <a:xfrm>
            <a:off x="8646427" y="2130917"/>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Up Arrow 19"/>
          <p:cNvSpPr/>
          <p:nvPr/>
        </p:nvSpPr>
        <p:spPr>
          <a:xfrm>
            <a:off x="9121915" y="2130917"/>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wn Arrow 20"/>
          <p:cNvSpPr/>
          <p:nvPr/>
        </p:nvSpPr>
        <p:spPr>
          <a:xfrm>
            <a:off x="9597403" y="2130917"/>
            <a:ext cx="135609" cy="218724"/>
          </a:xfrm>
          <a:prstGeom prst="downArrow">
            <a:avLst/>
          </a:prstGeom>
          <a:solidFill>
            <a:srgbClr val="FF7A59">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Up Arrow 21"/>
          <p:cNvSpPr/>
          <p:nvPr/>
        </p:nvSpPr>
        <p:spPr>
          <a:xfrm>
            <a:off x="10072891" y="2130917"/>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Up Arrow 22"/>
          <p:cNvSpPr/>
          <p:nvPr/>
        </p:nvSpPr>
        <p:spPr>
          <a:xfrm>
            <a:off x="10548379" y="2130917"/>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wn Arrow 23"/>
          <p:cNvSpPr/>
          <p:nvPr/>
        </p:nvSpPr>
        <p:spPr>
          <a:xfrm>
            <a:off x="11023867" y="2130917"/>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Up Arrow 24"/>
          <p:cNvSpPr/>
          <p:nvPr/>
        </p:nvSpPr>
        <p:spPr>
          <a:xfrm>
            <a:off x="8170939" y="2606405"/>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wn Arrow 25"/>
          <p:cNvSpPr/>
          <p:nvPr/>
        </p:nvSpPr>
        <p:spPr>
          <a:xfrm>
            <a:off x="8646427" y="2606405"/>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Up Arrow 26"/>
          <p:cNvSpPr/>
          <p:nvPr/>
        </p:nvSpPr>
        <p:spPr>
          <a:xfrm>
            <a:off x="9121915" y="2606405"/>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Up Arrow 27"/>
          <p:cNvSpPr/>
          <p:nvPr/>
        </p:nvSpPr>
        <p:spPr>
          <a:xfrm>
            <a:off x="9597403" y="2606405"/>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Up Arrow 28"/>
          <p:cNvSpPr/>
          <p:nvPr/>
        </p:nvSpPr>
        <p:spPr>
          <a:xfrm>
            <a:off x="10072891" y="2606405"/>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Up Arrow 29"/>
          <p:cNvSpPr/>
          <p:nvPr/>
        </p:nvSpPr>
        <p:spPr>
          <a:xfrm>
            <a:off x="10548379" y="2606405"/>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own Arrow 30"/>
          <p:cNvSpPr/>
          <p:nvPr/>
        </p:nvSpPr>
        <p:spPr>
          <a:xfrm>
            <a:off x="11023867" y="2606405"/>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Up Arrow 31"/>
          <p:cNvSpPr/>
          <p:nvPr/>
        </p:nvSpPr>
        <p:spPr>
          <a:xfrm>
            <a:off x="8170939" y="3081893"/>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Up Arrow 32"/>
          <p:cNvSpPr/>
          <p:nvPr/>
        </p:nvSpPr>
        <p:spPr>
          <a:xfrm>
            <a:off x="8646427" y="3081893"/>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Up Arrow 33"/>
          <p:cNvSpPr/>
          <p:nvPr/>
        </p:nvSpPr>
        <p:spPr>
          <a:xfrm>
            <a:off x="9121915" y="3081893"/>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Up Arrow 34"/>
          <p:cNvSpPr/>
          <p:nvPr/>
        </p:nvSpPr>
        <p:spPr>
          <a:xfrm>
            <a:off x="9597403" y="3081893"/>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Up Arrow 35"/>
          <p:cNvSpPr/>
          <p:nvPr/>
        </p:nvSpPr>
        <p:spPr>
          <a:xfrm>
            <a:off x="10072891" y="3081893"/>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Up Arrow 36"/>
          <p:cNvSpPr/>
          <p:nvPr/>
        </p:nvSpPr>
        <p:spPr>
          <a:xfrm>
            <a:off x="10548379" y="3081893"/>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Up Arrow 37"/>
          <p:cNvSpPr/>
          <p:nvPr/>
        </p:nvSpPr>
        <p:spPr>
          <a:xfrm>
            <a:off x="11023867" y="3081893"/>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Up Arrow 38"/>
          <p:cNvSpPr/>
          <p:nvPr/>
        </p:nvSpPr>
        <p:spPr>
          <a:xfrm>
            <a:off x="8170939" y="3557381"/>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wn Arrow 39"/>
          <p:cNvSpPr/>
          <p:nvPr/>
        </p:nvSpPr>
        <p:spPr>
          <a:xfrm>
            <a:off x="8646427" y="3557381"/>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Up Arrow 40"/>
          <p:cNvSpPr/>
          <p:nvPr/>
        </p:nvSpPr>
        <p:spPr>
          <a:xfrm>
            <a:off x="9121915" y="3557381"/>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Up Arrow 41"/>
          <p:cNvSpPr/>
          <p:nvPr/>
        </p:nvSpPr>
        <p:spPr>
          <a:xfrm>
            <a:off x="9597403" y="3557381"/>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Up Arrow 42"/>
          <p:cNvSpPr/>
          <p:nvPr/>
        </p:nvSpPr>
        <p:spPr>
          <a:xfrm>
            <a:off x="10072891" y="3557381"/>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Up Arrow 43"/>
          <p:cNvSpPr/>
          <p:nvPr/>
        </p:nvSpPr>
        <p:spPr>
          <a:xfrm>
            <a:off x="10548379" y="3557381"/>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Up Arrow 44"/>
          <p:cNvSpPr/>
          <p:nvPr/>
        </p:nvSpPr>
        <p:spPr>
          <a:xfrm>
            <a:off x="11023867" y="3557381"/>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wn Arrow 45"/>
          <p:cNvSpPr/>
          <p:nvPr/>
        </p:nvSpPr>
        <p:spPr>
          <a:xfrm>
            <a:off x="8170939" y="4032869"/>
            <a:ext cx="135609" cy="218724"/>
          </a:xfrm>
          <a:prstGeom prst="downArrow">
            <a:avLst/>
          </a:prstGeom>
          <a:solidFill>
            <a:srgbClr val="FF7A59">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own Arrow 46"/>
          <p:cNvSpPr/>
          <p:nvPr/>
        </p:nvSpPr>
        <p:spPr>
          <a:xfrm>
            <a:off x="8646427" y="4032869"/>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Up Arrow 47"/>
          <p:cNvSpPr/>
          <p:nvPr/>
        </p:nvSpPr>
        <p:spPr>
          <a:xfrm>
            <a:off x="9121915" y="4032869"/>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Up Arrow 48"/>
          <p:cNvSpPr/>
          <p:nvPr/>
        </p:nvSpPr>
        <p:spPr>
          <a:xfrm>
            <a:off x="9597403" y="4032869"/>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Up Arrow 49"/>
          <p:cNvSpPr/>
          <p:nvPr/>
        </p:nvSpPr>
        <p:spPr>
          <a:xfrm>
            <a:off x="10072891" y="4032869"/>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Down Arrow 50"/>
          <p:cNvSpPr/>
          <p:nvPr/>
        </p:nvSpPr>
        <p:spPr>
          <a:xfrm>
            <a:off x="10548379" y="4032869"/>
            <a:ext cx="135609" cy="218724"/>
          </a:xfrm>
          <a:prstGeom prst="downArrow">
            <a:avLst/>
          </a:prstGeom>
          <a:solidFill>
            <a:srgbClr val="FF7A59">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Down Arrow 51"/>
          <p:cNvSpPr/>
          <p:nvPr/>
        </p:nvSpPr>
        <p:spPr>
          <a:xfrm>
            <a:off x="11023867" y="4032869"/>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Up Arrow 52"/>
          <p:cNvSpPr/>
          <p:nvPr/>
        </p:nvSpPr>
        <p:spPr>
          <a:xfrm>
            <a:off x="8170939" y="4508357"/>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Down Arrow 53"/>
          <p:cNvSpPr/>
          <p:nvPr/>
        </p:nvSpPr>
        <p:spPr>
          <a:xfrm>
            <a:off x="8646427" y="4508357"/>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Up Arrow 54"/>
          <p:cNvSpPr/>
          <p:nvPr/>
        </p:nvSpPr>
        <p:spPr>
          <a:xfrm>
            <a:off x="9121915" y="4508357"/>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Up Arrow 55"/>
          <p:cNvSpPr/>
          <p:nvPr/>
        </p:nvSpPr>
        <p:spPr>
          <a:xfrm>
            <a:off x="9597403" y="4508357"/>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own Arrow 56"/>
          <p:cNvSpPr/>
          <p:nvPr/>
        </p:nvSpPr>
        <p:spPr>
          <a:xfrm>
            <a:off x="10072891" y="4508357"/>
            <a:ext cx="135609" cy="218724"/>
          </a:xfrm>
          <a:prstGeom prst="downArrow">
            <a:avLst/>
          </a:prstGeom>
          <a:solidFill>
            <a:srgbClr val="FF7A59">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Up Arrow 57"/>
          <p:cNvSpPr/>
          <p:nvPr/>
        </p:nvSpPr>
        <p:spPr>
          <a:xfrm>
            <a:off x="10548379" y="4508357"/>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Up Arrow 58"/>
          <p:cNvSpPr/>
          <p:nvPr/>
        </p:nvSpPr>
        <p:spPr>
          <a:xfrm>
            <a:off x="11023867" y="4508357"/>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Up Arrow 59"/>
          <p:cNvSpPr/>
          <p:nvPr/>
        </p:nvSpPr>
        <p:spPr>
          <a:xfrm>
            <a:off x="8170939" y="4983845"/>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Down Arrow 60"/>
          <p:cNvSpPr/>
          <p:nvPr/>
        </p:nvSpPr>
        <p:spPr>
          <a:xfrm>
            <a:off x="8646427" y="4983845"/>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Down Arrow 61"/>
          <p:cNvSpPr/>
          <p:nvPr/>
        </p:nvSpPr>
        <p:spPr>
          <a:xfrm>
            <a:off x="9121915" y="4983845"/>
            <a:ext cx="135609" cy="218724"/>
          </a:xfrm>
          <a:prstGeom prst="downArrow">
            <a:avLst/>
          </a:prstGeom>
          <a:solidFill>
            <a:srgbClr val="FF7A59">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Up Arrow 62"/>
          <p:cNvSpPr/>
          <p:nvPr/>
        </p:nvSpPr>
        <p:spPr>
          <a:xfrm>
            <a:off x="9597403" y="4983845"/>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Down Arrow 63"/>
          <p:cNvSpPr/>
          <p:nvPr/>
        </p:nvSpPr>
        <p:spPr>
          <a:xfrm>
            <a:off x="10072891" y="4983845"/>
            <a:ext cx="135609" cy="218724"/>
          </a:xfrm>
          <a:prstGeom prst="downArrow">
            <a:avLst/>
          </a:prstGeom>
          <a:solidFill>
            <a:srgbClr val="FF7A59">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Up Arrow 64"/>
          <p:cNvSpPr/>
          <p:nvPr/>
        </p:nvSpPr>
        <p:spPr>
          <a:xfrm>
            <a:off x="10548379" y="4983845"/>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Down Arrow 65"/>
          <p:cNvSpPr/>
          <p:nvPr/>
        </p:nvSpPr>
        <p:spPr>
          <a:xfrm>
            <a:off x="11023867" y="4983845"/>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001000" y="5440680"/>
            <a:ext cx="3328416" cy="457200"/>
          </a:xfrm>
          <a:prstGeom prst="rect">
            <a:avLst/>
          </a:prstGeom>
          <a:noFill/>
        </p:spPr>
        <p:txBody>
          <a:bodyPr wrap="square" anchor="t">
            <a:spAutoFit/>
          </a:bodyPr>
          <a:lstStyle/>
          <a:p>
            <a:pPr algn="ctr">
              <a:spcAft>
                <a:spcPts val="0"/>
              </a:spcAft>
            </a:pPr>
            <a:r>
              <a:rPr sz="1300" b="0" i="0">
                <a:solidFill>
                  <a:srgbClr val="9AABC4"/>
                </a:solidFill>
                <a:latin typeface="Calibri"/>
              </a:rPr>
              <a:t>each arrow is one person's opinion</a:t>
            </a:r>
          </a:p>
        </p:txBody>
      </p:sp>
      <p:sp>
        <p:nvSpPr>
          <p:cNvPr id="68" name="TextBox 67"/>
          <p:cNvSpPr txBox="1"/>
          <p:nvPr/>
        </p:nvSpPr>
        <p:spPr>
          <a:xfrm>
            <a:off x="822960" y="1051560"/>
            <a:ext cx="6949440" cy="365760"/>
          </a:xfrm>
          <a:prstGeom prst="rect">
            <a:avLst/>
          </a:prstGeom>
          <a:noFill/>
        </p:spPr>
        <p:txBody>
          <a:bodyPr wrap="square" anchor="t">
            <a:spAutoFit/>
          </a:bodyPr>
          <a:lstStyle/>
          <a:p>
            <a:pPr algn="l">
              <a:spcAft>
                <a:spcPts val="0"/>
              </a:spcAft>
            </a:pPr>
            <a:r>
              <a:rPr sz="1300" b="1" i="0">
                <a:solidFill>
                  <a:srgbClr val="7CC4FF"/>
                </a:solidFill>
                <a:latin typeface="Calibri"/>
              </a:rPr>
              <a:t>B.Sc. PHYSICS   ·   CUEA   ·   SUPERVISOR MEETING</a:t>
            </a:r>
          </a:p>
        </p:txBody>
      </p:sp>
      <p:sp>
        <p:nvSpPr>
          <p:cNvPr id="69" name="TextBox 68"/>
          <p:cNvSpPr txBox="1"/>
          <p:nvPr/>
        </p:nvSpPr>
        <p:spPr>
          <a:xfrm>
            <a:off x="822960" y="1508760"/>
            <a:ext cx="6949440" cy="1737360"/>
          </a:xfrm>
          <a:prstGeom prst="rect">
            <a:avLst/>
          </a:prstGeom>
          <a:noFill/>
        </p:spPr>
        <p:txBody>
          <a:bodyPr wrap="square" anchor="t">
            <a:spAutoFit/>
          </a:bodyPr>
          <a:lstStyle/>
          <a:p>
            <a:pPr algn="l">
              <a:spcAft>
                <a:spcPts val="0"/>
              </a:spcAft>
            </a:pPr>
            <a:r>
              <a:rPr sz="5000" b="1" i="0">
                <a:solidFill>
                  <a:srgbClr val="EEF3FA"/>
                </a:solidFill>
                <a:latin typeface="Calibri"/>
              </a:rPr>
              <a:t>Measuring the</a:t>
            </a:r>
          </a:p>
          <a:p>
            <a:pPr algn="l">
              <a:spcAft>
                <a:spcPts val="0"/>
              </a:spcAft>
            </a:pPr>
            <a:r>
              <a:rPr sz="5000" b="1" i="0">
                <a:solidFill>
                  <a:srgbClr val="7CC4FF"/>
                </a:solidFill>
                <a:latin typeface="Calibri"/>
              </a:rPr>
              <a:t>External Field</a:t>
            </a:r>
          </a:p>
        </p:txBody>
      </p:sp>
      <p:sp>
        <p:nvSpPr>
          <p:cNvPr id="70" name="TextBox 69"/>
          <p:cNvSpPr txBox="1"/>
          <p:nvPr/>
        </p:nvSpPr>
        <p:spPr>
          <a:xfrm>
            <a:off x="822960" y="3246120"/>
            <a:ext cx="6766560" cy="914400"/>
          </a:xfrm>
          <a:prstGeom prst="rect">
            <a:avLst/>
          </a:prstGeom>
          <a:noFill/>
        </p:spPr>
        <p:txBody>
          <a:bodyPr wrap="square" anchor="t">
            <a:spAutoFit/>
          </a:bodyPr>
          <a:lstStyle/>
          <a:p>
            <a:pPr algn="l">
              <a:spcAft>
                <a:spcPts val="0"/>
              </a:spcAft>
            </a:pPr>
            <a:r>
              <a:rPr sz="2100" b="0" i="0">
                <a:solidFill>
                  <a:srgbClr val="9AABC4"/>
                </a:solidFill>
                <a:latin typeface="Calibri"/>
              </a:rPr>
              <a:t>Can we measure how hard a news article pushes on what people think?</a:t>
            </a:r>
          </a:p>
        </p:txBody>
      </p:sp>
      <p:sp>
        <p:nvSpPr>
          <p:cNvPr id="71" name="Rectangle 70"/>
          <p:cNvSpPr/>
          <p:nvPr/>
        </p:nvSpPr>
        <p:spPr>
          <a:xfrm>
            <a:off x="822960" y="4343400"/>
            <a:ext cx="1280160" cy="45720"/>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22960" y="4572000"/>
            <a:ext cx="6766560" cy="1280160"/>
          </a:xfrm>
          <a:prstGeom prst="rect">
            <a:avLst/>
          </a:prstGeom>
          <a:noFill/>
        </p:spPr>
        <p:txBody>
          <a:bodyPr wrap="square" anchor="t">
            <a:spAutoFit/>
          </a:bodyPr>
          <a:lstStyle/>
          <a:p>
            <a:pPr algn="l">
              <a:spcAft>
                <a:spcPts val="400"/>
              </a:spcAft>
            </a:pPr>
            <a:r>
              <a:rPr sz="2000" b="1">
                <a:solidFill>
                  <a:srgbClr val="EEF3FA"/>
                </a:solidFill>
                <a:latin typeface="Calibri"/>
              </a:rPr>
              <a:t>Brian Mwai</a:t>
            </a:r>
            <a:r>
              <a:rPr sz="2000" b="0">
                <a:solidFill>
                  <a:srgbClr val="9AABC4"/>
                </a:solidFill>
                <a:latin typeface="Calibri"/>
              </a:rPr>
              <a:t>   1050555</a:t>
            </a:r>
          </a:p>
          <a:p>
            <a:pPr algn="l">
              <a:spcAft>
                <a:spcPts val="200"/>
              </a:spcAft>
            </a:pPr>
            <a:r>
              <a:rPr sz="1500" b="0" i="0">
                <a:solidFill>
                  <a:srgbClr val="9AABC4"/>
                </a:solidFill>
                <a:latin typeface="Calibri"/>
              </a:rPr>
              <a:t>Supervisor: Dr. Songa Mutambi</a:t>
            </a:r>
          </a:p>
          <a:p>
            <a:pPr algn="l">
              <a:spcAft>
                <a:spcPts val="0"/>
              </a:spcAft>
            </a:pPr>
            <a:r>
              <a:rPr sz="1500" b="0" i="0">
                <a:solidFill>
                  <a:srgbClr val="9AABC4"/>
                </a:solidFill>
                <a:latin typeface="Calibri"/>
              </a:rPr>
              <a:t>21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waveform.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IDEA</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Physics treats media as a push, h, on opinion. Nobody measures h</a:t>
            </a:r>
          </a:p>
        </p:txBody>
      </p:sp>
      <p:pic>
        <p:nvPicPr>
          <p:cNvPr id="7" name="Picture 6" descr="45f02749de550d5c.png"/>
          <p:cNvPicPr>
            <a:picLocks noChangeAspect="1"/>
          </p:cNvPicPr>
          <p:nvPr/>
        </p:nvPicPr>
        <p:blipFill>
          <a:blip r:embed="rId4"/>
          <a:stretch>
            <a:fillRect/>
          </a:stretch>
        </p:blipFill>
        <p:spPr>
          <a:xfrm>
            <a:off x="685800" y="1508760"/>
            <a:ext cx="3937863" cy="510235"/>
          </a:xfrm>
          <a:prstGeom prst="rect">
            <a:avLst/>
          </a:prstGeom>
        </p:spPr>
      </p:pic>
      <p:sp>
        <p:nvSpPr>
          <p:cNvPr id="8" name="Rounded Rectangle 7"/>
          <p:cNvSpPr/>
          <p:nvPr/>
        </p:nvSpPr>
        <p:spPr>
          <a:xfrm>
            <a:off x="685800" y="2514600"/>
            <a:ext cx="3383280" cy="896112"/>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9" name="Picture 8" descr="2e3b70b3f2255e91.png"/>
          <p:cNvPicPr>
            <a:picLocks noChangeAspect="1"/>
          </p:cNvPicPr>
          <p:nvPr/>
        </p:nvPicPr>
        <p:blipFill>
          <a:blip r:embed="rId5"/>
          <a:stretch>
            <a:fillRect/>
          </a:stretch>
        </p:blipFill>
        <p:spPr>
          <a:xfrm>
            <a:off x="964692" y="2697480"/>
            <a:ext cx="356616" cy="390906"/>
          </a:xfrm>
          <a:prstGeom prst="rect">
            <a:avLst/>
          </a:prstGeom>
        </p:spPr>
      </p:pic>
      <p:sp>
        <p:nvSpPr>
          <p:cNvPr id="10" name="TextBox 9"/>
          <p:cNvSpPr txBox="1"/>
          <p:nvPr/>
        </p:nvSpPr>
        <p:spPr>
          <a:xfrm>
            <a:off x="1554480" y="2624328"/>
            <a:ext cx="2468880" cy="731520"/>
          </a:xfrm>
          <a:prstGeom prst="rect">
            <a:avLst/>
          </a:prstGeom>
          <a:noFill/>
        </p:spPr>
        <p:txBody>
          <a:bodyPr wrap="square" anchor="ctr">
            <a:spAutoFit/>
          </a:bodyPr>
          <a:lstStyle/>
          <a:p>
            <a:pPr algn="l">
              <a:spcAft>
                <a:spcPts val="0"/>
              </a:spcAft>
            </a:pPr>
            <a:r>
              <a:rPr sz="1400" b="0" i="0">
                <a:solidFill>
                  <a:srgbClr val="EEF3FA"/>
                </a:solidFill>
                <a:latin typeface="Calibri"/>
              </a:rPr>
              <a:t>magnetisation
= average opinion, −1 to +1</a:t>
            </a:r>
          </a:p>
        </p:txBody>
      </p:sp>
      <p:sp>
        <p:nvSpPr>
          <p:cNvPr id="11" name="Rounded Rectangle 10"/>
          <p:cNvSpPr/>
          <p:nvPr/>
        </p:nvSpPr>
        <p:spPr>
          <a:xfrm>
            <a:off x="4206240" y="2514600"/>
            <a:ext cx="3383280" cy="896112"/>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2" name="Picture 11" descr="14e8a1e87ada8350.png"/>
          <p:cNvPicPr>
            <a:picLocks noChangeAspect="1"/>
          </p:cNvPicPr>
          <p:nvPr/>
        </p:nvPicPr>
        <p:blipFill>
          <a:blip r:embed="rId6"/>
          <a:stretch>
            <a:fillRect/>
          </a:stretch>
        </p:blipFill>
        <p:spPr>
          <a:xfrm>
            <a:off x="4526279" y="2697480"/>
            <a:ext cx="274320" cy="390906"/>
          </a:xfrm>
          <a:prstGeom prst="rect">
            <a:avLst/>
          </a:prstGeom>
        </p:spPr>
      </p:pic>
      <p:sp>
        <p:nvSpPr>
          <p:cNvPr id="13" name="TextBox 12"/>
          <p:cNvSpPr txBox="1"/>
          <p:nvPr/>
        </p:nvSpPr>
        <p:spPr>
          <a:xfrm>
            <a:off x="5074920" y="2624328"/>
            <a:ext cx="2468880" cy="731520"/>
          </a:xfrm>
          <a:prstGeom prst="rect">
            <a:avLst/>
          </a:prstGeom>
          <a:noFill/>
        </p:spPr>
        <p:txBody>
          <a:bodyPr wrap="square" anchor="ctr">
            <a:spAutoFit/>
          </a:bodyPr>
          <a:lstStyle/>
          <a:p>
            <a:pPr algn="l">
              <a:spcAft>
                <a:spcPts val="0"/>
              </a:spcAft>
            </a:pPr>
            <a:r>
              <a:rPr sz="1400" b="0" i="0">
                <a:solidFill>
                  <a:srgbClr val="EEF3FA"/>
                </a:solidFill>
                <a:latin typeface="Calibri"/>
              </a:rPr>
              <a:t>coupling
= pull toward neighbours</a:t>
            </a:r>
          </a:p>
        </p:txBody>
      </p:sp>
      <p:sp>
        <p:nvSpPr>
          <p:cNvPr id="14" name="Rounded Rectangle 13"/>
          <p:cNvSpPr/>
          <p:nvPr/>
        </p:nvSpPr>
        <p:spPr>
          <a:xfrm>
            <a:off x="685800" y="3538728"/>
            <a:ext cx="3383280" cy="896112"/>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5" name="Picture 14" descr="9255c6a4144431ec.png"/>
          <p:cNvPicPr>
            <a:picLocks noChangeAspect="1"/>
          </p:cNvPicPr>
          <p:nvPr/>
        </p:nvPicPr>
        <p:blipFill>
          <a:blip r:embed="rId7"/>
          <a:stretch>
            <a:fillRect/>
          </a:stretch>
        </p:blipFill>
        <p:spPr>
          <a:xfrm>
            <a:off x="1014412" y="3721608"/>
            <a:ext cx="257175" cy="394334"/>
          </a:xfrm>
          <a:prstGeom prst="rect">
            <a:avLst/>
          </a:prstGeom>
        </p:spPr>
      </p:pic>
      <p:sp>
        <p:nvSpPr>
          <p:cNvPr id="16" name="TextBox 15"/>
          <p:cNvSpPr txBox="1"/>
          <p:nvPr/>
        </p:nvSpPr>
        <p:spPr>
          <a:xfrm>
            <a:off x="1554480" y="3648456"/>
            <a:ext cx="2468880" cy="731520"/>
          </a:xfrm>
          <a:prstGeom prst="rect">
            <a:avLst/>
          </a:prstGeom>
          <a:noFill/>
        </p:spPr>
        <p:txBody>
          <a:bodyPr wrap="square" anchor="ctr">
            <a:spAutoFit/>
          </a:bodyPr>
          <a:lstStyle/>
          <a:p>
            <a:pPr algn="l">
              <a:spcAft>
                <a:spcPts val="0"/>
              </a:spcAft>
            </a:pPr>
            <a:r>
              <a:rPr sz="1400" b="0" i="0">
                <a:solidFill>
                  <a:srgbClr val="EEF3FA"/>
                </a:solidFill>
                <a:latin typeface="Calibri"/>
              </a:rPr>
              <a:t>inverse temperature
= how firmly people follow</a:t>
            </a:r>
          </a:p>
        </p:txBody>
      </p:sp>
      <p:sp>
        <p:nvSpPr>
          <p:cNvPr id="17" name="Rounded Rectangle 16"/>
          <p:cNvSpPr/>
          <p:nvPr/>
        </p:nvSpPr>
        <p:spPr>
          <a:xfrm>
            <a:off x="4206240" y="3538728"/>
            <a:ext cx="3383280" cy="896112"/>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8" name="Picture 17" descr="20c93cf97540e448.png"/>
          <p:cNvPicPr>
            <a:picLocks noChangeAspect="1"/>
          </p:cNvPicPr>
          <p:nvPr/>
        </p:nvPicPr>
        <p:blipFill>
          <a:blip r:embed="rId8"/>
          <a:stretch>
            <a:fillRect/>
          </a:stretch>
        </p:blipFill>
        <p:spPr>
          <a:xfrm>
            <a:off x="4543424" y="3721608"/>
            <a:ext cx="240030" cy="390906"/>
          </a:xfrm>
          <a:prstGeom prst="rect">
            <a:avLst/>
          </a:prstGeom>
        </p:spPr>
      </p:pic>
      <p:sp>
        <p:nvSpPr>
          <p:cNvPr id="19" name="TextBox 18"/>
          <p:cNvSpPr txBox="1"/>
          <p:nvPr/>
        </p:nvSpPr>
        <p:spPr>
          <a:xfrm>
            <a:off x="5074920" y="3648456"/>
            <a:ext cx="2468880" cy="731520"/>
          </a:xfrm>
          <a:prstGeom prst="rect">
            <a:avLst/>
          </a:prstGeom>
          <a:noFill/>
        </p:spPr>
        <p:txBody>
          <a:bodyPr wrap="square" anchor="ctr">
            <a:spAutoFit/>
          </a:bodyPr>
          <a:lstStyle/>
          <a:p>
            <a:pPr algn="l">
              <a:spcAft>
                <a:spcPts val="0"/>
              </a:spcAft>
            </a:pPr>
            <a:r>
              <a:rPr sz="1400" b="0" i="0">
                <a:solidFill>
                  <a:srgbClr val="EEF3FA"/>
                </a:solidFill>
                <a:latin typeface="Calibri"/>
              </a:rPr>
              <a:t>external field
= media's push on everyone</a:t>
            </a:r>
          </a:p>
        </p:txBody>
      </p:sp>
      <p:sp>
        <p:nvSpPr>
          <p:cNvPr id="20" name="Up Arrow 19"/>
          <p:cNvSpPr/>
          <p:nvPr/>
        </p:nvSpPr>
        <p:spPr>
          <a:xfrm>
            <a:off x="8317903" y="173598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Up Arrow 20"/>
          <p:cNvSpPr/>
          <p:nvPr/>
        </p:nvSpPr>
        <p:spPr>
          <a:xfrm>
            <a:off x="8820823" y="1735988"/>
            <a:ext cx="143432" cy="231343"/>
          </a:xfrm>
          <a:prstGeom prst="upArrow">
            <a:avLst/>
          </a:prstGeom>
          <a:solidFill>
            <a:srgbClr val="7CC4FF">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Up Arrow 21"/>
          <p:cNvSpPr/>
          <p:nvPr/>
        </p:nvSpPr>
        <p:spPr>
          <a:xfrm>
            <a:off x="9323743" y="173598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Up Arrow 22"/>
          <p:cNvSpPr/>
          <p:nvPr/>
        </p:nvSpPr>
        <p:spPr>
          <a:xfrm>
            <a:off x="9826663" y="173598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Up Arrow 23"/>
          <p:cNvSpPr/>
          <p:nvPr/>
        </p:nvSpPr>
        <p:spPr>
          <a:xfrm>
            <a:off x="10329583" y="1735988"/>
            <a:ext cx="143432" cy="231343"/>
          </a:xfrm>
          <a:prstGeom prst="upArrow">
            <a:avLst/>
          </a:prstGeom>
          <a:solidFill>
            <a:srgbClr val="7CC4FF">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Up Arrow 24"/>
          <p:cNvSpPr/>
          <p:nvPr/>
        </p:nvSpPr>
        <p:spPr>
          <a:xfrm>
            <a:off x="10832503" y="1735988"/>
            <a:ext cx="143432" cy="231343"/>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Up Arrow 25"/>
          <p:cNvSpPr/>
          <p:nvPr/>
        </p:nvSpPr>
        <p:spPr>
          <a:xfrm>
            <a:off x="8317903" y="223890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own Arrow 26"/>
          <p:cNvSpPr/>
          <p:nvPr/>
        </p:nvSpPr>
        <p:spPr>
          <a:xfrm>
            <a:off x="8820823" y="2238908"/>
            <a:ext cx="143432" cy="231343"/>
          </a:xfrm>
          <a:prstGeom prst="downArrow">
            <a:avLst/>
          </a:prstGeom>
          <a:solidFill>
            <a:srgbClr val="FF7A59">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Up Arrow 27"/>
          <p:cNvSpPr/>
          <p:nvPr/>
        </p:nvSpPr>
        <p:spPr>
          <a:xfrm>
            <a:off x="9323743" y="223890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Up Arrow 28"/>
          <p:cNvSpPr/>
          <p:nvPr/>
        </p:nvSpPr>
        <p:spPr>
          <a:xfrm>
            <a:off x="9826663" y="223890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own Arrow 29"/>
          <p:cNvSpPr/>
          <p:nvPr/>
        </p:nvSpPr>
        <p:spPr>
          <a:xfrm>
            <a:off x="10329583" y="2238908"/>
            <a:ext cx="143432" cy="231343"/>
          </a:xfrm>
          <a:prstGeom prst="downArrow">
            <a:avLst/>
          </a:prstGeom>
          <a:solidFill>
            <a:srgbClr val="FF7A59">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Up Arrow 30"/>
          <p:cNvSpPr/>
          <p:nvPr/>
        </p:nvSpPr>
        <p:spPr>
          <a:xfrm>
            <a:off x="10832503" y="2238908"/>
            <a:ext cx="143432" cy="231343"/>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own Arrow 31"/>
          <p:cNvSpPr/>
          <p:nvPr/>
        </p:nvSpPr>
        <p:spPr>
          <a:xfrm>
            <a:off x="8317903" y="2741828"/>
            <a:ext cx="143432" cy="231343"/>
          </a:xfrm>
          <a:prstGeom prst="downArrow">
            <a:avLst/>
          </a:prstGeom>
          <a:solidFill>
            <a:srgbClr val="FF7A59">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Up Arrow 32"/>
          <p:cNvSpPr/>
          <p:nvPr/>
        </p:nvSpPr>
        <p:spPr>
          <a:xfrm>
            <a:off x="8820823" y="2741828"/>
            <a:ext cx="143432" cy="231343"/>
          </a:xfrm>
          <a:prstGeom prst="upArrow">
            <a:avLst/>
          </a:prstGeom>
          <a:solidFill>
            <a:srgbClr val="7CC4FF">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Up Arrow 33"/>
          <p:cNvSpPr/>
          <p:nvPr/>
        </p:nvSpPr>
        <p:spPr>
          <a:xfrm>
            <a:off x="9323743" y="274182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Up Arrow 34"/>
          <p:cNvSpPr/>
          <p:nvPr/>
        </p:nvSpPr>
        <p:spPr>
          <a:xfrm>
            <a:off x="9826663" y="274182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Up Arrow 35"/>
          <p:cNvSpPr/>
          <p:nvPr/>
        </p:nvSpPr>
        <p:spPr>
          <a:xfrm>
            <a:off x="10329583" y="2741828"/>
            <a:ext cx="143432" cy="231343"/>
          </a:xfrm>
          <a:prstGeom prst="upArrow">
            <a:avLst/>
          </a:prstGeom>
          <a:solidFill>
            <a:srgbClr val="7CC4FF">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own Arrow 36"/>
          <p:cNvSpPr/>
          <p:nvPr/>
        </p:nvSpPr>
        <p:spPr>
          <a:xfrm>
            <a:off x="10832503" y="2741828"/>
            <a:ext cx="143432" cy="231343"/>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Up Arrow 37"/>
          <p:cNvSpPr/>
          <p:nvPr/>
        </p:nvSpPr>
        <p:spPr>
          <a:xfrm>
            <a:off x="8317903" y="324474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own Arrow 38"/>
          <p:cNvSpPr/>
          <p:nvPr/>
        </p:nvSpPr>
        <p:spPr>
          <a:xfrm>
            <a:off x="8820823" y="3244748"/>
            <a:ext cx="143432" cy="231343"/>
          </a:xfrm>
          <a:prstGeom prst="downArrow">
            <a:avLst/>
          </a:prstGeom>
          <a:solidFill>
            <a:srgbClr val="FF7A59">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wn Arrow 39"/>
          <p:cNvSpPr/>
          <p:nvPr/>
        </p:nvSpPr>
        <p:spPr>
          <a:xfrm>
            <a:off x="9323743" y="3244748"/>
            <a:ext cx="143432" cy="231343"/>
          </a:xfrm>
          <a:prstGeom prst="downArrow">
            <a:avLst/>
          </a:prstGeom>
          <a:solidFill>
            <a:srgbClr val="FF7A59">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Up Arrow 40"/>
          <p:cNvSpPr/>
          <p:nvPr/>
        </p:nvSpPr>
        <p:spPr>
          <a:xfrm>
            <a:off x="9826663" y="324474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own Arrow 41"/>
          <p:cNvSpPr/>
          <p:nvPr/>
        </p:nvSpPr>
        <p:spPr>
          <a:xfrm>
            <a:off x="10329583" y="3244748"/>
            <a:ext cx="143432" cy="231343"/>
          </a:xfrm>
          <a:prstGeom prst="downArrow">
            <a:avLst/>
          </a:prstGeom>
          <a:solidFill>
            <a:srgbClr val="FF7A59">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Up Arrow 42"/>
          <p:cNvSpPr/>
          <p:nvPr/>
        </p:nvSpPr>
        <p:spPr>
          <a:xfrm>
            <a:off x="10832503" y="3244748"/>
            <a:ext cx="143432" cy="231343"/>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Up Arrow 43"/>
          <p:cNvSpPr/>
          <p:nvPr/>
        </p:nvSpPr>
        <p:spPr>
          <a:xfrm>
            <a:off x="8317903" y="374766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Up Arrow 44"/>
          <p:cNvSpPr/>
          <p:nvPr/>
        </p:nvSpPr>
        <p:spPr>
          <a:xfrm>
            <a:off x="8820823" y="3747668"/>
            <a:ext cx="143432" cy="231343"/>
          </a:xfrm>
          <a:prstGeom prst="upArrow">
            <a:avLst/>
          </a:prstGeom>
          <a:solidFill>
            <a:srgbClr val="7CC4FF">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wn Arrow 45"/>
          <p:cNvSpPr/>
          <p:nvPr/>
        </p:nvSpPr>
        <p:spPr>
          <a:xfrm>
            <a:off x="9323743" y="3747668"/>
            <a:ext cx="143432" cy="231343"/>
          </a:xfrm>
          <a:prstGeom prst="downArrow">
            <a:avLst/>
          </a:prstGeom>
          <a:solidFill>
            <a:srgbClr val="FF7A59">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Up Arrow 46"/>
          <p:cNvSpPr/>
          <p:nvPr/>
        </p:nvSpPr>
        <p:spPr>
          <a:xfrm>
            <a:off x="9826663" y="374766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own Arrow 47"/>
          <p:cNvSpPr/>
          <p:nvPr/>
        </p:nvSpPr>
        <p:spPr>
          <a:xfrm>
            <a:off x="10329583" y="3747668"/>
            <a:ext cx="143432" cy="231343"/>
          </a:xfrm>
          <a:prstGeom prst="downArrow">
            <a:avLst/>
          </a:prstGeom>
          <a:solidFill>
            <a:srgbClr val="FF7A59">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own Arrow 48"/>
          <p:cNvSpPr/>
          <p:nvPr/>
        </p:nvSpPr>
        <p:spPr>
          <a:xfrm>
            <a:off x="10832503" y="3747668"/>
            <a:ext cx="143432" cy="231343"/>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Down Arrow 49"/>
          <p:cNvSpPr/>
          <p:nvPr/>
        </p:nvSpPr>
        <p:spPr>
          <a:xfrm>
            <a:off x="8317903" y="4250588"/>
            <a:ext cx="143432" cy="231343"/>
          </a:xfrm>
          <a:prstGeom prst="downArrow">
            <a:avLst/>
          </a:prstGeom>
          <a:solidFill>
            <a:srgbClr val="FF7A59">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Down Arrow 50"/>
          <p:cNvSpPr/>
          <p:nvPr/>
        </p:nvSpPr>
        <p:spPr>
          <a:xfrm>
            <a:off x="8820823" y="4250588"/>
            <a:ext cx="143432" cy="231343"/>
          </a:xfrm>
          <a:prstGeom prst="downArrow">
            <a:avLst/>
          </a:prstGeom>
          <a:solidFill>
            <a:srgbClr val="FF7A59">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Up Arrow 51"/>
          <p:cNvSpPr/>
          <p:nvPr/>
        </p:nvSpPr>
        <p:spPr>
          <a:xfrm>
            <a:off x="9323743" y="425058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Down Arrow 52"/>
          <p:cNvSpPr/>
          <p:nvPr/>
        </p:nvSpPr>
        <p:spPr>
          <a:xfrm>
            <a:off x="9826663" y="4250588"/>
            <a:ext cx="143432" cy="231343"/>
          </a:xfrm>
          <a:prstGeom prst="downArrow">
            <a:avLst/>
          </a:prstGeom>
          <a:solidFill>
            <a:srgbClr val="FF7A59">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Up Arrow 53"/>
          <p:cNvSpPr/>
          <p:nvPr/>
        </p:nvSpPr>
        <p:spPr>
          <a:xfrm>
            <a:off x="10329583" y="4250588"/>
            <a:ext cx="143432" cy="231343"/>
          </a:xfrm>
          <a:prstGeom prst="upArrow">
            <a:avLst/>
          </a:prstGeom>
          <a:solidFill>
            <a:srgbClr val="7CC4FF">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Down Arrow 54"/>
          <p:cNvSpPr/>
          <p:nvPr/>
        </p:nvSpPr>
        <p:spPr>
          <a:xfrm>
            <a:off x="10832503" y="4250588"/>
            <a:ext cx="143432" cy="231343"/>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Up Arrow 55"/>
          <p:cNvSpPr/>
          <p:nvPr/>
        </p:nvSpPr>
        <p:spPr>
          <a:xfrm>
            <a:off x="11338560" y="2103120"/>
            <a:ext cx="365760" cy="2011680"/>
          </a:xfrm>
          <a:prstGeom prst="upArrow">
            <a:avLst/>
          </a:prstGeom>
          <a:solidFill>
            <a:srgbClr val="F5B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20c93cf97540e448.png"/>
          <p:cNvPicPr>
            <a:picLocks noChangeAspect="1"/>
          </p:cNvPicPr>
          <p:nvPr/>
        </p:nvPicPr>
        <p:blipFill>
          <a:blip r:embed="rId8"/>
          <a:stretch>
            <a:fillRect/>
          </a:stretch>
        </p:blipFill>
        <p:spPr>
          <a:xfrm>
            <a:off x="11409426" y="4206240"/>
            <a:ext cx="224027" cy="364845"/>
          </a:xfrm>
          <a:prstGeom prst="rect">
            <a:avLst/>
          </a:prstGeom>
        </p:spPr>
      </p:pic>
      <p:sp>
        <p:nvSpPr>
          <p:cNvPr id="58" name="Rounded Rectangle 57"/>
          <p:cNvSpPr/>
          <p:nvPr/>
        </p:nvSpPr>
        <p:spPr>
          <a:xfrm>
            <a:off x="685800" y="4754880"/>
            <a:ext cx="10820095" cy="68580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F7A59"/>
                </a:solidFill>
                <a:latin typeface="Calibri"/>
              </a:rPr>
              <a:t>Question:  </a:t>
            </a:r>
            <a:r>
              <a:rPr sz="1600" b="0">
                <a:solidFill>
                  <a:srgbClr val="EEF3FA"/>
                </a:solidFill>
                <a:latin typeface="Calibri"/>
              </a:rPr>
              <a:t>can h be measured from the content itself?</a:t>
            </a:r>
          </a:p>
        </p:txBody>
      </p:sp>
      <p:sp>
        <p:nvSpPr>
          <p:cNvPr id="59" name="TextBox 58"/>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IDEA</a:t>
            </a:r>
          </a:p>
        </p:txBody>
      </p:sp>
      <p:sp>
        <p:nvSpPr>
          <p:cNvPr id="60" name="Rectangle 59"/>
          <p:cNvSpPr/>
          <p:nvPr/>
        </p:nvSpPr>
        <p:spPr>
          <a:xfrm>
            <a:off x="4692243"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268315"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agnifying-glass.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IDEA</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Testing the tools changed five assumptions</a:t>
            </a:r>
          </a:p>
        </p:txBody>
      </p:sp>
      <p:sp>
        <p:nvSpPr>
          <p:cNvPr id="7" name="TextBox 6"/>
          <p:cNvSpPr txBox="1"/>
          <p:nvPr/>
        </p:nvSpPr>
        <p:spPr>
          <a:xfrm>
            <a:off x="685800" y="1325880"/>
            <a:ext cx="3657600" cy="274320"/>
          </a:xfrm>
          <a:prstGeom prst="rect">
            <a:avLst/>
          </a:prstGeom>
          <a:noFill/>
        </p:spPr>
        <p:txBody>
          <a:bodyPr wrap="square" anchor="t">
            <a:spAutoFit/>
          </a:bodyPr>
          <a:lstStyle/>
          <a:p>
            <a:pPr algn="l">
              <a:spcAft>
                <a:spcPts val="0"/>
              </a:spcAft>
            </a:pPr>
            <a:r>
              <a:rPr sz="1100" b="1" i="0">
                <a:solidFill>
                  <a:srgbClr val="9AABC4"/>
                </a:solidFill>
                <a:latin typeface="Calibri"/>
              </a:rPr>
              <a:t>WE PLANNED</a:t>
            </a:r>
          </a:p>
        </p:txBody>
      </p:sp>
      <p:sp>
        <p:nvSpPr>
          <p:cNvPr id="8" name="TextBox 7"/>
          <p:cNvSpPr txBox="1"/>
          <p:nvPr/>
        </p:nvSpPr>
        <p:spPr>
          <a:xfrm>
            <a:off x="5074920" y="1325880"/>
            <a:ext cx="3657600" cy="274320"/>
          </a:xfrm>
          <a:prstGeom prst="rect">
            <a:avLst/>
          </a:prstGeom>
          <a:noFill/>
        </p:spPr>
        <p:txBody>
          <a:bodyPr wrap="square" anchor="t">
            <a:spAutoFit/>
          </a:bodyPr>
          <a:lstStyle/>
          <a:p>
            <a:pPr algn="l">
              <a:spcAft>
                <a:spcPts val="0"/>
              </a:spcAft>
            </a:pPr>
            <a:r>
              <a:rPr sz="1100" b="1" i="0">
                <a:solidFill>
                  <a:srgbClr val="7CC4FF"/>
                </a:solidFill>
                <a:latin typeface="Calibri"/>
              </a:rPr>
              <a:t>WE FOUND</a:t>
            </a:r>
          </a:p>
        </p:txBody>
      </p:sp>
      <p:sp>
        <p:nvSpPr>
          <p:cNvPr id="9" name="Rounded Rectangle 8"/>
          <p:cNvSpPr/>
          <p:nvPr/>
        </p:nvSpPr>
        <p:spPr>
          <a:xfrm>
            <a:off x="685800" y="1645920"/>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9AABC4"/>
                </a:solidFill>
                <a:latin typeface="Calibri"/>
              </a:rPr>
              <a:t>Measure the amygdala</a:t>
            </a:r>
          </a:p>
        </p:txBody>
      </p:sp>
      <p:pic>
        <p:nvPicPr>
          <p:cNvPr id="10" name="Picture 9" descr="x-circle.png"/>
          <p:cNvPicPr>
            <a:picLocks noChangeAspect="1"/>
          </p:cNvPicPr>
          <p:nvPr/>
        </p:nvPicPr>
        <p:blipFill>
          <a:blip r:embed="rId4"/>
          <a:stretch>
            <a:fillRect/>
          </a:stretch>
        </p:blipFill>
        <p:spPr>
          <a:xfrm>
            <a:off x="850392" y="1837944"/>
            <a:ext cx="274320" cy="274320"/>
          </a:xfrm>
          <a:prstGeom prst="rect">
            <a:avLst/>
          </a:prstGeom>
        </p:spPr>
      </p:pic>
      <p:sp>
        <p:nvSpPr>
          <p:cNvPr id="11" name="Right Arrow 10"/>
          <p:cNvSpPr/>
          <p:nvPr/>
        </p:nvSpPr>
        <p:spPr>
          <a:xfrm>
            <a:off x="4526280" y="1911095"/>
            <a:ext cx="457200" cy="146304"/>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74920" y="1645920"/>
            <a:ext cx="6428232" cy="658368"/>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EEF3FA"/>
                </a:solidFill>
                <a:latin typeface="Calibri"/>
              </a:rPr>
              <a:t>Model sees brain surface only, so we used surface areas</a:t>
            </a:r>
          </a:p>
        </p:txBody>
      </p:sp>
      <p:pic>
        <p:nvPicPr>
          <p:cNvPr id="13" name="Picture 12" descr="check-circle.png"/>
          <p:cNvPicPr>
            <a:picLocks noChangeAspect="1"/>
          </p:cNvPicPr>
          <p:nvPr/>
        </p:nvPicPr>
        <p:blipFill>
          <a:blip r:embed="rId5"/>
          <a:stretch>
            <a:fillRect/>
          </a:stretch>
        </p:blipFill>
        <p:spPr>
          <a:xfrm>
            <a:off x="5239512" y="1837944"/>
            <a:ext cx="274320" cy="274320"/>
          </a:xfrm>
          <a:prstGeom prst="rect">
            <a:avLst/>
          </a:prstGeom>
        </p:spPr>
      </p:pic>
      <p:sp>
        <p:nvSpPr>
          <p:cNvPr id="14" name="Rounded Rectangle 13"/>
          <p:cNvSpPr/>
          <p:nvPr/>
        </p:nvSpPr>
        <p:spPr>
          <a:xfrm>
            <a:off x="685800" y="2432304"/>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9AABC4"/>
                </a:solidFill>
                <a:latin typeface="Calibri"/>
              </a:rPr>
              <a:t>Score as a ratio</a:t>
            </a:r>
          </a:p>
        </p:txBody>
      </p:sp>
      <p:pic>
        <p:nvPicPr>
          <p:cNvPr id="15" name="Picture 14" descr="x-circle.png"/>
          <p:cNvPicPr>
            <a:picLocks noChangeAspect="1"/>
          </p:cNvPicPr>
          <p:nvPr/>
        </p:nvPicPr>
        <p:blipFill>
          <a:blip r:embed="rId4"/>
          <a:stretch>
            <a:fillRect/>
          </a:stretch>
        </p:blipFill>
        <p:spPr>
          <a:xfrm>
            <a:off x="850392" y="2624328"/>
            <a:ext cx="274320" cy="274320"/>
          </a:xfrm>
          <a:prstGeom prst="rect">
            <a:avLst/>
          </a:prstGeom>
        </p:spPr>
      </p:pic>
      <p:sp>
        <p:nvSpPr>
          <p:cNvPr id="16" name="Right Arrow 15"/>
          <p:cNvSpPr/>
          <p:nvPr/>
        </p:nvSpPr>
        <p:spPr>
          <a:xfrm>
            <a:off x="4526280" y="2697480"/>
            <a:ext cx="457200" cy="146304"/>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74920" y="2432304"/>
            <a:ext cx="6428232" cy="658368"/>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EEF3FA"/>
                </a:solidFill>
                <a:latin typeface="Calibri"/>
              </a:rPr>
              <a:t>Ratio broke on 69 of 400, so we used a difference</a:t>
            </a:r>
          </a:p>
        </p:txBody>
      </p:sp>
      <p:pic>
        <p:nvPicPr>
          <p:cNvPr id="18" name="Picture 17" descr="check-circle.png"/>
          <p:cNvPicPr>
            <a:picLocks noChangeAspect="1"/>
          </p:cNvPicPr>
          <p:nvPr/>
        </p:nvPicPr>
        <p:blipFill>
          <a:blip r:embed="rId5"/>
          <a:stretch>
            <a:fillRect/>
          </a:stretch>
        </p:blipFill>
        <p:spPr>
          <a:xfrm>
            <a:off x="5239512" y="2624328"/>
            <a:ext cx="274320" cy="274320"/>
          </a:xfrm>
          <a:prstGeom prst="rect">
            <a:avLst/>
          </a:prstGeom>
        </p:spPr>
      </p:pic>
      <p:sp>
        <p:nvSpPr>
          <p:cNvPr id="19" name="Rounded Rectangle 18"/>
          <p:cNvSpPr/>
          <p:nvPr/>
        </p:nvSpPr>
        <p:spPr>
          <a:xfrm>
            <a:off x="685800" y="3218688"/>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9AABC4"/>
                </a:solidFill>
                <a:latin typeface="Calibri"/>
              </a:rPr>
              <a:t>Outrage stands out most</a:t>
            </a:r>
          </a:p>
        </p:txBody>
      </p:sp>
      <p:pic>
        <p:nvPicPr>
          <p:cNvPr id="20" name="Picture 19" descr="x-circle.png"/>
          <p:cNvPicPr>
            <a:picLocks noChangeAspect="1"/>
          </p:cNvPicPr>
          <p:nvPr/>
        </p:nvPicPr>
        <p:blipFill>
          <a:blip r:embed="rId4"/>
          <a:stretch>
            <a:fillRect/>
          </a:stretch>
        </p:blipFill>
        <p:spPr>
          <a:xfrm>
            <a:off x="850392" y="3410712"/>
            <a:ext cx="274320" cy="274320"/>
          </a:xfrm>
          <a:prstGeom prst="rect">
            <a:avLst/>
          </a:prstGeom>
        </p:spPr>
      </p:pic>
      <p:sp>
        <p:nvSpPr>
          <p:cNvPr id="21" name="Right Arrow 20"/>
          <p:cNvSpPr/>
          <p:nvPr/>
        </p:nvSpPr>
        <p:spPr>
          <a:xfrm>
            <a:off x="4526280" y="3483864"/>
            <a:ext cx="457200" cy="146304"/>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074920" y="3218688"/>
            <a:ext cx="6428232" cy="658368"/>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EEF3FA"/>
                </a:solidFill>
                <a:latin typeface="Calibri"/>
              </a:rPr>
              <a:t>Fear stands out; outrage lifts both areas equally</a:t>
            </a:r>
          </a:p>
        </p:txBody>
      </p:sp>
      <p:pic>
        <p:nvPicPr>
          <p:cNvPr id="23" name="Picture 22" descr="check-circle.png"/>
          <p:cNvPicPr>
            <a:picLocks noChangeAspect="1"/>
          </p:cNvPicPr>
          <p:nvPr/>
        </p:nvPicPr>
        <p:blipFill>
          <a:blip r:embed="rId5"/>
          <a:stretch>
            <a:fillRect/>
          </a:stretch>
        </p:blipFill>
        <p:spPr>
          <a:xfrm>
            <a:off x="5239512" y="3410712"/>
            <a:ext cx="274320" cy="274320"/>
          </a:xfrm>
          <a:prstGeom prst="rect">
            <a:avLst/>
          </a:prstGeom>
        </p:spPr>
      </p:pic>
      <p:sp>
        <p:nvSpPr>
          <p:cNvPr id="24" name="Rounded Rectangle 23"/>
          <p:cNvSpPr/>
          <p:nvPr/>
        </p:nvSpPr>
        <p:spPr>
          <a:xfrm>
            <a:off x="685800" y="4005072"/>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9AABC4"/>
                </a:solidFill>
                <a:latin typeface="Calibri"/>
              </a:rPr>
              <a:t>Measure α, media's strength</a:t>
            </a:r>
          </a:p>
        </p:txBody>
      </p:sp>
      <p:pic>
        <p:nvPicPr>
          <p:cNvPr id="25" name="Picture 24" descr="x-circle.png"/>
          <p:cNvPicPr>
            <a:picLocks noChangeAspect="1"/>
          </p:cNvPicPr>
          <p:nvPr/>
        </p:nvPicPr>
        <p:blipFill>
          <a:blip r:embed="rId4"/>
          <a:stretch>
            <a:fillRect/>
          </a:stretch>
        </p:blipFill>
        <p:spPr>
          <a:xfrm>
            <a:off x="850392" y="4197096"/>
            <a:ext cx="274320" cy="274320"/>
          </a:xfrm>
          <a:prstGeom prst="rect">
            <a:avLst/>
          </a:prstGeom>
        </p:spPr>
      </p:pic>
      <p:sp>
        <p:nvSpPr>
          <p:cNvPr id="26" name="Right Arrow 25"/>
          <p:cNvSpPr/>
          <p:nvPr/>
        </p:nvSpPr>
        <p:spPr>
          <a:xfrm>
            <a:off x="4526280" y="4270248"/>
            <a:ext cx="457200" cy="146304"/>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74920" y="4005072"/>
            <a:ext cx="6428232" cy="658368"/>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EEF3FA"/>
                </a:solidFill>
                <a:latin typeface="Calibri"/>
              </a:rPr>
              <a:t>Data can't pin α, so we derived its minimum</a:t>
            </a:r>
          </a:p>
        </p:txBody>
      </p:sp>
      <p:pic>
        <p:nvPicPr>
          <p:cNvPr id="28" name="Picture 27" descr="check-circle.png"/>
          <p:cNvPicPr>
            <a:picLocks noChangeAspect="1"/>
          </p:cNvPicPr>
          <p:nvPr/>
        </p:nvPicPr>
        <p:blipFill>
          <a:blip r:embed="rId5"/>
          <a:stretch>
            <a:fillRect/>
          </a:stretch>
        </p:blipFill>
        <p:spPr>
          <a:xfrm>
            <a:off x="5239512" y="4197096"/>
            <a:ext cx="274320" cy="274320"/>
          </a:xfrm>
          <a:prstGeom prst="rect">
            <a:avLst/>
          </a:prstGeom>
        </p:spPr>
      </p:pic>
      <p:sp>
        <p:nvSpPr>
          <p:cNvPr id="29" name="Rounded Rectangle 28"/>
          <p:cNvSpPr/>
          <p:nvPr/>
        </p:nvSpPr>
        <p:spPr>
          <a:xfrm>
            <a:off x="685800" y="4791456"/>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9AABC4"/>
                </a:solidFill>
                <a:latin typeface="Calibri"/>
              </a:rPr>
              <a:t>A manipulation detector</a:t>
            </a:r>
          </a:p>
        </p:txBody>
      </p:sp>
      <p:pic>
        <p:nvPicPr>
          <p:cNvPr id="30" name="Picture 29" descr="x-circle.png"/>
          <p:cNvPicPr>
            <a:picLocks noChangeAspect="1"/>
          </p:cNvPicPr>
          <p:nvPr/>
        </p:nvPicPr>
        <p:blipFill>
          <a:blip r:embed="rId4"/>
          <a:stretch>
            <a:fillRect/>
          </a:stretch>
        </p:blipFill>
        <p:spPr>
          <a:xfrm>
            <a:off x="850392" y="4983480"/>
            <a:ext cx="274320" cy="274320"/>
          </a:xfrm>
          <a:prstGeom prst="rect">
            <a:avLst/>
          </a:prstGeom>
        </p:spPr>
      </p:pic>
      <p:sp>
        <p:nvSpPr>
          <p:cNvPr id="31" name="Right Arrow 30"/>
          <p:cNvSpPr/>
          <p:nvPr/>
        </p:nvSpPr>
        <p:spPr>
          <a:xfrm>
            <a:off x="4526280" y="5056632"/>
            <a:ext cx="457200" cy="146304"/>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074920" y="4791456"/>
            <a:ext cx="6428232" cy="658368"/>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EEF3FA"/>
                </a:solidFill>
                <a:latin typeface="Calibri"/>
              </a:rPr>
              <a:t>Word counting wins, so it's a measurement</a:t>
            </a:r>
          </a:p>
        </p:txBody>
      </p:sp>
      <p:pic>
        <p:nvPicPr>
          <p:cNvPr id="33" name="Picture 32" descr="check-circle.png"/>
          <p:cNvPicPr>
            <a:picLocks noChangeAspect="1"/>
          </p:cNvPicPr>
          <p:nvPr/>
        </p:nvPicPr>
        <p:blipFill>
          <a:blip r:embed="rId5"/>
          <a:stretch>
            <a:fillRect/>
          </a:stretch>
        </p:blipFill>
        <p:spPr>
          <a:xfrm>
            <a:off x="5239512" y="4983480"/>
            <a:ext cx="274320" cy="274320"/>
          </a:xfrm>
          <a:prstGeom prst="rect">
            <a:avLst/>
          </a:prstGeom>
        </p:spPr>
      </p:pic>
      <p:sp>
        <p:nvSpPr>
          <p:cNvPr id="34" name="TextBox 33"/>
          <p:cNvSpPr txBox="1"/>
          <p:nvPr/>
        </p:nvSpPr>
        <p:spPr>
          <a:xfrm>
            <a:off x="685800" y="5623560"/>
            <a:ext cx="10820095" cy="320040"/>
          </a:xfrm>
          <a:prstGeom prst="rect">
            <a:avLst/>
          </a:prstGeom>
          <a:noFill/>
        </p:spPr>
        <p:txBody>
          <a:bodyPr wrap="square" anchor="t">
            <a:spAutoFit/>
          </a:bodyPr>
          <a:lstStyle/>
          <a:p>
            <a:pPr algn="l">
              <a:spcAft>
                <a:spcPts val="0"/>
              </a:spcAft>
            </a:pPr>
            <a:r>
              <a:rPr sz="1300" b="0" i="0">
                <a:solidFill>
                  <a:srgbClr val="9AABC4"/>
                </a:solidFill>
                <a:latin typeface="Calibri"/>
              </a:rPr>
              <a:t>All five are in the approved amendment.</a:t>
            </a:r>
          </a:p>
        </p:txBody>
      </p:sp>
      <p:sp>
        <p:nvSpPr>
          <p:cNvPr id="35" name="TextBox 34"/>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IDEA</a:t>
            </a:r>
          </a:p>
        </p:txBody>
      </p:sp>
      <p:sp>
        <p:nvSpPr>
          <p:cNvPr id="36" name="Rectangle 35"/>
          <p:cNvSpPr/>
          <p:nvPr/>
        </p:nvSpPr>
        <p:spPr>
          <a:xfrm>
            <a:off x="4692243"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268315"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rain.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METHOD</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How one article becomes one number</a:t>
            </a:r>
          </a:p>
        </p:txBody>
      </p:sp>
      <p:sp>
        <p:nvSpPr>
          <p:cNvPr id="7" name="Rounded Rectangle 6"/>
          <p:cNvSpPr/>
          <p:nvPr/>
        </p:nvSpPr>
        <p:spPr>
          <a:xfrm>
            <a:off x="685800" y="1325880"/>
            <a:ext cx="1938528" cy="11887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8" name="Picture 7" descr="newspaper.png"/>
          <p:cNvPicPr>
            <a:picLocks noChangeAspect="1"/>
          </p:cNvPicPr>
          <p:nvPr/>
        </p:nvPicPr>
        <p:blipFill>
          <a:blip r:embed="rId4"/>
          <a:stretch>
            <a:fillRect/>
          </a:stretch>
        </p:blipFill>
        <p:spPr>
          <a:xfrm>
            <a:off x="1472184" y="1417320"/>
            <a:ext cx="365760" cy="365760"/>
          </a:xfrm>
          <a:prstGeom prst="rect">
            <a:avLst/>
          </a:prstGeom>
        </p:spPr>
      </p:pic>
      <p:sp>
        <p:nvSpPr>
          <p:cNvPr id="9" name="TextBox 8"/>
          <p:cNvSpPr txBox="1"/>
          <p:nvPr/>
        </p:nvSpPr>
        <p:spPr>
          <a:xfrm>
            <a:off x="685800" y="1810512"/>
            <a:ext cx="1938528" cy="685800"/>
          </a:xfrm>
          <a:prstGeom prst="rect">
            <a:avLst/>
          </a:prstGeom>
          <a:noFill/>
        </p:spPr>
        <p:txBody>
          <a:bodyPr wrap="square" anchor="t">
            <a:spAutoFit/>
          </a:bodyPr>
          <a:lstStyle/>
          <a:p>
            <a:pPr algn="ctr">
              <a:spcAft>
                <a:spcPts val="0"/>
              </a:spcAft>
            </a:pPr>
            <a:r>
              <a:rPr sz="1500" b="1" i="0">
                <a:solidFill>
                  <a:srgbClr val="EEF3FA"/>
                </a:solidFill>
                <a:latin typeface="Calibri"/>
              </a:rPr>
              <a:t>Article</a:t>
            </a:r>
          </a:p>
          <a:p>
            <a:pPr algn="ctr">
              <a:spcAft>
                <a:spcPts val="0"/>
              </a:spcAft>
            </a:pPr>
            <a:r>
              <a:rPr sz="1200" b="0" i="0">
                <a:solidFill>
                  <a:srgbClr val="9AABC4"/>
                </a:solidFill>
                <a:latin typeface="Calibri"/>
              </a:rPr>
              <a:t>400 news texts</a:t>
            </a:r>
          </a:p>
        </p:txBody>
      </p:sp>
      <p:sp>
        <p:nvSpPr>
          <p:cNvPr id="10" name="Right Arrow 9"/>
          <p:cNvSpPr/>
          <p:nvPr/>
        </p:nvSpPr>
        <p:spPr>
          <a:xfrm>
            <a:off x="2670048" y="1847088"/>
            <a:ext cx="192024" cy="146304"/>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907792" y="1325880"/>
            <a:ext cx="1938528" cy="11887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2" name="Picture 11" descr="waveform.png"/>
          <p:cNvPicPr>
            <a:picLocks noChangeAspect="1"/>
          </p:cNvPicPr>
          <p:nvPr/>
        </p:nvPicPr>
        <p:blipFill>
          <a:blip r:embed="rId5"/>
          <a:stretch>
            <a:fillRect/>
          </a:stretch>
        </p:blipFill>
        <p:spPr>
          <a:xfrm>
            <a:off x="3694176" y="1417320"/>
            <a:ext cx="365760" cy="365760"/>
          </a:xfrm>
          <a:prstGeom prst="rect">
            <a:avLst/>
          </a:prstGeom>
        </p:spPr>
      </p:pic>
      <p:sp>
        <p:nvSpPr>
          <p:cNvPr id="13" name="TextBox 12"/>
          <p:cNvSpPr txBox="1"/>
          <p:nvPr/>
        </p:nvSpPr>
        <p:spPr>
          <a:xfrm>
            <a:off x="2907792" y="1810512"/>
            <a:ext cx="1938528" cy="685800"/>
          </a:xfrm>
          <a:prstGeom prst="rect">
            <a:avLst/>
          </a:prstGeom>
          <a:noFill/>
        </p:spPr>
        <p:txBody>
          <a:bodyPr wrap="square" anchor="t">
            <a:spAutoFit/>
          </a:bodyPr>
          <a:lstStyle/>
          <a:p>
            <a:pPr algn="ctr">
              <a:spcAft>
                <a:spcPts val="0"/>
              </a:spcAft>
            </a:pPr>
            <a:r>
              <a:rPr sz="1500" b="1" i="0">
                <a:solidFill>
                  <a:srgbClr val="EEF3FA"/>
                </a:solidFill>
                <a:latin typeface="Calibri"/>
              </a:rPr>
              <a:t>Read aloud</a:t>
            </a:r>
          </a:p>
          <a:p>
            <a:pPr algn="ctr">
              <a:spcAft>
                <a:spcPts val="0"/>
              </a:spcAft>
            </a:pPr>
            <a:r>
              <a:rPr sz="1200" b="0" i="0">
                <a:solidFill>
                  <a:srgbClr val="9AABC4"/>
                </a:solidFill>
                <a:latin typeface="Calibri"/>
              </a:rPr>
              <a:t>text-to-speech</a:t>
            </a:r>
          </a:p>
        </p:txBody>
      </p:sp>
      <p:sp>
        <p:nvSpPr>
          <p:cNvPr id="14" name="Right Arrow 13"/>
          <p:cNvSpPr/>
          <p:nvPr/>
        </p:nvSpPr>
        <p:spPr>
          <a:xfrm>
            <a:off x="4892040" y="1847088"/>
            <a:ext cx="192024" cy="146304"/>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129784" y="1325880"/>
            <a:ext cx="1938528" cy="11887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6" name="Picture 15" descr="text-aa.png"/>
          <p:cNvPicPr>
            <a:picLocks noChangeAspect="1"/>
          </p:cNvPicPr>
          <p:nvPr/>
        </p:nvPicPr>
        <p:blipFill>
          <a:blip r:embed="rId6"/>
          <a:stretch>
            <a:fillRect/>
          </a:stretch>
        </p:blipFill>
        <p:spPr>
          <a:xfrm>
            <a:off x="5916168" y="1417320"/>
            <a:ext cx="365760" cy="365760"/>
          </a:xfrm>
          <a:prstGeom prst="rect">
            <a:avLst/>
          </a:prstGeom>
        </p:spPr>
      </p:pic>
      <p:sp>
        <p:nvSpPr>
          <p:cNvPr id="17" name="TextBox 16"/>
          <p:cNvSpPr txBox="1"/>
          <p:nvPr/>
        </p:nvSpPr>
        <p:spPr>
          <a:xfrm>
            <a:off x="5129784" y="1810512"/>
            <a:ext cx="1938528" cy="685800"/>
          </a:xfrm>
          <a:prstGeom prst="rect">
            <a:avLst/>
          </a:prstGeom>
          <a:noFill/>
        </p:spPr>
        <p:txBody>
          <a:bodyPr wrap="square" anchor="t">
            <a:spAutoFit/>
          </a:bodyPr>
          <a:lstStyle/>
          <a:p>
            <a:pPr algn="ctr">
              <a:spcAft>
                <a:spcPts val="0"/>
              </a:spcAft>
            </a:pPr>
            <a:r>
              <a:rPr sz="1500" b="1" i="0">
                <a:solidFill>
                  <a:srgbClr val="EEF3FA"/>
                </a:solidFill>
                <a:latin typeface="Calibri"/>
              </a:rPr>
              <a:t>Word timings</a:t>
            </a:r>
          </a:p>
          <a:p>
            <a:pPr algn="ctr">
              <a:spcAft>
                <a:spcPts val="0"/>
              </a:spcAft>
            </a:pPr>
            <a:r>
              <a:rPr sz="1200" b="0" i="0">
                <a:solidFill>
                  <a:srgbClr val="9AABC4"/>
                </a:solidFill>
                <a:latin typeface="Calibri"/>
              </a:rPr>
              <a:t>timing tool</a:t>
            </a:r>
          </a:p>
        </p:txBody>
      </p:sp>
      <p:sp>
        <p:nvSpPr>
          <p:cNvPr id="18" name="Right Arrow 17"/>
          <p:cNvSpPr/>
          <p:nvPr/>
        </p:nvSpPr>
        <p:spPr>
          <a:xfrm>
            <a:off x="7114032" y="1847088"/>
            <a:ext cx="192024" cy="146304"/>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51776" y="1325880"/>
            <a:ext cx="1938528" cy="118872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0" name="Picture 19" descr="brain.png"/>
          <p:cNvPicPr>
            <a:picLocks noChangeAspect="1"/>
          </p:cNvPicPr>
          <p:nvPr/>
        </p:nvPicPr>
        <p:blipFill>
          <a:blip r:embed="rId3"/>
          <a:stretch>
            <a:fillRect/>
          </a:stretch>
        </p:blipFill>
        <p:spPr>
          <a:xfrm>
            <a:off x="8138160" y="1417320"/>
            <a:ext cx="365760" cy="365760"/>
          </a:xfrm>
          <a:prstGeom prst="rect">
            <a:avLst/>
          </a:prstGeom>
        </p:spPr>
      </p:pic>
      <p:sp>
        <p:nvSpPr>
          <p:cNvPr id="21" name="TextBox 20"/>
          <p:cNvSpPr txBox="1"/>
          <p:nvPr/>
        </p:nvSpPr>
        <p:spPr>
          <a:xfrm>
            <a:off x="7351776" y="1810512"/>
            <a:ext cx="1938528" cy="685800"/>
          </a:xfrm>
          <a:prstGeom prst="rect">
            <a:avLst/>
          </a:prstGeom>
          <a:noFill/>
        </p:spPr>
        <p:txBody>
          <a:bodyPr wrap="square" anchor="t">
            <a:spAutoFit/>
          </a:bodyPr>
          <a:lstStyle/>
          <a:p>
            <a:pPr algn="ctr">
              <a:spcAft>
                <a:spcPts val="0"/>
              </a:spcAft>
            </a:pPr>
            <a:r>
              <a:rPr sz="1500" b="1" i="0">
                <a:solidFill>
                  <a:srgbClr val="EEF3FA"/>
                </a:solidFill>
                <a:latin typeface="Calibri"/>
              </a:rPr>
              <a:t>TRIBE v2</a:t>
            </a:r>
          </a:p>
          <a:p>
            <a:pPr algn="ctr">
              <a:spcAft>
                <a:spcPts val="0"/>
              </a:spcAft>
            </a:pPr>
            <a:r>
              <a:rPr sz="1200" b="0" i="0">
                <a:solidFill>
                  <a:srgbClr val="9AABC4"/>
                </a:solidFill>
                <a:latin typeface="Calibri"/>
              </a:rPr>
              <a:t>Meta, 2025</a:t>
            </a:r>
          </a:p>
        </p:txBody>
      </p:sp>
      <p:sp>
        <p:nvSpPr>
          <p:cNvPr id="22" name="Right Arrow 21"/>
          <p:cNvSpPr/>
          <p:nvPr/>
        </p:nvSpPr>
        <p:spPr>
          <a:xfrm>
            <a:off x="9336024" y="1847088"/>
            <a:ext cx="192024" cy="146304"/>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573768" y="1325880"/>
            <a:ext cx="1938528" cy="11887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4" name="Picture 23" descr="target.png"/>
          <p:cNvPicPr>
            <a:picLocks noChangeAspect="1"/>
          </p:cNvPicPr>
          <p:nvPr/>
        </p:nvPicPr>
        <p:blipFill>
          <a:blip r:embed="rId7"/>
          <a:stretch>
            <a:fillRect/>
          </a:stretch>
        </p:blipFill>
        <p:spPr>
          <a:xfrm>
            <a:off x="10360152" y="1417320"/>
            <a:ext cx="365760" cy="365760"/>
          </a:xfrm>
          <a:prstGeom prst="rect">
            <a:avLst/>
          </a:prstGeom>
        </p:spPr>
      </p:pic>
      <p:sp>
        <p:nvSpPr>
          <p:cNvPr id="25" name="TextBox 24"/>
          <p:cNvSpPr txBox="1"/>
          <p:nvPr/>
        </p:nvSpPr>
        <p:spPr>
          <a:xfrm>
            <a:off x="9573768" y="1810512"/>
            <a:ext cx="1938528" cy="685800"/>
          </a:xfrm>
          <a:prstGeom prst="rect">
            <a:avLst/>
          </a:prstGeom>
          <a:noFill/>
        </p:spPr>
        <p:txBody>
          <a:bodyPr wrap="square" anchor="t">
            <a:spAutoFit/>
          </a:bodyPr>
          <a:lstStyle/>
          <a:p>
            <a:pPr algn="ctr">
              <a:spcAft>
                <a:spcPts val="0"/>
              </a:spcAft>
            </a:pPr>
            <a:r>
              <a:rPr sz="1500" b="1" i="0">
                <a:solidFill>
                  <a:srgbClr val="EEF3FA"/>
                </a:solidFill>
                <a:latin typeface="Calibri"/>
              </a:rPr>
              <a:t>Brain map</a:t>
            </a:r>
          </a:p>
          <a:p>
            <a:pPr algn="ctr">
              <a:spcAft>
                <a:spcPts val="0"/>
              </a:spcAft>
            </a:pPr>
            <a:r>
              <a:rPr sz="1200" b="0" i="0">
                <a:solidFill>
                  <a:srgbClr val="9AABC4"/>
                </a:solidFill>
                <a:latin typeface="Calibri"/>
              </a:rPr>
              <a:t>Glasser, 2016</a:t>
            </a:r>
          </a:p>
        </p:txBody>
      </p:sp>
      <p:sp>
        <p:nvSpPr>
          <p:cNvPr id="26" name="Rounded Rectangle 25"/>
          <p:cNvSpPr/>
          <p:nvPr/>
        </p:nvSpPr>
        <p:spPr>
          <a:xfrm>
            <a:off x="685800" y="2697480"/>
            <a:ext cx="4846320" cy="288036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7" name="Picture 26" descr="instrument_article.png"/>
          <p:cNvPicPr>
            <a:picLocks noChangeAspect="1"/>
          </p:cNvPicPr>
          <p:nvPr/>
        </p:nvPicPr>
        <p:blipFill>
          <a:blip r:embed="rId8"/>
          <a:stretch>
            <a:fillRect/>
          </a:stretch>
        </p:blipFill>
        <p:spPr>
          <a:xfrm>
            <a:off x="777240" y="2770632"/>
            <a:ext cx="4663440" cy="2772856"/>
          </a:xfrm>
          <a:prstGeom prst="rect">
            <a:avLst/>
          </a:prstGeom>
        </p:spPr>
      </p:pic>
      <p:sp>
        <p:nvSpPr>
          <p:cNvPr id="28" name="TextBox 27"/>
          <p:cNvSpPr txBox="1"/>
          <p:nvPr/>
        </p:nvSpPr>
        <p:spPr>
          <a:xfrm>
            <a:off x="685800" y="5605272"/>
            <a:ext cx="4937760" cy="457200"/>
          </a:xfrm>
          <a:prstGeom prst="rect">
            <a:avLst/>
          </a:prstGeom>
          <a:noFill/>
        </p:spPr>
        <p:txBody>
          <a:bodyPr wrap="square" anchor="t">
            <a:spAutoFit/>
          </a:bodyPr>
          <a:lstStyle/>
          <a:p>
            <a:pPr algn="l">
              <a:spcAft>
                <a:spcPts val="0"/>
              </a:spcAft>
            </a:pPr>
            <a:r>
              <a:rPr sz="1100" b="1">
                <a:solidFill>
                  <a:srgbClr val="EEF3FA"/>
                </a:solidFill>
                <a:latin typeface="Calibri"/>
              </a:rPr>
              <a:t>The live tool, one article: </a:t>
            </a:r>
            <a:r>
              <a:rPr sz="1100" b="0">
                <a:solidFill>
                  <a:srgbClr val="9AABC4"/>
                </a:solidFill>
                <a:latin typeface="Calibri"/>
              </a:rPr>
              <a:t>emotion +0.109, reasoning +0.055, score +0.054, the highest in the corpus.</a:t>
            </a:r>
          </a:p>
        </p:txBody>
      </p:sp>
      <p:sp>
        <p:nvSpPr>
          <p:cNvPr id="29" name="Rounded Rectangle 28"/>
          <p:cNvSpPr/>
          <p:nvPr/>
        </p:nvSpPr>
        <p:spPr>
          <a:xfrm>
            <a:off x="5760720" y="2697480"/>
            <a:ext cx="5742432" cy="178308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30" name="TextBox 29"/>
          <p:cNvSpPr txBox="1"/>
          <p:nvPr/>
        </p:nvSpPr>
        <p:spPr>
          <a:xfrm>
            <a:off x="5943600" y="2770632"/>
            <a:ext cx="4572000" cy="274320"/>
          </a:xfrm>
          <a:prstGeom prst="rect">
            <a:avLst/>
          </a:prstGeom>
          <a:noFill/>
        </p:spPr>
        <p:txBody>
          <a:bodyPr wrap="square" anchor="t">
            <a:spAutoFit/>
          </a:bodyPr>
          <a:lstStyle/>
          <a:p>
            <a:pPr algn="l">
              <a:spcAft>
                <a:spcPts val="0"/>
              </a:spcAft>
            </a:pPr>
            <a:r>
              <a:rPr sz="1100" b="1" i="0">
                <a:solidFill>
                  <a:srgbClr val="9AABC4"/>
                </a:solidFill>
                <a:latin typeface="Calibri"/>
              </a:rPr>
              <a:t>THE SCORE, X</a:t>
            </a:r>
          </a:p>
        </p:txBody>
      </p:sp>
      <p:pic>
        <p:nvPicPr>
          <p:cNvPr id="31" name="Picture 30" descr="1a1708a62b82e21d.png"/>
          <p:cNvPicPr>
            <a:picLocks noChangeAspect="1"/>
          </p:cNvPicPr>
          <p:nvPr/>
        </p:nvPicPr>
        <p:blipFill>
          <a:blip r:embed="rId9"/>
          <a:stretch>
            <a:fillRect/>
          </a:stretch>
        </p:blipFill>
        <p:spPr>
          <a:xfrm>
            <a:off x="7214958" y="3017520"/>
            <a:ext cx="2833954" cy="362102"/>
          </a:xfrm>
          <a:prstGeom prst="rect">
            <a:avLst/>
          </a:prstGeom>
        </p:spPr>
      </p:pic>
      <p:sp>
        <p:nvSpPr>
          <p:cNvPr id="32" name="Rectangle 31"/>
          <p:cNvSpPr/>
          <p:nvPr/>
        </p:nvSpPr>
        <p:spPr>
          <a:xfrm>
            <a:off x="6035040" y="3767328"/>
            <a:ext cx="2560320" cy="91440"/>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622792" y="3767328"/>
            <a:ext cx="2560320" cy="91440"/>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95360" y="3648456"/>
            <a:ext cx="27432" cy="329184"/>
          </a:xfrm>
          <a:prstGeom prst="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0" y="3877056"/>
            <a:ext cx="2560320" cy="274320"/>
          </a:xfrm>
          <a:prstGeom prst="rect">
            <a:avLst/>
          </a:prstGeom>
          <a:noFill/>
        </p:spPr>
        <p:txBody>
          <a:bodyPr wrap="square" anchor="t">
            <a:spAutoFit/>
          </a:bodyPr>
          <a:lstStyle/>
          <a:p>
            <a:pPr algn="l">
              <a:spcAft>
                <a:spcPts val="0"/>
              </a:spcAft>
            </a:pPr>
            <a:r>
              <a:rPr sz="1200" b="1" i="0">
                <a:solidFill>
                  <a:srgbClr val="7CC4FF"/>
                </a:solidFill>
                <a:latin typeface="Calibri"/>
              </a:rPr>
              <a:t>reasoning leads</a:t>
            </a:r>
          </a:p>
        </p:txBody>
      </p:sp>
      <p:sp>
        <p:nvSpPr>
          <p:cNvPr id="36" name="TextBox 35"/>
          <p:cNvSpPr txBox="1"/>
          <p:nvPr/>
        </p:nvSpPr>
        <p:spPr>
          <a:xfrm>
            <a:off x="8622792" y="3877056"/>
            <a:ext cx="2560320" cy="274320"/>
          </a:xfrm>
          <a:prstGeom prst="rect">
            <a:avLst/>
          </a:prstGeom>
          <a:noFill/>
        </p:spPr>
        <p:txBody>
          <a:bodyPr wrap="square" anchor="t">
            <a:spAutoFit/>
          </a:bodyPr>
          <a:lstStyle/>
          <a:p>
            <a:pPr algn="r">
              <a:spcAft>
                <a:spcPts val="0"/>
              </a:spcAft>
            </a:pPr>
            <a:r>
              <a:rPr sz="1200" b="1" i="0">
                <a:solidFill>
                  <a:srgbClr val="FF7A59"/>
                </a:solidFill>
                <a:latin typeface="Calibri"/>
              </a:rPr>
              <a:t>emotion leads</a:t>
            </a:r>
          </a:p>
        </p:txBody>
      </p:sp>
      <p:sp>
        <p:nvSpPr>
          <p:cNvPr id="37" name="TextBox 36"/>
          <p:cNvSpPr txBox="1"/>
          <p:nvPr/>
        </p:nvSpPr>
        <p:spPr>
          <a:xfrm>
            <a:off x="5943600" y="4133087"/>
            <a:ext cx="5394960" cy="274320"/>
          </a:xfrm>
          <a:prstGeom prst="rect">
            <a:avLst/>
          </a:prstGeom>
          <a:noFill/>
        </p:spPr>
        <p:txBody>
          <a:bodyPr wrap="square" anchor="t">
            <a:spAutoFit/>
          </a:bodyPr>
          <a:lstStyle/>
          <a:p>
            <a:pPr algn="ctr">
              <a:spcAft>
                <a:spcPts val="0"/>
              </a:spcAft>
            </a:pPr>
            <a:r>
              <a:rPr sz="1100" b="0" i="0">
                <a:solidFill>
                  <a:srgbClr val="9AABC4"/>
                </a:solidFill>
                <a:latin typeface="Calibri"/>
              </a:rPr>
              <a:t>emotion areas: 1,030 points  ·  reasoning areas: 851 points  ·  nobody scanned</a:t>
            </a:r>
          </a:p>
        </p:txBody>
      </p:sp>
      <p:sp>
        <p:nvSpPr>
          <p:cNvPr id="38" name="Rounded Rectangle 37">
            <a:hlinkClick r:id="rId10"/>
          </p:cNvPr>
          <p:cNvSpPr/>
          <p:nvPr/>
        </p:nvSpPr>
        <p:spPr>
          <a:xfrm>
            <a:off x="5760720" y="4617720"/>
            <a:ext cx="5742432" cy="96012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39" name="Picture 38" descr="target.png"/>
          <p:cNvPicPr>
            <a:picLocks noChangeAspect="1"/>
          </p:cNvPicPr>
          <p:nvPr/>
        </p:nvPicPr>
        <p:blipFill>
          <a:blip r:embed="rId7"/>
          <a:stretch>
            <a:fillRect/>
          </a:stretch>
        </p:blipFill>
        <p:spPr>
          <a:xfrm>
            <a:off x="5943600" y="4873752"/>
            <a:ext cx="420624" cy="420624"/>
          </a:xfrm>
          <a:prstGeom prst="rect">
            <a:avLst/>
          </a:prstGeom>
        </p:spPr>
      </p:pic>
      <p:sp>
        <p:nvSpPr>
          <p:cNvPr id="40" name="TextBox 39"/>
          <p:cNvSpPr txBox="1"/>
          <p:nvPr/>
        </p:nvSpPr>
        <p:spPr>
          <a:xfrm>
            <a:off x="6537960" y="4663440"/>
            <a:ext cx="4846320" cy="914400"/>
          </a:xfrm>
          <a:prstGeom prst="rect">
            <a:avLst/>
          </a:prstGeom>
          <a:noFill/>
        </p:spPr>
        <p:txBody>
          <a:bodyPr wrap="square" anchor="ctr">
            <a:spAutoFit/>
          </a:bodyPr>
          <a:lstStyle/>
          <a:p>
            <a:pPr algn="l">
              <a:spcAft>
                <a:spcPts val="0"/>
              </a:spcAft>
            </a:pPr>
            <a:r>
              <a:rPr sz="1100" b="1" i="0">
                <a:solidFill>
                  <a:srgbClr val="F5B83D"/>
                </a:solidFill>
                <a:latin typeface="Calibri"/>
              </a:rPr>
              <a:t>TRY THE INSTRUMENT LIVE</a:t>
            </a:r>
          </a:p>
          <a:p>
            <a:pPr algn="l">
              <a:spcAft>
                <a:spcPts val="0"/>
              </a:spcAft>
            </a:pPr>
            <a:r>
              <a:rPr sz="2200" b="1" i="0">
                <a:solidFill>
                  <a:srgbClr val="EEF3FA"/>
                </a:solidFill>
                <a:latin typeface="Calibri"/>
              </a:rPr>
              <a:t>monarch-4iy.pages.dev</a:t>
            </a:r>
          </a:p>
          <a:p>
            <a:pPr algn="l">
              <a:spcAft>
                <a:spcPts val="0"/>
              </a:spcAft>
            </a:pPr>
            <a:r>
              <a:rPr sz="1100" b="0" i="0">
                <a:solidFill>
                  <a:srgbClr val="9AABC4"/>
                </a:solidFill>
                <a:latin typeface="Calibri"/>
              </a:rPr>
              <a:t>code and data: github.com/brn-mwai/monarch</a:t>
            </a:r>
          </a:p>
        </p:txBody>
      </p:sp>
      <p:sp>
        <p:nvSpPr>
          <p:cNvPr id="41" name="TextBox 40"/>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METHOD</a:t>
            </a:r>
          </a:p>
        </p:txBody>
      </p:sp>
      <p:sp>
        <p:nvSpPr>
          <p:cNvPr id="42" name="Rectangle 41"/>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268315"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newspape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METHOD</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400 articles, four groups, matched in length</a:t>
            </a:r>
          </a:p>
        </p:txBody>
      </p:sp>
      <p:sp>
        <p:nvSpPr>
          <p:cNvPr id="7" name="Rounded Rectangle 6"/>
          <p:cNvSpPr/>
          <p:nvPr/>
        </p:nvSpPr>
        <p:spPr>
          <a:xfrm>
            <a:off x="685800" y="1417320"/>
            <a:ext cx="2487168" cy="173736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8" name="Rectangle 7"/>
          <p:cNvSpPr/>
          <p:nvPr/>
        </p:nvSpPr>
        <p:spPr>
          <a:xfrm>
            <a:off x="685800" y="1417320"/>
            <a:ext cx="2487168" cy="64008"/>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00200"/>
            <a:ext cx="2487168" cy="1463040"/>
          </a:xfrm>
          <a:prstGeom prst="rect">
            <a:avLst/>
          </a:prstGeom>
          <a:noFill/>
        </p:spPr>
        <p:txBody>
          <a:bodyPr wrap="square" anchor="t">
            <a:spAutoFit/>
          </a:bodyPr>
          <a:lstStyle/>
          <a:p>
            <a:pPr algn="ctr">
              <a:spcAft>
                <a:spcPts val="0"/>
              </a:spcAft>
            </a:pPr>
            <a:r>
              <a:rPr sz="4000" b="1" i="0">
                <a:solidFill>
                  <a:srgbClr val="FF7A59"/>
                </a:solidFill>
                <a:latin typeface="Calibri"/>
              </a:rPr>
              <a:t>100</a:t>
            </a:r>
          </a:p>
          <a:p>
            <a:pPr algn="ctr">
              <a:spcAft>
                <a:spcPts val="0"/>
              </a:spcAft>
            </a:pPr>
            <a:r>
              <a:rPr sz="1700" b="1" i="0">
                <a:solidFill>
                  <a:srgbClr val="EEF3FA"/>
                </a:solidFill>
                <a:latin typeface="Calibri"/>
              </a:rPr>
              <a:t>Fear-driven</a:t>
            </a:r>
          </a:p>
          <a:p>
            <a:pPr algn="ctr">
              <a:spcAft>
                <a:spcPts val="0"/>
              </a:spcAft>
            </a:pPr>
            <a:r>
              <a:rPr sz="1200" b="0" i="0">
                <a:solidFill>
                  <a:srgbClr val="9AABC4"/>
                </a:solidFill>
                <a:latin typeface="Calibri"/>
              </a:rPr>
              <a:t>fake news (ISOT)</a:t>
            </a:r>
          </a:p>
        </p:txBody>
      </p:sp>
      <p:sp>
        <p:nvSpPr>
          <p:cNvPr id="10" name="Rounded Rectangle 9"/>
          <p:cNvSpPr/>
          <p:nvPr/>
        </p:nvSpPr>
        <p:spPr>
          <a:xfrm>
            <a:off x="3462832" y="1417320"/>
            <a:ext cx="2487168" cy="173736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1" name="Rectangle 10"/>
          <p:cNvSpPr/>
          <p:nvPr/>
        </p:nvSpPr>
        <p:spPr>
          <a:xfrm>
            <a:off x="3462832" y="1417320"/>
            <a:ext cx="2487168" cy="64008"/>
          </a:xfrm>
          <a:prstGeom prst="rect">
            <a:avLst/>
          </a:prstGeom>
          <a:solidFill>
            <a:srgbClr val="F5B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62832" y="1600200"/>
            <a:ext cx="2487168" cy="1463040"/>
          </a:xfrm>
          <a:prstGeom prst="rect">
            <a:avLst/>
          </a:prstGeom>
          <a:noFill/>
        </p:spPr>
        <p:txBody>
          <a:bodyPr wrap="square" anchor="t">
            <a:spAutoFit/>
          </a:bodyPr>
          <a:lstStyle/>
          <a:p>
            <a:pPr algn="ctr">
              <a:spcAft>
                <a:spcPts val="0"/>
              </a:spcAft>
            </a:pPr>
            <a:r>
              <a:rPr sz="4000" b="1" i="0">
                <a:solidFill>
                  <a:srgbClr val="F5B83D"/>
                </a:solidFill>
                <a:latin typeface="Calibri"/>
              </a:rPr>
              <a:t>100</a:t>
            </a:r>
          </a:p>
          <a:p>
            <a:pPr algn="ctr">
              <a:spcAft>
                <a:spcPts val="0"/>
              </a:spcAft>
            </a:pPr>
            <a:r>
              <a:rPr sz="1700" b="1" i="0">
                <a:solidFill>
                  <a:srgbClr val="EEF3FA"/>
                </a:solidFill>
                <a:latin typeface="Calibri"/>
              </a:rPr>
              <a:t>Outrage</a:t>
            </a:r>
          </a:p>
          <a:p>
            <a:pPr algn="ctr">
              <a:spcAft>
                <a:spcPts val="0"/>
              </a:spcAft>
            </a:pPr>
            <a:r>
              <a:rPr sz="1200" b="0" i="0">
                <a:solidFill>
                  <a:srgbClr val="9AABC4"/>
                </a:solidFill>
                <a:latin typeface="Calibri"/>
              </a:rPr>
              <a:t>partisan news (SemEval)</a:t>
            </a:r>
          </a:p>
        </p:txBody>
      </p:sp>
      <p:sp>
        <p:nvSpPr>
          <p:cNvPr id="13" name="Rounded Rectangle 12"/>
          <p:cNvSpPr/>
          <p:nvPr/>
        </p:nvSpPr>
        <p:spPr>
          <a:xfrm>
            <a:off x="6239865" y="1417320"/>
            <a:ext cx="2487168" cy="173736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4" name="Rectangle 13"/>
          <p:cNvSpPr/>
          <p:nvPr/>
        </p:nvSpPr>
        <p:spPr>
          <a:xfrm>
            <a:off x="6239865" y="1417320"/>
            <a:ext cx="2487168" cy="64008"/>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39865" y="1600200"/>
            <a:ext cx="2487168" cy="1463040"/>
          </a:xfrm>
          <a:prstGeom prst="rect">
            <a:avLst/>
          </a:prstGeom>
          <a:noFill/>
        </p:spPr>
        <p:txBody>
          <a:bodyPr wrap="square" anchor="t">
            <a:spAutoFit/>
          </a:bodyPr>
          <a:lstStyle/>
          <a:p>
            <a:pPr algn="ctr">
              <a:spcAft>
                <a:spcPts val="0"/>
              </a:spcAft>
            </a:pPr>
            <a:r>
              <a:rPr sz="4000" b="1" i="0">
                <a:solidFill>
                  <a:srgbClr val="3E8EDE"/>
                </a:solidFill>
                <a:latin typeface="Calibri"/>
              </a:rPr>
              <a:t>100</a:t>
            </a:r>
          </a:p>
          <a:p>
            <a:pPr algn="ctr">
              <a:spcAft>
                <a:spcPts val="0"/>
              </a:spcAft>
            </a:pPr>
            <a:r>
              <a:rPr sz="1700" b="1" i="0">
                <a:solidFill>
                  <a:srgbClr val="EEF3FA"/>
                </a:solidFill>
                <a:latin typeface="Calibri"/>
              </a:rPr>
              <a:t>Clickbait</a:t>
            </a:r>
          </a:p>
          <a:p>
            <a:pPr algn="ctr">
              <a:spcAft>
                <a:spcPts val="0"/>
              </a:spcAft>
            </a:pPr>
            <a:r>
              <a:rPr sz="1200" b="0" i="0">
                <a:solidFill>
                  <a:srgbClr val="9AABC4"/>
                </a:solidFill>
                <a:latin typeface="Calibri"/>
              </a:rPr>
              <a:t>headlines (Webis)</a:t>
            </a:r>
          </a:p>
        </p:txBody>
      </p:sp>
      <p:sp>
        <p:nvSpPr>
          <p:cNvPr id="16" name="Rounded Rectangle 15"/>
          <p:cNvSpPr/>
          <p:nvPr/>
        </p:nvSpPr>
        <p:spPr>
          <a:xfrm>
            <a:off x="9016898" y="1417320"/>
            <a:ext cx="2487168" cy="173736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7" name="Rectangle 16"/>
          <p:cNvSpPr/>
          <p:nvPr/>
        </p:nvSpPr>
        <p:spPr>
          <a:xfrm>
            <a:off x="9016898" y="1417320"/>
            <a:ext cx="2487168" cy="64008"/>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16898" y="1600200"/>
            <a:ext cx="2487168" cy="1463040"/>
          </a:xfrm>
          <a:prstGeom prst="rect">
            <a:avLst/>
          </a:prstGeom>
          <a:noFill/>
        </p:spPr>
        <p:txBody>
          <a:bodyPr wrap="square" anchor="t">
            <a:spAutoFit/>
          </a:bodyPr>
          <a:lstStyle/>
          <a:p>
            <a:pPr algn="ctr">
              <a:spcAft>
                <a:spcPts val="0"/>
              </a:spcAft>
            </a:pPr>
            <a:r>
              <a:rPr sz="4000" b="1" i="0">
                <a:solidFill>
                  <a:srgbClr val="9AABC4"/>
                </a:solidFill>
                <a:latin typeface="Calibri"/>
              </a:rPr>
              <a:t>100</a:t>
            </a:r>
          </a:p>
          <a:p>
            <a:pPr algn="ctr">
              <a:spcAft>
                <a:spcPts val="0"/>
              </a:spcAft>
            </a:pPr>
            <a:r>
              <a:rPr sz="1700" b="1" i="0">
                <a:solidFill>
                  <a:srgbClr val="EEF3FA"/>
                </a:solidFill>
                <a:latin typeface="Calibri"/>
              </a:rPr>
              <a:t>Neutral</a:t>
            </a:r>
          </a:p>
          <a:p>
            <a:pPr algn="ctr">
              <a:spcAft>
                <a:spcPts val="0"/>
              </a:spcAft>
            </a:pPr>
            <a:r>
              <a:rPr sz="1200" b="0" i="0">
                <a:solidFill>
                  <a:srgbClr val="9AABC4"/>
                </a:solidFill>
                <a:latin typeface="Calibri"/>
              </a:rPr>
              <a:t>medical + real news</a:t>
            </a:r>
          </a:p>
        </p:txBody>
      </p:sp>
      <p:sp>
        <p:nvSpPr>
          <p:cNvPr id="19" name="Rounded Rectangle 18"/>
          <p:cNvSpPr/>
          <p:nvPr/>
        </p:nvSpPr>
        <p:spPr>
          <a:xfrm>
            <a:off x="685800" y="3474720"/>
            <a:ext cx="3429000" cy="160020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4000" b="1" i="0">
                <a:solidFill>
                  <a:srgbClr val="7CC4FF"/>
                </a:solidFill>
                <a:latin typeface="Calibri"/>
              </a:rPr>
              <a:t>≈ 164</a:t>
            </a:r>
          </a:p>
          <a:p>
            <a:pPr algn="ctr">
              <a:spcAft>
                <a:spcPts val="0"/>
              </a:spcAft>
            </a:pPr>
            <a:r>
              <a:rPr sz="1300" b="0" i="0">
                <a:solidFill>
                  <a:srgbClr val="EEF3FA"/>
                </a:solidFill>
                <a:latin typeface="Calibri"/>
              </a:rPr>
              <a:t>words per article,
all groups within 5 words</a:t>
            </a:r>
          </a:p>
        </p:txBody>
      </p:sp>
      <p:sp>
        <p:nvSpPr>
          <p:cNvPr id="20" name="Rounded Rectangle 19"/>
          <p:cNvSpPr/>
          <p:nvPr/>
        </p:nvSpPr>
        <p:spPr>
          <a:xfrm>
            <a:off x="4379976" y="3474720"/>
            <a:ext cx="3429000" cy="160020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4000" b="1" i="0">
                <a:solidFill>
                  <a:srgbClr val="5FD09A"/>
                </a:solidFill>
                <a:latin typeface="Calibri"/>
              </a:rPr>
              <a:t>0.027</a:t>
            </a:r>
          </a:p>
          <a:p>
            <a:pPr algn="ctr">
              <a:spcAft>
                <a:spcPts val="0"/>
              </a:spcAft>
            </a:pPr>
            <a:r>
              <a:rPr sz="1300" b="0" i="0">
                <a:solidFill>
                  <a:srgbClr val="EEF3FA"/>
                </a:solidFill>
                <a:latin typeface="Calibri"/>
              </a:rPr>
              <a:t>smallest effect we
could detect, set in advance</a:t>
            </a:r>
          </a:p>
        </p:txBody>
      </p:sp>
      <p:sp>
        <p:nvSpPr>
          <p:cNvPr id="21" name="Rounded Rectangle 20"/>
          <p:cNvSpPr/>
          <p:nvPr/>
        </p:nvSpPr>
        <p:spPr>
          <a:xfrm>
            <a:off x="8074152" y="3474720"/>
            <a:ext cx="3429000" cy="160020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4000" b="1" i="0">
                <a:solidFill>
                  <a:srgbClr val="F5B83D"/>
                </a:solidFill>
                <a:latin typeface="Calibri"/>
              </a:rPr>
              <a:t>× 2</a:t>
            </a:r>
          </a:p>
          <a:p>
            <a:pPr algn="ctr">
              <a:spcAft>
                <a:spcPts val="0"/>
              </a:spcAft>
            </a:pPr>
            <a:r>
              <a:rPr sz="1300" b="0" i="0">
                <a:solidFill>
                  <a:srgbClr val="EEF3FA"/>
                </a:solidFill>
                <a:latin typeface="Calibri"/>
              </a:rPr>
              <a:t>every article
scanned twice</a:t>
            </a:r>
          </a:p>
        </p:txBody>
      </p:sp>
      <p:sp>
        <p:nvSpPr>
          <p:cNvPr id="22" name="TextBox 21"/>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METHOD</a:t>
            </a:r>
          </a:p>
        </p:txBody>
      </p:sp>
      <p:sp>
        <p:nvSpPr>
          <p:cNvPr id="23" name="Rectangle 22"/>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268315"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art-ba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Result 1: the four groups really differ</a:t>
            </a:r>
          </a:p>
        </p:txBody>
      </p:sp>
      <p:graphicFrame>
        <p:nvGraphicFramePr>
          <p:cNvPr id="7" name="Chart 6"/>
          <p:cNvGraphicFramePr>
            <a:graphicFrameLocks noGrp="1"/>
          </p:cNvGraphicFramePr>
          <p:nvPr/>
        </p:nvGraphicFramePr>
        <p:xfrm>
          <a:off x="685800" y="1325880"/>
          <a:ext cx="3383280" cy="3383280"/>
        </p:xfrm>
        <a:graphic>
          <a:graphicData uri="http://schemas.openxmlformats.org/drawingml/2006/chart">
            <c:chart xmlns:c="http://schemas.openxmlformats.org/drawingml/2006/chart" r:id="rId4"/>
          </a:graphicData>
        </a:graphic>
      </p:graphicFrame>
      <p:sp>
        <p:nvSpPr>
          <p:cNvPr id="8" name="TextBox 7"/>
          <p:cNvSpPr txBox="1"/>
          <p:nvPr/>
        </p:nvSpPr>
        <p:spPr>
          <a:xfrm>
            <a:off x="685800" y="2560320"/>
            <a:ext cx="3383280" cy="914400"/>
          </a:xfrm>
          <a:prstGeom prst="rect">
            <a:avLst/>
          </a:prstGeom>
          <a:noFill/>
        </p:spPr>
        <p:txBody>
          <a:bodyPr wrap="square" anchor="t">
            <a:spAutoFit/>
          </a:bodyPr>
          <a:lstStyle/>
          <a:p>
            <a:pPr algn="ctr">
              <a:spcAft>
                <a:spcPts val="0"/>
              </a:spcAft>
            </a:pPr>
            <a:r>
              <a:rPr sz="4400" b="1" i="0">
                <a:solidFill>
                  <a:srgbClr val="EEF3FA"/>
                </a:solidFill>
                <a:latin typeface="Calibri"/>
              </a:rPr>
              <a:t>11%</a:t>
            </a:r>
          </a:p>
        </p:txBody>
      </p:sp>
      <p:sp>
        <p:nvSpPr>
          <p:cNvPr id="9" name="TextBox 8"/>
          <p:cNvSpPr txBox="1"/>
          <p:nvPr/>
        </p:nvSpPr>
        <p:spPr>
          <a:xfrm>
            <a:off x="685800" y="4709160"/>
            <a:ext cx="3383280" cy="822960"/>
          </a:xfrm>
          <a:prstGeom prst="rect">
            <a:avLst/>
          </a:prstGeom>
          <a:noFill/>
        </p:spPr>
        <p:txBody>
          <a:bodyPr wrap="square" anchor="t">
            <a:spAutoFit/>
          </a:bodyPr>
          <a:lstStyle/>
          <a:p>
            <a:pPr algn="ctr">
              <a:spcAft>
                <a:spcPts val="0"/>
              </a:spcAft>
            </a:pPr>
            <a:r>
              <a:rPr sz="1400" b="1">
                <a:solidFill>
                  <a:srgbClr val="7CC4FF"/>
                </a:solidFill>
                <a:latin typeface="Calibri"/>
              </a:rPr>
              <a:t>11% </a:t>
            </a:r>
            <a:r>
              <a:rPr sz="1400" b="0">
                <a:solidFill>
                  <a:srgbClr val="EEF3FA"/>
                </a:solidFill>
                <a:latin typeface="Calibri"/>
              </a:rPr>
              <a:t>of the differences between articles comes from their group</a:t>
            </a:r>
          </a:p>
        </p:txBody>
      </p:sp>
      <p:pic>
        <p:nvPicPr>
          <p:cNvPr id="10" name="Picture 9" descr="6ddc7e1fd2e5a9b0.png"/>
          <p:cNvPicPr>
            <a:picLocks noChangeAspect="1"/>
          </p:cNvPicPr>
          <p:nvPr/>
        </p:nvPicPr>
        <p:blipFill>
          <a:blip r:embed="rId5"/>
          <a:stretch>
            <a:fillRect/>
          </a:stretch>
        </p:blipFill>
        <p:spPr>
          <a:xfrm>
            <a:off x="4343400" y="1463040"/>
            <a:ext cx="2911906" cy="435025"/>
          </a:xfrm>
          <a:prstGeom prst="rect">
            <a:avLst/>
          </a:prstGeom>
        </p:spPr>
      </p:pic>
      <p:sp>
        <p:nvSpPr>
          <p:cNvPr id="11" name="TextBox 10"/>
          <p:cNvSpPr txBox="1"/>
          <p:nvPr/>
        </p:nvSpPr>
        <p:spPr>
          <a:xfrm>
            <a:off x="4343400" y="2331720"/>
            <a:ext cx="7132320" cy="274320"/>
          </a:xfrm>
          <a:prstGeom prst="rect">
            <a:avLst/>
          </a:prstGeom>
          <a:noFill/>
        </p:spPr>
        <p:txBody>
          <a:bodyPr wrap="square" anchor="t">
            <a:spAutoFit/>
          </a:bodyPr>
          <a:lstStyle/>
          <a:p>
            <a:pPr algn="l">
              <a:spcAft>
                <a:spcPts val="0"/>
              </a:spcAft>
            </a:pPr>
            <a:r>
              <a:rPr sz="1100" b="1" i="0">
                <a:solidFill>
                  <a:srgbClr val="9AABC4"/>
                </a:solidFill>
                <a:latin typeface="Calibri"/>
              </a:rPr>
              <a:t>η² ON EACH RUN, AGAINST THE SMALLEST WE COULD DETECT</a:t>
            </a:r>
          </a:p>
        </p:txBody>
      </p:sp>
      <p:sp>
        <p:nvSpPr>
          <p:cNvPr id="12" name="TextBox 11"/>
          <p:cNvSpPr txBox="1"/>
          <p:nvPr/>
        </p:nvSpPr>
        <p:spPr>
          <a:xfrm>
            <a:off x="4343399" y="2679192"/>
            <a:ext cx="1325880" cy="411480"/>
          </a:xfrm>
          <a:prstGeom prst="rect">
            <a:avLst/>
          </a:prstGeom>
          <a:noFill/>
        </p:spPr>
        <p:txBody>
          <a:bodyPr wrap="square" anchor="t">
            <a:spAutoFit/>
          </a:bodyPr>
          <a:lstStyle/>
          <a:p>
            <a:pPr algn="r">
              <a:spcAft>
                <a:spcPts val="0"/>
              </a:spcAft>
            </a:pPr>
            <a:r>
              <a:rPr sz="1400" b="0" i="0">
                <a:solidFill>
                  <a:srgbClr val="9AABC4"/>
                </a:solidFill>
                <a:latin typeface="Calibri"/>
              </a:rPr>
              <a:t>first run</a:t>
            </a:r>
          </a:p>
        </p:txBody>
      </p:sp>
      <p:sp>
        <p:nvSpPr>
          <p:cNvPr id="13" name="Rectangle 12"/>
          <p:cNvSpPr/>
          <p:nvPr/>
        </p:nvSpPr>
        <p:spPr>
          <a:xfrm>
            <a:off x="5806440" y="2743200"/>
            <a:ext cx="42062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806440" y="2743200"/>
            <a:ext cx="3743553" cy="274320"/>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0" y="2679192"/>
            <a:ext cx="2926080" cy="411480"/>
          </a:xfrm>
          <a:prstGeom prst="rect">
            <a:avLst/>
          </a:prstGeom>
          <a:noFill/>
        </p:spPr>
        <p:txBody>
          <a:bodyPr wrap="square" anchor="t">
            <a:spAutoFit/>
          </a:bodyPr>
          <a:lstStyle/>
          <a:p>
            <a:pPr algn="l">
              <a:spcAft>
                <a:spcPts val="0"/>
              </a:spcAft>
            </a:pPr>
            <a:r>
              <a:rPr sz="1400" b="1" i="0">
                <a:solidFill>
                  <a:srgbClr val="7CC4FF"/>
                </a:solidFill>
                <a:latin typeface="Calibri"/>
              </a:rPr>
              <a:t>0.107</a:t>
            </a:r>
          </a:p>
        </p:txBody>
      </p:sp>
      <p:sp>
        <p:nvSpPr>
          <p:cNvPr id="16" name="TextBox 15"/>
          <p:cNvSpPr txBox="1"/>
          <p:nvPr/>
        </p:nvSpPr>
        <p:spPr>
          <a:xfrm>
            <a:off x="4343399" y="3182112"/>
            <a:ext cx="1325880" cy="411480"/>
          </a:xfrm>
          <a:prstGeom prst="rect">
            <a:avLst/>
          </a:prstGeom>
          <a:noFill/>
        </p:spPr>
        <p:txBody>
          <a:bodyPr wrap="square" anchor="t">
            <a:spAutoFit/>
          </a:bodyPr>
          <a:lstStyle/>
          <a:p>
            <a:pPr algn="r">
              <a:spcAft>
                <a:spcPts val="0"/>
              </a:spcAft>
            </a:pPr>
            <a:r>
              <a:rPr sz="1400" b="0" i="0">
                <a:solidFill>
                  <a:srgbClr val="9AABC4"/>
                </a:solidFill>
                <a:latin typeface="Calibri"/>
              </a:rPr>
              <a:t>second run</a:t>
            </a:r>
          </a:p>
        </p:txBody>
      </p:sp>
      <p:sp>
        <p:nvSpPr>
          <p:cNvPr id="17" name="Rectangle 16"/>
          <p:cNvSpPr/>
          <p:nvPr/>
        </p:nvSpPr>
        <p:spPr>
          <a:xfrm>
            <a:off x="5806440" y="3246120"/>
            <a:ext cx="42062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806440" y="3246120"/>
            <a:ext cx="3112617" cy="274320"/>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40" y="3182112"/>
            <a:ext cx="2926080" cy="411480"/>
          </a:xfrm>
          <a:prstGeom prst="rect">
            <a:avLst/>
          </a:prstGeom>
          <a:noFill/>
        </p:spPr>
        <p:txBody>
          <a:bodyPr wrap="square" anchor="t">
            <a:spAutoFit/>
          </a:bodyPr>
          <a:lstStyle/>
          <a:p>
            <a:pPr algn="l">
              <a:spcAft>
                <a:spcPts val="0"/>
              </a:spcAft>
            </a:pPr>
            <a:r>
              <a:rPr sz="1400" b="1" i="0">
                <a:solidFill>
                  <a:srgbClr val="3E8EDE"/>
                </a:solidFill>
                <a:latin typeface="Calibri"/>
              </a:rPr>
              <a:t>0.089</a:t>
            </a:r>
          </a:p>
        </p:txBody>
      </p:sp>
      <p:sp>
        <p:nvSpPr>
          <p:cNvPr id="20" name="TextBox 19"/>
          <p:cNvSpPr txBox="1"/>
          <p:nvPr/>
        </p:nvSpPr>
        <p:spPr>
          <a:xfrm>
            <a:off x="4343399" y="3685031"/>
            <a:ext cx="1325880" cy="411480"/>
          </a:xfrm>
          <a:prstGeom prst="rect">
            <a:avLst/>
          </a:prstGeom>
          <a:noFill/>
        </p:spPr>
        <p:txBody>
          <a:bodyPr wrap="square" anchor="t">
            <a:spAutoFit/>
          </a:bodyPr>
          <a:lstStyle/>
          <a:p>
            <a:pPr algn="r">
              <a:spcAft>
                <a:spcPts val="0"/>
              </a:spcAft>
            </a:pPr>
            <a:r>
              <a:rPr sz="1400" b="0" i="0">
                <a:solidFill>
                  <a:srgbClr val="9AABC4"/>
                </a:solidFill>
                <a:latin typeface="Calibri"/>
              </a:rPr>
              <a:t>detectable</a:t>
            </a:r>
          </a:p>
        </p:txBody>
      </p:sp>
      <p:sp>
        <p:nvSpPr>
          <p:cNvPr id="21" name="Rectangle 20"/>
          <p:cNvSpPr/>
          <p:nvPr/>
        </p:nvSpPr>
        <p:spPr>
          <a:xfrm>
            <a:off x="5806440" y="3749039"/>
            <a:ext cx="42062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806440" y="3749039"/>
            <a:ext cx="939393" cy="274320"/>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49840" y="3685031"/>
            <a:ext cx="2926080" cy="411480"/>
          </a:xfrm>
          <a:prstGeom prst="rect">
            <a:avLst/>
          </a:prstGeom>
          <a:noFill/>
        </p:spPr>
        <p:txBody>
          <a:bodyPr wrap="square" anchor="t">
            <a:spAutoFit/>
          </a:bodyPr>
          <a:lstStyle/>
          <a:p>
            <a:pPr algn="l">
              <a:spcAft>
                <a:spcPts val="0"/>
              </a:spcAft>
            </a:pPr>
            <a:r>
              <a:rPr sz="1400" b="1" i="0">
                <a:solidFill>
                  <a:srgbClr val="9AABC4"/>
                </a:solidFill>
                <a:latin typeface="Calibri"/>
              </a:rPr>
              <a:t>0.027</a:t>
            </a:r>
          </a:p>
        </p:txBody>
      </p:sp>
      <p:sp>
        <p:nvSpPr>
          <p:cNvPr id="24" name="Rounded Rectangle 23"/>
          <p:cNvSpPr/>
          <p:nvPr/>
        </p:nvSpPr>
        <p:spPr>
          <a:xfrm>
            <a:off x="4343400" y="4343400"/>
            <a:ext cx="3474720" cy="118872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2600" b="1" i="0">
                <a:solidFill>
                  <a:srgbClr val="5FD09A"/>
                </a:solidFill>
                <a:latin typeface="Calibri"/>
              </a:rPr>
              <a:t>1 in a billion</a:t>
            </a:r>
          </a:p>
          <a:p>
            <a:pPr algn="ctr">
              <a:spcAft>
                <a:spcPts val="0"/>
              </a:spcAft>
            </a:pPr>
            <a:r>
              <a:rPr sz="1300" b="0" i="0">
                <a:solidFill>
                  <a:srgbClr val="EEF3FA"/>
                </a:solidFill>
                <a:latin typeface="Calibri"/>
              </a:rPr>
              <a:t>chance it is luck (p = 1×10⁻⁹)</a:t>
            </a:r>
          </a:p>
        </p:txBody>
      </p:sp>
      <p:sp>
        <p:nvSpPr>
          <p:cNvPr id="25" name="Rounded Rectangle 24"/>
          <p:cNvSpPr/>
          <p:nvPr/>
        </p:nvSpPr>
        <p:spPr>
          <a:xfrm>
            <a:off x="8028431" y="4343400"/>
            <a:ext cx="3474720" cy="1188720"/>
          </a:xfrm>
          <a:prstGeom prst="roundRect">
            <a:avLst>
              <a:gd name="adj" fmla="val 6000"/>
            </a:avLst>
          </a:prstGeom>
          <a:solidFill>
            <a:srgbClr val="12223C"/>
          </a:solidFill>
          <a:ln w="25400">
            <a:solidFill>
              <a:srgbClr val="3E8ED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2600" b="1" i="0">
                <a:solidFill>
                  <a:srgbClr val="3E8EDE"/>
                </a:solidFill>
                <a:latin typeface="Calibri"/>
              </a:rPr>
              <a:t>Repeats</a:t>
            </a:r>
          </a:p>
          <a:p>
            <a:pPr algn="ctr">
              <a:spcAft>
                <a:spcPts val="0"/>
              </a:spcAft>
            </a:pPr>
            <a:r>
              <a:rPr sz="1300" b="0" i="0">
                <a:solidFill>
                  <a:srgbClr val="EEF3FA"/>
                </a:solidFill>
                <a:latin typeface="Calibri"/>
              </a:rPr>
              <a:t>second run agrees (0.089)</a:t>
            </a:r>
          </a:p>
        </p:txBody>
      </p:sp>
      <p:sp>
        <p:nvSpPr>
          <p:cNvPr id="26" name="Rounded Rectangle 25"/>
          <p:cNvSpPr/>
          <p:nvPr/>
        </p:nvSpPr>
        <p:spPr>
          <a:xfrm>
            <a:off x="685800" y="5715000"/>
            <a:ext cx="10820095" cy="45720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Meaning:  </a:t>
            </a:r>
            <a:r>
              <a:rPr sz="1600" b="0">
                <a:solidFill>
                  <a:srgbClr val="EEF3FA"/>
                </a:solidFill>
                <a:latin typeface="Calibri"/>
              </a:rPr>
              <a:t>the groups differ for real, but most variation is from one article to the next.</a:t>
            </a:r>
          </a:p>
        </p:txBody>
      </p:sp>
      <p:sp>
        <p:nvSpPr>
          <p:cNvPr id="27" name="TextBox 26"/>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28" name="Rectangle 27"/>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art-ba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Result 2: fear drives it; outrage lifts both sides equally</a:t>
            </a:r>
          </a:p>
        </p:txBody>
      </p:sp>
      <p:pic>
        <p:nvPicPr>
          <p:cNvPr id="7" name="Picture 6" descr="75fb8530cacd19fd.png"/>
          <p:cNvPicPr>
            <a:picLocks noChangeAspect="1"/>
          </p:cNvPicPr>
          <p:nvPr/>
        </p:nvPicPr>
        <p:blipFill>
          <a:blip r:embed="rId4"/>
          <a:stretch>
            <a:fillRect/>
          </a:stretch>
        </p:blipFill>
        <p:spPr>
          <a:xfrm>
            <a:off x="685800" y="1325880"/>
            <a:ext cx="1673352" cy="393192"/>
          </a:xfrm>
          <a:prstGeom prst="rect">
            <a:avLst/>
          </a:prstGeom>
        </p:spPr>
      </p:pic>
      <p:sp>
        <p:nvSpPr>
          <p:cNvPr id="8" name="TextBox 7"/>
          <p:cNvSpPr txBox="1"/>
          <p:nvPr/>
        </p:nvSpPr>
        <p:spPr>
          <a:xfrm>
            <a:off x="3566160" y="1417320"/>
            <a:ext cx="4572000" cy="457200"/>
          </a:xfrm>
          <a:prstGeom prst="rect">
            <a:avLst/>
          </a:prstGeom>
          <a:noFill/>
        </p:spPr>
        <p:txBody>
          <a:bodyPr wrap="square" anchor="t">
            <a:spAutoFit/>
          </a:bodyPr>
          <a:lstStyle/>
          <a:p>
            <a:pPr algn="l">
              <a:spcAft>
                <a:spcPts val="0"/>
              </a:spcAft>
            </a:pPr>
            <a:r>
              <a:rPr sz="1200" b="0" i="0">
                <a:solidFill>
                  <a:srgbClr val="9AABC4"/>
                </a:solidFill>
                <a:latin typeface="Calibri"/>
              </a:rPr>
              <a:t>distance from neutral, in spreads (s)</a:t>
            </a:r>
          </a:p>
        </p:txBody>
      </p:sp>
      <p:sp>
        <p:nvSpPr>
          <p:cNvPr id="9" name="Rectangle 8"/>
          <p:cNvSpPr/>
          <p:nvPr/>
        </p:nvSpPr>
        <p:spPr>
          <a:xfrm>
            <a:off x="3858768" y="2103120"/>
            <a:ext cx="13716" cy="1554480"/>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10127" y="1901952"/>
            <a:ext cx="1097280" cy="228600"/>
          </a:xfrm>
          <a:prstGeom prst="rect">
            <a:avLst/>
          </a:prstGeom>
          <a:noFill/>
        </p:spPr>
        <p:txBody>
          <a:bodyPr wrap="square" anchor="t">
            <a:spAutoFit/>
          </a:bodyPr>
          <a:lstStyle/>
          <a:p>
            <a:pPr algn="ctr">
              <a:spcAft>
                <a:spcPts val="0"/>
              </a:spcAft>
            </a:pPr>
            <a:r>
              <a:rPr sz="1100" b="0" i="0">
                <a:solidFill>
                  <a:srgbClr val="9AABC4"/>
                </a:solidFill>
                <a:latin typeface="Calibri"/>
              </a:rPr>
              <a:t>small</a:t>
            </a:r>
          </a:p>
        </p:txBody>
      </p:sp>
      <p:sp>
        <p:nvSpPr>
          <p:cNvPr id="11" name="Rectangle 10"/>
          <p:cNvSpPr/>
          <p:nvPr/>
        </p:nvSpPr>
        <p:spPr>
          <a:xfrm>
            <a:off x="5669279" y="2103120"/>
            <a:ext cx="13716" cy="1554480"/>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20640" y="1901952"/>
            <a:ext cx="1097280" cy="228600"/>
          </a:xfrm>
          <a:prstGeom prst="rect">
            <a:avLst/>
          </a:prstGeom>
          <a:noFill/>
        </p:spPr>
        <p:txBody>
          <a:bodyPr wrap="square" anchor="t">
            <a:spAutoFit/>
          </a:bodyPr>
          <a:lstStyle/>
          <a:p>
            <a:pPr algn="ctr">
              <a:spcAft>
                <a:spcPts val="0"/>
              </a:spcAft>
            </a:pPr>
            <a:r>
              <a:rPr sz="1100" b="0" i="0">
                <a:solidFill>
                  <a:srgbClr val="9AABC4"/>
                </a:solidFill>
                <a:latin typeface="Calibri"/>
              </a:rPr>
              <a:t>medium</a:t>
            </a:r>
          </a:p>
        </p:txBody>
      </p:sp>
      <p:sp>
        <p:nvSpPr>
          <p:cNvPr id="13" name="Rectangle 12"/>
          <p:cNvSpPr/>
          <p:nvPr/>
        </p:nvSpPr>
        <p:spPr>
          <a:xfrm>
            <a:off x="7479792" y="2103120"/>
            <a:ext cx="13716" cy="1554480"/>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31152" y="1901952"/>
            <a:ext cx="1097280" cy="228600"/>
          </a:xfrm>
          <a:prstGeom prst="rect">
            <a:avLst/>
          </a:prstGeom>
          <a:noFill/>
        </p:spPr>
        <p:txBody>
          <a:bodyPr wrap="square" anchor="t">
            <a:spAutoFit/>
          </a:bodyPr>
          <a:lstStyle/>
          <a:p>
            <a:pPr algn="ctr">
              <a:spcAft>
                <a:spcPts val="0"/>
              </a:spcAft>
            </a:pPr>
            <a:r>
              <a:rPr sz="1100" b="0" i="0">
                <a:solidFill>
                  <a:srgbClr val="9AABC4"/>
                </a:solidFill>
                <a:latin typeface="Calibri"/>
              </a:rPr>
              <a:t>large</a:t>
            </a:r>
          </a:p>
        </p:txBody>
      </p:sp>
      <p:sp>
        <p:nvSpPr>
          <p:cNvPr id="15" name="TextBox 14"/>
          <p:cNvSpPr txBox="1"/>
          <p:nvPr/>
        </p:nvSpPr>
        <p:spPr>
          <a:xfrm>
            <a:off x="685799" y="2176272"/>
            <a:ext cx="1828800" cy="411480"/>
          </a:xfrm>
          <a:prstGeom prst="rect">
            <a:avLst/>
          </a:prstGeom>
          <a:noFill/>
        </p:spPr>
        <p:txBody>
          <a:bodyPr wrap="square" anchor="t">
            <a:spAutoFit/>
          </a:bodyPr>
          <a:lstStyle/>
          <a:p>
            <a:pPr algn="r">
              <a:spcAft>
                <a:spcPts val="0"/>
              </a:spcAft>
            </a:pPr>
            <a:r>
              <a:rPr sz="1500" b="0" i="0">
                <a:solidFill>
                  <a:srgbClr val="9AABC4"/>
                </a:solidFill>
                <a:latin typeface="Calibri"/>
              </a:rPr>
              <a:t>fear-driven</a:t>
            </a:r>
          </a:p>
        </p:txBody>
      </p:sp>
      <p:sp>
        <p:nvSpPr>
          <p:cNvPr id="16" name="Rectangle 15"/>
          <p:cNvSpPr/>
          <p:nvPr/>
        </p:nvSpPr>
        <p:spPr>
          <a:xfrm>
            <a:off x="2651760" y="2240280"/>
            <a:ext cx="60350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651760" y="2240280"/>
            <a:ext cx="5666902" cy="274320"/>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23960" y="2176272"/>
            <a:ext cx="2926080" cy="411480"/>
          </a:xfrm>
          <a:prstGeom prst="rect">
            <a:avLst/>
          </a:prstGeom>
          <a:noFill/>
        </p:spPr>
        <p:txBody>
          <a:bodyPr wrap="square" anchor="t">
            <a:spAutoFit/>
          </a:bodyPr>
          <a:lstStyle/>
          <a:p>
            <a:pPr algn="l">
              <a:spcAft>
                <a:spcPts val="0"/>
              </a:spcAft>
            </a:pPr>
            <a:r>
              <a:rPr sz="1500" b="1" i="0">
                <a:solidFill>
                  <a:srgbClr val="FF7A59"/>
                </a:solidFill>
                <a:latin typeface="Calibri"/>
              </a:rPr>
              <a:t>0.94</a:t>
            </a:r>
          </a:p>
        </p:txBody>
      </p:sp>
      <p:sp>
        <p:nvSpPr>
          <p:cNvPr id="19" name="TextBox 18"/>
          <p:cNvSpPr txBox="1"/>
          <p:nvPr/>
        </p:nvSpPr>
        <p:spPr>
          <a:xfrm>
            <a:off x="685799" y="2679192"/>
            <a:ext cx="1828800" cy="411480"/>
          </a:xfrm>
          <a:prstGeom prst="rect">
            <a:avLst/>
          </a:prstGeom>
          <a:noFill/>
        </p:spPr>
        <p:txBody>
          <a:bodyPr wrap="square" anchor="t">
            <a:spAutoFit/>
          </a:bodyPr>
          <a:lstStyle/>
          <a:p>
            <a:pPr algn="r">
              <a:spcAft>
                <a:spcPts val="0"/>
              </a:spcAft>
            </a:pPr>
            <a:r>
              <a:rPr sz="1500" b="0" i="0">
                <a:solidFill>
                  <a:srgbClr val="9AABC4"/>
                </a:solidFill>
                <a:latin typeface="Calibri"/>
              </a:rPr>
              <a:t>clickbait</a:t>
            </a:r>
          </a:p>
        </p:txBody>
      </p:sp>
      <p:sp>
        <p:nvSpPr>
          <p:cNvPr id="20" name="Rectangle 19"/>
          <p:cNvSpPr/>
          <p:nvPr/>
        </p:nvSpPr>
        <p:spPr>
          <a:xfrm>
            <a:off x="2651760" y="2743200"/>
            <a:ext cx="60350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651760" y="2743200"/>
            <a:ext cx="1925177" cy="274320"/>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23960" y="2679192"/>
            <a:ext cx="2926080" cy="411480"/>
          </a:xfrm>
          <a:prstGeom prst="rect">
            <a:avLst/>
          </a:prstGeom>
          <a:noFill/>
        </p:spPr>
        <p:txBody>
          <a:bodyPr wrap="square" anchor="t">
            <a:spAutoFit/>
          </a:bodyPr>
          <a:lstStyle/>
          <a:p>
            <a:pPr algn="l">
              <a:spcAft>
                <a:spcPts val="0"/>
              </a:spcAft>
            </a:pPr>
            <a:r>
              <a:rPr sz="1500" b="1" i="0">
                <a:solidFill>
                  <a:srgbClr val="3E8EDE"/>
                </a:solidFill>
                <a:latin typeface="Calibri"/>
              </a:rPr>
              <a:t>0.32</a:t>
            </a:r>
          </a:p>
        </p:txBody>
      </p:sp>
      <p:sp>
        <p:nvSpPr>
          <p:cNvPr id="23" name="TextBox 22"/>
          <p:cNvSpPr txBox="1"/>
          <p:nvPr/>
        </p:nvSpPr>
        <p:spPr>
          <a:xfrm>
            <a:off x="685799" y="3182112"/>
            <a:ext cx="1828800" cy="411480"/>
          </a:xfrm>
          <a:prstGeom prst="rect">
            <a:avLst/>
          </a:prstGeom>
          <a:noFill/>
        </p:spPr>
        <p:txBody>
          <a:bodyPr wrap="square" anchor="t">
            <a:spAutoFit/>
          </a:bodyPr>
          <a:lstStyle/>
          <a:p>
            <a:pPr algn="r">
              <a:spcAft>
                <a:spcPts val="0"/>
              </a:spcAft>
            </a:pPr>
            <a:r>
              <a:rPr sz="1500" b="0" i="0">
                <a:solidFill>
                  <a:srgbClr val="9AABC4"/>
                </a:solidFill>
                <a:latin typeface="Calibri"/>
              </a:rPr>
              <a:t>outrage</a:t>
            </a:r>
          </a:p>
        </p:txBody>
      </p:sp>
      <p:sp>
        <p:nvSpPr>
          <p:cNvPr id="24" name="Rectangle 23"/>
          <p:cNvSpPr/>
          <p:nvPr/>
        </p:nvSpPr>
        <p:spPr>
          <a:xfrm>
            <a:off x="2651760" y="3246120"/>
            <a:ext cx="60350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651760" y="3246120"/>
            <a:ext cx="181051" cy="274320"/>
          </a:xfrm>
          <a:prstGeom prst="rect">
            <a:avLst/>
          </a:prstGeom>
          <a:solidFill>
            <a:srgbClr val="F5B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3182112"/>
            <a:ext cx="2926080" cy="411480"/>
          </a:xfrm>
          <a:prstGeom prst="rect">
            <a:avLst/>
          </a:prstGeom>
          <a:noFill/>
        </p:spPr>
        <p:txBody>
          <a:bodyPr wrap="square" anchor="t">
            <a:spAutoFit/>
          </a:bodyPr>
          <a:lstStyle/>
          <a:p>
            <a:pPr algn="l">
              <a:spcAft>
                <a:spcPts val="0"/>
              </a:spcAft>
            </a:pPr>
            <a:r>
              <a:rPr sz="1500" b="1" i="0">
                <a:solidFill>
                  <a:srgbClr val="F5B83D"/>
                </a:solidFill>
                <a:latin typeface="Calibri"/>
              </a:rPr>
              <a:t>0.03</a:t>
            </a:r>
          </a:p>
        </p:txBody>
      </p:sp>
      <p:sp>
        <p:nvSpPr>
          <p:cNvPr id="27" name="Rounded Rectangle 26"/>
          <p:cNvSpPr/>
          <p:nvPr/>
        </p:nvSpPr>
        <p:spPr>
          <a:xfrm>
            <a:off x="685800" y="3840480"/>
            <a:ext cx="5257800" cy="182880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28" name="TextBox 27"/>
          <p:cNvSpPr txBox="1"/>
          <p:nvPr/>
        </p:nvSpPr>
        <p:spPr>
          <a:xfrm>
            <a:off x="3429000" y="4069080"/>
            <a:ext cx="2377440" cy="274320"/>
          </a:xfrm>
          <a:prstGeom prst="rect">
            <a:avLst/>
          </a:prstGeom>
          <a:noFill/>
        </p:spPr>
        <p:txBody>
          <a:bodyPr wrap="square" anchor="t">
            <a:spAutoFit/>
          </a:bodyPr>
          <a:lstStyle/>
          <a:p>
            <a:pPr algn="l">
              <a:spcAft>
                <a:spcPts val="0"/>
              </a:spcAft>
            </a:pPr>
            <a:r>
              <a:rPr sz="1300" b="1" i="0">
                <a:solidFill>
                  <a:srgbClr val="FF7A59"/>
                </a:solidFill>
                <a:latin typeface="Calibri"/>
              </a:rPr>
              <a:t>FEAR</a:t>
            </a:r>
          </a:p>
        </p:txBody>
      </p:sp>
      <p:sp>
        <p:nvSpPr>
          <p:cNvPr id="29" name="Rectangle 28"/>
          <p:cNvSpPr/>
          <p:nvPr/>
        </p:nvSpPr>
        <p:spPr>
          <a:xfrm>
            <a:off x="960120" y="5074920"/>
            <a:ext cx="2194560" cy="18288"/>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43000" y="4178076"/>
            <a:ext cx="640080" cy="896843"/>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3903756"/>
            <a:ext cx="1005840" cy="274320"/>
          </a:xfrm>
          <a:prstGeom prst="rect">
            <a:avLst/>
          </a:prstGeom>
          <a:noFill/>
        </p:spPr>
        <p:txBody>
          <a:bodyPr wrap="square" anchor="t">
            <a:spAutoFit/>
          </a:bodyPr>
          <a:lstStyle/>
          <a:p>
            <a:pPr algn="ctr">
              <a:spcAft>
                <a:spcPts val="0"/>
              </a:spcAft>
            </a:pPr>
            <a:r>
              <a:rPr sz="1200" b="1" i="0">
                <a:solidFill>
                  <a:srgbClr val="FF7A59"/>
                </a:solidFill>
                <a:latin typeface="Calibri"/>
              </a:rPr>
              <a:t>+0.61</a:t>
            </a:r>
          </a:p>
        </p:txBody>
      </p:sp>
      <p:sp>
        <p:nvSpPr>
          <p:cNvPr id="32" name="TextBox 31"/>
          <p:cNvSpPr txBox="1"/>
          <p:nvPr/>
        </p:nvSpPr>
        <p:spPr>
          <a:xfrm>
            <a:off x="960120" y="5257800"/>
            <a:ext cx="1005840" cy="274320"/>
          </a:xfrm>
          <a:prstGeom prst="rect">
            <a:avLst/>
          </a:prstGeom>
          <a:noFill/>
        </p:spPr>
        <p:txBody>
          <a:bodyPr wrap="square" anchor="t">
            <a:spAutoFit/>
          </a:bodyPr>
          <a:lstStyle/>
          <a:p>
            <a:pPr algn="ctr">
              <a:spcAft>
                <a:spcPts val="0"/>
              </a:spcAft>
            </a:pPr>
            <a:r>
              <a:rPr sz="1100" b="0" i="0">
                <a:solidFill>
                  <a:srgbClr val="9AABC4"/>
                </a:solidFill>
                <a:latin typeface="Calibri"/>
              </a:rPr>
              <a:t>emotion</a:t>
            </a:r>
          </a:p>
        </p:txBody>
      </p:sp>
      <p:sp>
        <p:nvSpPr>
          <p:cNvPr id="33" name="Rectangle 32"/>
          <p:cNvSpPr/>
          <p:nvPr/>
        </p:nvSpPr>
        <p:spPr>
          <a:xfrm>
            <a:off x="2103120" y="5074920"/>
            <a:ext cx="640080" cy="143377"/>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920239" y="4800600"/>
            <a:ext cx="1005840" cy="274320"/>
          </a:xfrm>
          <a:prstGeom prst="rect">
            <a:avLst/>
          </a:prstGeom>
          <a:noFill/>
        </p:spPr>
        <p:txBody>
          <a:bodyPr wrap="square" anchor="t">
            <a:spAutoFit/>
          </a:bodyPr>
          <a:lstStyle/>
          <a:p>
            <a:pPr algn="ctr">
              <a:spcAft>
                <a:spcPts val="0"/>
              </a:spcAft>
            </a:pPr>
            <a:r>
              <a:rPr sz="1200" b="1" i="0">
                <a:solidFill>
                  <a:srgbClr val="7CC4FF"/>
                </a:solidFill>
                <a:latin typeface="Calibri"/>
              </a:rPr>
              <a:t>-0.10</a:t>
            </a:r>
          </a:p>
        </p:txBody>
      </p:sp>
      <p:sp>
        <p:nvSpPr>
          <p:cNvPr id="35" name="TextBox 34"/>
          <p:cNvSpPr txBox="1"/>
          <p:nvPr/>
        </p:nvSpPr>
        <p:spPr>
          <a:xfrm>
            <a:off x="1920239" y="5257800"/>
            <a:ext cx="1005840" cy="274320"/>
          </a:xfrm>
          <a:prstGeom prst="rect">
            <a:avLst/>
          </a:prstGeom>
          <a:noFill/>
        </p:spPr>
        <p:txBody>
          <a:bodyPr wrap="square" anchor="t">
            <a:spAutoFit/>
          </a:bodyPr>
          <a:lstStyle/>
          <a:p>
            <a:pPr algn="ctr">
              <a:spcAft>
                <a:spcPts val="0"/>
              </a:spcAft>
            </a:pPr>
            <a:r>
              <a:rPr sz="1100" b="0" i="0">
                <a:solidFill>
                  <a:srgbClr val="9AABC4"/>
                </a:solidFill>
                <a:latin typeface="Calibri"/>
              </a:rPr>
              <a:t>reasoning</a:t>
            </a:r>
          </a:p>
        </p:txBody>
      </p:sp>
      <p:sp>
        <p:nvSpPr>
          <p:cNvPr id="36" name="TextBox 35"/>
          <p:cNvSpPr txBox="1"/>
          <p:nvPr/>
        </p:nvSpPr>
        <p:spPr>
          <a:xfrm>
            <a:off x="3429000" y="4434840"/>
            <a:ext cx="2377440" cy="1005840"/>
          </a:xfrm>
          <a:prstGeom prst="rect">
            <a:avLst/>
          </a:prstGeom>
          <a:noFill/>
        </p:spPr>
        <p:txBody>
          <a:bodyPr wrap="square" anchor="ctr">
            <a:spAutoFit/>
          </a:bodyPr>
          <a:lstStyle/>
          <a:p>
            <a:pPr algn="l">
              <a:spcAft>
                <a:spcPts val="0"/>
              </a:spcAft>
            </a:pPr>
            <a:r>
              <a:rPr sz="1700" b="1" i="0">
                <a:solidFill>
                  <a:srgbClr val="FF7A59"/>
                </a:solidFill>
                <a:latin typeface="Calibri"/>
              </a:rPr>
              <a:t>big gap: score moves</a:t>
            </a:r>
          </a:p>
        </p:txBody>
      </p:sp>
      <p:sp>
        <p:nvSpPr>
          <p:cNvPr id="37" name="Rounded Rectangle 36"/>
          <p:cNvSpPr/>
          <p:nvPr/>
        </p:nvSpPr>
        <p:spPr>
          <a:xfrm>
            <a:off x="6245352" y="3840480"/>
            <a:ext cx="5257800" cy="182880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38" name="TextBox 37"/>
          <p:cNvSpPr txBox="1"/>
          <p:nvPr/>
        </p:nvSpPr>
        <p:spPr>
          <a:xfrm>
            <a:off x="8988552" y="4069080"/>
            <a:ext cx="2377440" cy="274320"/>
          </a:xfrm>
          <a:prstGeom prst="rect">
            <a:avLst/>
          </a:prstGeom>
          <a:noFill/>
        </p:spPr>
        <p:txBody>
          <a:bodyPr wrap="square" anchor="t">
            <a:spAutoFit/>
          </a:bodyPr>
          <a:lstStyle/>
          <a:p>
            <a:pPr algn="l">
              <a:spcAft>
                <a:spcPts val="0"/>
              </a:spcAft>
            </a:pPr>
            <a:r>
              <a:rPr sz="1300" b="1" i="0">
                <a:solidFill>
                  <a:srgbClr val="F5B83D"/>
                </a:solidFill>
                <a:latin typeface="Calibri"/>
              </a:rPr>
              <a:t>OUTRAGE</a:t>
            </a:r>
          </a:p>
        </p:txBody>
      </p:sp>
      <p:sp>
        <p:nvSpPr>
          <p:cNvPr id="39" name="Rectangle 38"/>
          <p:cNvSpPr/>
          <p:nvPr/>
        </p:nvSpPr>
        <p:spPr>
          <a:xfrm>
            <a:off x="6519672" y="5074920"/>
            <a:ext cx="2194560" cy="18288"/>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702552" y="4333158"/>
            <a:ext cx="640080" cy="741761"/>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19672" y="4058838"/>
            <a:ext cx="1005840" cy="274320"/>
          </a:xfrm>
          <a:prstGeom prst="rect">
            <a:avLst/>
          </a:prstGeom>
          <a:noFill/>
        </p:spPr>
        <p:txBody>
          <a:bodyPr wrap="square" anchor="t">
            <a:spAutoFit/>
          </a:bodyPr>
          <a:lstStyle/>
          <a:p>
            <a:pPr algn="ctr">
              <a:spcAft>
                <a:spcPts val="0"/>
              </a:spcAft>
            </a:pPr>
            <a:r>
              <a:rPr sz="1200" b="1" i="0">
                <a:solidFill>
                  <a:srgbClr val="FF7A59"/>
                </a:solidFill>
                <a:latin typeface="Calibri"/>
              </a:rPr>
              <a:t>+0.51</a:t>
            </a:r>
          </a:p>
        </p:txBody>
      </p:sp>
      <p:sp>
        <p:nvSpPr>
          <p:cNvPr id="42" name="TextBox 41"/>
          <p:cNvSpPr txBox="1"/>
          <p:nvPr/>
        </p:nvSpPr>
        <p:spPr>
          <a:xfrm>
            <a:off x="6519672" y="5257800"/>
            <a:ext cx="1005840" cy="274320"/>
          </a:xfrm>
          <a:prstGeom prst="rect">
            <a:avLst/>
          </a:prstGeom>
          <a:noFill/>
        </p:spPr>
        <p:txBody>
          <a:bodyPr wrap="square" anchor="t">
            <a:spAutoFit/>
          </a:bodyPr>
          <a:lstStyle/>
          <a:p>
            <a:pPr algn="ctr">
              <a:spcAft>
                <a:spcPts val="0"/>
              </a:spcAft>
            </a:pPr>
            <a:r>
              <a:rPr sz="1100" b="0" i="0">
                <a:solidFill>
                  <a:srgbClr val="9AABC4"/>
                </a:solidFill>
                <a:latin typeface="Calibri"/>
              </a:rPr>
              <a:t>emotion</a:t>
            </a:r>
          </a:p>
        </p:txBody>
      </p:sp>
      <p:sp>
        <p:nvSpPr>
          <p:cNvPr id="43" name="Rectangle 42"/>
          <p:cNvSpPr/>
          <p:nvPr/>
        </p:nvSpPr>
        <p:spPr>
          <a:xfrm>
            <a:off x="7662672" y="4356567"/>
            <a:ext cx="640080" cy="718352"/>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479792" y="4082247"/>
            <a:ext cx="1005840" cy="274320"/>
          </a:xfrm>
          <a:prstGeom prst="rect">
            <a:avLst/>
          </a:prstGeom>
          <a:noFill/>
        </p:spPr>
        <p:txBody>
          <a:bodyPr wrap="square" anchor="t">
            <a:spAutoFit/>
          </a:bodyPr>
          <a:lstStyle/>
          <a:p>
            <a:pPr algn="ctr">
              <a:spcAft>
                <a:spcPts val="0"/>
              </a:spcAft>
            </a:pPr>
            <a:r>
              <a:rPr sz="1200" b="1" i="0">
                <a:solidFill>
                  <a:srgbClr val="7CC4FF"/>
                </a:solidFill>
                <a:latin typeface="Calibri"/>
              </a:rPr>
              <a:t>+0.49</a:t>
            </a:r>
          </a:p>
        </p:txBody>
      </p:sp>
      <p:sp>
        <p:nvSpPr>
          <p:cNvPr id="45" name="TextBox 44"/>
          <p:cNvSpPr txBox="1"/>
          <p:nvPr/>
        </p:nvSpPr>
        <p:spPr>
          <a:xfrm>
            <a:off x="7479792" y="5257800"/>
            <a:ext cx="1005840" cy="274320"/>
          </a:xfrm>
          <a:prstGeom prst="rect">
            <a:avLst/>
          </a:prstGeom>
          <a:noFill/>
        </p:spPr>
        <p:txBody>
          <a:bodyPr wrap="square" anchor="t">
            <a:spAutoFit/>
          </a:bodyPr>
          <a:lstStyle/>
          <a:p>
            <a:pPr algn="ctr">
              <a:spcAft>
                <a:spcPts val="0"/>
              </a:spcAft>
            </a:pPr>
            <a:r>
              <a:rPr sz="1100" b="0" i="0">
                <a:solidFill>
                  <a:srgbClr val="9AABC4"/>
                </a:solidFill>
                <a:latin typeface="Calibri"/>
              </a:rPr>
              <a:t>reasoning</a:t>
            </a:r>
          </a:p>
        </p:txBody>
      </p:sp>
      <p:sp>
        <p:nvSpPr>
          <p:cNvPr id="46" name="TextBox 45"/>
          <p:cNvSpPr txBox="1"/>
          <p:nvPr/>
        </p:nvSpPr>
        <p:spPr>
          <a:xfrm>
            <a:off x="8988552" y="4434840"/>
            <a:ext cx="2377440" cy="1005840"/>
          </a:xfrm>
          <a:prstGeom prst="rect">
            <a:avLst/>
          </a:prstGeom>
          <a:noFill/>
        </p:spPr>
        <p:txBody>
          <a:bodyPr wrap="square" anchor="ctr">
            <a:spAutoFit/>
          </a:bodyPr>
          <a:lstStyle/>
          <a:p>
            <a:pPr algn="l">
              <a:spcAft>
                <a:spcPts val="0"/>
              </a:spcAft>
            </a:pPr>
            <a:r>
              <a:rPr sz="1700" b="1" i="0">
                <a:solidFill>
                  <a:srgbClr val="F5B83D"/>
                </a:solidFill>
                <a:latin typeface="Calibri"/>
              </a:rPr>
              <a:t>no gap: score stays flat</a:t>
            </a:r>
          </a:p>
        </p:txBody>
      </p:sp>
      <p:sp>
        <p:nvSpPr>
          <p:cNvPr id="47" name="TextBox 46"/>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48" name="Rectangle 47"/>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rrows-clockwise.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Result 3: scores repeat for groups, not single articles</a:t>
            </a:r>
          </a:p>
        </p:txBody>
      </p:sp>
      <p:sp>
        <p:nvSpPr>
          <p:cNvPr id="7" name="Rounded Rectangle 6"/>
          <p:cNvSpPr/>
          <p:nvPr/>
        </p:nvSpPr>
        <p:spPr>
          <a:xfrm>
            <a:off x="685800" y="1371600"/>
            <a:ext cx="5257800" cy="310896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8" name="TextBox 7"/>
          <p:cNvSpPr txBox="1"/>
          <p:nvPr/>
        </p:nvSpPr>
        <p:spPr>
          <a:xfrm>
            <a:off x="685800" y="1508760"/>
            <a:ext cx="5257800" cy="1097280"/>
          </a:xfrm>
          <a:prstGeom prst="rect">
            <a:avLst/>
          </a:prstGeom>
          <a:noFill/>
        </p:spPr>
        <p:txBody>
          <a:bodyPr wrap="square" anchor="t">
            <a:spAutoFit/>
          </a:bodyPr>
          <a:lstStyle/>
          <a:p>
            <a:pPr algn="ctr">
              <a:spcAft>
                <a:spcPts val="0"/>
              </a:spcAft>
            </a:pPr>
            <a:r>
              <a:rPr sz="5400" b="1" i="0">
                <a:solidFill>
                  <a:srgbClr val="7CC4FF"/>
                </a:solidFill>
                <a:latin typeface="Calibri"/>
              </a:rPr>
              <a:t>0.87</a:t>
            </a:r>
          </a:p>
          <a:p>
            <a:pPr algn="ctr">
              <a:spcAft>
                <a:spcPts val="0"/>
              </a:spcAft>
            </a:pPr>
            <a:r>
              <a:rPr sz="1400" b="0" i="0">
                <a:solidFill>
                  <a:srgbClr val="EEF3FA"/>
                </a:solidFill>
                <a:latin typeface="Calibri"/>
              </a:rPr>
              <a:t>agreement between two runs (ICC)</a:t>
            </a:r>
          </a:p>
        </p:txBody>
      </p:sp>
      <p:sp>
        <p:nvSpPr>
          <p:cNvPr id="9" name="Rectangle 8"/>
          <p:cNvSpPr/>
          <p:nvPr/>
        </p:nvSpPr>
        <p:spPr>
          <a:xfrm>
            <a:off x="1051560" y="3200400"/>
            <a:ext cx="4526280" cy="274320"/>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51560" y="3200400"/>
            <a:ext cx="3949179" cy="274320"/>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79" y="3566160"/>
            <a:ext cx="1280160" cy="274320"/>
          </a:xfrm>
          <a:prstGeom prst="rect">
            <a:avLst/>
          </a:prstGeom>
          <a:noFill/>
        </p:spPr>
        <p:txBody>
          <a:bodyPr wrap="square" anchor="t">
            <a:spAutoFit/>
          </a:bodyPr>
          <a:lstStyle/>
          <a:p>
            <a:pPr algn="ctr">
              <a:spcAft>
                <a:spcPts val="0"/>
              </a:spcAft>
            </a:pPr>
            <a:r>
              <a:rPr sz="1200" b="0" i="0">
                <a:solidFill>
                  <a:srgbClr val="9AABC4"/>
                </a:solidFill>
                <a:latin typeface="Calibri"/>
              </a:rPr>
              <a:t>0 none</a:t>
            </a:r>
          </a:p>
        </p:txBody>
      </p:sp>
      <p:sp>
        <p:nvSpPr>
          <p:cNvPr id="12" name="TextBox 11"/>
          <p:cNvSpPr txBox="1"/>
          <p:nvPr/>
        </p:nvSpPr>
        <p:spPr>
          <a:xfrm>
            <a:off x="4937759" y="3566160"/>
            <a:ext cx="1280160" cy="274320"/>
          </a:xfrm>
          <a:prstGeom prst="rect">
            <a:avLst/>
          </a:prstGeom>
          <a:noFill/>
        </p:spPr>
        <p:txBody>
          <a:bodyPr wrap="square" anchor="t">
            <a:spAutoFit/>
          </a:bodyPr>
          <a:lstStyle/>
          <a:p>
            <a:pPr algn="ctr">
              <a:spcAft>
                <a:spcPts val="0"/>
              </a:spcAft>
            </a:pPr>
            <a:r>
              <a:rPr sz="1200" b="0" i="0">
                <a:solidFill>
                  <a:srgbClr val="9AABC4"/>
                </a:solidFill>
                <a:latin typeface="Calibri"/>
              </a:rPr>
              <a:t>1 identical</a:t>
            </a:r>
          </a:p>
        </p:txBody>
      </p:sp>
      <p:sp>
        <p:nvSpPr>
          <p:cNvPr id="13" name="Rounded Rectangle 12"/>
          <p:cNvSpPr/>
          <p:nvPr/>
        </p:nvSpPr>
        <p:spPr>
          <a:xfrm>
            <a:off x="6245352" y="1371600"/>
            <a:ext cx="5257800" cy="310896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4" name="TextBox 13"/>
          <p:cNvSpPr txBox="1"/>
          <p:nvPr/>
        </p:nvSpPr>
        <p:spPr>
          <a:xfrm>
            <a:off x="6245352" y="1508760"/>
            <a:ext cx="5257800" cy="1097280"/>
          </a:xfrm>
          <a:prstGeom prst="rect">
            <a:avLst/>
          </a:prstGeom>
          <a:noFill/>
        </p:spPr>
        <p:txBody>
          <a:bodyPr wrap="square" anchor="t">
            <a:spAutoFit/>
          </a:bodyPr>
          <a:lstStyle/>
          <a:p>
            <a:pPr algn="ctr">
              <a:spcAft>
                <a:spcPts val="0"/>
              </a:spcAft>
            </a:pPr>
            <a:r>
              <a:rPr sz="5400" b="1" i="0">
                <a:solidFill>
                  <a:srgbClr val="FF7A59"/>
                </a:solidFill>
                <a:latin typeface="Calibri"/>
              </a:rPr>
              <a:t>51 of 400</a:t>
            </a:r>
          </a:p>
          <a:p>
            <a:pPr algn="ctr">
              <a:spcAft>
                <a:spcPts val="0"/>
              </a:spcAft>
            </a:pPr>
            <a:r>
              <a:rPr sz="1400" b="0" i="0">
                <a:solidFill>
                  <a:srgbClr val="EEF3FA"/>
                </a:solidFill>
                <a:latin typeface="Calibri"/>
              </a:rPr>
              <a:t>flipped sign between runs</a:t>
            </a:r>
          </a:p>
        </p:txBody>
      </p:sp>
      <p:sp>
        <p:nvSpPr>
          <p:cNvPr id="15" name="Rectangle 14"/>
          <p:cNvSpPr/>
          <p:nvPr/>
        </p:nvSpPr>
        <p:spPr>
          <a:xfrm>
            <a:off x="6583680" y="3337560"/>
            <a:ext cx="4572000" cy="18288"/>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93280" y="3200400"/>
            <a:ext cx="3505199" cy="292608"/>
          </a:xfrm>
          <a:prstGeom prst="rect">
            <a:avLst/>
          </a:prstGeom>
          <a:solidFill>
            <a:srgbClr val="3E8EDE">
              <a:alpha val="4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897112" y="3108960"/>
            <a:ext cx="36576" cy="475488"/>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150352" y="3236976"/>
            <a:ext cx="219456" cy="219456"/>
          </a:xfrm>
          <a:prstGeom prst="ellipse">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45352" y="3749039"/>
            <a:ext cx="5257800" cy="548640"/>
          </a:xfrm>
          <a:prstGeom prst="rect">
            <a:avLst/>
          </a:prstGeom>
          <a:noFill/>
        </p:spPr>
        <p:txBody>
          <a:bodyPr wrap="square" anchor="t">
            <a:spAutoFit/>
          </a:bodyPr>
          <a:lstStyle/>
          <a:p>
            <a:pPr algn="ctr">
              <a:spcAft>
                <a:spcPts val="0"/>
              </a:spcAft>
            </a:pPr>
            <a:r>
              <a:rPr sz="1200" b="1">
                <a:solidFill>
                  <a:srgbClr val="FF7A59"/>
                </a:solidFill>
                <a:latin typeface="Calibri"/>
              </a:rPr>
              <a:t>● saw 51   </a:t>
            </a:r>
            <a:r>
              <a:rPr sz="1200" b="1">
                <a:solidFill>
                  <a:srgbClr val="7CC4FF"/>
                </a:solidFill>
                <a:latin typeface="Calibri"/>
              </a:rPr>
              <a:t>▌noise predicts 55 (shaded 44 to 67)</a:t>
            </a:r>
          </a:p>
        </p:txBody>
      </p:sp>
      <p:sp>
        <p:nvSpPr>
          <p:cNvPr id="20" name="Rounded Rectangle 19"/>
          <p:cNvSpPr/>
          <p:nvPr/>
        </p:nvSpPr>
        <p:spPr>
          <a:xfrm>
            <a:off x="685800" y="4754880"/>
            <a:ext cx="10820095" cy="566928"/>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Meaning:  </a:t>
            </a:r>
            <a:r>
              <a:rPr sz="1600" b="0">
                <a:solidFill>
                  <a:srgbClr val="EEF3FA"/>
                </a:solidFill>
                <a:latin typeface="Calibri"/>
              </a:rPr>
              <a:t>trust group averages. Never judge one article: its score sits near zero and noise can tip it.</a:t>
            </a:r>
          </a:p>
        </p:txBody>
      </p:sp>
      <p:sp>
        <p:nvSpPr>
          <p:cNvPr id="21" name="TextBox 20"/>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22" name="Rectangle 21"/>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warning.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Honest check: word counting beats our score</a:t>
            </a:r>
          </a:p>
        </p:txBody>
      </p:sp>
      <p:sp>
        <p:nvSpPr>
          <p:cNvPr id="7" name="TextBox 6"/>
          <p:cNvSpPr txBox="1"/>
          <p:nvPr/>
        </p:nvSpPr>
        <p:spPr>
          <a:xfrm>
            <a:off x="685800" y="1325880"/>
            <a:ext cx="10820095" cy="320040"/>
          </a:xfrm>
          <a:prstGeom prst="rect">
            <a:avLst/>
          </a:prstGeom>
          <a:noFill/>
        </p:spPr>
        <p:txBody>
          <a:bodyPr wrap="square" anchor="t">
            <a:spAutoFit/>
          </a:bodyPr>
          <a:lstStyle/>
          <a:p>
            <a:pPr algn="l">
              <a:spcAft>
                <a:spcPts val="0"/>
              </a:spcAft>
            </a:pPr>
            <a:r>
              <a:rPr sz="1300" b="0">
                <a:solidFill>
                  <a:srgbClr val="9AABC4"/>
                </a:solidFill>
                <a:latin typeface="Calibri"/>
              </a:rPr>
              <a:t>How well each method sorts manipulative from neutral articles (AUC)</a:t>
            </a:r>
          </a:p>
        </p:txBody>
      </p:sp>
      <p:sp>
        <p:nvSpPr>
          <p:cNvPr id="8" name="Rectangle 7"/>
          <p:cNvSpPr/>
          <p:nvPr/>
        </p:nvSpPr>
        <p:spPr>
          <a:xfrm>
            <a:off x="1188720" y="2514600"/>
            <a:ext cx="9784080" cy="54864"/>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2697480"/>
            <a:ext cx="1645920" cy="274320"/>
          </a:xfrm>
          <a:prstGeom prst="rect">
            <a:avLst/>
          </a:prstGeom>
          <a:noFill/>
        </p:spPr>
        <p:txBody>
          <a:bodyPr wrap="square" anchor="t">
            <a:spAutoFit/>
          </a:bodyPr>
          <a:lstStyle/>
          <a:p>
            <a:pPr algn="ctr">
              <a:spcAft>
                <a:spcPts val="0"/>
              </a:spcAft>
            </a:pPr>
            <a:r>
              <a:rPr sz="1200" b="0" i="0">
                <a:solidFill>
                  <a:srgbClr val="9AABC4"/>
                </a:solidFill>
                <a:latin typeface="Calibri"/>
              </a:rPr>
              <a:t>0.5 coin toss</a:t>
            </a:r>
          </a:p>
        </p:txBody>
      </p:sp>
      <p:sp>
        <p:nvSpPr>
          <p:cNvPr id="10" name="TextBox 9"/>
          <p:cNvSpPr txBox="1"/>
          <p:nvPr/>
        </p:nvSpPr>
        <p:spPr>
          <a:xfrm>
            <a:off x="10149840" y="2697480"/>
            <a:ext cx="1645920" cy="274320"/>
          </a:xfrm>
          <a:prstGeom prst="rect">
            <a:avLst/>
          </a:prstGeom>
          <a:noFill/>
        </p:spPr>
        <p:txBody>
          <a:bodyPr wrap="square" anchor="t">
            <a:spAutoFit/>
          </a:bodyPr>
          <a:lstStyle/>
          <a:p>
            <a:pPr algn="ctr">
              <a:spcAft>
                <a:spcPts val="0"/>
              </a:spcAft>
            </a:pPr>
            <a:r>
              <a:rPr sz="1200" b="0" i="0">
                <a:solidFill>
                  <a:srgbClr val="9AABC4"/>
                </a:solidFill>
                <a:latin typeface="Calibri"/>
              </a:rPr>
              <a:t>1.0 perfect</a:t>
            </a:r>
          </a:p>
        </p:txBody>
      </p:sp>
      <p:sp>
        <p:nvSpPr>
          <p:cNvPr id="11" name="Oval 10"/>
          <p:cNvSpPr/>
          <p:nvPr/>
        </p:nvSpPr>
        <p:spPr>
          <a:xfrm>
            <a:off x="1809487" y="2395728"/>
            <a:ext cx="292608" cy="292608"/>
          </a:xfrm>
          <a:prstGeom prst="ellipse">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071" y="2971800"/>
            <a:ext cx="2377440" cy="365760"/>
          </a:xfrm>
          <a:prstGeom prst="rect">
            <a:avLst/>
          </a:prstGeom>
          <a:noFill/>
        </p:spPr>
        <p:txBody>
          <a:bodyPr wrap="square" anchor="t">
            <a:spAutoFit/>
          </a:bodyPr>
          <a:lstStyle/>
          <a:p>
            <a:pPr algn="ctr">
              <a:spcAft>
                <a:spcPts val="0"/>
              </a:spcAft>
            </a:pPr>
            <a:r>
              <a:rPr sz="1600" b="1" i="0">
                <a:solidFill>
                  <a:srgbClr val="9AABC4"/>
                </a:solidFill>
                <a:latin typeface="Calibri"/>
              </a:rPr>
              <a:t>sentiment 0.54</a:t>
            </a:r>
          </a:p>
        </p:txBody>
      </p:sp>
      <p:sp>
        <p:nvSpPr>
          <p:cNvPr id="13" name="Oval 12"/>
          <p:cNvSpPr/>
          <p:nvPr/>
        </p:nvSpPr>
        <p:spPr>
          <a:xfrm>
            <a:off x="3535399" y="2395728"/>
            <a:ext cx="292608" cy="292608"/>
          </a:xfrm>
          <a:prstGeom prst="ellipse">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92983" y="1947672"/>
            <a:ext cx="2377440" cy="365760"/>
          </a:xfrm>
          <a:prstGeom prst="rect">
            <a:avLst/>
          </a:prstGeom>
          <a:noFill/>
        </p:spPr>
        <p:txBody>
          <a:bodyPr wrap="square" anchor="t">
            <a:spAutoFit/>
          </a:bodyPr>
          <a:lstStyle/>
          <a:p>
            <a:pPr algn="ctr">
              <a:spcAft>
                <a:spcPts val="0"/>
              </a:spcAft>
            </a:pPr>
            <a:r>
              <a:rPr sz="1600" b="1" i="0">
                <a:solidFill>
                  <a:srgbClr val="7CC4FF"/>
                </a:solidFill>
                <a:latin typeface="Calibri"/>
              </a:rPr>
              <a:t>our score 0.63</a:t>
            </a:r>
          </a:p>
        </p:txBody>
      </p:sp>
      <p:sp>
        <p:nvSpPr>
          <p:cNvPr id="15" name="Oval 14"/>
          <p:cNvSpPr/>
          <p:nvPr/>
        </p:nvSpPr>
        <p:spPr>
          <a:xfrm>
            <a:off x="10352946" y="2395728"/>
            <a:ext cx="292608" cy="292608"/>
          </a:xfrm>
          <a:prstGeom prst="ellipse">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10530" y="1947672"/>
            <a:ext cx="2377440" cy="365760"/>
          </a:xfrm>
          <a:prstGeom prst="rect">
            <a:avLst/>
          </a:prstGeom>
          <a:noFill/>
        </p:spPr>
        <p:txBody>
          <a:bodyPr wrap="square" anchor="t">
            <a:spAutoFit/>
          </a:bodyPr>
          <a:lstStyle/>
          <a:p>
            <a:pPr algn="ctr">
              <a:spcAft>
                <a:spcPts val="0"/>
              </a:spcAft>
            </a:pPr>
            <a:r>
              <a:rPr sz="1600" b="1" i="0">
                <a:solidFill>
                  <a:srgbClr val="FF7A59"/>
                </a:solidFill>
                <a:latin typeface="Calibri"/>
              </a:rPr>
              <a:t>word counting 0.98</a:t>
            </a:r>
          </a:p>
        </p:txBody>
      </p:sp>
      <p:sp>
        <p:nvSpPr>
          <p:cNvPr id="17" name="TextBox 16"/>
          <p:cNvSpPr txBox="1"/>
          <p:nvPr/>
        </p:nvSpPr>
        <p:spPr>
          <a:xfrm>
            <a:off x="685800" y="3337560"/>
            <a:ext cx="5029200" cy="274320"/>
          </a:xfrm>
          <a:prstGeom prst="rect">
            <a:avLst/>
          </a:prstGeom>
          <a:noFill/>
        </p:spPr>
        <p:txBody>
          <a:bodyPr wrap="square" anchor="t">
            <a:spAutoFit/>
          </a:bodyPr>
          <a:lstStyle/>
          <a:p>
            <a:pPr algn="l">
              <a:spcAft>
                <a:spcPts val="0"/>
              </a:spcAft>
            </a:pPr>
            <a:r>
              <a:rPr sz="1100" b="1" i="0">
                <a:solidFill>
                  <a:srgbClr val="9AABC4"/>
                </a:solidFill>
                <a:latin typeface="Calibri"/>
              </a:rPr>
              <a:t>WHY: EACH GROUP CAME FROM ONE SOURCE</a:t>
            </a:r>
          </a:p>
        </p:txBody>
      </p:sp>
      <p:sp>
        <p:nvSpPr>
          <p:cNvPr id="18" name="Rounded Rectangle 17"/>
          <p:cNvSpPr/>
          <p:nvPr/>
        </p:nvSpPr>
        <p:spPr>
          <a:xfrm>
            <a:off x="685800" y="3657600"/>
            <a:ext cx="192024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fear</a:t>
            </a:r>
          </a:p>
        </p:txBody>
      </p:sp>
      <p:sp>
        <p:nvSpPr>
          <p:cNvPr id="19" name="Right Arrow 18"/>
          <p:cNvSpPr/>
          <p:nvPr/>
        </p:nvSpPr>
        <p:spPr>
          <a:xfrm>
            <a:off x="2697480" y="3785615"/>
            <a:ext cx="457200" cy="128016"/>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246120" y="3657600"/>
            <a:ext cx="228600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ISOT fake</a:t>
            </a:r>
          </a:p>
        </p:txBody>
      </p:sp>
      <p:sp>
        <p:nvSpPr>
          <p:cNvPr id="21" name="Rounded Rectangle 20"/>
          <p:cNvSpPr/>
          <p:nvPr/>
        </p:nvSpPr>
        <p:spPr>
          <a:xfrm>
            <a:off x="685800" y="4114800"/>
            <a:ext cx="192024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outrage</a:t>
            </a:r>
          </a:p>
        </p:txBody>
      </p:sp>
      <p:sp>
        <p:nvSpPr>
          <p:cNvPr id="22" name="Right Arrow 21"/>
          <p:cNvSpPr/>
          <p:nvPr/>
        </p:nvSpPr>
        <p:spPr>
          <a:xfrm>
            <a:off x="2697480" y="4242816"/>
            <a:ext cx="457200" cy="128016"/>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246120" y="4114800"/>
            <a:ext cx="228600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SemEval</a:t>
            </a:r>
          </a:p>
        </p:txBody>
      </p:sp>
      <p:sp>
        <p:nvSpPr>
          <p:cNvPr id="24" name="Rounded Rectangle 23"/>
          <p:cNvSpPr/>
          <p:nvPr/>
        </p:nvSpPr>
        <p:spPr>
          <a:xfrm>
            <a:off x="685800" y="4572000"/>
            <a:ext cx="192024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clickbait</a:t>
            </a:r>
          </a:p>
        </p:txBody>
      </p:sp>
      <p:sp>
        <p:nvSpPr>
          <p:cNvPr id="25" name="Right Arrow 24"/>
          <p:cNvSpPr/>
          <p:nvPr/>
        </p:nvSpPr>
        <p:spPr>
          <a:xfrm>
            <a:off x="2697480" y="4700016"/>
            <a:ext cx="457200" cy="128016"/>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246120" y="4572000"/>
            <a:ext cx="228600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Webis</a:t>
            </a:r>
          </a:p>
        </p:txBody>
      </p:sp>
      <p:sp>
        <p:nvSpPr>
          <p:cNvPr id="27" name="Rounded Rectangle 26"/>
          <p:cNvSpPr/>
          <p:nvPr/>
        </p:nvSpPr>
        <p:spPr>
          <a:xfrm>
            <a:off x="685800" y="5029200"/>
            <a:ext cx="192024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neutral</a:t>
            </a:r>
          </a:p>
        </p:txBody>
      </p:sp>
      <p:sp>
        <p:nvSpPr>
          <p:cNvPr id="28" name="Right Arrow 27"/>
          <p:cNvSpPr/>
          <p:nvPr/>
        </p:nvSpPr>
        <p:spPr>
          <a:xfrm>
            <a:off x="2697480" y="5157216"/>
            <a:ext cx="457200" cy="128016"/>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246120" y="5029200"/>
            <a:ext cx="228600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PubMed + ISOT</a:t>
            </a:r>
          </a:p>
        </p:txBody>
      </p:sp>
      <p:sp>
        <p:nvSpPr>
          <p:cNvPr id="30" name="Rounded Rectangle 29"/>
          <p:cNvSpPr/>
          <p:nvPr/>
        </p:nvSpPr>
        <p:spPr>
          <a:xfrm>
            <a:off x="6035040" y="3383280"/>
            <a:ext cx="2560320" cy="169164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600" b="1" i="0">
                <a:solidFill>
                  <a:srgbClr val="FF7A59"/>
                </a:solidFill>
                <a:latin typeface="Calibri"/>
              </a:rPr>
              <a:t>66%</a:t>
            </a:r>
          </a:p>
          <a:p>
            <a:pPr algn="ctr">
              <a:spcAft>
                <a:spcPts val="0"/>
              </a:spcAft>
            </a:pPr>
            <a:r>
              <a:rPr sz="1300" b="0" i="0">
                <a:solidFill>
                  <a:srgbClr val="EEF3FA"/>
                </a:solidFill>
                <a:latin typeface="Calibri"/>
              </a:rPr>
              <a:t>words guess the source
(chance: 25%)</a:t>
            </a:r>
          </a:p>
        </p:txBody>
      </p:sp>
      <p:sp>
        <p:nvSpPr>
          <p:cNvPr id="31" name="Rounded Rectangle 30"/>
          <p:cNvSpPr/>
          <p:nvPr/>
        </p:nvSpPr>
        <p:spPr>
          <a:xfrm>
            <a:off x="8778240" y="3383280"/>
            <a:ext cx="2724912" cy="169164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32" name="TextBox 31"/>
          <p:cNvSpPr txBox="1"/>
          <p:nvPr/>
        </p:nvSpPr>
        <p:spPr>
          <a:xfrm>
            <a:off x="8915400" y="3474720"/>
            <a:ext cx="2468880" cy="1554480"/>
          </a:xfrm>
          <a:prstGeom prst="rect">
            <a:avLst/>
          </a:prstGeom>
          <a:noFill/>
        </p:spPr>
        <p:txBody>
          <a:bodyPr wrap="square" anchor="ctr">
            <a:spAutoFit/>
          </a:bodyPr>
          <a:lstStyle/>
          <a:p>
            <a:pPr algn="l">
              <a:spcAft>
                <a:spcPts val="0"/>
              </a:spcAft>
            </a:pPr>
            <a:r>
              <a:rPr sz="1500" b="1" i="0">
                <a:solidFill>
                  <a:srgbClr val="7CC4FF"/>
                </a:solidFill>
                <a:latin typeface="Calibri"/>
              </a:rPr>
              <a:t>So our score is a measurement for the physics, not a detector.</a:t>
            </a:r>
          </a:p>
        </p:txBody>
      </p:sp>
      <p:sp>
        <p:nvSpPr>
          <p:cNvPr id="33" name="TextBox 32"/>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34" name="Rectangle 33"/>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arget.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Does the brain model match real brains? Weakly, yes</a:t>
            </a:r>
          </a:p>
        </p:txBody>
      </p:sp>
      <p:sp>
        <p:nvSpPr>
          <p:cNvPr id="7" name="TextBox 6"/>
          <p:cNvSpPr txBox="1"/>
          <p:nvPr/>
        </p:nvSpPr>
        <p:spPr>
          <a:xfrm>
            <a:off x="685800" y="1325880"/>
            <a:ext cx="10820095" cy="320040"/>
          </a:xfrm>
          <a:prstGeom prst="rect">
            <a:avLst/>
          </a:prstGeom>
          <a:noFill/>
        </p:spPr>
        <p:txBody>
          <a:bodyPr wrap="square" anchor="t">
            <a:spAutoFit/>
          </a:bodyPr>
          <a:lstStyle/>
          <a:p>
            <a:pPr algn="l">
              <a:spcAft>
                <a:spcPts val="0"/>
              </a:spcAft>
            </a:pPr>
            <a:r>
              <a:rPr sz="1300" b="0" i="0">
                <a:solidFill>
                  <a:srgbClr val="9AABC4"/>
                </a:solidFill>
                <a:latin typeface="Calibri"/>
              </a:rPr>
              <a:t>Tested on public brain scans of people watching Friends (Algonauts 2025). Higher = closer match (r).</a:t>
            </a:r>
          </a:p>
        </p:txBody>
      </p:sp>
      <p:sp>
        <p:nvSpPr>
          <p:cNvPr id="8" name="TextBox 7"/>
          <p:cNvSpPr txBox="1"/>
          <p:nvPr/>
        </p:nvSpPr>
        <p:spPr>
          <a:xfrm>
            <a:off x="777240" y="1856232"/>
            <a:ext cx="2377440" cy="411480"/>
          </a:xfrm>
          <a:prstGeom prst="rect">
            <a:avLst/>
          </a:prstGeom>
          <a:noFill/>
        </p:spPr>
        <p:txBody>
          <a:bodyPr wrap="square" anchor="t">
            <a:spAutoFit/>
          </a:bodyPr>
          <a:lstStyle/>
          <a:p>
            <a:pPr algn="r">
              <a:spcAft>
                <a:spcPts val="0"/>
              </a:spcAft>
            </a:pPr>
            <a:r>
              <a:rPr sz="1400" b="0" i="0">
                <a:solidFill>
                  <a:srgbClr val="9AABC4"/>
                </a:solidFill>
                <a:latin typeface="Calibri"/>
              </a:rPr>
              <a:t>people vs each other,
full episode</a:t>
            </a:r>
          </a:p>
        </p:txBody>
      </p:sp>
      <p:sp>
        <p:nvSpPr>
          <p:cNvPr id="9" name="Rectangle 8"/>
          <p:cNvSpPr/>
          <p:nvPr/>
        </p:nvSpPr>
        <p:spPr>
          <a:xfrm>
            <a:off x="3291840" y="1920240"/>
            <a:ext cx="621792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91840" y="1920240"/>
            <a:ext cx="5548579" cy="274320"/>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46920" y="1856232"/>
            <a:ext cx="2926080" cy="411480"/>
          </a:xfrm>
          <a:prstGeom prst="rect">
            <a:avLst/>
          </a:prstGeom>
          <a:noFill/>
        </p:spPr>
        <p:txBody>
          <a:bodyPr wrap="square" anchor="t">
            <a:spAutoFit/>
          </a:bodyPr>
          <a:lstStyle/>
          <a:p>
            <a:pPr algn="l">
              <a:spcAft>
                <a:spcPts val="0"/>
              </a:spcAft>
            </a:pPr>
            <a:r>
              <a:rPr sz="1400" b="1" i="0">
                <a:solidFill>
                  <a:srgbClr val="9AABC4"/>
                </a:solidFill>
                <a:latin typeface="Calibri"/>
              </a:rPr>
              <a:t>0.152</a:t>
            </a:r>
          </a:p>
        </p:txBody>
      </p:sp>
      <p:sp>
        <p:nvSpPr>
          <p:cNvPr id="12" name="TextBox 11"/>
          <p:cNvSpPr txBox="1"/>
          <p:nvPr/>
        </p:nvSpPr>
        <p:spPr>
          <a:xfrm>
            <a:off x="777240" y="2587752"/>
            <a:ext cx="2377440" cy="411480"/>
          </a:xfrm>
          <a:prstGeom prst="rect">
            <a:avLst/>
          </a:prstGeom>
          <a:noFill/>
        </p:spPr>
        <p:txBody>
          <a:bodyPr wrap="square" anchor="t">
            <a:spAutoFit/>
          </a:bodyPr>
          <a:lstStyle/>
          <a:p>
            <a:pPr algn="r">
              <a:spcAft>
                <a:spcPts val="0"/>
              </a:spcAft>
            </a:pPr>
            <a:r>
              <a:rPr sz="1400" b="0" i="0">
                <a:solidFill>
                  <a:srgbClr val="9AABC4"/>
                </a:solidFill>
                <a:latin typeface="Calibri"/>
              </a:rPr>
              <a:t>best possible,
2-minute clip</a:t>
            </a:r>
          </a:p>
        </p:txBody>
      </p:sp>
      <p:sp>
        <p:nvSpPr>
          <p:cNvPr id="13" name="Rectangle 12"/>
          <p:cNvSpPr/>
          <p:nvPr/>
        </p:nvSpPr>
        <p:spPr>
          <a:xfrm>
            <a:off x="3291840" y="2651760"/>
            <a:ext cx="621792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91840" y="2651760"/>
            <a:ext cx="3507638" cy="274320"/>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46920" y="2587752"/>
            <a:ext cx="2926080" cy="411480"/>
          </a:xfrm>
          <a:prstGeom prst="rect">
            <a:avLst/>
          </a:prstGeom>
          <a:noFill/>
        </p:spPr>
        <p:txBody>
          <a:bodyPr wrap="square" anchor="t">
            <a:spAutoFit/>
          </a:bodyPr>
          <a:lstStyle/>
          <a:p>
            <a:pPr algn="l">
              <a:spcAft>
                <a:spcPts val="0"/>
              </a:spcAft>
            </a:pPr>
            <a:r>
              <a:rPr sz="1400" b="1" i="0">
                <a:solidFill>
                  <a:srgbClr val="7CC4FF"/>
                </a:solidFill>
                <a:latin typeface="Calibri"/>
              </a:rPr>
              <a:t>0.096</a:t>
            </a:r>
          </a:p>
        </p:txBody>
      </p:sp>
      <p:sp>
        <p:nvSpPr>
          <p:cNvPr id="16" name="TextBox 15"/>
          <p:cNvSpPr txBox="1"/>
          <p:nvPr/>
        </p:nvSpPr>
        <p:spPr>
          <a:xfrm>
            <a:off x="777240" y="3319272"/>
            <a:ext cx="2377440" cy="411480"/>
          </a:xfrm>
          <a:prstGeom prst="rect">
            <a:avLst/>
          </a:prstGeom>
          <a:noFill/>
        </p:spPr>
        <p:txBody>
          <a:bodyPr wrap="square" anchor="t">
            <a:spAutoFit/>
          </a:bodyPr>
          <a:lstStyle/>
          <a:p>
            <a:pPr algn="r">
              <a:spcAft>
                <a:spcPts val="0"/>
              </a:spcAft>
            </a:pPr>
            <a:r>
              <a:rPr sz="1400" b="0" i="0">
                <a:solidFill>
                  <a:srgbClr val="9AABC4"/>
                </a:solidFill>
                <a:latin typeface="Calibri"/>
              </a:rPr>
              <a:t>our model,
2-minute clip</a:t>
            </a:r>
          </a:p>
        </p:txBody>
      </p:sp>
      <p:sp>
        <p:nvSpPr>
          <p:cNvPr id="17" name="Rectangle 16"/>
          <p:cNvSpPr/>
          <p:nvPr/>
        </p:nvSpPr>
        <p:spPr>
          <a:xfrm>
            <a:off x="3291840" y="3383280"/>
            <a:ext cx="621792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91840" y="3383280"/>
            <a:ext cx="1035100" cy="274320"/>
          </a:xfrm>
          <a:prstGeom prst="rect">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46920" y="3319272"/>
            <a:ext cx="2926080" cy="411480"/>
          </a:xfrm>
          <a:prstGeom prst="rect">
            <a:avLst/>
          </a:prstGeom>
          <a:noFill/>
        </p:spPr>
        <p:txBody>
          <a:bodyPr wrap="square" anchor="t">
            <a:spAutoFit/>
          </a:bodyPr>
          <a:lstStyle/>
          <a:p>
            <a:pPr algn="l">
              <a:spcAft>
                <a:spcPts val="0"/>
              </a:spcAft>
            </a:pPr>
            <a:r>
              <a:rPr sz="1400" b="1" i="0">
                <a:solidFill>
                  <a:srgbClr val="5FD09A"/>
                </a:solidFill>
                <a:latin typeface="Calibri"/>
              </a:rPr>
              <a:t>0.028</a:t>
            </a:r>
          </a:p>
        </p:txBody>
      </p:sp>
      <p:sp>
        <p:nvSpPr>
          <p:cNvPr id="20" name="Rounded Rectangle 19"/>
          <p:cNvSpPr/>
          <p:nvPr/>
        </p:nvSpPr>
        <p:spPr>
          <a:xfrm>
            <a:off x="685800" y="4251960"/>
            <a:ext cx="3429000" cy="123444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000" b="1" i="0">
                <a:solidFill>
                  <a:srgbClr val="5FD09A"/>
                </a:solidFill>
                <a:latin typeface="Calibri"/>
              </a:rPr>
              <a:t>≈ 30%</a:t>
            </a:r>
          </a:p>
          <a:p>
            <a:pPr algn="ctr">
              <a:spcAft>
                <a:spcPts val="0"/>
              </a:spcAft>
            </a:pPr>
            <a:r>
              <a:rPr sz="1300" b="0" i="0">
                <a:solidFill>
                  <a:srgbClr val="EEF3FA"/>
                </a:solidFill>
                <a:latin typeface="Calibri"/>
              </a:rPr>
              <a:t>of the best possible on the clip</a:t>
            </a:r>
          </a:p>
        </p:txBody>
      </p:sp>
      <p:sp>
        <p:nvSpPr>
          <p:cNvPr id="21" name="Rounded Rectangle 20"/>
          <p:cNvSpPr/>
          <p:nvPr/>
        </p:nvSpPr>
        <p:spPr>
          <a:xfrm>
            <a:off x="4379976" y="4251960"/>
            <a:ext cx="3429000" cy="123444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000" b="1" i="0">
                <a:solidFill>
                  <a:srgbClr val="F5B83D"/>
                </a:solidFill>
                <a:latin typeface="Calibri"/>
              </a:rPr>
              <a:t>p = 0.048</a:t>
            </a:r>
          </a:p>
          <a:p>
            <a:pPr algn="ctr">
              <a:spcAft>
                <a:spcPts val="0"/>
              </a:spcAft>
            </a:pPr>
            <a:r>
              <a:rPr sz="1300" b="0" i="0">
                <a:solidFill>
                  <a:srgbClr val="EEF3FA"/>
                </a:solidFill>
                <a:latin typeface="Calibri"/>
              </a:rPr>
              <a:t>just under the 5% cut-off</a:t>
            </a:r>
          </a:p>
        </p:txBody>
      </p:sp>
      <p:sp>
        <p:nvSpPr>
          <p:cNvPr id="22" name="Rounded Rectangle 21"/>
          <p:cNvSpPr/>
          <p:nvPr/>
        </p:nvSpPr>
        <p:spPr>
          <a:xfrm>
            <a:off x="8074152" y="4251960"/>
            <a:ext cx="3429000" cy="123444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000" b="1" i="0">
                <a:solidFill>
                  <a:srgbClr val="FF7A59"/>
                </a:solidFill>
                <a:latin typeface="Calibri"/>
              </a:rPr>
              <a:t>3 bugs</a:t>
            </a:r>
          </a:p>
          <a:p>
            <a:pPr algn="ctr">
              <a:spcAft>
                <a:spcPts val="0"/>
              </a:spcAft>
            </a:pPr>
            <a:r>
              <a:rPr sz="1300" b="0" i="0">
                <a:solidFill>
                  <a:srgbClr val="EEF3FA"/>
                </a:solidFill>
                <a:latin typeface="Calibri"/>
              </a:rPr>
              <a:t>found and fixed along the way</a:t>
            </a:r>
          </a:p>
        </p:txBody>
      </p:sp>
      <p:sp>
        <p:nvSpPr>
          <p:cNvPr id="23" name="Rounded Rectangle 22"/>
          <p:cNvSpPr/>
          <p:nvPr/>
        </p:nvSpPr>
        <p:spPr>
          <a:xfrm>
            <a:off x="685800" y="5669280"/>
            <a:ext cx="10820095" cy="45720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Meaning:  </a:t>
            </a:r>
            <a:r>
              <a:rPr sz="1600" b="0">
                <a:solidFill>
                  <a:srgbClr val="EEF3FA"/>
                </a:solidFill>
                <a:latin typeface="Calibri"/>
              </a:rPr>
              <a:t>weak but positive, not the opposite of real brains. A longer run will settle it (Paper 3).</a:t>
            </a:r>
          </a:p>
        </p:txBody>
      </p:sp>
      <p:sp>
        <p:nvSpPr>
          <p:cNvPr id="24" name="TextBox 23"/>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25" name="Rectangle 24"/>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le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PHYSICS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The minimum push media would need</a:t>
            </a:r>
          </a:p>
        </p:txBody>
      </p:sp>
      <p:sp>
        <p:nvSpPr>
          <p:cNvPr id="7" name="Rounded Rectangle 6"/>
          <p:cNvSpPr/>
          <p:nvPr/>
        </p:nvSpPr>
        <p:spPr>
          <a:xfrm>
            <a:off x="685800" y="1325880"/>
            <a:ext cx="5212080" cy="434340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8" name="Picture 7" descr="1d5e9130446c2757.png"/>
          <p:cNvPicPr>
            <a:picLocks noChangeAspect="1"/>
          </p:cNvPicPr>
          <p:nvPr/>
        </p:nvPicPr>
        <p:blipFill>
          <a:blip r:embed="rId4"/>
          <a:stretch>
            <a:fillRect/>
          </a:stretch>
        </p:blipFill>
        <p:spPr>
          <a:xfrm>
            <a:off x="1718843" y="1508760"/>
            <a:ext cx="3145993" cy="579272"/>
          </a:xfrm>
          <a:prstGeom prst="rect">
            <a:avLst/>
          </a:prstGeom>
        </p:spPr>
      </p:pic>
      <p:pic>
        <p:nvPicPr>
          <p:cNvPr id="9" name="Picture 8" descr="20c93cf97540e448.png"/>
          <p:cNvPicPr>
            <a:picLocks noChangeAspect="1"/>
          </p:cNvPicPr>
          <p:nvPr/>
        </p:nvPicPr>
        <p:blipFill>
          <a:blip r:embed="rId5"/>
          <a:stretch>
            <a:fillRect/>
          </a:stretch>
        </p:blipFill>
        <p:spPr>
          <a:xfrm>
            <a:off x="1181290" y="2542032"/>
            <a:ext cx="152019" cy="247573"/>
          </a:xfrm>
          <a:prstGeom prst="rect">
            <a:avLst/>
          </a:prstGeom>
        </p:spPr>
      </p:pic>
      <p:sp>
        <p:nvSpPr>
          <p:cNvPr id="10" name="TextBox 9"/>
          <p:cNvSpPr txBox="1"/>
          <p:nvPr/>
        </p:nvSpPr>
        <p:spPr>
          <a:xfrm>
            <a:off x="1783080" y="2487168"/>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external field  </a:t>
            </a:r>
            <a:r>
              <a:rPr sz="1300" b="0">
                <a:solidFill>
                  <a:srgbClr val="EEF3FA"/>
                </a:solidFill>
                <a:latin typeface="Calibri"/>
              </a:rPr>
              <a:t>= media's push on everyone</a:t>
            </a:r>
          </a:p>
        </p:txBody>
      </p:sp>
      <p:pic>
        <p:nvPicPr>
          <p:cNvPr id="11" name="Picture 10" descr="a2dd4f017e3f8d43.png"/>
          <p:cNvPicPr>
            <a:picLocks noChangeAspect="1"/>
          </p:cNvPicPr>
          <p:nvPr/>
        </p:nvPicPr>
        <p:blipFill>
          <a:blip r:embed="rId6"/>
          <a:stretch>
            <a:fillRect/>
          </a:stretch>
        </p:blipFill>
        <p:spPr>
          <a:xfrm>
            <a:off x="1144371" y="3063240"/>
            <a:ext cx="225856" cy="247573"/>
          </a:xfrm>
          <a:prstGeom prst="rect">
            <a:avLst/>
          </a:prstGeom>
        </p:spPr>
      </p:pic>
      <p:sp>
        <p:nvSpPr>
          <p:cNvPr id="12" name="TextBox 11"/>
          <p:cNvSpPr txBox="1"/>
          <p:nvPr/>
        </p:nvSpPr>
        <p:spPr>
          <a:xfrm>
            <a:off x="1783080" y="3008376"/>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observable  </a:t>
            </a:r>
            <a:r>
              <a:rPr sz="1300" b="0">
                <a:solidFill>
                  <a:srgbClr val="EEF3FA"/>
                </a:solidFill>
                <a:latin typeface="Calibri"/>
              </a:rPr>
              <a:t>= our score for an article</a:t>
            </a:r>
          </a:p>
        </p:txBody>
      </p:sp>
      <p:pic>
        <p:nvPicPr>
          <p:cNvPr id="13" name="Picture 12" descr="5272f2755a3e4bf7.png"/>
          <p:cNvPicPr>
            <a:picLocks noChangeAspect="1"/>
          </p:cNvPicPr>
          <p:nvPr/>
        </p:nvPicPr>
        <p:blipFill>
          <a:blip r:embed="rId7"/>
          <a:stretch>
            <a:fillRect/>
          </a:stretch>
        </p:blipFill>
        <p:spPr>
          <a:xfrm>
            <a:off x="1174775" y="3584448"/>
            <a:ext cx="165049" cy="247573"/>
          </a:xfrm>
          <a:prstGeom prst="rect">
            <a:avLst/>
          </a:prstGeom>
        </p:spPr>
      </p:pic>
      <p:sp>
        <p:nvSpPr>
          <p:cNvPr id="14" name="TextBox 13"/>
          <p:cNvSpPr txBox="1"/>
          <p:nvPr/>
        </p:nvSpPr>
        <p:spPr>
          <a:xfrm>
            <a:off x="1783080" y="3529584"/>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coupling constant  </a:t>
            </a:r>
            <a:r>
              <a:rPr sz="1300" b="0">
                <a:solidFill>
                  <a:srgbClr val="EEF3FA"/>
                </a:solidFill>
                <a:latin typeface="Calibri"/>
              </a:rPr>
              <a:t>= push per unit of score</a:t>
            </a:r>
          </a:p>
        </p:txBody>
      </p:sp>
      <p:pic>
        <p:nvPicPr>
          <p:cNvPr id="15" name="Picture 14" descr="3083b7f6cdc240b3.png"/>
          <p:cNvPicPr>
            <a:picLocks noChangeAspect="1"/>
          </p:cNvPicPr>
          <p:nvPr/>
        </p:nvPicPr>
        <p:blipFill>
          <a:blip r:embed="rId8"/>
          <a:stretch>
            <a:fillRect/>
          </a:stretch>
        </p:blipFill>
        <p:spPr>
          <a:xfrm>
            <a:off x="1141114" y="4105655"/>
            <a:ext cx="232371" cy="247573"/>
          </a:xfrm>
          <a:prstGeom prst="rect">
            <a:avLst/>
          </a:prstGeom>
        </p:spPr>
      </p:pic>
      <p:sp>
        <p:nvSpPr>
          <p:cNvPr id="16" name="TextBox 15"/>
          <p:cNvSpPr txBox="1"/>
          <p:nvPr/>
        </p:nvSpPr>
        <p:spPr>
          <a:xfrm>
            <a:off x="1783080" y="4050791"/>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critical field  </a:t>
            </a:r>
            <a:r>
              <a:rPr sz="1300" b="0">
                <a:solidFill>
                  <a:srgbClr val="EEF3FA"/>
                </a:solidFill>
                <a:latin typeface="Calibri"/>
              </a:rPr>
              <a:t>= smallest push that flips the majority</a:t>
            </a:r>
          </a:p>
        </p:txBody>
      </p:sp>
      <p:pic>
        <p:nvPicPr>
          <p:cNvPr id="17" name="Picture 16" descr="92db4915de0152da.png"/>
          <p:cNvPicPr>
            <a:picLocks noChangeAspect="1"/>
          </p:cNvPicPr>
          <p:nvPr/>
        </p:nvPicPr>
        <p:blipFill>
          <a:blip r:embed="rId9"/>
          <a:stretch>
            <a:fillRect/>
          </a:stretch>
        </p:blipFill>
        <p:spPr>
          <a:xfrm>
            <a:off x="1102023" y="4626864"/>
            <a:ext cx="310553" cy="249745"/>
          </a:xfrm>
          <a:prstGeom prst="rect">
            <a:avLst/>
          </a:prstGeom>
        </p:spPr>
      </p:pic>
      <p:sp>
        <p:nvSpPr>
          <p:cNvPr id="18" name="TextBox 17"/>
          <p:cNvSpPr txBox="1"/>
          <p:nvPr/>
        </p:nvSpPr>
        <p:spPr>
          <a:xfrm>
            <a:off x="1783080" y="4572000"/>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reduced coupling  </a:t>
            </a:r>
            <a:r>
              <a:rPr sz="1300" b="0">
                <a:solidFill>
                  <a:srgbClr val="EEF3FA"/>
                </a:solidFill>
                <a:latin typeface="Calibri"/>
              </a:rPr>
              <a:t>= how strongly people copy each other</a:t>
            </a:r>
          </a:p>
        </p:txBody>
      </p:sp>
      <p:pic>
        <p:nvPicPr>
          <p:cNvPr id="19" name="Picture 18" descr="4b880f26890debb7.png"/>
          <p:cNvPicPr>
            <a:picLocks noChangeAspect="1"/>
          </p:cNvPicPr>
          <p:nvPr/>
        </p:nvPicPr>
        <p:blipFill>
          <a:blip r:embed="rId10"/>
          <a:stretch>
            <a:fillRect/>
          </a:stretch>
        </p:blipFill>
        <p:spPr>
          <a:xfrm>
            <a:off x="1043387" y="5148072"/>
            <a:ext cx="427824" cy="247573"/>
          </a:xfrm>
          <a:prstGeom prst="rect">
            <a:avLst/>
          </a:prstGeom>
        </p:spPr>
      </p:pic>
      <p:sp>
        <p:nvSpPr>
          <p:cNvPr id="20" name="TextBox 19"/>
          <p:cNvSpPr txBox="1"/>
          <p:nvPr/>
        </p:nvSpPr>
        <p:spPr>
          <a:xfrm>
            <a:off x="1783080" y="5093208"/>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spread  </a:t>
            </a:r>
            <a:r>
              <a:rPr sz="1300" b="0">
                <a:solidFill>
                  <a:srgbClr val="EEF3FA"/>
                </a:solidFill>
                <a:latin typeface="Calibri"/>
              </a:rPr>
              <a:t>= range of our scores = 0.124</a:t>
            </a:r>
          </a:p>
        </p:txBody>
      </p:sp>
      <p:graphicFrame>
        <p:nvGraphicFramePr>
          <p:cNvPr id="21" name="Chart 20"/>
          <p:cNvGraphicFramePr>
            <a:graphicFrameLocks noGrp="1"/>
          </p:cNvGraphicFramePr>
          <p:nvPr/>
        </p:nvGraphicFramePr>
        <p:xfrm>
          <a:off x="6172200" y="1280160"/>
          <a:ext cx="5394960" cy="3383280"/>
        </p:xfrm>
        <a:graphic>
          <a:graphicData uri="http://schemas.openxmlformats.org/drawingml/2006/chart">
            <c:chart xmlns:c="http://schemas.openxmlformats.org/drawingml/2006/chart" r:id="rId11"/>
          </a:graphicData>
        </a:graphic>
      </p:graphicFrame>
      <p:sp>
        <p:nvSpPr>
          <p:cNvPr id="22" name="TextBox 21"/>
          <p:cNvSpPr txBox="1"/>
          <p:nvPr/>
        </p:nvSpPr>
        <p:spPr>
          <a:xfrm>
            <a:off x="6172200" y="4572000"/>
            <a:ext cx="5394960" cy="274320"/>
          </a:xfrm>
          <a:prstGeom prst="rect">
            <a:avLst/>
          </a:prstGeom>
          <a:noFill/>
        </p:spPr>
        <p:txBody>
          <a:bodyPr wrap="square" anchor="t">
            <a:spAutoFit/>
          </a:bodyPr>
          <a:lstStyle/>
          <a:p>
            <a:pPr algn="ctr">
              <a:spcAft>
                <a:spcPts val="0"/>
              </a:spcAft>
            </a:pPr>
            <a:r>
              <a:rPr sz="1200" b="0" i="0">
                <a:solidFill>
                  <a:srgbClr val="9AABC4"/>
                </a:solidFill>
                <a:latin typeface="Calibri"/>
              </a:rPr>
              <a:t>copying strength βJ  →</a:t>
            </a:r>
          </a:p>
        </p:txBody>
      </p:sp>
      <p:sp>
        <p:nvSpPr>
          <p:cNvPr id="23" name="TextBox 22"/>
          <p:cNvSpPr txBox="1"/>
          <p:nvPr/>
        </p:nvSpPr>
        <p:spPr>
          <a:xfrm>
            <a:off x="6355080" y="1234440"/>
            <a:ext cx="2743200" cy="274320"/>
          </a:xfrm>
          <a:prstGeom prst="rect">
            <a:avLst/>
          </a:prstGeom>
          <a:noFill/>
        </p:spPr>
        <p:txBody>
          <a:bodyPr wrap="square" anchor="t">
            <a:spAutoFit/>
          </a:bodyPr>
          <a:lstStyle/>
          <a:p>
            <a:pPr algn="l">
              <a:spcAft>
                <a:spcPts val="0"/>
              </a:spcAft>
            </a:pPr>
            <a:r>
              <a:rPr sz="1200" b="0" i="0">
                <a:solidFill>
                  <a:srgbClr val="9AABC4"/>
                </a:solidFill>
                <a:latin typeface="Calibri"/>
              </a:rPr>
              <a:t>α required</a:t>
            </a:r>
          </a:p>
        </p:txBody>
      </p:sp>
      <p:sp>
        <p:nvSpPr>
          <p:cNvPr id="24" name="Rounded Rectangle 23"/>
          <p:cNvSpPr/>
          <p:nvPr/>
        </p:nvSpPr>
        <p:spPr>
          <a:xfrm>
            <a:off x="6172200" y="4892040"/>
            <a:ext cx="5330952" cy="77724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2200" b="1" i="0">
                <a:solidFill>
                  <a:srgbClr val="FF7A59"/>
                </a:solidFill>
                <a:latin typeface="Calibri"/>
              </a:rPr>
              <a:t>α ≥ 4.29 at βJ = 2</a:t>
            </a:r>
          </a:p>
          <a:p>
            <a:pPr algn="ctr">
              <a:spcAft>
                <a:spcPts val="0"/>
              </a:spcAft>
            </a:pPr>
            <a:r>
              <a:rPr sz="1300" b="0" i="0">
                <a:solidFill>
                  <a:srgbClr val="EEF3FA"/>
                </a:solidFill>
                <a:latin typeface="Calibri"/>
              </a:rPr>
              <a:t>a bar any claim must clear</a:t>
            </a:r>
          </a:p>
        </p:txBody>
      </p:sp>
      <p:sp>
        <p:nvSpPr>
          <p:cNvPr id="25" name="TextBox 24"/>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PHYSICS</a:t>
            </a:r>
          </a:p>
        </p:txBody>
      </p:sp>
      <p:sp>
        <p:nvSpPr>
          <p:cNvPr id="26" name="Rectangle 25"/>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20459"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arget.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WHAT'S NEXT</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Can it analyse any content, even what children watch?</a:t>
            </a:r>
          </a:p>
        </p:txBody>
      </p:sp>
      <p:sp>
        <p:nvSpPr>
          <p:cNvPr id="7" name="Rounded Rectangle 6"/>
          <p:cNvSpPr/>
          <p:nvPr/>
        </p:nvSpPr>
        <p:spPr>
          <a:xfrm>
            <a:off x="685800" y="1371600"/>
            <a:ext cx="3429000" cy="352044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8" name="Picture 7" descr="check-circle.png"/>
          <p:cNvPicPr>
            <a:picLocks noChangeAspect="1"/>
          </p:cNvPicPr>
          <p:nvPr/>
        </p:nvPicPr>
        <p:blipFill>
          <a:blip r:embed="rId4"/>
          <a:stretch>
            <a:fillRect/>
          </a:stretch>
        </p:blipFill>
        <p:spPr>
          <a:xfrm>
            <a:off x="2125980" y="1554480"/>
            <a:ext cx="548640" cy="548640"/>
          </a:xfrm>
          <a:prstGeom prst="rect">
            <a:avLst/>
          </a:prstGeom>
        </p:spPr>
      </p:pic>
      <p:sp>
        <p:nvSpPr>
          <p:cNvPr id="9" name="TextBox 8"/>
          <p:cNvSpPr txBox="1"/>
          <p:nvPr/>
        </p:nvSpPr>
        <p:spPr>
          <a:xfrm>
            <a:off x="685800" y="2194560"/>
            <a:ext cx="3429000" cy="365760"/>
          </a:xfrm>
          <a:prstGeom prst="rect">
            <a:avLst/>
          </a:prstGeom>
          <a:noFill/>
        </p:spPr>
        <p:txBody>
          <a:bodyPr wrap="square" anchor="t">
            <a:spAutoFit/>
          </a:bodyPr>
          <a:lstStyle/>
          <a:p>
            <a:pPr algn="ctr">
              <a:spcAft>
                <a:spcPts val="0"/>
              </a:spcAft>
            </a:pPr>
            <a:r>
              <a:rPr sz="1600" b="1" i="0">
                <a:solidFill>
                  <a:srgbClr val="5FD09A"/>
                </a:solidFill>
                <a:latin typeface="Calibri"/>
              </a:rPr>
              <a:t>CAN DO</a:t>
            </a:r>
          </a:p>
        </p:txBody>
      </p:sp>
      <p:sp>
        <p:nvSpPr>
          <p:cNvPr id="10" name="Rounded Rectangle 9"/>
          <p:cNvSpPr/>
          <p:nvPr/>
        </p:nvSpPr>
        <p:spPr>
          <a:xfrm>
            <a:off x="868680" y="2697480"/>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Score video, audio and text</a:t>
            </a:r>
          </a:p>
        </p:txBody>
      </p:sp>
      <p:sp>
        <p:nvSpPr>
          <p:cNvPr id="11" name="Rounded Rectangle 10"/>
          <p:cNvSpPr/>
          <p:nvPr/>
        </p:nvSpPr>
        <p:spPr>
          <a:xfrm>
            <a:off x="868680" y="3410712"/>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Compare groups of content</a:t>
            </a:r>
          </a:p>
        </p:txBody>
      </p:sp>
      <p:sp>
        <p:nvSpPr>
          <p:cNvPr id="12" name="Rounded Rectangle 11"/>
          <p:cNvSpPr/>
          <p:nvPr/>
        </p:nvSpPr>
        <p:spPr>
          <a:xfrm>
            <a:off x="868680" y="4123944"/>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Rate content, never the viewer</a:t>
            </a:r>
          </a:p>
        </p:txBody>
      </p:sp>
      <p:sp>
        <p:nvSpPr>
          <p:cNvPr id="13" name="Rounded Rectangle 12"/>
          <p:cNvSpPr/>
          <p:nvPr/>
        </p:nvSpPr>
        <p:spPr>
          <a:xfrm>
            <a:off x="4379976" y="1371600"/>
            <a:ext cx="3429000" cy="352044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4" name="Picture 13" descr="x-circle.png"/>
          <p:cNvPicPr>
            <a:picLocks noChangeAspect="1"/>
          </p:cNvPicPr>
          <p:nvPr/>
        </p:nvPicPr>
        <p:blipFill>
          <a:blip r:embed="rId5"/>
          <a:stretch>
            <a:fillRect/>
          </a:stretch>
        </p:blipFill>
        <p:spPr>
          <a:xfrm>
            <a:off x="5820156" y="1554480"/>
            <a:ext cx="548640" cy="548640"/>
          </a:xfrm>
          <a:prstGeom prst="rect">
            <a:avLst/>
          </a:prstGeom>
        </p:spPr>
      </p:pic>
      <p:sp>
        <p:nvSpPr>
          <p:cNvPr id="15" name="TextBox 14"/>
          <p:cNvSpPr txBox="1"/>
          <p:nvPr/>
        </p:nvSpPr>
        <p:spPr>
          <a:xfrm>
            <a:off x="4379976" y="2194560"/>
            <a:ext cx="3429000" cy="365760"/>
          </a:xfrm>
          <a:prstGeom prst="rect">
            <a:avLst/>
          </a:prstGeom>
          <a:noFill/>
        </p:spPr>
        <p:txBody>
          <a:bodyPr wrap="square" anchor="t">
            <a:spAutoFit/>
          </a:bodyPr>
          <a:lstStyle/>
          <a:p>
            <a:pPr algn="ctr">
              <a:spcAft>
                <a:spcPts val="0"/>
              </a:spcAft>
            </a:pPr>
            <a:r>
              <a:rPr sz="1600" b="1" i="0">
                <a:solidFill>
                  <a:srgbClr val="FF7A59"/>
                </a:solidFill>
                <a:latin typeface="Calibri"/>
              </a:rPr>
              <a:t>NOT YET</a:t>
            </a:r>
          </a:p>
        </p:txBody>
      </p:sp>
      <p:sp>
        <p:nvSpPr>
          <p:cNvPr id="16" name="Rounded Rectangle 15"/>
          <p:cNvSpPr/>
          <p:nvPr/>
        </p:nvSpPr>
        <p:spPr>
          <a:xfrm>
            <a:off x="4562856" y="2697480"/>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Model learned from adult brains</a:t>
            </a:r>
          </a:p>
        </p:txBody>
      </p:sp>
      <p:sp>
        <p:nvSpPr>
          <p:cNvPr id="17" name="Rounded Rectangle 16"/>
          <p:cNvSpPr/>
          <p:nvPr/>
        </p:nvSpPr>
        <p:spPr>
          <a:xfrm>
            <a:off x="4562856" y="3410712"/>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Only news text was tested</a:t>
            </a:r>
          </a:p>
        </p:txBody>
      </p:sp>
      <p:sp>
        <p:nvSpPr>
          <p:cNvPr id="18" name="Rounded Rectangle 17"/>
          <p:cNvSpPr/>
          <p:nvPr/>
        </p:nvSpPr>
        <p:spPr>
          <a:xfrm>
            <a:off x="4562856" y="4123944"/>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One show alone is unreliable</a:t>
            </a:r>
          </a:p>
        </p:txBody>
      </p:sp>
      <p:sp>
        <p:nvSpPr>
          <p:cNvPr id="19" name="Rounded Rectangle 18"/>
          <p:cNvSpPr/>
          <p:nvPr/>
        </p:nvSpPr>
        <p:spPr>
          <a:xfrm>
            <a:off x="8074152" y="1371600"/>
            <a:ext cx="3429000" cy="352044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0" name="Picture 19" descr="flag-banner.png"/>
          <p:cNvPicPr>
            <a:picLocks noChangeAspect="1"/>
          </p:cNvPicPr>
          <p:nvPr/>
        </p:nvPicPr>
        <p:blipFill>
          <a:blip r:embed="rId6"/>
          <a:stretch>
            <a:fillRect/>
          </a:stretch>
        </p:blipFill>
        <p:spPr>
          <a:xfrm>
            <a:off x="9514332" y="1554480"/>
            <a:ext cx="548640" cy="548640"/>
          </a:xfrm>
          <a:prstGeom prst="rect">
            <a:avLst/>
          </a:prstGeom>
        </p:spPr>
      </p:pic>
      <p:sp>
        <p:nvSpPr>
          <p:cNvPr id="21" name="TextBox 20"/>
          <p:cNvSpPr txBox="1"/>
          <p:nvPr/>
        </p:nvSpPr>
        <p:spPr>
          <a:xfrm>
            <a:off x="8074152" y="2194560"/>
            <a:ext cx="3429000" cy="365760"/>
          </a:xfrm>
          <a:prstGeom prst="rect">
            <a:avLst/>
          </a:prstGeom>
          <a:noFill/>
        </p:spPr>
        <p:txBody>
          <a:bodyPr wrap="square" anchor="t">
            <a:spAutoFit/>
          </a:bodyPr>
          <a:lstStyle/>
          <a:p>
            <a:pPr algn="ctr">
              <a:spcAft>
                <a:spcPts val="0"/>
              </a:spcAft>
            </a:pPr>
            <a:r>
              <a:rPr sz="1600" b="1" i="0">
                <a:solidFill>
                  <a:srgbClr val="7CC4FF"/>
                </a:solidFill>
                <a:latin typeface="Calibri"/>
              </a:rPr>
              <a:t>WOULD TAKE</a:t>
            </a:r>
          </a:p>
        </p:txBody>
      </p:sp>
      <p:sp>
        <p:nvSpPr>
          <p:cNvPr id="22" name="Rounded Rectangle 21"/>
          <p:cNvSpPr/>
          <p:nvPr/>
        </p:nvSpPr>
        <p:spPr>
          <a:xfrm>
            <a:off x="8257031" y="2697480"/>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Child brain data, with ethics approval</a:t>
            </a:r>
          </a:p>
        </p:txBody>
      </p:sp>
      <p:sp>
        <p:nvSpPr>
          <p:cNvPr id="23" name="Rounded Rectangle 22"/>
          <p:cNvSpPr/>
          <p:nvPr/>
        </p:nvSpPr>
        <p:spPr>
          <a:xfrm>
            <a:off x="8257031" y="3410712"/>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A children's video test set</a:t>
            </a:r>
          </a:p>
        </p:txBody>
      </p:sp>
      <p:sp>
        <p:nvSpPr>
          <p:cNvPr id="24" name="Rounded Rectangle 23"/>
          <p:cNvSpPr/>
          <p:nvPr/>
        </p:nvSpPr>
        <p:spPr>
          <a:xfrm>
            <a:off x="8257031" y="4123944"/>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Safeguards against targeting children</a:t>
            </a:r>
          </a:p>
        </p:txBody>
      </p:sp>
      <p:sp>
        <p:nvSpPr>
          <p:cNvPr id="25" name="Rounded Rectangle 24"/>
          <p:cNvSpPr/>
          <p:nvPr/>
        </p:nvSpPr>
        <p:spPr>
          <a:xfrm>
            <a:off x="685800" y="5120640"/>
            <a:ext cx="10820095" cy="54864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Short answer:  </a:t>
            </a:r>
            <a:r>
              <a:rPr sz="1600" b="0">
                <a:solidFill>
                  <a:srgbClr val="EEF3FA"/>
                </a:solidFill>
                <a:latin typeface="Calibri"/>
              </a:rPr>
              <a:t>technically possible, but not yet valid for children.</a:t>
            </a:r>
          </a:p>
        </p:txBody>
      </p:sp>
      <p:sp>
        <p:nvSpPr>
          <p:cNvPr id="26" name="TextBox 25"/>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WHAT'S NEXT</a:t>
            </a:r>
          </a:p>
        </p:txBody>
      </p:sp>
      <p:sp>
        <p:nvSpPr>
          <p:cNvPr id="27" name="Rectangle 26"/>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20459"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96531"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x-circle.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WHAT'S NEXT</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Each limit points to the next study</a:t>
            </a:r>
          </a:p>
        </p:txBody>
      </p:sp>
      <p:sp>
        <p:nvSpPr>
          <p:cNvPr id="7" name="TextBox 6"/>
          <p:cNvSpPr txBox="1"/>
          <p:nvPr/>
        </p:nvSpPr>
        <p:spPr>
          <a:xfrm>
            <a:off x="685800" y="1325880"/>
            <a:ext cx="3657600" cy="274320"/>
          </a:xfrm>
          <a:prstGeom prst="rect">
            <a:avLst/>
          </a:prstGeom>
          <a:noFill/>
        </p:spPr>
        <p:txBody>
          <a:bodyPr wrap="square" anchor="t">
            <a:spAutoFit/>
          </a:bodyPr>
          <a:lstStyle/>
          <a:p>
            <a:pPr algn="l">
              <a:spcAft>
                <a:spcPts val="0"/>
              </a:spcAft>
            </a:pPr>
            <a:r>
              <a:rPr sz="1100" b="1" i="0">
                <a:solidFill>
                  <a:srgbClr val="FF7A59"/>
                </a:solidFill>
                <a:latin typeface="Calibri"/>
              </a:rPr>
              <a:t>LIMIT</a:t>
            </a:r>
          </a:p>
        </p:txBody>
      </p:sp>
      <p:sp>
        <p:nvSpPr>
          <p:cNvPr id="8" name="TextBox 7"/>
          <p:cNvSpPr txBox="1"/>
          <p:nvPr/>
        </p:nvSpPr>
        <p:spPr>
          <a:xfrm>
            <a:off x="5669280" y="1325880"/>
            <a:ext cx="3657600" cy="274320"/>
          </a:xfrm>
          <a:prstGeom prst="rect">
            <a:avLst/>
          </a:prstGeom>
          <a:noFill/>
        </p:spPr>
        <p:txBody>
          <a:bodyPr wrap="square" anchor="t">
            <a:spAutoFit/>
          </a:bodyPr>
          <a:lstStyle/>
          <a:p>
            <a:pPr algn="l">
              <a:spcAft>
                <a:spcPts val="0"/>
              </a:spcAft>
            </a:pPr>
            <a:r>
              <a:rPr sz="1100" b="1" i="0">
                <a:solidFill>
                  <a:srgbClr val="5FD09A"/>
                </a:solidFill>
                <a:latin typeface="Calibri"/>
              </a:rPr>
              <a:t>NEXT STUDY</a:t>
            </a:r>
          </a:p>
        </p:txBody>
      </p:sp>
      <p:sp>
        <p:nvSpPr>
          <p:cNvPr id="9" name="Rounded Rectangle 8"/>
          <p:cNvSpPr/>
          <p:nvPr/>
        </p:nvSpPr>
        <p:spPr>
          <a:xfrm>
            <a:off x="685800" y="1645920"/>
            <a:ext cx="4434840" cy="658368"/>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i="0">
                <a:solidFill>
                  <a:srgbClr val="EEF3FA"/>
                </a:solidFill>
                <a:latin typeface="Calibri"/>
              </a:rPr>
              <a:t>Predictions, not brain scans</a:t>
            </a:r>
          </a:p>
        </p:txBody>
      </p:sp>
      <p:sp>
        <p:nvSpPr>
          <p:cNvPr id="10" name="Right Arrow 9"/>
          <p:cNvSpPr/>
          <p:nvPr/>
        </p:nvSpPr>
        <p:spPr>
          <a:xfrm>
            <a:off x="5166360" y="1911095"/>
            <a:ext cx="411480" cy="146304"/>
          </a:xfrm>
          <a:prstGeom prst="rightArrow">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69280" y="1645920"/>
            <a:ext cx="5833872" cy="658368"/>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0" i="0">
                <a:solidFill>
                  <a:srgbClr val="EEF3FA"/>
                </a:solidFill>
                <a:latin typeface="Calibri"/>
              </a:rPr>
              <a:t>Check against more real brain data</a:t>
            </a:r>
          </a:p>
        </p:txBody>
      </p:sp>
      <p:sp>
        <p:nvSpPr>
          <p:cNvPr id="12" name="Rounded Rectangle 11"/>
          <p:cNvSpPr/>
          <p:nvPr/>
        </p:nvSpPr>
        <p:spPr>
          <a:xfrm>
            <a:off x="685800" y="2432304"/>
            <a:ext cx="4434840" cy="658368"/>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i="0">
                <a:solidFill>
                  <a:srgbClr val="EEF3FA"/>
                </a:solidFill>
                <a:latin typeface="Calibri"/>
              </a:rPr>
              <a:t>Group mixed up with source</a:t>
            </a:r>
          </a:p>
        </p:txBody>
      </p:sp>
      <p:sp>
        <p:nvSpPr>
          <p:cNvPr id="13" name="Right Arrow 12"/>
          <p:cNvSpPr/>
          <p:nvPr/>
        </p:nvSpPr>
        <p:spPr>
          <a:xfrm>
            <a:off x="5166360" y="2697480"/>
            <a:ext cx="411480" cy="146304"/>
          </a:xfrm>
          <a:prstGeom prst="rightArrow">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0" y="2432304"/>
            <a:ext cx="5833872" cy="658368"/>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0" i="0">
                <a:solidFill>
                  <a:srgbClr val="EEF3FA"/>
                </a:solidFill>
                <a:latin typeface="Calibri"/>
              </a:rPr>
              <a:t>New set: every source has every type</a:t>
            </a:r>
          </a:p>
        </p:txBody>
      </p:sp>
      <p:sp>
        <p:nvSpPr>
          <p:cNvPr id="15" name="Rounded Rectangle 14"/>
          <p:cNvSpPr/>
          <p:nvPr/>
        </p:nvSpPr>
        <p:spPr>
          <a:xfrm>
            <a:off x="685800" y="3218688"/>
            <a:ext cx="4434840" cy="658368"/>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i="0">
                <a:solidFill>
                  <a:srgbClr val="EEF3FA"/>
                </a:solidFill>
                <a:latin typeface="Calibri"/>
              </a:rPr>
              <a:t>Brain surface only</a:t>
            </a:r>
          </a:p>
        </p:txBody>
      </p:sp>
      <p:sp>
        <p:nvSpPr>
          <p:cNvPr id="16" name="Right Arrow 15"/>
          <p:cNvSpPr/>
          <p:nvPr/>
        </p:nvSpPr>
        <p:spPr>
          <a:xfrm>
            <a:off x="5166360" y="3483864"/>
            <a:ext cx="411480" cy="146304"/>
          </a:xfrm>
          <a:prstGeom prst="rightArrow">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69280" y="3218688"/>
            <a:ext cx="5833872" cy="658368"/>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0" i="0">
                <a:solidFill>
                  <a:srgbClr val="EEF3FA"/>
                </a:solidFill>
                <a:latin typeface="Calibri"/>
              </a:rPr>
              <a:t>A model that predicts deep areas</a:t>
            </a:r>
          </a:p>
        </p:txBody>
      </p:sp>
      <p:sp>
        <p:nvSpPr>
          <p:cNvPr id="18" name="Rounded Rectangle 17"/>
          <p:cNvSpPr/>
          <p:nvPr/>
        </p:nvSpPr>
        <p:spPr>
          <a:xfrm>
            <a:off x="685800" y="4005072"/>
            <a:ext cx="4434840" cy="658368"/>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i="0">
                <a:solidFill>
                  <a:srgbClr val="EEF3FA"/>
                </a:solidFill>
                <a:latin typeface="Calibri"/>
              </a:rPr>
              <a:t>α not measured</a:t>
            </a:r>
          </a:p>
        </p:txBody>
      </p:sp>
      <p:sp>
        <p:nvSpPr>
          <p:cNvPr id="19" name="Right Arrow 18"/>
          <p:cNvSpPr/>
          <p:nvPr/>
        </p:nvSpPr>
        <p:spPr>
          <a:xfrm>
            <a:off x="5166360" y="4270248"/>
            <a:ext cx="411480" cy="146304"/>
          </a:xfrm>
          <a:prstGeom prst="rightArrow">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669280" y="4005072"/>
            <a:ext cx="5833872" cy="658368"/>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0" i="0">
                <a:solidFill>
                  <a:srgbClr val="EEF3FA"/>
                </a:solidFill>
                <a:latin typeface="Calibri"/>
              </a:rPr>
              <a:t>Link scores to real opinion data (polls)</a:t>
            </a:r>
          </a:p>
        </p:txBody>
      </p:sp>
      <p:sp>
        <p:nvSpPr>
          <p:cNvPr id="21" name="Rounded Rectangle 20"/>
          <p:cNvSpPr/>
          <p:nvPr/>
        </p:nvSpPr>
        <p:spPr>
          <a:xfrm>
            <a:off x="685800" y="4791456"/>
            <a:ext cx="4434840" cy="658368"/>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i="0">
                <a:solidFill>
                  <a:srgbClr val="EEF3FA"/>
                </a:solidFill>
                <a:latin typeface="Calibri"/>
              </a:rPr>
              <a:t>Brain check is 2 minutes</a:t>
            </a:r>
          </a:p>
        </p:txBody>
      </p:sp>
      <p:sp>
        <p:nvSpPr>
          <p:cNvPr id="22" name="Right Arrow 21"/>
          <p:cNvSpPr/>
          <p:nvPr/>
        </p:nvSpPr>
        <p:spPr>
          <a:xfrm>
            <a:off x="5166360" y="5056632"/>
            <a:ext cx="411480" cy="146304"/>
          </a:xfrm>
          <a:prstGeom prst="rightArrow">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669280" y="4791456"/>
            <a:ext cx="5833872" cy="658368"/>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0" i="0">
                <a:solidFill>
                  <a:srgbClr val="EEF3FA"/>
                </a:solidFill>
                <a:latin typeface="Calibri"/>
              </a:rPr>
              <a:t>Longer clips, one run each</a:t>
            </a:r>
          </a:p>
        </p:txBody>
      </p:sp>
      <p:sp>
        <p:nvSpPr>
          <p:cNvPr id="24" name="TextBox 23"/>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WHAT'S NEXT</a:t>
            </a:r>
          </a:p>
        </p:txBody>
      </p:sp>
      <p:sp>
        <p:nvSpPr>
          <p:cNvPr id="25" name="Rectangle 24"/>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20459"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996531"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lag-banne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WHAT'S NEXT</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Taking it further: where this research can go</a:t>
            </a:r>
          </a:p>
        </p:txBody>
      </p:sp>
      <p:sp>
        <p:nvSpPr>
          <p:cNvPr id="7" name="Rounded Rectangle 6"/>
          <p:cNvSpPr/>
          <p:nvPr/>
        </p:nvSpPr>
        <p:spPr>
          <a:xfrm>
            <a:off x="685800" y="1371600"/>
            <a:ext cx="3429000" cy="416052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8" name="Picture 7" descr="books.png"/>
          <p:cNvPicPr>
            <a:picLocks noChangeAspect="1"/>
          </p:cNvPicPr>
          <p:nvPr/>
        </p:nvPicPr>
        <p:blipFill>
          <a:blip r:embed="rId4"/>
          <a:stretch>
            <a:fillRect/>
          </a:stretch>
        </p:blipFill>
        <p:spPr>
          <a:xfrm>
            <a:off x="914400" y="1554480"/>
            <a:ext cx="411480" cy="411480"/>
          </a:xfrm>
          <a:prstGeom prst="rect">
            <a:avLst/>
          </a:prstGeom>
        </p:spPr>
      </p:pic>
      <p:sp>
        <p:nvSpPr>
          <p:cNvPr id="9" name="TextBox 8"/>
          <p:cNvSpPr txBox="1"/>
          <p:nvPr/>
        </p:nvSpPr>
        <p:spPr>
          <a:xfrm>
            <a:off x="1463040" y="1572768"/>
            <a:ext cx="2560320" cy="411480"/>
          </a:xfrm>
          <a:prstGeom prst="rect">
            <a:avLst/>
          </a:prstGeom>
          <a:noFill/>
        </p:spPr>
        <p:txBody>
          <a:bodyPr wrap="square" anchor="t">
            <a:spAutoFit/>
          </a:bodyPr>
          <a:lstStyle/>
          <a:p>
            <a:pPr algn="l">
              <a:spcAft>
                <a:spcPts val="0"/>
              </a:spcAft>
            </a:pPr>
            <a:r>
              <a:rPr sz="1500" b="1" i="0">
                <a:solidFill>
                  <a:srgbClr val="7CC4FF"/>
                </a:solidFill>
                <a:latin typeface="Calibri"/>
              </a:rPr>
              <a:t>PUBLISH</a:t>
            </a:r>
          </a:p>
        </p:txBody>
      </p:sp>
      <p:sp>
        <p:nvSpPr>
          <p:cNvPr id="10" name="Rounded Rectangle 9"/>
          <p:cNvSpPr/>
          <p:nvPr/>
        </p:nvSpPr>
        <p:spPr>
          <a:xfrm>
            <a:off x="868680" y="2240280"/>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Paper 1 → Physica A</a:t>
            </a:r>
          </a:p>
        </p:txBody>
      </p:sp>
      <p:sp>
        <p:nvSpPr>
          <p:cNvPr id="11" name="Rounded Rectangle 10"/>
          <p:cNvSpPr/>
          <p:nvPr/>
        </p:nvSpPr>
        <p:spPr>
          <a:xfrm>
            <a:off x="868680" y="3044952"/>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Paper 2 → Physica A</a:t>
            </a:r>
          </a:p>
        </p:txBody>
      </p:sp>
      <p:sp>
        <p:nvSpPr>
          <p:cNvPr id="12" name="Rounded Rectangle 11"/>
          <p:cNvSpPr/>
          <p:nvPr/>
        </p:nvSpPr>
        <p:spPr>
          <a:xfrm>
            <a:off x="868680" y="3849624"/>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Paper 3 → Imaging Neuroscience</a:t>
            </a:r>
          </a:p>
        </p:txBody>
      </p:sp>
      <p:sp>
        <p:nvSpPr>
          <p:cNvPr id="13" name="Rounded Rectangle 12"/>
          <p:cNvSpPr/>
          <p:nvPr/>
        </p:nvSpPr>
        <p:spPr>
          <a:xfrm>
            <a:off x="868680" y="4654296"/>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Preprints first (arXiv)</a:t>
            </a:r>
          </a:p>
        </p:txBody>
      </p:sp>
      <p:sp>
        <p:nvSpPr>
          <p:cNvPr id="14" name="Rounded Rectangle 13"/>
          <p:cNvSpPr/>
          <p:nvPr/>
        </p:nvSpPr>
        <p:spPr>
          <a:xfrm>
            <a:off x="4379976" y="1371600"/>
            <a:ext cx="3429000" cy="416052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5" name="Picture 14" descr="atom.png"/>
          <p:cNvPicPr>
            <a:picLocks noChangeAspect="1"/>
          </p:cNvPicPr>
          <p:nvPr/>
        </p:nvPicPr>
        <p:blipFill>
          <a:blip r:embed="rId5"/>
          <a:stretch>
            <a:fillRect/>
          </a:stretch>
        </p:blipFill>
        <p:spPr>
          <a:xfrm>
            <a:off x="4608576" y="1554480"/>
            <a:ext cx="411480" cy="411480"/>
          </a:xfrm>
          <a:prstGeom prst="rect">
            <a:avLst/>
          </a:prstGeom>
        </p:spPr>
      </p:pic>
      <p:sp>
        <p:nvSpPr>
          <p:cNvPr id="16" name="TextBox 15"/>
          <p:cNvSpPr txBox="1"/>
          <p:nvPr/>
        </p:nvSpPr>
        <p:spPr>
          <a:xfrm>
            <a:off x="5157216" y="1572768"/>
            <a:ext cx="2560320" cy="411480"/>
          </a:xfrm>
          <a:prstGeom prst="rect">
            <a:avLst/>
          </a:prstGeom>
          <a:noFill/>
        </p:spPr>
        <p:txBody>
          <a:bodyPr wrap="square" anchor="t">
            <a:spAutoFit/>
          </a:bodyPr>
          <a:lstStyle/>
          <a:p>
            <a:pPr algn="l">
              <a:spcAft>
                <a:spcPts val="0"/>
              </a:spcAft>
            </a:pPr>
            <a:r>
              <a:rPr sz="1500" b="1" i="0">
                <a:solidFill>
                  <a:srgbClr val="5FD09A"/>
                </a:solidFill>
                <a:latin typeface="Calibri"/>
              </a:rPr>
              <a:t>EXTEND THE SCIENCE</a:t>
            </a:r>
          </a:p>
        </p:txBody>
      </p:sp>
      <p:sp>
        <p:nvSpPr>
          <p:cNvPr id="17" name="Rounded Rectangle 16"/>
          <p:cNvSpPr/>
          <p:nvPr/>
        </p:nvSpPr>
        <p:spPr>
          <a:xfrm>
            <a:off x="4562856" y="2240280"/>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Kenya: 2024 Finance Bill (funding)</a:t>
            </a:r>
          </a:p>
        </p:txBody>
      </p:sp>
      <p:sp>
        <p:nvSpPr>
          <p:cNvPr id="18" name="Rounded Rectangle 17"/>
          <p:cNvSpPr/>
          <p:nvPr/>
        </p:nvSpPr>
        <p:spPr>
          <a:xfrm>
            <a:off x="4562856" y="3044952"/>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Video and audio content</a:t>
            </a:r>
          </a:p>
        </p:txBody>
      </p:sp>
      <p:sp>
        <p:nvSpPr>
          <p:cNvPr id="19" name="Rounded Rectangle 18"/>
          <p:cNvSpPr/>
          <p:nvPr/>
        </p:nvSpPr>
        <p:spPr>
          <a:xfrm>
            <a:off x="4562856" y="3849624"/>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Measure α with opinion data</a:t>
            </a:r>
          </a:p>
        </p:txBody>
      </p:sp>
      <p:sp>
        <p:nvSpPr>
          <p:cNvPr id="20" name="Rounded Rectangle 19"/>
          <p:cNvSpPr/>
          <p:nvPr/>
        </p:nvSpPr>
        <p:spPr>
          <a:xfrm>
            <a:off x="4562856" y="4654296"/>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Children's media, ethically</a:t>
            </a:r>
          </a:p>
        </p:txBody>
      </p:sp>
      <p:sp>
        <p:nvSpPr>
          <p:cNvPr id="21" name="Rounded Rectangle 20"/>
          <p:cNvSpPr/>
          <p:nvPr/>
        </p:nvSpPr>
        <p:spPr>
          <a:xfrm>
            <a:off x="8074152" y="1371600"/>
            <a:ext cx="3429000" cy="416052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2" name="Picture 21" descr="target.png"/>
          <p:cNvPicPr>
            <a:picLocks noChangeAspect="1"/>
          </p:cNvPicPr>
          <p:nvPr/>
        </p:nvPicPr>
        <p:blipFill>
          <a:blip r:embed="rId6"/>
          <a:stretch>
            <a:fillRect/>
          </a:stretch>
        </p:blipFill>
        <p:spPr>
          <a:xfrm>
            <a:off x="8302752" y="1554480"/>
            <a:ext cx="411480" cy="411480"/>
          </a:xfrm>
          <a:prstGeom prst="rect">
            <a:avLst/>
          </a:prstGeom>
        </p:spPr>
      </p:pic>
      <p:sp>
        <p:nvSpPr>
          <p:cNvPr id="23" name="TextBox 22"/>
          <p:cNvSpPr txBox="1"/>
          <p:nvPr/>
        </p:nvSpPr>
        <p:spPr>
          <a:xfrm>
            <a:off x="8851392" y="1572768"/>
            <a:ext cx="2560320" cy="411480"/>
          </a:xfrm>
          <a:prstGeom prst="rect">
            <a:avLst/>
          </a:prstGeom>
          <a:noFill/>
        </p:spPr>
        <p:txBody>
          <a:bodyPr wrap="square" anchor="t">
            <a:spAutoFit/>
          </a:bodyPr>
          <a:lstStyle/>
          <a:p>
            <a:pPr algn="l">
              <a:spcAft>
                <a:spcPts val="0"/>
              </a:spcAft>
            </a:pPr>
            <a:r>
              <a:rPr sz="1500" b="1" i="0">
                <a:solidFill>
                  <a:srgbClr val="F5B83D"/>
                </a:solidFill>
                <a:latin typeface="Calibri"/>
              </a:rPr>
              <a:t>OPPORTUNITIES</a:t>
            </a:r>
          </a:p>
        </p:txBody>
      </p:sp>
      <p:sp>
        <p:nvSpPr>
          <p:cNvPr id="24" name="Rounded Rectangle 23"/>
          <p:cNvSpPr/>
          <p:nvPr/>
        </p:nvSpPr>
        <p:spPr>
          <a:xfrm>
            <a:off x="8257031" y="2240280"/>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Postgraduate research topic</a:t>
            </a:r>
          </a:p>
        </p:txBody>
      </p:sp>
      <p:sp>
        <p:nvSpPr>
          <p:cNvPr id="25" name="Rounded Rectangle 24"/>
          <p:cNvSpPr/>
          <p:nvPr/>
        </p:nvSpPr>
        <p:spPr>
          <a:xfrm>
            <a:off x="8257031" y="3044952"/>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Neuroscience + media collaborations</a:t>
            </a:r>
          </a:p>
        </p:txBody>
      </p:sp>
      <p:sp>
        <p:nvSpPr>
          <p:cNvPr id="26" name="Rounded Rectangle 25"/>
          <p:cNvSpPr/>
          <p:nvPr/>
        </p:nvSpPr>
        <p:spPr>
          <a:xfrm>
            <a:off x="8257031" y="3849624"/>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Open tool, already online</a:t>
            </a:r>
          </a:p>
        </p:txBody>
      </p:sp>
      <p:sp>
        <p:nvSpPr>
          <p:cNvPr id="27" name="Rounded Rectangle 26"/>
          <p:cNvSpPr/>
          <p:nvPr/>
        </p:nvSpPr>
        <p:spPr>
          <a:xfrm>
            <a:off x="8257031" y="4654296"/>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Group-level media audits</a:t>
            </a:r>
          </a:p>
        </p:txBody>
      </p:sp>
      <p:sp>
        <p:nvSpPr>
          <p:cNvPr id="28" name="TextBox 27"/>
          <p:cNvSpPr txBox="1"/>
          <p:nvPr/>
        </p:nvSpPr>
        <p:spPr>
          <a:xfrm>
            <a:off x="685800" y="5623560"/>
            <a:ext cx="10820095" cy="320040"/>
          </a:xfrm>
          <a:prstGeom prst="rect">
            <a:avLst/>
          </a:prstGeom>
          <a:noFill/>
        </p:spPr>
        <p:txBody>
          <a:bodyPr wrap="square" anchor="t">
            <a:spAutoFit/>
          </a:bodyPr>
          <a:lstStyle/>
          <a:p>
            <a:pPr algn="l">
              <a:spcAft>
                <a:spcPts val="0"/>
              </a:spcAft>
            </a:pPr>
            <a:r>
              <a:rPr sz="1200" b="0" i="0">
                <a:solidFill>
                  <a:srgbClr val="9AABC4"/>
                </a:solidFill>
                <a:latin typeface="Calibri"/>
              </a:rPr>
              <a:t>Live instrument: monarch-4iy.pages.dev   ·   Code and data: github.com/brn-mwai/monarch</a:t>
            </a:r>
          </a:p>
        </p:txBody>
      </p:sp>
      <p:sp>
        <p:nvSpPr>
          <p:cNvPr id="29" name="TextBox 28"/>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WHAT'S NEXT</a:t>
            </a:r>
          </a:p>
        </p:txBody>
      </p:sp>
      <p:sp>
        <p:nvSpPr>
          <p:cNvPr id="30" name="Rectangle 29"/>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420459"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996531"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ooks.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WHAT'S NEXT</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Three papers, and what I need from you today</a:t>
            </a:r>
          </a:p>
        </p:txBody>
      </p:sp>
      <p:sp>
        <p:nvSpPr>
          <p:cNvPr id="7" name="Rounded Rectangle 6"/>
          <p:cNvSpPr/>
          <p:nvPr/>
        </p:nvSpPr>
        <p:spPr>
          <a:xfrm>
            <a:off x="685800" y="1371600"/>
            <a:ext cx="3429000" cy="155448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8" name="TextBox 7"/>
          <p:cNvSpPr txBox="1"/>
          <p:nvPr/>
        </p:nvSpPr>
        <p:spPr>
          <a:xfrm>
            <a:off x="868680" y="1481328"/>
            <a:ext cx="3108960" cy="1371600"/>
          </a:xfrm>
          <a:prstGeom prst="rect">
            <a:avLst/>
          </a:prstGeom>
          <a:noFill/>
        </p:spPr>
        <p:txBody>
          <a:bodyPr wrap="square" anchor="t">
            <a:spAutoFit/>
          </a:bodyPr>
          <a:lstStyle/>
          <a:p>
            <a:pPr algn="l">
              <a:spcAft>
                <a:spcPts val="400"/>
              </a:spcAft>
            </a:pPr>
            <a:r>
              <a:rPr sz="1100" b="1" i="0">
                <a:solidFill>
                  <a:srgbClr val="7CC4FF"/>
                </a:solidFill>
                <a:latin typeface="Calibri"/>
              </a:rPr>
              <a:t>PAPER 1 · Physica A</a:t>
            </a:r>
          </a:p>
          <a:p>
            <a:pPr algn="l">
              <a:spcAft>
                <a:spcPts val="400"/>
              </a:spcAft>
            </a:pPr>
            <a:r>
              <a:rPr sz="1900" b="1" i="0">
                <a:solidFill>
                  <a:srgbClr val="EEF3FA"/>
                </a:solidFill>
                <a:latin typeface="Calibri"/>
              </a:rPr>
              <a:t>The minimum push</a:t>
            </a:r>
          </a:p>
          <a:p>
            <a:pPr algn="l">
              <a:spcAft>
                <a:spcPts val="0"/>
              </a:spcAft>
            </a:pPr>
            <a:r>
              <a:rPr sz="1300" b="0" i="0">
                <a:solidFill>
                  <a:srgbClr val="9AABC4"/>
                </a:solidFill>
                <a:latin typeface="Calibri"/>
              </a:rPr>
              <a:t>12 pp · ready</a:t>
            </a:r>
          </a:p>
        </p:txBody>
      </p:sp>
      <p:sp>
        <p:nvSpPr>
          <p:cNvPr id="9" name="Rounded Rectangle 8"/>
          <p:cNvSpPr/>
          <p:nvPr/>
        </p:nvSpPr>
        <p:spPr>
          <a:xfrm>
            <a:off x="4379976" y="1371600"/>
            <a:ext cx="3429000" cy="155448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0" name="TextBox 9"/>
          <p:cNvSpPr txBox="1"/>
          <p:nvPr/>
        </p:nvSpPr>
        <p:spPr>
          <a:xfrm>
            <a:off x="4562856" y="1481328"/>
            <a:ext cx="3108960" cy="1371600"/>
          </a:xfrm>
          <a:prstGeom prst="rect">
            <a:avLst/>
          </a:prstGeom>
          <a:noFill/>
        </p:spPr>
        <p:txBody>
          <a:bodyPr wrap="square" anchor="t">
            <a:spAutoFit/>
          </a:bodyPr>
          <a:lstStyle/>
          <a:p>
            <a:pPr algn="l">
              <a:spcAft>
                <a:spcPts val="400"/>
              </a:spcAft>
            </a:pPr>
            <a:r>
              <a:rPr sz="1100" b="1" i="0">
                <a:solidFill>
                  <a:srgbClr val="7CC4FF"/>
                </a:solidFill>
                <a:latin typeface="Calibri"/>
              </a:rPr>
              <a:t>PAPER 2 · Physica A</a:t>
            </a:r>
          </a:p>
          <a:p>
            <a:pPr algn="l">
              <a:spcAft>
                <a:spcPts val="400"/>
              </a:spcAft>
            </a:pPr>
            <a:r>
              <a:rPr sz="1900" b="1" i="0">
                <a:solidFill>
                  <a:srgbClr val="EEF3FA"/>
                </a:solidFill>
                <a:latin typeface="Calibri"/>
              </a:rPr>
              <a:t>The measuring tool</a:t>
            </a:r>
          </a:p>
          <a:p>
            <a:pPr algn="l">
              <a:spcAft>
                <a:spcPts val="0"/>
              </a:spcAft>
            </a:pPr>
            <a:r>
              <a:rPr sz="1300" b="0" i="0">
                <a:solidFill>
                  <a:srgbClr val="9AABC4"/>
                </a:solidFill>
                <a:latin typeface="Calibri"/>
              </a:rPr>
              <a:t>16 pp · ready</a:t>
            </a:r>
          </a:p>
        </p:txBody>
      </p:sp>
      <p:sp>
        <p:nvSpPr>
          <p:cNvPr id="11" name="Rounded Rectangle 10"/>
          <p:cNvSpPr/>
          <p:nvPr/>
        </p:nvSpPr>
        <p:spPr>
          <a:xfrm>
            <a:off x="8074152" y="1371600"/>
            <a:ext cx="3429000" cy="155448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2" name="TextBox 11"/>
          <p:cNvSpPr txBox="1"/>
          <p:nvPr/>
        </p:nvSpPr>
        <p:spPr>
          <a:xfrm>
            <a:off x="8257031" y="1481328"/>
            <a:ext cx="3108960" cy="1371600"/>
          </a:xfrm>
          <a:prstGeom prst="rect">
            <a:avLst/>
          </a:prstGeom>
          <a:noFill/>
        </p:spPr>
        <p:txBody>
          <a:bodyPr wrap="square" anchor="t">
            <a:spAutoFit/>
          </a:bodyPr>
          <a:lstStyle/>
          <a:p>
            <a:pPr algn="l">
              <a:spcAft>
                <a:spcPts val="400"/>
              </a:spcAft>
            </a:pPr>
            <a:r>
              <a:rPr sz="1100" b="1" i="0">
                <a:solidFill>
                  <a:srgbClr val="F5B83D"/>
                </a:solidFill>
                <a:latin typeface="Calibri"/>
              </a:rPr>
              <a:t>PAPER 3 · Imaging Neurosci.</a:t>
            </a:r>
          </a:p>
          <a:p>
            <a:pPr algn="l">
              <a:spcAft>
                <a:spcPts val="400"/>
              </a:spcAft>
            </a:pPr>
            <a:r>
              <a:rPr sz="1900" b="1" i="0">
                <a:solidFill>
                  <a:srgbClr val="EEF3FA"/>
                </a:solidFill>
                <a:latin typeface="Calibri"/>
              </a:rPr>
              <a:t>Matching real brains</a:t>
            </a:r>
          </a:p>
          <a:p>
            <a:pPr algn="l">
              <a:spcAft>
                <a:spcPts val="0"/>
              </a:spcAft>
            </a:pPr>
            <a:r>
              <a:rPr sz="1300" b="0" i="0">
                <a:solidFill>
                  <a:srgbClr val="9AABC4"/>
                </a:solidFill>
                <a:latin typeface="Calibri"/>
              </a:rPr>
              <a:t>8 pp · one longer run</a:t>
            </a:r>
          </a:p>
        </p:txBody>
      </p:sp>
      <p:sp>
        <p:nvSpPr>
          <p:cNvPr id="13" name="TextBox 12"/>
          <p:cNvSpPr txBox="1"/>
          <p:nvPr/>
        </p:nvSpPr>
        <p:spPr>
          <a:xfrm>
            <a:off x="685800" y="3200400"/>
            <a:ext cx="5486400" cy="274320"/>
          </a:xfrm>
          <a:prstGeom prst="rect">
            <a:avLst/>
          </a:prstGeom>
          <a:noFill/>
        </p:spPr>
        <p:txBody>
          <a:bodyPr wrap="square" anchor="t">
            <a:spAutoFit/>
          </a:bodyPr>
          <a:lstStyle/>
          <a:p>
            <a:pPr algn="l">
              <a:spcAft>
                <a:spcPts val="0"/>
              </a:spcAft>
            </a:pPr>
            <a:r>
              <a:rPr sz="1200" b="1" i="0">
                <a:solidFill>
                  <a:srgbClr val="FF7A59"/>
                </a:solidFill>
                <a:latin typeface="Calibri"/>
              </a:rPr>
              <a:t>TODAY I AM ASKING FOR</a:t>
            </a:r>
          </a:p>
        </p:txBody>
      </p:sp>
      <p:sp>
        <p:nvSpPr>
          <p:cNvPr id="14" name="Rounded Rectangle 13"/>
          <p:cNvSpPr/>
          <p:nvPr/>
        </p:nvSpPr>
        <p:spPr>
          <a:xfrm>
            <a:off x="685800" y="3566160"/>
            <a:ext cx="2487168" cy="155448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5" name="Picture 14" descr="magnifying-glass.png"/>
          <p:cNvPicPr>
            <a:picLocks noChangeAspect="1"/>
          </p:cNvPicPr>
          <p:nvPr/>
        </p:nvPicPr>
        <p:blipFill>
          <a:blip r:embed="rId4"/>
          <a:stretch>
            <a:fillRect/>
          </a:stretch>
        </p:blipFill>
        <p:spPr>
          <a:xfrm>
            <a:off x="1700784" y="3749039"/>
            <a:ext cx="457200" cy="457200"/>
          </a:xfrm>
          <a:prstGeom prst="rect">
            <a:avLst/>
          </a:prstGeom>
        </p:spPr>
      </p:pic>
      <p:sp>
        <p:nvSpPr>
          <p:cNvPr id="16" name="TextBox 15"/>
          <p:cNvSpPr txBox="1"/>
          <p:nvPr/>
        </p:nvSpPr>
        <p:spPr>
          <a:xfrm>
            <a:off x="777240" y="4343400"/>
            <a:ext cx="2304288" cy="731520"/>
          </a:xfrm>
          <a:prstGeom prst="rect">
            <a:avLst/>
          </a:prstGeom>
          <a:noFill/>
        </p:spPr>
        <p:txBody>
          <a:bodyPr wrap="square" anchor="t">
            <a:spAutoFit/>
          </a:bodyPr>
          <a:lstStyle/>
          <a:p>
            <a:pPr algn="ctr">
              <a:spcAft>
                <a:spcPts val="0"/>
              </a:spcAft>
            </a:pPr>
            <a:r>
              <a:rPr sz="1500" b="1">
                <a:solidFill>
                  <a:srgbClr val="FF7A59"/>
                </a:solidFill>
                <a:latin typeface="Calibri"/>
              </a:rPr>
              <a:t>1  </a:t>
            </a:r>
            <a:r>
              <a:rPr sz="1500" b="1">
                <a:solidFill>
                  <a:srgbClr val="EEF3FA"/>
                </a:solidFill>
                <a:latin typeface="Calibri"/>
              </a:rPr>
              <a:t>Any corrections</a:t>
            </a:r>
          </a:p>
        </p:txBody>
      </p:sp>
      <p:sp>
        <p:nvSpPr>
          <p:cNvPr id="17" name="Rounded Rectangle 16"/>
          <p:cNvSpPr/>
          <p:nvPr/>
        </p:nvSpPr>
        <p:spPr>
          <a:xfrm>
            <a:off x="3462832" y="3566160"/>
            <a:ext cx="2487168" cy="155448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8" name="Picture 17" descr="check-circle.png"/>
          <p:cNvPicPr>
            <a:picLocks noChangeAspect="1"/>
          </p:cNvPicPr>
          <p:nvPr/>
        </p:nvPicPr>
        <p:blipFill>
          <a:blip r:embed="rId5"/>
          <a:stretch>
            <a:fillRect/>
          </a:stretch>
        </p:blipFill>
        <p:spPr>
          <a:xfrm>
            <a:off x="4477816" y="3749039"/>
            <a:ext cx="457200" cy="457200"/>
          </a:xfrm>
          <a:prstGeom prst="rect">
            <a:avLst/>
          </a:prstGeom>
        </p:spPr>
      </p:pic>
      <p:sp>
        <p:nvSpPr>
          <p:cNvPr id="19" name="TextBox 18"/>
          <p:cNvSpPr txBox="1"/>
          <p:nvPr/>
        </p:nvSpPr>
        <p:spPr>
          <a:xfrm>
            <a:off x="3554272" y="4343400"/>
            <a:ext cx="2304288" cy="731520"/>
          </a:xfrm>
          <a:prstGeom prst="rect">
            <a:avLst/>
          </a:prstGeom>
          <a:noFill/>
        </p:spPr>
        <p:txBody>
          <a:bodyPr wrap="square" anchor="t">
            <a:spAutoFit/>
          </a:bodyPr>
          <a:lstStyle/>
          <a:p>
            <a:pPr algn="ctr">
              <a:spcAft>
                <a:spcPts val="0"/>
              </a:spcAft>
            </a:pPr>
            <a:r>
              <a:rPr sz="1500" b="1">
                <a:solidFill>
                  <a:srgbClr val="FF7A59"/>
                </a:solidFill>
                <a:latin typeface="Calibri"/>
              </a:rPr>
              <a:t>2  </a:t>
            </a:r>
            <a:r>
              <a:rPr sz="1500" b="1">
                <a:solidFill>
                  <a:srgbClr val="EEF3FA"/>
                </a:solidFill>
                <a:latin typeface="Calibri"/>
              </a:rPr>
              <a:t>Signature, page iii</a:t>
            </a:r>
          </a:p>
        </p:txBody>
      </p:sp>
      <p:sp>
        <p:nvSpPr>
          <p:cNvPr id="20" name="Rounded Rectangle 19"/>
          <p:cNvSpPr/>
          <p:nvPr/>
        </p:nvSpPr>
        <p:spPr>
          <a:xfrm>
            <a:off x="6239865" y="3566160"/>
            <a:ext cx="2487168" cy="155448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1" name="Picture 20" descr="books.png"/>
          <p:cNvPicPr>
            <a:picLocks noChangeAspect="1"/>
          </p:cNvPicPr>
          <p:nvPr/>
        </p:nvPicPr>
        <p:blipFill>
          <a:blip r:embed="rId3"/>
          <a:stretch>
            <a:fillRect/>
          </a:stretch>
        </p:blipFill>
        <p:spPr>
          <a:xfrm>
            <a:off x="7254849" y="3749039"/>
            <a:ext cx="457200" cy="457200"/>
          </a:xfrm>
          <a:prstGeom prst="rect">
            <a:avLst/>
          </a:prstGeom>
        </p:spPr>
      </p:pic>
      <p:sp>
        <p:nvSpPr>
          <p:cNvPr id="22" name="TextBox 21"/>
          <p:cNvSpPr txBox="1"/>
          <p:nvPr/>
        </p:nvSpPr>
        <p:spPr>
          <a:xfrm>
            <a:off x="6331305" y="4343400"/>
            <a:ext cx="2304288" cy="731520"/>
          </a:xfrm>
          <a:prstGeom prst="rect">
            <a:avLst/>
          </a:prstGeom>
          <a:noFill/>
        </p:spPr>
        <p:txBody>
          <a:bodyPr wrap="square" anchor="t">
            <a:spAutoFit/>
          </a:bodyPr>
          <a:lstStyle/>
          <a:p>
            <a:pPr algn="ctr">
              <a:spcAft>
                <a:spcPts val="0"/>
              </a:spcAft>
            </a:pPr>
            <a:r>
              <a:rPr sz="1500" b="1">
                <a:solidFill>
                  <a:srgbClr val="FF7A59"/>
                </a:solidFill>
                <a:latin typeface="Calibri"/>
              </a:rPr>
              <a:t>3  </a:t>
            </a:r>
            <a:r>
              <a:rPr sz="1500" b="1">
                <a:solidFill>
                  <a:srgbClr val="EEF3FA"/>
                </a:solidFill>
                <a:latin typeface="Calibri"/>
              </a:rPr>
              <a:t>Library clearance by Thu 24</a:t>
            </a:r>
          </a:p>
        </p:txBody>
      </p:sp>
      <p:sp>
        <p:nvSpPr>
          <p:cNvPr id="23" name="Rounded Rectangle 22"/>
          <p:cNvSpPr/>
          <p:nvPr/>
        </p:nvSpPr>
        <p:spPr>
          <a:xfrm>
            <a:off x="9016898" y="3566160"/>
            <a:ext cx="2487168" cy="155448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4" name="Picture 23" descr="flag-banner.png"/>
          <p:cNvPicPr>
            <a:picLocks noChangeAspect="1"/>
          </p:cNvPicPr>
          <p:nvPr/>
        </p:nvPicPr>
        <p:blipFill>
          <a:blip r:embed="rId6"/>
          <a:stretch>
            <a:fillRect/>
          </a:stretch>
        </p:blipFill>
        <p:spPr>
          <a:xfrm>
            <a:off x="10031882" y="3749039"/>
            <a:ext cx="457200" cy="457200"/>
          </a:xfrm>
          <a:prstGeom prst="rect">
            <a:avLst/>
          </a:prstGeom>
        </p:spPr>
      </p:pic>
      <p:sp>
        <p:nvSpPr>
          <p:cNvPr id="25" name="TextBox 24"/>
          <p:cNvSpPr txBox="1"/>
          <p:nvPr/>
        </p:nvSpPr>
        <p:spPr>
          <a:xfrm>
            <a:off x="9108338" y="4343400"/>
            <a:ext cx="2304288" cy="731520"/>
          </a:xfrm>
          <a:prstGeom prst="rect">
            <a:avLst/>
          </a:prstGeom>
          <a:noFill/>
        </p:spPr>
        <p:txBody>
          <a:bodyPr wrap="square" anchor="t">
            <a:spAutoFit/>
          </a:bodyPr>
          <a:lstStyle/>
          <a:p>
            <a:pPr algn="ctr">
              <a:spcAft>
                <a:spcPts val="0"/>
              </a:spcAft>
            </a:pPr>
            <a:r>
              <a:rPr sz="1500" b="1">
                <a:solidFill>
                  <a:srgbClr val="FF7A59"/>
                </a:solidFill>
                <a:latin typeface="Calibri"/>
              </a:rPr>
              <a:t>4  </a:t>
            </a:r>
            <a:r>
              <a:rPr sz="1500" b="1">
                <a:solidFill>
                  <a:srgbClr val="EEF3FA"/>
                </a:solidFill>
                <a:latin typeface="Calibri"/>
              </a:rPr>
              <a:t>Co-authorship view</a:t>
            </a:r>
          </a:p>
        </p:txBody>
      </p:sp>
      <p:sp>
        <p:nvSpPr>
          <p:cNvPr id="26" name="TextBox 25"/>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WHAT'S NEXT</a:t>
            </a:r>
          </a:p>
        </p:txBody>
      </p:sp>
      <p:sp>
        <p:nvSpPr>
          <p:cNvPr id="27" name="Rectangle 26"/>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20459"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96531"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