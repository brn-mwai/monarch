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12191695" cy="978408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6.png"/><Relationship Id="rId5" Type="http://schemas.openxmlformats.org/officeDocument/2006/relationships/image" Target="../media/image21.png"/><Relationship Id="rId6" Type="http://schemas.openxmlformats.org/officeDocument/2006/relationships/image" Target="../media/image22.png"/><Relationship Id="rId7" Type="http://schemas.openxmlformats.org/officeDocument/2006/relationships/image" Target="../media/image23.png"/><Relationship Id="rId8" Type="http://schemas.openxmlformats.org/officeDocument/2006/relationships/image" Target="../media/image24.png"/><Relationship Id="rId9"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Up Arrow 3"/>
          <p:cNvSpPr/>
          <p:nvPr/>
        </p:nvSpPr>
        <p:spPr>
          <a:xfrm>
            <a:off x="8170939" y="1179941"/>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Up Arrow 4"/>
          <p:cNvSpPr/>
          <p:nvPr/>
        </p:nvSpPr>
        <p:spPr>
          <a:xfrm>
            <a:off x="8646427" y="1179941"/>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Down Arrow 5"/>
          <p:cNvSpPr/>
          <p:nvPr/>
        </p:nvSpPr>
        <p:spPr>
          <a:xfrm>
            <a:off x="9121915" y="1179941"/>
            <a:ext cx="135609" cy="218724"/>
          </a:xfrm>
          <a:prstGeom prst="downArrow">
            <a:avLst/>
          </a:prstGeom>
          <a:solidFill>
            <a:srgbClr val="FF7A59">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Up Arrow 6"/>
          <p:cNvSpPr/>
          <p:nvPr/>
        </p:nvSpPr>
        <p:spPr>
          <a:xfrm>
            <a:off x="9597403" y="1179941"/>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Up Arrow 7"/>
          <p:cNvSpPr/>
          <p:nvPr/>
        </p:nvSpPr>
        <p:spPr>
          <a:xfrm>
            <a:off x="10072891" y="1179941"/>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Up Arrow 8"/>
          <p:cNvSpPr/>
          <p:nvPr/>
        </p:nvSpPr>
        <p:spPr>
          <a:xfrm>
            <a:off x="10548379" y="1179941"/>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Up Arrow 9"/>
          <p:cNvSpPr/>
          <p:nvPr/>
        </p:nvSpPr>
        <p:spPr>
          <a:xfrm>
            <a:off x="11023867" y="1179941"/>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Up Arrow 10"/>
          <p:cNvSpPr/>
          <p:nvPr/>
        </p:nvSpPr>
        <p:spPr>
          <a:xfrm>
            <a:off x="8170939" y="1655429"/>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Up Arrow 11"/>
          <p:cNvSpPr/>
          <p:nvPr/>
        </p:nvSpPr>
        <p:spPr>
          <a:xfrm>
            <a:off x="8646427" y="1655429"/>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p Arrow 12"/>
          <p:cNvSpPr/>
          <p:nvPr/>
        </p:nvSpPr>
        <p:spPr>
          <a:xfrm>
            <a:off x="9121915" y="1655429"/>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Up Arrow 13"/>
          <p:cNvSpPr/>
          <p:nvPr/>
        </p:nvSpPr>
        <p:spPr>
          <a:xfrm>
            <a:off x="9597403" y="1655429"/>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Up Arrow 14"/>
          <p:cNvSpPr/>
          <p:nvPr/>
        </p:nvSpPr>
        <p:spPr>
          <a:xfrm>
            <a:off x="10072891" y="1655429"/>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Up Arrow 15"/>
          <p:cNvSpPr/>
          <p:nvPr/>
        </p:nvSpPr>
        <p:spPr>
          <a:xfrm>
            <a:off x="10548379" y="1655429"/>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11023867" y="1655429"/>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Up Arrow 17"/>
          <p:cNvSpPr/>
          <p:nvPr/>
        </p:nvSpPr>
        <p:spPr>
          <a:xfrm>
            <a:off x="8170939" y="2130917"/>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Up Arrow 18"/>
          <p:cNvSpPr/>
          <p:nvPr/>
        </p:nvSpPr>
        <p:spPr>
          <a:xfrm>
            <a:off x="8646427" y="2130917"/>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Up Arrow 19"/>
          <p:cNvSpPr/>
          <p:nvPr/>
        </p:nvSpPr>
        <p:spPr>
          <a:xfrm>
            <a:off x="9121915" y="2130917"/>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Down Arrow 20"/>
          <p:cNvSpPr/>
          <p:nvPr/>
        </p:nvSpPr>
        <p:spPr>
          <a:xfrm>
            <a:off x="9597403" y="2130917"/>
            <a:ext cx="135609" cy="218724"/>
          </a:xfrm>
          <a:prstGeom prst="downArrow">
            <a:avLst/>
          </a:prstGeom>
          <a:solidFill>
            <a:srgbClr val="FF7A59">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Up Arrow 21"/>
          <p:cNvSpPr/>
          <p:nvPr/>
        </p:nvSpPr>
        <p:spPr>
          <a:xfrm>
            <a:off x="10072891" y="2130917"/>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Up Arrow 22"/>
          <p:cNvSpPr/>
          <p:nvPr/>
        </p:nvSpPr>
        <p:spPr>
          <a:xfrm>
            <a:off x="10548379" y="2130917"/>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wn Arrow 23"/>
          <p:cNvSpPr/>
          <p:nvPr/>
        </p:nvSpPr>
        <p:spPr>
          <a:xfrm>
            <a:off x="11023867" y="2130917"/>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Up Arrow 24"/>
          <p:cNvSpPr/>
          <p:nvPr/>
        </p:nvSpPr>
        <p:spPr>
          <a:xfrm>
            <a:off x="8170939" y="2606405"/>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wn Arrow 25"/>
          <p:cNvSpPr/>
          <p:nvPr/>
        </p:nvSpPr>
        <p:spPr>
          <a:xfrm>
            <a:off x="8646427" y="2606405"/>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Up Arrow 26"/>
          <p:cNvSpPr/>
          <p:nvPr/>
        </p:nvSpPr>
        <p:spPr>
          <a:xfrm>
            <a:off x="9121915" y="2606405"/>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9597403" y="2606405"/>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Up Arrow 28"/>
          <p:cNvSpPr/>
          <p:nvPr/>
        </p:nvSpPr>
        <p:spPr>
          <a:xfrm>
            <a:off x="10072891" y="2606405"/>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Up Arrow 29"/>
          <p:cNvSpPr/>
          <p:nvPr/>
        </p:nvSpPr>
        <p:spPr>
          <a:xfrm>
            <a:off x="10548379" y="2606405"/>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Down Arrow 30"/>
          <p:cNvSpPr/>
          <p:nvPr/>
        </p:nvSpPr>
        <p:spPr>
          <a:xfrm>
            <a:off x="11023867" y="2606405"/>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Up Arrow 31"/>
          <p:cNvSpPr/>
          <p:nvPr/>
        </p:nvSpPr>
        <p:spPr>
          <a:xfrm>
            <a:off x="8170939" y="3081893"/>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Up Arrow 32"/>
          <p:cNvSpPr/>
          <p:nvPr/>
        </p:nvSpPr>
        <p:spPr>
          <a:xfrm>
            <a:off x="8646427" y="3081893"/>
            <a:ext cx="135609" cy="218724"/>
          </a:xfrm>
          <a:prstGeom prst="upArrow">
            <a:avLst/>
          </a:prstGeom>
          <a:solidFill>
            <a:srgbClr val="7CC4FF">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9121915" y="3081893"/>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Up Arrow 34"/>
          <p:cNvSpPr/>
          <p:nvPr/>
        </p:nvSpPr>
        <p:spPr>
          <a:xfrm>
            <a:off x="9597403" y="3081893"/>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Up Arrow 35"/>
          <p:cNvSpPr/>
          <p:nvPr/>
        </p:nvSpPr>
        <p:spPr>
          <a:xfrm>
            <a:off x="10072891" y="3081893"/>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Up Arrow 36"/>
          <p:cNvSpPr/>
          <p:nvPr/>
        </p:nvSpPr>
        <p:spPr>
          <a:xfrm>
            <a:off x="10548379" y="3081893"/>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Up Arrow 37"/>
          <p:cNvSpPr/>
          <p:nvPr/>
        </p:nvSpPr>
        <p:spPr>
          <a:xfrm>
            <a:off x="11023867" y="3081893"/>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Up Arrow 38"/>
          <p:cNvSpPr/>
          <p:nvPr/>
        </p:nvSpPr>
        <p:spPr>
          <a:xfrm>
            <a:off x="8170939" y="3557381"/>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wn Arrow 39"/>
          <p:cNvSpPr/>
          <p:nvPr/>
        </p:nvSpPr>
        <p:spPr>
          <a:xfrm>
            <a:off x="8646427" y="3557381"/>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Up Arrow 40"/>
          <p:cNvSpPr/>
          <p:nvPr/>
        </p:nvSpPr>
        <p:spPr>
          <a:xfrm>
            <a:off x="9121915" y="3557381"/>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Up Arrow 41"/>
          <p:cNvSpPr/>
          <p:nvPr/>
        </p:nvSpPr>
        <p:spPr>
          <a:xfrm>
            <a:off x="9597403" y="3557381"/>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10072891" y="3557381"/>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Up Arrow 43"/>
          <p:cNvSpPr/>
          <p:nvPr/>
        </p:nvSpPr>
        <p:spPr>
          <a:xfrm>
            <a:off x="10548379" y="3557381"/>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Up Arrow 44"/>
          <p:cNvSpPr/>
          <p:nvPr/>
        </p:nvSpPr>
        <p:spPr>
          <a:xfrm>
            <a:off x="11023867" y="3557381"/>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Down Arrow 45"/>
          <p:cNvSpPr/>
          <p:nvPr/>
        </p:nvSpPr>
        <p:spPr>
          <a:xfrm>
            <a:off x="8170939" y="4032869"/>
            <a:ext cx="135609" cy="218724"/>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Down Arrow 46"/>
          <p:cNvSpPr/>
          <p:nvPr/>
        </p:nvSpPr>
        <p:spPr>
          <a:xfrm>
            <a:off x="8646427" y="4032869"/>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Up Arrow 47"/>
          <p:cNvSpPr/>
          <p:nvPr/>
        </p:nvSpPr>
        <p:spPr>
          <a:xfrm>
            <a:off x="9121915" y="4032869"/>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Up Arrow 48"/>
          <p:cNvSpPr/>
          <p:nvPr/>
        </p:nvSpPr>
        <p:spPr>
          <a:xfrm>
            <a:off x="9597403" y="4032869"/>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Up Arrow 49"/>
          <p:cNvSpPr/>
          <p:nvPr/>
        </p:nvSpPr>
        <p:spPr>
          <a:xfrm>
            <a:off x="10072891" y="4032869"/>
            <a:ext cx="135609" cy="218724"/>
          </a:xfrm>
          <a:prstGeom prst="upArrow">
            <a:avLst/>
          </a:prstGeom>
          <a:solidFill>
            <a:srgbClr val="7CC4FF">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Down Arrow 50"/>
          <p:cNvSpPr/>
          <p:nvPr/>
        </p:nvSpPr>
        <p:spPr>
          <a:xfrm>
            <a:off x="10548379" y="4032869"/>
            <a:ext cx="135609" cy="218724"/>
          </a:xfrm>
          <a:prstGeom prst="downArrow">
            <a:avLst/>
          </a:prstGeom>
          <a:solidFill>
            <a:srgbClr val="FF7A59">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Down Arrow 51"/>
          <p:cNvSpPr/>
          <p:nvPr/>
        </p:nvSpPr>
        <p:spPr>
          <a:xfrm>
            <a:off x="11023867" y="4032869"/>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Up Arrow 52"/>
          <p:cNvSpPr/>
          <p:nvPr/>
        </p:nvSpPr>
        <p:spPr>
          <a:xfrm>
            <a:off x="8170939" y="4508357"/>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Down Arrow 53"/>
          <p:cNvSpPr/>
          <p:nvPr/>
        </p:nvSpPr>
        <p:spPr>
          <a:xfrm>
            <a:off x="8646427" y="4508357"/>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Up Arrow 54"/>
          <p:cNvSpPr/>
          <p:nvPr/>
        </p:nvSpPr>
        <p:spPr>
          <a:xfrm>
            <a:off x="9121915" y="4508357"/>
            <a:ext cx="135609" cy="218724"/>
          </a:xfrm>
          <a:prstGeom prst="upArrow">
            <a:avLst/>
          </a:prstGeom>
          <a:solidFill>
            <a:srgbClr val="7CC4FF">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Up Arrow 55"/>
          <p:cNvSpPr/>
          <p:nvPr/>
        </p:nvSpPr>
        <p:spPr>
          <a:xfrm>
            <a:off x="9597403" y="4508357"/>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Down Arrow 56"/>
          <p:cNvSpPr/>
          <p:nvPr/>
        </p:nvSpPr>
        <p:spPr>
          <a:xfrm>
            <a:off x="10072891" y="4508357"/>
            <a:ext cx="135609" cy="218724"/>
          </a:xfrm>
          <a:prstGeom prst="downArrow">
            <a:avLst/>
          </a:prstGeom>
          <a:solidFill>
            <a:srgbClr val="FF7A59">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Up Arrow 57"/>
          <p:cNvSpPr/>
          <p:nvPr/>
        </p:nvSpPr>
        <p:spPr>
          <a:xfrm>
            <a:off x="10548379" y="4508357"/>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Up Arrow 58"/>
          <p:cNvSpPr/>
          <p:nvPr/>
        </p:nvSpPr>
        <p:spPr>
          <a:xfrm>
            <a:off x="11023867" y="4508357"/>
            <a:ext cx="135609" cy="218724"/>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Up Arrow 59"/>
          <p:cNvSpPr/>
          <p:nvPr/>
        </p:nvSpPr>
        <p:spPr>
          <a:xfrm>
            <a:off x="8170939" y="4983845"/>
            <a:ext cx="135609" cy="218724"/>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Down Arrow 60"/>
          <p:cNvSpPr/>
          <p:nvPr/>
        </p:nvSpPr>
        <p:spPr>
          <a:xfrm>
            <a:off x="8646427" y="4983845"/>
            <a:ext cx="135609" cy="218724"/>
          </a:xfrm>
          <a:prstGeom prst="downArrow">
            <a:avLst/>
          </a:prstGeom>
          <a:solidFill>
            <a:srgbClr val="FF7A59">
              <a:alpha val="3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Down Arrow 61"/>
          <p:cNvSpPr/>
          <p:nvPr/>
        </p:nvSpPr>
        <p:spPr>
          <a:xfrm>
            <a:off x="9121915" y="4983845"/>
            <a:ext cx="135609" cy="218724"/>
          </a:xfrm>
          <a:prstGeom prst="downArrow">
            <a:avLst/>
          </a:prstGeom>
          <a:solidFill>
            <a:srgbClr val="FF7A59">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Up Arrow 62"/>
          <p:cNvSpPr/>
          <p:nvPr/>
        </p:nvSpPr>
        <p:spPr>
          <a:xfrm>
            <a:off x="9597403" y="4983845"/>
            <a:ext cx="135609" cy="218724"/>
          </a:xfrm>
          <a:prstGeom prst="upArrow">
            <a:avLst/>
          </a:prstGeom>
          <a:solidFill>
            <a:srgbClr val="7CC4FF">
              <a:alpha val="54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Down Arrow 63"/>
          <p:cNvSpPr/>
          <p:nvPr/>
        </p:nvSpPr>
        <p:spPr>
          <a:xfrm>
            <a:off x="10072891" y="4983845"/>
            <a:ext cx="135609" cy="218724"/>
          </a:xfrm>
          <a:prstGeom prst="downArrow">
            <a:avLst/>
          </a:prstGeom>
          <a:solidFill>
            <a:srgbClr val="FF7A59">
              <a:alpha val="65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Up Arrow 64"/>
          <p:cNvSpPr/>
          <p:nvPr/>
        </p:nvSpPr>
        <p:spPr>
          <a:xfrm>
            <a:off x="10548379" y="4983845"/>
            <a:ext cx="135609" cy="218724"/>
          </a:xfrm>
          <a:prstGeom prst="upArrow">
            <a:avLst/>
          </a:prstGeom>
          <a:solidFill>
            <a:srgbClr val="7CC4FF">
              <a:alpha val="7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Down Arrow 65"/>
          <p:cNvSpPr/>
          <p:nvPr/>
        </p:nvSpPr>
        <p:spPr>
          <a:xfrm>
            <a:off x="11023867" y="4983845"/>
            <a:ext cx="135609" cy="218724"/>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8001000" y="5440680"/>
            <a:ext cx="3328416" cy="457200"/>
          </a:xfrm>
          <a:prstGeom prst="rect">
            <a:avLst/>
          </a:prstGeom>
          <a:noFill/>
        </p:spPr>
        <p:txBody>
          <a:bodyPr wrap="square" anchor="t">
            <a:spAutoFit/>
          </a:bodyPr>
          <a:lstStyle/>
          <a:p>
            <a:pPr algn="ctr">
              <a:spcAft>
                <a:spcPts val="0"/>
              </a:spcAft>
            </a:pPr>
            <a:r>
              <a:rPr sz="1300" b="0" i="0">
                <a:solidFill>
                  <a:srgbClr val="9AABC4"/>
                </a:solidFill>
                <a:latin typeface="Calibri"/>
              </a:rPr>
              <a:t>each arrow is one person's opinion</a:t>
            </a:r>
          </a:p>
        </p:txBody>
      </p:sp>
      <p:sp>
        <p:nvSpPr>
          <p:cNvPr id="68" name="TextBox 67"/>
          <p:cNvSpPr txBox="1"/>
          <p:nvPr/>
        </p:nvSpPr>
        <p:spPr>
          <a:xfrm>
            <a:off x="822960" y="1051560"/>
            <a:ext cx="6949440" cy="365760"/>
          </a:xfrm>
          <a:prstGeom prst="rect">
            <a:avLst/>
          </a:prstGeom>
          <a:noFill/>
        </p:spPr>
        <p:txBody>
          <a:bodyPr wrap="square" anchor="t">
            <a:spAutoFit/>
          </a:bodyPr>
          <a:lstStyle/>
          <a:p>
            <a:pPr algn="l">
              <a:spcAft>
                <a:spcPts val="0"/>
              </a:spcAft>
            </a:pPr>
            <a:r>
              <a:rPr sz="1300" b="1" i="0">
                <a:solidFill>
                  <a:srgbClr val="7CC4FF"/>
                </a:solidFill>
                <a:latin typeface="Calibri"/>
              </a:rPr>
              <a:t>B.Sc. PHYSICS   ·   CUEA   ·   SUPERVISOR MEETING</a:t>
            </a:r>
          </a:p>
        </p:txBody>
      </p:sp>
      <p:sp>
        <p:nvSpPr>
          <p:cNvPr id="69" name="TextBox 68"/>
          <p:cNvSpPr txBox="1"/>
          <p:nvPr/>
        </p:nvSpPr>
        <p:spPr>
          <a:xfrm>
            <a:off x="822960" y="1508760"/>
            <a:ext cx="6949440" cy="1737360"/>
          </a:xfrm>
          <a:prstGeom prst="rect">
            <a:avLst/>
          </a:prstGeom>
          <a:noFill/>
        </p:spPr>
        <p:txBody>
          <a:bodyPr wrap="square" anchor="t">
            <a:spAutoFit/>
          </a:bodyPr>
          <a:lstStyle/>
          <a:p>
            <a:pPr algn="l">
              <a:spcAft>
                <a:spcPts val="0"/>
              </a:spcAft>
            </a:pPr>
            <a:r>
              <a:rPr sz="5000" b="1" i="0">
                <a:solidFill>
                  <a:srgbClr val="EEF3FA"/>
                </a:solidFill>
                <a:latin typeface="Calibri"/>
              </a:rPr>
              <a:t>Measuring the</a:t>
            </a:r>
          </a:p>
          <a:p>
            <a:pPr algn="l">
              <a:spcAft>
                <a:spcPts val="0"/>
              </a:spcAft>
            </a:pPr>
            <a:r>
              <a:rPr sz="5000" b="1" i="0">
                <a:solidFill>
                  <a:srgbClr val="7CC4FF"/>
                </a:solidFill>
                <a:latin typeface="Calibri"/>
              </a:rPr>
              <a:t>External Field</a:t>
            </a:r>
          </a:p>
        </p:txBody>
      </p:sp>
      <p:sp>
        <p:nvSpPr>
          <p:cNvPr id="70" name="TextBox 69"/>
          <p:cNvSpPr txBox="1"/>
          <p:nvPr/>
        </p:nvSpPr>
        <p:spPr>
          <a:xfrm>
            <a:off x="822960" y="3246120"/>
            <a:ext cx="6766560" cy="914400"/>
          </a:xfrm>
          <a:prstGeom prst="rect">
            <a:avLst/>
          </a:prstGeom>
          <a:noFill/>
        </p:spPr>
        <p:txBody>
          <a:bodyPr wrap="square" anchor="t">
            <a:spAutoFit/>
          </a:bodyPr>
          <a:lstStyle/>
          <a:p>
            <a:pPr algn="l">
              <a:spcAft>
                <a:spcPts val="0"/>
              </a:spcAft>
            </a:pPr>
            <a:r>
              <a:rPr sz="2100" b="0" i="0">
                <a:solidFill>
                  <a:srgbClr val="9AABC4"/>
                </a:solidFill>
                <a:latin typeface="Calibri"/>
              </a:rPr>
              <a:t>Can we measure how hard a news article pushes on what people think?</a:t>
            </a:r>
          </a:p>
        </p:txBody>
      </p:sp>
      <p:sp>
        <p:nvSpPr>
          <p:cNvPr id="71" name="Rectangle 70"/>
          <p:cNvSpPr/>
          <p:nvPr/>
        </p:nvSpPr>
        <p:spPr>
          <a:xfrm>
            <a:off x="822960" y="4343400"/>
            <a:ext cx="1280160" cy="457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822960" y="4572000"/>
            <a:ext cx="6766560" cy="1280160"/>
          </a:xfrm>
          <a:prstGeom prst="rect">
            <a:avLst/>
          </a:prstGeom>
          <a:noFill/>
        </p:spPr>
        <p:txBody>
          <a:bodyPr wrap="square" anchor="t">
            <a:spAutoFit/>
          </a:bodyPr>
          <a:lstStyle/>
          <a:p>
            <a:pPr algn="l">
              <a:spcAft>
                <a:spcPts val="400"/>
              </a:spcAft>
            </a:pPr>
            <a:r>
              <a:rPr sz="2000" b="1">
                <a:solidFill>
                  <a:srgbClr val="EEF3FA"/>
                </a:solidFill>
                <a:latin typeface="Calibri"/>
              </a:rPr>
              <a:t>Brian Mwai</a:t>
            </a:r>
            <a:r>
              <a:rPr sz="2000" b="0">
                <a:solidFill>
                  <a:srgbClr val="9AABC4"/>
                </a:solidFill>
                <a:latin typeface="Calibri"/>
              </a:rPr>
              <a:t>   1050555</a:t>
            </a:r>
          </a:p>
          <a:p>
            <a:pPr algn="l">
              <a:spcAft>
                <a:spcPts val="200"/>
              </a:spcAft>
            </a:pPr>
            <a:r>
              <a:rPr sz="1500" b="0" i="0">
                <a:solidFill>
                  <a:srgbClr val="9AABC4"/>
                </a:solidFill>
                <a:latin typeface="Calibri"/>
              </a:rPr>
              <a:t>Supervisor: Dr. Songa Mutambi</a:t>
            </a:r>
          </a:p>
          <a:p>
            <a:pPr algn="l">
              <a:spcAft>
                <a:spcPts val="0"/>
              </a:spcAft>
            </a:pPr>
            <a:r>
              <a:rPr sz="1500" b="0" i="0">
                <a:solidFill>
                  <a:srgbClr val="9AABC4"/>
                </a:solidFill>
                <a:latin typeface="Calibri"/>
              </a:rPr>
              <a:t>21 September 2026</a:t>
            </a:r>
          </a:p>
        </p:txBody>
      </p:sp>
      <p:sp>
        <p:nvSpPr>
          <p:cNvPr id="73" name="Rectangle 72"/>
          <p:cNvSpPr/>
          <p:nvPr/>
        </p:nvSpPr>
        <p:spPr>
          <a:xfrm>
            <a:off x="685800" y="6967728"/>
            <a:ext cx="10820095"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85800" y="7059168"/>
            <a:ext cx="10820095" cy="320040"/>
          </a:xfrm>
          <a:prstGeom prst="rect">
            <a:avLst/>
          </a:prstGeom>
          <a:noFill/>
        </p:spPr>
        <p:txBody>
          <a:bodyPr wrap="square" anchor="t">
            <a:spAutoFit/>
          </a:bodyPr>
          <a:lstStyle/>
          <a:p>
            <a:pPr algn="l">
              <a:spcAft>
                <a:spcPts val="0"/>
              </a:spcAft>
            </a:pPr>
            <a:r>
              <a:rPr sz="1200" b="1">
                <a:solidFill>
                  <a:srgbClr val="FF7A59"/>
                </a:solidFill>
                <a:latin typeface="Calibri"/>
              </a:rPr>
              <a:t>SCRIPT</a:t>
            </a:r>
            <a:r>
              <a:rPr sz="1200" b="0">
                <a:solidFill>
                  <a:srgbClr val="9AABC4"/>
                </a:solidFill>
                <a:latin typeface="Calibri"/>
              </a:rPr>
              <a:t>   ·   slide 01   ·   about 1 min</a:t>
            </a:r>
          </a:p>
        </p:txBody>
      </p:sp>
      <p:sp>
        <p:nvSpPr>
          <p:cNvPr id="75" name="Rounded Rectangle 74"/>
          <p:cNvSpPr/>
          <p:nvPr/>
        </p:nvSpPr>
        <p:spPr>
          <a:xfrm>
            <a:off x="685800" y="7406640"/>
            <a:ext cx="7818120" cy="219455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09728"/>
          <a:lstStyle/>
          <a:p>
            <a:pPr algn="l">
              <a:spcAft>
                <a:spcPts val="0"/>
              </a:spcAft>
            </a:pPr>
            <a:r>
              <a:rPr sz="1500" b="0" i="0">
                <a:solidFill>
                  <a:srgbClr val="EEF3FA"/>
                </a:solidFill>
                <a:latin typeface="Calibri"/>
              </a:rPr>
              <a:t>Good morning, Dr. Songa, and thank you for the time. I'll take you through the dissertation as it stands after your review: what I set out to do, the tools and steps, what we found, where the proposal turned out wrong, what the work cannot claim, and the three papers. About fifteen minutes, and I'll end with what I need from you.</a:t>
            </a:r>
          </a:p>
        </p:txBody>
      </p:sp>
      <p:sp>
        <p:nvSpPr>
          <p:cNvPr id="76" name="Rounded Rectangle 75"/>
          <p:cNvSpPr/>
          <p:nvPr/>
        </p:nvSpPr>
        <p:spPr>
          <a:xfrm>
            <a:off x="8641080" y="7406640"/>
            <a:ext cx="2864815" cy="2194559"/>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100" b="1" i="0">
                <a:solidFill>
                  <a:srgbClr val="F5B83D"/>
                </a:solidFill>
                <a:latin typeface="Calibri"/>
              </a:rPr>
              <a:t>NUMBERS TO SAY</a:t>
            </a:r>
          </a:p>
          <a:p>
            <a:pPr algn="l">
              <a:spcAft>
                <a:spcPts val="500"/>
              </a:spcAft>
            </a:pPr>
            <a:r>
              <a:rPr sz="1300" b="0" i="0">
                <a:solidFill>
                  <a:srgbClr val="EEF3FA"/>
                </a:solidFill>
                <a:latin typeface="Calibri"/>
              </a:rPr>
              <a:t>•  About 15 minutes in total</a:t>
            </a:r>
          </a:p>
          <a:p>
            <a:pPr algn="l">
              <a:spcAft>
                <a:spcPts val="500"/>
              </a:spcAft>
            </a:pPr>
            <a:r>
              <a:rPr sz="1300" b="0" i="0">
                <a:solidFill>
                  <a:srgbClr val="EEF3FA"/>
                </a:solidFill>
                <a:latin typeface="Calibri"/>
              </a:rPr>
              <a:t>•  End with the four requests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aveform.png"/>
          <p:cNvPicPr>
            <a:picLocks noChangeAspect="1"/>
          </p:cNvPicPr>
          <p:nvPr/>
        </p:nvPicPr>
        <p:blipFill>
          <a:blip r:embed="rId2"/>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IDEA</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Physics treats media as a push, h, on opinion. Nobody measures h</a:t>
            </a:r>
          </a:p>
        </p:txBody>
      </p:sp>
      <p:sp>
        <p:nvSpPr>
          <p:cNvPr id="7" name="Up Arrow 6"/>
          <p:cNvSpPr/>
          <p:nvPr/>
        </p:nvSpPr>
        <p:spPr>
          <a:xfrm>
            <a:off x="8317903" y="173598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Up Arrow 7"/>
          <p:cNvSpPr/>
          <p:nvPr/>
        </p:nvSpPr>
        <p:spPr>
          <a:xfrm>
            <a:off x="8820823" y="173598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Up Arrow 8"/>
          <p:cNvSpPr/>
          <p:nvPr/>
        </p:nvSpPr>
        <p:spPr>
          <a:xfrm>
            <a:off x="9323743" y="173598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Up Arrow 9"/>
          <p:cNvSpPr/>
          <p:nvPr/>
        </p:nvSpPr>
        <p:spPr>
          <a:xfrm>
            <a:off x="9826663" y="173598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Up Arrow 10"/>
          <p:cNvSpPr/>
          <p:nvPr/>
        </p:nvSpPr>
        <p:spPr>
          <a:xfrm>
            <a:off x="10329583" y="173598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Up Arrow 11"/>
          <p:cNvSpPr/>
          <p:nvPr/>
        </p:nvSpPr>
        <p:spPr>
          <a:xfrm>
            <a:off x="10832503" y="173598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Up Arrow 12"/>
          <p:cNvSpPr/>
          <p:nvPr/>
        </p:nvSpPr>
        <p:spPr>
          <a:xfrm>
            <a:off x="8317903" y="223890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own Arrow 13"/>
          <p:cNvSpPr/>
          <p:nvPr/>
        </p:nvSpPr>
        <p:spPr>
          <a:xfrm>
            <a:off x="8820823" y="223890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Up Arrow 14"/>
          <p:cNvSpPr/>
          <p:nvPr/>
        </p:nvSpPr>
        <p:spPr>
          <a:xfrm>
            <a:off x="9323743" y="223890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Up Arrow 15"/>
          <p:cNvSpPr/>
          <p:nvPr/>
        </p:nvSpPr>
        <p:spPr>
          <a:xfrm>
            <a:off x="9826663" y="223890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Down Arrow 16"/>
          <p:cNvSpPr/>
          <p:nvPr/>
        </p:nvSpPr>
        <p:spPr>
          <a:xfrm>
            <a:off x="10329583" y="223890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Up Arrow 17"/>
          <p:cNvSpPr/>
          <p:nvPr/>
        </p:nvSpPr>
        <p:spPr>
          <a:xfrm>
            <a:off x="10832503" y="223890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8317903" y="2741828"/>
            <a:ext cx="143432" cy="231343"/>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Up Arrow 19"/>
          <p:cNvSpPr/>
          <p:nvPr/>
        </p:nvSpPr>
        <p:spPr>
          <a:xfrm>
            <a:off x="8820823" y="274182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Up Arrow 20"/>
          <p:cNvSpPr/>
          <p:nvPr/>
        </p:nvSpPr>
        <p:spPr>
          <a:xfrm>
            <a:off x="9323743" y="274182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Up Arrow 21"/>
          <p:cNvSpPr/>
          <p:nvPr/>
        </p:nvSpPr>
        <p:spPr>
          <a:xfrm>
            <a:off x="9826663" y="274182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Up Arrow 22"/>
          <p:cNvSpPr/>
          <p:nvPr/>
        </p:nvSpPr>
        <p:spPr>
          <a:xfrm>
            <a:off x="10329583" y="274182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Down Arrow 23"/>
          <p:cNvSpPr/>
          <p:nvPr/>
        </p:nvSpPr>
        <p:spPr>
          <a:xfrm>
            <a:off x="10832503" y="274182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Up Arrow 24"/>
          <p:cNvSpPr/>
          <p:nvPr/>
        </p:nvSpPr>
        <p:spPr>
          <a:xfrm>
            <a:off x="8317903" y="324474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Down Arrow 25"/>
          <p:cNvSpPr/>
          <p:nvPr/>
        </p:nvSpPr>
        <p:spPr>
          <a:xfrm>
            <a:off x="8820823" y="324474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own Arrow 26"/>
          <p:cNvSpPr/>
          <p:nvPr/>
        </p:nvSpPr>
        <p:spPr>
          <a:xfrm>
            <a:off x="9323743" y="3244748"/>
            <a:ext cx="143432" cy="231343"/>
          </a:xfrm>
          <a:prstGeom prst="downArrow">
            <a:avLst/>
          </a:prstGeom>
          <a:solidFill>
            <a:srgbClr val="FF7A59">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Up Arrow 27"/>
          <p:cNvSpPr/>
          <p:nvPr/>
        </p:nvSpPr>
        <p:spPr>
          <a:xfrm>
            <a:off x="9826663" y="324474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Down Arrow 28"/>
          <p:cNvSpPr/>
          <p:nvPr/>
        </p:nvSpPr>
        <p:spPr>
          <a:xfrm>
            <a:off x="10329583" y="324474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Up Arrow 29"/>
          <p:cNvSpPr/>
          <p:nvPr/>
        </p:nvSpPr>
        <p:spPr>
          <a:xfrm>
            <a:off x="10832503" y="3244748"/>
            <a:ext cx="143432" cy="231343"/>
          </a:xfrm>
          <a:prstGeom prst="upArrow">
            <a:avLst/>
          </a:prstGeom>
          <a:solidFill>
            <a:srgbClr val="7CC4FF">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Up Arrow 30"/>
          <p:cNvSpPr/>
          <p:nvPr/>
        </p:nvSpPr>
        <p:spPr>
          <a:xfrm>
            <a:off x="8317903" y="3747668"/>
            <a:ext cx="143432" cy="231343"/>
          </a:xfrm>
          <a:prstGeom prst="upArrow">
            <a:avLst/>
          </a:prstGeom>
          <a:solidFill>
            <a:srgbClr val="7CC4FF">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Up Arrow 31"/>
          <p:cNvSpPr/>
          <p:nvPr/>
        </p:nvSpPr>
        <p:spPr>
          <a:xfrm>
            <a:off x="8820823" y="3747668"/>
            <a:ext cx="143432" cy="231343"/>
          </a:xfrm>
          <a:prstGeom prst="upArrow">
            <a:avLst/>
          </a:prstGeom>
          <a:solidFill>
            <a:srgbClr val="7CC4FF">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Down Arrow 32"/>
          <p:cNvSpPr/>
          <p:nvPr/>
        </p:nvSpPr>
        <p:spPr>
          <a:xfrm>
            <a:off x="9323743" y="3747668"/>
            <a:ext cx="143432" cy="231343"/>
          </a:xfrm>
          <a:prstGeom prst="downArrow">
            <a:avLst/>
          </a:prstGeom>
          <a:solidFill>
            <a:srgbClr val="FF7A59">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Up Arrow 33"/>
          <p:cNvSpPr/>
          <p:nvPr/>
        </p:nvSpPr>
        <p:spPr>
          <a:xfrm>
            <a:off x="9826663" y="3747668"/>
            <a:ext cx="143432" cy="231343"/>
          </a:xfrm>
          <a:prstGeom prst="upArrow">
            <a:avLst/>
          </a:prstGeom>
          <a:solidFill>
            <a:srgbClr val="7CC4FF">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Down Arrow 34"/>
          <p:cNvSpPr/>
          <p:nvPr/>
        </p:nvSpPr>
        <p:spPr>
          <a:xfrm>
            <a:off x="10329583" y="3747668"/>
            <a:ext cx="143432" cy="231343"/>
          </a:xfrm>
          <a:prstGeom prst="downArrow">
            <a:avLst/>
          </a:prstGeom>
          <a:solidFill>
            <a:srgbClr val="FF7A59">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10832503" y="374766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Down Arrow 36"/>
          <p:cNvSpPr/>
          <p:nvPr/>
        </p:nvSpPr>
        <p:spPr>
          <a:xfrm>
            <a:off x="8317903" y="4250588"/>
            <a:ext cx="143432" cy="231343"/>
          </a:xfrm>
          <a:prstGeom prst="downArrow">
            <a:avLst/>
          </a:prstGeom>
          <a:solidFill>
            <a:srgbClr val="FF7A59">
              <a:alpha val="18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Down Arrow 37"/>
          <p:cNvSpPr/>
          <p:nvPr/>
        </p:nvSpPr>
        <p:spPr>
          <a:xfrm>
            <a:off x="8820823" y="4250588"/>
            <a:ext cx="143432" cy="231343"/>
          </a:xfrm>
          <a:prstGeom prst="downArrow">
            <a:avLst/>
          </a:prstGeom>
          <a:solidFill>
            <a:srgbClr val="FF7A59">
              <a:alpha val="323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Up Arrow 38"/>
          <p:cNvSpPr/>
          <p:nvPr/>
        </p:nvSpPr>
        <p:spPr>
          <a:xfrm>
            <a:off x="9323743" y="4250588"/>
            <a:ext cx="143432" cy="231343"/>
          </a:xfrm>
          <a:prstGeom prst="upArrow">
            <a:avLst/>
          </a:prstGeom>
          <a:solidFill>
            <a:srgbClr val="7CC4FF">
              <a:alpha val="468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Down Arrow 39"/>
          <p:cNvSpPr/>
          <p:nvPr/>
        </p:nvSpPr>
        <p:spPr>
          <a:xfrm>
            <a:off x="9826663" y="4250588"/>
            <a:ext cx="143432" cy="231343"/>
          </a:xfrm>
          <a:prstGeom prst="downArrow">
            <a:avLst/>
          </a:prstGeom>
          <a:solidFill>
            <a:srgbClr val="FF7A59">
              <a:alpha val="612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Up Arrow 40"/>
          <p:cNvSpPr/>
          <p:nvPr/>
        </p:nvSpPr>
        <p:spPr>
          <a:xfrm>
            <a:off x="10329583" y="4250588"/>
            <a:ext cx="143432" cy="231343"/>
          </a:xfrm>
          <a:prstGeom prst="upArrow">
            <a:avLst/>
          </a:prstGeom>
          <a:solidFill>
            <a:srgbClr val="7CC4FF">
              <a:alpha val="756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Down Arrow 41"/>
          <p:cNvSpPr/>
          <p:nvPr/>
        </p:nvSpPr>
        <p:spPr>
          <a:xfrm>
            <a:off x="10832503" y="4250588"/>
            <a:ext cx="143432" cy="231343"/>
          </a:xfrm>
          <a:prstGeom prst="downArrow">
            <a:avLst/>
          </a:prstGeom>
          <a:solidFill>
            <a:srgbClr val="FF7A59">
              <a:alpha val="89999"/>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Up Arrow 42"/>
          <p:cNvSpPr/>
          <p:nvPr/>
        </p:nvSpPr>
        <p:spPr>
          <a:xfrm>
            <a:off x="11384280" y="2103120"/>
            <a:ext cx="320040" cy="2011680"/>
          </a:xfrm>
          <a:prstGeom prst="upArrow">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863840" y="4709160"/>
            <a:ext cx="3931920" cy="731520"/>
          </a:xfrm>
          <a:prstGeom prst="rect">
            <a:avLst/>
          </a:prstGeom>
          <a:noFill/>
        </p:spPr>
        <p:txBody>
          <a:bodyPr wrap="square" anchor="t">
            <a:spAutoFit/>
          </a:bodyPr>
          <a:lstStyle/>
          <a:p>
            <a:pPr algn="ctr">
              <a:spcAft>
                <a:spcPts val="0"/>
              </a:spcAft>
            </a:pPr>
            <a:r>
              <a:rPr sz="1300" b="0" i="0">
                <a:solidFill>
                  <a:srgbClr val="9AABC4"/>
                </a:solidFill>
                <a:latin typeface="Calibri"/>
              </a:rPr>
              <a:t>Arrows are people. Gold arrow is media, pushing everyone the same way.</a:t>
            </a:r>
          </a:p>
        </p:txBody>
      </p:sp>
      <p:pic>
        <p:nvPicPr>
          <p:cNvPr id="45" name="Picture 44" descr="45f02749de550d5c.png"/>
          <p:cNvPicPr>
            <a:picLocks noChangeAspect="1"/>
          </p:cNvPicPr>
          <p:nvPr/>
        </p:nvPicPr>
        <p:blipFill>
          <a:blip r:embed="rId3"/>
          <a:stretch>
            <a:fillRect/>
          </a:stretch>
        </p:blipFill>
        <p:spPr>
          <a:xfrm>
            <a:off x="685800" y="1463040"/>
            <a:ext cx="3281552" cy="425196"/>
          </a:xfrm>
          <a:prstGeom prst="rect">
            <a:avLst/>
          </a:prstGeom>
        </p:spPr>
      </p:pic>
      <p:sp>
        <p:nvSpPr>
          <p:cNvPr id="46" name="TextBox 45"/>
          <p:cNvSpPr txBox="1"/>
          <p:nvPr/>
        </p:nvSpPr>
        <p:spPr>
          <a:xfrm>
            <a:off x="685800" y="2103120"/>
            <a:ext cx="6949440" cy="365760"/>
          </a:xfrm>
          <a:prstGeom prst="rect">
            <a:avLst/>
          </a:prstGeom>
          <a:noFill/>
        </p:spPr>
        <p:txBody>
          <a:bodyPr wrap="square" anchor="t">
            <a:spAutoFit/>
          </a:bodyPr>
          <a:lstStyle/>
          <a:p>
            <a:pPr algn="l">
              <a:spcAft>
                <a:spcPts val="0"/>
              </a:spcAft>
            </a:pPr>
            <a:r>
              <a:rPr sz="1300" b="0" i="0">
                <a:solidFill>
                  <a:srgbClr val="9AABC4"/>
                </a:solidFill>
                <a:latin typeface="Calibri"/>
              </a:rPr>
              <a:t>The mean-field opinion model: the same maths as magnets lining up.</a:t>
            </a:r>
          </a:p>
        </p:txBody>
      </p:sp>
      <p:pic>
        <p:nvPicPr>
          <p:cNvPr id="47" name="Picture 46" descr="2e3b70b3f2255e91.png"/>
          <p:cNvPicPr>
            <a:picLocks noChangeAspect="1"/>
          </p:cNvPicPr>
          <p:nvPr/>
        </p:nvPicPr>
        <p:blipFill>
          <a:blip r:embed="rId4"/>
          <a:stretch>
            <a:fillRect/>
          </a:stretch>
        </p:blipFill>
        <p:spPr>
          <a:xfrm>
            <a:off x="771753" y="2560320"/>
            <a:ext cx="285292" cy="312724"/>
          </a:xfrm>
          <a:prstGeom prst="rect">
            <a:avLst/>
          </a:prstGeom>
        </p:spPr>
      </p:pic>
      <p:sp>
        <p:nvSpPr>
          <p:cNvPr id="48" name="TextBox 47"/>
          <p:cNvSpPr txBox="1"/>
          <p:nvPr/>
        </p:nvSpPr>
        <p:spPr>
          <a:xfrm>
            <a:off x="1325880" y="2542032"/>
            <a:ext cx="6309360" cy="502920"/>
          </a:xfrm>
          <a:prstGeom prst="rect">
            <a:avLst/>
          </a:prstGeom>
          <a:noFill/>
        </p:spPr>
        <p:txBody>
          <a:bodyPr wrap="square" anchor="t">
            <a:spAutoFit/>
          </a:bodyPr>
          <a:lstStyle/>
          <a:p>
            <a:pPr algn="l">
              <a:spcAft>
                <a:spcPts val="0"/>
              </a:spcAft>
            </a:pPr>
            <a:r>
              <a:rPr sz="1500" b="0" i="0">
                <a:solidFill>
                  <a:srgbClr val="EEF3FA"/>
                </a:solidFill>
                <a:latin typeface="Calibri"/>
              </a:rPr>
              <a:t>average opinion of the group: −1 everyone against, +1 everyone for.</a:t>
            </a:r>
          </a:p>
        </p:txBody>
      </p:sp>
      <p:pic>
        <p:nvPicPr>
          <p:cNvPr id="49" name="Picture 48" descr="14e8a1e87ada8350.png"/>
          <p:cNvPicPr>
            <a:picLocks noChangeAspect="1"/>
          </p:cNvPicPr>
          <p:nvPr/>
        </p:nvPicPr>
        <p:blipFill>
          <a:blip r:embed="rId5"/>
          <a:stretch>
            <a:fillRect/>
          </a:stretch>
        </p:blipFill>
        <p:spPr>
          <a:xfrm>
            <a:off x="804672" y="3090672"/>
            <a:ext cx="219456" cy="312724"/>
          </a:xfrm>
          <a:prstGeom prst="rect">
            <a:avLst/>
          </a:prstGeom>
        </p:spPr>
      </p:pic>
      <p:sp>
        <p:nvSpPr>
          <p:cNvPr id="50" name="TextBox 49"/>
          <p:cNvSpPr txBox="1"/>
          <p:nvPr/>
        </p:nvSpPr>
        <p:spPr>
          <a:xfrm>
            <a:off x="1325880" y="3072384"/>
            <a:ext cx="6309360" cy="502920"/>
          </a:xfrm>
          <a:prstGeom prst="rect">
            <a:avLst/>
          </a:prstGeom>
          <a:noFill/>
        </p:spPr>
        <p:txBody>
          <a:bodyPr wrap="square" anchor="t">
            <a:spAutoFit/>
          </a:bodyPr>
          <a:lstStyle/>
          <a:p>
            <a:pPr algn="l">
              <a:spcAft>
                <a:spcPts val="0"/>
              </a:spcAft>
            </a:pPr>
            <a:r>
              <a:rPr sz="1500" b="0" i="0">
                <a:solidFill>
                  <a:srgbClr val="EEF3FA"/>
                </a:solidFill>
                <a:latin typeface="Calibri"/>
              </a:rPr>
              <a:t>coupling: how strongly each person is pulled toward the people around them.</a:t>
            </a:r>
          </a:p>
        </p:txBody>
      </p:sp>
      <p:pic>
        <p:nvPicPr>
          <p:cNvPr id="51" name="Picture 50" descr="9255c6a4144431ec.png"/>
          <p:cNvPicPr>
            <a:picLocks noChangeAspect="1"/>
          </p:cNvPicPr>
          <p:nvPr/>
        </p:nvPicPr>
        <p:blipFill>
          <a:blip r:embed="rId6"/>
          <a:stretch>
            <a:fillRect/>
          </a:stretch>
        </p:blipFill>
        <p:spPr>
          <a:xfrm>
            <a:off x="811530" y="3621024"/>
            <a:ext cx="205740" cy="315468"/>
          </a:xfrm>
          <a:prstGeom prst="rect">
            <a:avLst/>
          </a:prstGeom>
        </p:spPr>
      </p:pic>
      <p:sp>
        <p:nvSpPr>
          <p:cNvPr id="52" name="TextBox 51"/>
          <p:cNvSpPr txBox="1"/>
          <p:nvPr/>
        </p:nvSpPr>
        <p:spPr>
          <a:xfrm>
            <a:off x="1325880" y="3602736"/>
            <a:ext cx="6309360" cy="502920"/>
          </a:xfrm>
          <a:prstGeom prst="rect">
            <a:avLst/>
          </a:prstGeom>
          <a:noFill/>
        </p:spPr>
        <p:txBody>
          <a:bodyPr wrap="square" anchor="t">
            <a:spAutoFit/>
          </a:bodyPr>
          <a:lstStyle/>
          <a:p>
            <a:pPr algn="l">
              <a:spcAft>
                <a:spcPts val="0"/>
              </a:spcAft>
            </a:pPr>
            <a:r>
              <a:rPr sz="1500" b="0" i="0">
                <a:solidFill>
                  <a:srgbClr val="EEF3FA"/>
                </a:solidFill>
                <a:latin typeface="Calibri"/>
              </a:rPr>
              <a:t>how firmly people follow that pull instead of acting at random (one over the noise).</a:t>
            </a:r>
          </a:p>
        </p:txBody>
      </p:sp>
      <p:pic>
        <p:nvPicPr>
          <p:cNvPr id="53" name="Picture 52" descr="20c93cf97540e448.png"/>
          <p:cNvPicPr>
            <a:picLocks noChangeAspect="1"/>
          </p:cNvPicPr>
          <p:nvPr/>
        </p:nvPicPr>
        <p:blipFill>
          <a:blip r:embed="rId7"/>
          <a:stretch>
            <a:fillRect/>
          </a:stretch>
        </p:blipFill>
        <p:spPr>
          <a:xfrm>
            <a:off x="818388" y="4151375"/>
            <a:ext cx="192024" cy="312724"/>
          </a:xfrm>
          <a:prstGeom prst="rect">
            <a:avLst/>
          </a:prstGeom>
        </p:spPr>
      </p:pic>
      <p:sp>
        <p:nvSpPr>
          <p:cNvPr id="54" name="TextBox 53"/>
          <p:cNvSpPr txBox="1"/>
          <p:nvPr/>
        </p:nvSpPr>
        <p:spPr>
          <a:xfrm>
            <a:off x="1325880" y="4133087"/>
            <a:ext cx="6309360" cy="502920"/>
          </a:xfrm>
          <a:prstGeom prst="rect">
            <a:avLst/>
          </a:prstGeom>
          <a:noFill/>
        </p:spPr>
        <p:txBody>
          <a:bodyPr wrap="square" anchor="t">
            <a:spAutoFit/>
          </a:bodyPr>
          <a:lstStyle/>
          <a:p>
            <a:pPr algn="l">
              <a:spcAft>
                <a:spcPts val="0"/>
              </a:spcAft>
            </a:pPr>
            <a:r>
              <a:rPr sz="1500" b="0" i="0">
                <a:solidFill>
                  <a:srgbClr val="EEF3FA"/>
                </a:solidFill>
                <a:latin typeface="Calibri"/>
              </a:rPr>
              <a:t>external field: the push from media, the same on everyone.</a:t>
            </a:r>
          </a:p>
        </p:txBody>
      </p:sp>
      <p:sp>
        <p:nvSpPr>
          <p:cNvPr id="55" name="Rounded Rectangle 54"/>
          <p:cNvSpPr/>
          <p:nvPr/>
        </p:nvSpPr>
        <p:spPr>
          <a:xfrm>
            <a:off x="685800" y="4800600"/>
            <a:ext cx="6949440" cy="8686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0">
                <a:solidFill>
                  <a:srgbClr val="EEF3FA"/>
                </a:solidFill>
                <a:latin typeface="Calibri"/>
              </a:rPr>
              <a:t>Every study we found picks h by hand. </a:t>
            </a:r>
            <a:r>
              <a:rPr sz="1600" b="1">
                <a:solidFill>
                  <a:srgbClr val="FF7A59"/>
                </a:solidFill>
                <a:latin typeface="Calibri"/>
              </a:rPr>
              <a:t>Our question: can h be measured from the content itself?</a:t>
            </a:r>
          </a:p>
        </p:txBody>
      </p:sp>
      <p:sp>
        <p:nvSpPr>
          <p:cNvPr id="56" name="TextBox 55"/>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IDEA</a:t>
            </a:r>
          </a:p>
        </p:txBody>
      </p:sp>
      <p:sp>
        <p:nvSpPr>
          <p:cNvPr id="57" name="Rectangle 56"/>
          <p:cNvSpPr/>
          <p:nvPr/>
        </p:nvSpPr>
        <p:spPr>
          <a:xfrm>
            <a:off x="4692243"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5268315"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02</a:t>
            </a:r>
          </a:p>
        </p:txBody>
      </p:sp>
      <p:sp>
        <p:nvSpPr>
          <p:cNvPr id="63" name="Rectangle 62"/>
          <p:cNvSpPr/>
          <p:nvPr/>
        </p:nvSpPr>
        <p:spPr>
          <a:xfrm>
            <a:off x="685800" y="6967728"/>
            <a:ext cx="10820095"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85800" y="7059168"/>
            <a:ext cx="10820095" cy="320040"/>
          </a:xfrm>
          <a:prstGeom prst="rect">
            <a:avLst/>
          </a:prstGeom>
          <a:noFill/>
        </p:spPr>
        <p:txBody>
          <a:bodyPr wrap="square" anchor="t">
            <a:spAutoFit/>
          </a:bodyPr>
          <a:lstStyle/>
          <a:p>
            <a:pPr algn="l">
              <a:spcAft>
                <a:spcPts val="0"/>
              </a:spcAft>
            </a:pPr>
            <a:r>
              <a:rPr sz="1200" b="1">
                <a:solidFill>
                  <a:srgbClr val="FF7A59"/>
                </a:solidFill>
                <a:latin typeface="Calibri"/>
              </a:rPr>
              <a:t>SCRIPT</a:t>
            </a:r>
            <a:r>
              <a:rPr sz="1200" b="0">
                <a:solidFill>
                  <a:srgbClr val="9AABC4"/>
                </a:solidFill>
                <a:latin typeface="Calibri"/>
              </a:rPr>
              <a:t>   ·   slide 02   ·   about 1 min</a:t>
            </a:r>
          </a:p>
        </p:txBody>
      </p:sp>
      <p:sp>
        <p:nvSpPr>
          <p:cNvPr id="65" name="Rounded Rectangle 64"/>
          <p:cNvSpPr/>
          <p:nvPr/>
        </p:nvSpPr>
        <p:spPr>
          <a:xfrm>
            <a:off x="685800" y="7406640"/>
            <a:ext cx="7818120" cy="219455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09728"/>
          <a:lstStyle/>
          <a:p>
            <a:pPr algn="l">
              <a:spcAft>
                <a:spcPts val="0"/>
              </a:spcAft>
            </a:pPr>
            <a:r>
              <a:rPr sz="1500" b="0" i="0">
                <a:solidFill>
                  <a:srgbClr val="EEF3FA"/>
                </a:solidFill>
                <a:latin typeface="Calibri"/>
              </a:rPr>
              <a:t>Physicists model a group forming an opinion the same way they model tiny magnets lining up. The equation is m equals tanh of beta J m plus h. m is the group's average opinion, from minus one, everyone against, to plus one, everyone for. J is how strongly each person is pulled toward the people around them, and beta is how firmly they follow that pull instead of acting at random. h is the outside push from media, the same on everyone. In every study I read, h is chosen by hand. My question: can we measure h from the content itself?</a:t>
            </a:r>
          </a:p>
        </p:txBody>
      </p:sp>
      <p:sp>
        <p:nvSpPr>
          <p:cNvPr id="66" name="Rounded Rectangle 65"/>
          <p:cNvSpPr/>
          <p:nvPr/>
        </p:nvSpPr>
        <p:spPr>
          <a:xfrm>
            <a:off x="8641080" y="7406640"/>
            <a:ext cx="2864815" cy="2194559"/>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100" b="1" i="0">
                <a:solidFill>
                  <a:srgbClr val="F5B83D"/>
                </a:solidFill>
                <a:latin typeface="Calibri"/>
              </a:rPr>
              <a:t>NUMBERS TO SAY</a:t>
            </a:r>
          </a:p>
          <a:p>
            <a:pPr algn="l">
              <a:spcAft>
                <a:spcPts val="500"/>
              </a:spcAft>
            </a:pPr>
            <a:r>
              <a:rPr sz="1300" b="0" i="0">
                <a:solidFill>
                  <a:srgbClr val="EEF3FA"/>
                </a:solidFill>
                <a:latin typeface="Calibri"/>
              </a:rPr>
              <a:t>•  m: average opinion, −1 to +1</a:t>
            </a:r>
          </a:p>
          <a:p>
            <a:pPr algn="l">
              <a:spcAft>
                <a:spcPts val="500"/>
              </a:spcAft>
            </a:pPr>
            <a:r>
              <a:rPr sz="1300" b="0" i="0">
                <a:solidFill>
                  <a:srgbClr val="EEF3FA"/>
                </a:solidFill>
                <a:latin typeface="Calibri"/>
              </a:rPr>
              <a:t>•  J: pull toward neighbours</a:t>
            </a:r>
          </a:p>
          <a:p>
            <a:pPr algn="l">
              <a:spcAft>
                <a:spcPts val="500"/>
              </a:spcAft>
            </a:pPr>
            <a:r>
              <a:rPr sz="1300" b="0" i="0">
                <a:solidFill>
                  <a:srgbClr val="EEF3FA"/>
                </a:solidFill>
                <a:latin typeface="Calibri"/>
              </a:rPr>
              <a:t>•  β: how firmly people follow the pull</a:t>
            </a:r>
          </a:p>
          <a:p>
            <a:pPr algn="l">
              <a:spcAft>
                <a:spcPts val="500"/>
              </a:spcAft>
            </a:pPr>
            <a:r>
              <a:rPr sz="1300" b="0" i="0">
                <a:solidFill>
                  <a:srgbClr val="EEF3FA"/>
                </a:solidFill>
                <a:latin typeface="Calibri"/>
              </a:rPr>
              <a:t>•  h: the push from media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agnifying-glass.png"/>
          <p:cNvPicPr>
            <a:picLocks noChangeAspect="1"/>
          </p:cNvPicPr>
          <p:nvPr/>
        </p:nvPicPr>
        <p:blipFill>
          <a:blip r:embed="rId2"/>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IDEA</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What the proposal assumed, and what testing the tools showed</a:t>
            </a:r>
          </a:p>
        </p:txBody>
      </p:sp>
      <p:sp>
        <p:nvSpPr>
          <p:cNvPr id="7" name="TextBox 6"/>
          <p:cNvSpPr txBox="1"/>
          <p:nvPr/>
        </p:nvSpPr>
        <p:spPr>
          <a:xfrm>
            <a:off x="685800" y="1325880"/>
            <a:ext cx="3429000" cy="320040"/>
          </a:xfrm>
          <a:prstGeom prst="rect">
            <a:avLst/>
          </a:prstGeom>
          <a:noFill/>
        </p:spPr>
        <p:txBody>
          <a:bodyPr wrap="square" anchor="t">
            <a:spAutoFit/>
          </a:bodyPr>
          <a:lstStyle/>
          <a:p>
            <a:pPr algn="l">
              <a:spcAft>
                <a:spcPts val="0"/>
              </a:spcAft>
            </a:pPr>
            <a:r>
              <a:rPr sz="1100" b="1" i="0">
                <a:solidFill>
                  <a:srgbClr val="9AABC4"/>
                </a:solidFill>
                <a:latin typeface="Calibri"/>
              </a:rPr>
              <a:t>THE PROPOSAL ASSUMED</a:t>
            </a:r>
          </a:p>
        </p:txBody>
      </p:sp>
      <p:sp>
        <p:nvSpPr>
          <p:cNvPr id="8" name="TextBox 7"/>
          <p:cNvSpPr txBox="1"/>
          <p:nvPr/>
        </p:nvSpPr>
        <p:spPr>
          <a:xfrm>
            <a:off x="4251960" y="1325880"/>
            <a:ext cx="3703320" cy="320040"/>
          </a:xfrm>
          <a:prstGeom prst="rect">
            <a:avLst/>
          </a:prstGeom>
          <a:noFill/>
        </p:spPr>
        <p:txBody>
          <a:bodyPr wrap="square" anchor="t">
            <a:spAutoFit/>
          </a:bodyPr>
          <a:lstStyle/>
          <a:p>
            <a:pPr algn="l">
              <a:spcAft>
                <a:spcPts val="0"/>
              </a:spcAft>
            </a:pPr>
            <a:r>
              <a:rPr sz="1100" b="1" i="0">
                <a:solidFill>
                  <a:srgbClr val="FF7A59"/>
                </a:solidFill>
                <a:latin typeface="Calibri"/>
              </a:rPr>
              <a:t>WHAT WE FOUND</a:t>
            </a:r>
          </a:p>
        </p:txBody>
      </p:sp>
      <p:sp>
        <p:nvSpPr>
          <p:cNvPr id="9" name="TextBox 8"/>
          <p:cNvSpPr txBox="1"/>
          <p:nvPr/>
        </p:nvSpPr>
        <p:spPr>
          <a:xfrm>
            <a:off x="8092440" y="1325880"/>
            <a:ext cx="3410712" cy="320040"/>
          </a:xfrm>
          <a:prstGeom prst="rect">
            <a:avLst/>
          </a:prstGeom>
          <a:noFill/>
        </p:spPr>
        <p:txBody>
          <a:bodyPr wrap="square" anchor="t">
            <a:spAutoFit/>
          </a:bodyPr>
          <a:lstStyle/>
          <a:p>
            <a:pPr algn="l">
              <a:spcAft>
                <a:spcPts val="0"/>
              </a:spcAft>
            </a:pPr>
            <a:r>
              <a:rPr sz="1100" b="1" i="0">
                <a:solidFill>
                  <a:srgbClr val="7CC4FF"/>
                </a:solidFill>
                <a:latin typeface="Calibri"/>
              </a:rPr>
              <a:t>WHAT WE DID</a:t>
            </a:r>
          </a:p>
        </p:txBody>
      </p:sp>
      <p:sp>
        <p:nvSpPr>
          <p:cNvPr id="10" name="Rounded Rectangle 9"/>
          <p:cNvSpPr/>
          <p:nvPr/>
        </p:nvSpPr>
        <p:spPr>
          <a:xfrm>
            <a:off x="685800" y="1691640"/>
            <a:ext cx="342900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9AABC4"/>
                </a:solidFill>
                <a:latin typeface="Calibri"/>
              </a:rPr>
              <a:t>We would measure the amygdala, the brain's alarm centre.</a:t>
            </a:r>
          </a:p>
        </p:txBody>
      </p:sp>
      <p:sp>
        <p:nvSpPr>
          <p:cNvPr id="11" name="Rounded Rectangle 10"/>
          <p:cNvSpPr/>
          <p:nvPr/>
        </p:nvSpPr>
        <p:spPr>
          <a:xfrm>
            <a:off x="4251960" y="1691640"/>
            <a:ext cx="370332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The model only predicts the brain's outer surface.</a:t>
            </a:r>
          </a:p>
        </p:txBody>
      </p:sp>
      <p:sp>
        <p:nvSpPr>
          <p:cNvPr id="12" name="Rounded Rectangle 11"/>
          <p:cNvSpPr/>
          <p:nvPr/>
        </p:nvSpPr>
        <p:spPr>
          <a:xfrm>
            <a:off x="8092440" y="1691640"/>
            <a:ext cx="3410712"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Used emotion-linked and reasoning-linked surface areas.</a:t>
            </a:r>
          </a:p>
        </p:txBody>
      </p:sp>
      <p:sp>
        <p:nvSpPr>
          <p:cNvPr id="13" name="Rounded Rectangle 12"/>
          <p:cNvSpPr/>
          <p:nvPr/>
        </p:nvSpPr>
        <p:spPr>
          <a:xfrm>
            <a:off x="685800" y="2423160"/>
            <a:ext cx="342900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9AABC4"/>
                </a:solidFill>
                <a:latin typeface="Calibri"/>
              </a:rPr>
              <a:t>The score would be a ratio of the two areas.</a:t>
            </a:r>
          </a:p>
        </p:txBody>
      </p:sp>
      <p:sp>
        <p:nvSpPr>
          <p:cNvPr id="14" name="Rounded Rectangle 13"/>
          <p:cNvSpPr/>
          <p:nvPr/>
        </p:nvSpPr>
        <p:spPr>
          <a:xfrm>
            <a:off x="4251960" y="2423160"/>
            <a:ext cx="370332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Averages sit near zero, so the ratio broke for 69 of 400 articles.</a:t>
            </a:r>
          </a:p>
        </p:txBody>
      </p:sp>
      <p:sp>
        <p:nvSpPr>
          <p:cNvPr id="15" name="Rounded Rectangle 14"/>
          <p:cNvSpPr/>
          <p:nvPr/>
        </p:nvSpPr>
        <p:spPr>
          <a:xfrm>
            <a:off x="8092440" y="2423160"/>
            <a:ext cx="3410712"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Used a simple difference: emotion minus reasoning.</a:t>
            </a:r>
          </a:p>
        </p:txBody>
      </p:sp>
      <p:sp>
        <p:nvSpPr>
          <p:cNvPr id="16" name="Rounded Rectangle 15"/>
          <p:cNvSpPr/>
          <p:nvPr/>
        </p:nvSpPr>
        <p:spPr>
          <a:xfrm>
            <a:off x="685800" y="3154680"/>
            <a:ext cx="342900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9AABC4"/>
                </a:solidFill>
                <a:latin typeface="Calibri"/>
              </a:rPr>
              <a:t>Outrage articles would stand out the most.</a:t>
            </a:r>
          </a:p>
        </p:txBody>
      </p:sp>
      <p:sp>
        <p:nvSpPr>
          <p:cNvPr id="17" name="Rounded Rectangle 16"/>
          <p:cNvSpPr/>
          <p:nvPr/>
        </p:nvSpPr>
        <p:spPr>
          <a:xfrm>
            <a:off x="4251960" y="3154680"/>
            <a:ext cx="370332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Outrage raised both areas by the same amount.</a:t>
            </a:r>
          </a:p>
        </p:txBody>
      </p:sp>
      <p:sp>
        <p:nvSpPr>
          <p:cNvPr id="18" name="Rounded Rectangle 17"/>
          <p:cNvSpPr/>
          <p:nvPr/>
        </p:nvSpPr>
        <p:spPr>
          <a:xfrm>
            <a:off x="8092440" y="3154680"/>
            <a:ext cx="3410712"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Reported it; fear is what stands out.</a:t>
            </a:r>
          </a:p>
        </p:txBody>
      </p:sp>
      <p:sp>
        <p:nvSpPr>
          <p:cNvPr id="19" name="Rounded Rectangle 18"/>
          <p:cNvSpPr/>
          <p:nvPr/>
        </p:nvSpPr>
        <p:spPr>
          <a:xfrm>
            <a:off x="685800" y="3886200"/>
            <a:ext cx="342900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9AABC4"/>
                </a:solidFill>
                <a:latin typeface="Calibri"/>
              </a:rPr>
              <a:t>We would measure α (alpha), the strength of media's push.</a:t>
            </a:r>
          </a:p>
        </p:txBody>
      </p:sp>
      <p:sp>
        <p:nvSpPr>
          <p:cNvPr id="20" name="Rounded Rectangle 19"/>
          <p:cNvSpPr/>
          <p:nvPr/>
        </p:nvSpPr>
        <p:spPr>
          <a:xfrm>
            <a:off x="4251960" y="3886200"/>
            <a:ext cx="370332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The data could not pin it down.</a:t>
            </a:r>
          </a:p>
        </p:txBody>
      </p:sp>
      <p:sp>
        <p:nvSpPr>
          <p:cNvPr id="21" name="Rounded Rectangle 20"/>
          <p:cNvSpPr/>
          <p:nvPr/>
        </p:nvSpPr>
        <p:spPr>
          <a:xfrm>
            <a:off x="8092440" y="3886200"/>
            <a:ext cx="3410712"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Worked out the minimum α instead.</a:t>
            </a:r>
          </a:p>
        </p:txBody>
      </p:sp>
      <p:sp>
        <p:nvSpPr>
          <p:cNvPr id="22" name="Rounded Rectangle 21"/>
          <p:cNvSpPr/>
          <p:nvPr/>
        </p:nvSpPr>
        <p:spPr>
          <a:xfrm>
            <a:off x="685800" y="4617720"/>
            <a:ext cx="342900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9AABC4"/>
                </a:solidFill>
                <a:latin typeface="Calibri"/>
              </a:rPr>
              <a:t>The score would detect manipulative articles.</a:t>
            </a:r>
          </a:p>
        </p:txBody>
      </p:sp>
      <p:sp>
        <p:nvSpPr>
          <p:cNvPr id="23" name="Rounded Rectangle 22"/>
          <p:cNvSpPr/>
          <p:nvPr/>
        </p:nvSpPr>
        <p:spPr>
          <a:xfrm>
            <a:off x="4251960" y="4617720"/>
            <a:ext cx="3703320"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Simple word counting did better.</a:t>
            </a:r>
          </a:p>
        </p:txBody>
      </p:sp>
      <p:sp>
        <p:nvSpPr>
          <p:cNvPr id="24" name="Rounded Rectangle 23"/>
          <p:cNvSpPr/>
          <p:nvPr/>
        </p:nvSpPr>
        <p:spPr>
          <a:xfrm>
            <a:off x="8092440" y="4617720"/>
            <a:ext cx="3410712" cy="64008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300" b="0" i="0">
                <a:solidFill>
                  <a:srgbClr val="EEF3FA"/>
                </a:solidFill>
                <a:latin typeface="Calibri"/>
              </a:rPr>
              <a:t>Presented it as a measurement, not a detector.</a:t>
            </a:r>
          </a:p>
        </p:txBody>
      </p:sp>
      <p:sp>
        <p:nvSpPr>
          <p:cNvPr id="25" name="TextBox 24"/>
          <p:cNvSpPr txBox="1"/>
          <p:nvPr/>
        </p:nvSpPr>
        <p:spPr>
          <a:xfrm>
            <a:off x="685800" y="5440680"/>
            <a:ext cx="10820095" cy="365760"/>
          </a:xfrm>
          <a:prstGeom prst="rect">
            <a:avLst/>
          </a:prstGeom>
          <a:noFill/>
        </p:spPr>
        <p:txBody>
          <a:bodyPr wrap="square" anchor="t">
            <a:spAutoFit/>
          </a:bodyPr>
          <a:lstStyle/>
          <a:p>
            <a:pPr algn="l">
              <a:spcAft>
                <a:spcPts val="0"/>
              </a:spcAft>
            </a:pPr>
            <a:r>
              <a:rPr sz="1300" b="0" i="0">
                <a:solidFill>
                  <a:srgbClr val="9AABC4"/>
                </a:solidFill>
                <a:latin typeface="Calibri"/>
              </a:rPr>
              <a:t>We also corrected two coefficients in the proposal's physics equation. All changes are in the approved amendment.</a:t>
            </a:r>
          </a:p>
        </p:txBody>
      </p:sp>
      <p:sp>
        <p:nvSpPr>
          <p:cNvPr id="26" name="TextBox 25"/>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IDEA</a:t>
            </a:r>
          </a:p>
        </p:txBody>
      </p:sp>
      <p:sp>
        <p:nvSpPr>
          <p:cNvPr id="27" name="Rectangle 26"/>
          <p:cNvSpPr/>
          <p:nvPr/>
        </p:nvSpPr>
        <p:spPr>
          <a:xfrm>
            <a:off x="4692243"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268315"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03</a:t>
            </a:r>
          </a:p>
        </p:txBody>
      </p:sp>
      <p:sp>
        <p:nvSpPr>
          <p:cNvPr id="33" name="Rectangle 32"/>
          <p:cNvSpPr/>
          <p:nvPr/>
        </p:nvSpPr>
        <p:spPr>
          <a:xfrm>
            <a:off x="685800" y="6967728"/>
            <a:ext cx="10820095"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7059168"/>
            <a:ext cx="10820095" cy="320040"/>
          </a:xfrm>
          <a:prstGeom prst="rect">
            <a:avLst/>
          </a:prstGeom>
          <a:noFill/>
        </p:spPr>
        <p:txBody>
          <a:bodyPr wrap="square" anchor="t">
            <a:spAutoFit/>
          </a:bodyPr>
          <a:lstStyle/>
          <a:p>
            <a:pPr algn="l">
              <a:spcAft>
                <a:spcPts val="0"/>
              </a:spcAft>
            </a:pPr>
            <a:r>
              <a:rPr sz="1200" b="1">
                <a:solidFill>
                  <a:srgbClr val="FF7A59"/>
                </a:solidFill>
                <a:latin typeface="Calibri"/>
              </a:rPr>
              <a:t>SCRIPT</a:t>
            </a:r>
            <a:r>
              <a:rPr sz="1200" b="0">
                <a:solidFill>
                  <a:srgbClr val="9AABC4"/>
                </a:solidFill>
                <a:latin typeface="Calibri"/>
              </a:rPr>
              <a:t>   ·   slide 03   ·   about 1.5 min</a:t>
            </a:r>
          </a:p>
        </p:txBody>
      </p:sp>
      <p:sp>
        <p:nvSpPr>
          <p:cNvPr id="35" name="Rounded Rectangle 34"/>
          <p:cNvSpPr/>
          <p:nvPr/>
        </p:nvSpPr>
        <p:spPr>
          <a:xfrm>
            <a:off x="685800" y="7406640"/>
            <a:ext cx="7818120" cy="219455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09728"/>
          <a:lstStyle/>
          <a:p>
            <a:pPr algn="l">
              <a:spcAft>
                <a:spcPts val="0"/>
              </a:spcAft>
            </a:pPr>
            <a:r>
              <a:rPr sz="1500" b="0" i="0">
                <a:solidFill>
                  <a:srgbClr val="EEF3FA"/>
                </a:solidFill>
                <a:latin typeface="Calibri"/>
              </a:rPr>
              <a:t>Before the results, I want to be upfront about what changed from the proposal. Five assumptions turned out differently once we tested the tools. The biggest: we planned to measure the amygdala, the brain's alarm centre, but the model only predicts the brain's outer surface. So we used emotion-linked and reasoning-linked areas on the surface instead. All of this is in the amendment you approved.</a:t>
            </a:r>
          </a:p>
        </p:txBody>
      </p:sp>
      <p:sp>
        <p:nvSpPr>
          <p:cNvPr id="36" name="Rounded Rectangle 35"/>
          <p:cNvSpPr/>
          <p:nvPr/>
        </p:nvSpPr>
        <p:spPr>
          <a:xfrm>
            <a:off x="8641080" y="7406640"/>
            <a:ext cx="2864815" cy="2194559"/>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100" b="1" i="0">
                <a:solidFill>
                  <a:srgbClr val="F5B83D"/>
                </a:solidFill>
                <a:latin typeface="Calibri"/>
              </a:rPr>
              <a:t>NUMBERS TO SAY</a:t>
            </a:r>
          </a:p>
          <a:p>
            <a:pPr algn="l">
              <a:spcAft>
                <a:spcPts val="500"/>
              </a:spcAft>
            </a:pPr>
            <a:r>
              <a:rPr sz="1300" b="0" i="0">
                <a:solidFill>
                  <a:srgbClr val="EEF3FA"/>
                </a:solidFill>
                <a:latin typeface="Calibri"/>
              </a:rPr>
              <a:t>•  5 changes, all in the approved amendment</a:t>
            </a:r>
          </a:p>
          <a:p>
            <a:pPr algn="l">
              <a:spcAft>
                <a:spcPts val="500"/>
              </a:spcAft>
            </a:pPr>
            <a:r>
              <a:rPr sz="1300" b="0" i="0">
                <a:solidFill>
                  <a:srgbClr val="EEF3FA"/>
                </a:solidFill>
                <a:latin typeface="Calibri"/>
              </a:rPr>
              <a:t>•  Ratio broke for 69 of 400 articles</a:t>
            </a:r>
          </a:p>
          <a:p>
            <a:pPr algn="l">
              <a:spcAft>
                <a:spcPts val="500"/>
              </a:spcAft>
            </a:pPr>
            <a:r>
              <a:rPr sz="1300" b="0" i="0">
                <a:solidFill>
                  <a:srgbClr val="EEF3FA"/>
                </a:solidFill>
                <a:latin typeface="Calibri"/>
              </a:rPr>
              <a:t>•  Two physics coefficients corrected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ooks.png"/>
          <p:cNvPicPr>
            <a:picLocks noChangeAspect="1"/>
          </p:cNvPicPr>
          <p:nvPr/>
        </p:nvPicPr>
        <p:blipFill>
          <a:blip r:embed="rId2"/>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The tools we used, and why each one</a:t>
            </a:r>
          </a:p>
        </p:txBody>
      </p:sp>
      <p:sp>
        <p:nvSpPr>
          <p:cNvPr id="7" name="Rounded Rectangle 6"/>
          <p:cNvSpPr/>
          <p:nvPr/>
        </p:nvSpPr>
        <p:spPr>
          <a:xfrm>
            <a:off x="685800" y="1417320"/>
            <a:ext cx="3429000" cy="16916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1800" b="1" i="0">
                <a:solidFill>
                  <a:srgbClr val="7CC4FF"/>
                </a:solidFill>
                <a:latin typeface="Calibri"/>
              </a:rPr>
              <a:t>TRIBE v2</a:t>
            </a:r>
          </a:p>
          <a:p>
            <a:pPr algn="l">
              <a:spcAft>
                <a:spcPts val="600"/>
              </a:spcAft>
            </a:pPr>
            <a:r>
              <a:rPr sz="1200" b="0" i="0">
                <a:solidFill>
                  <a:srgbClr val="9AABC4"/>
                </a:solidFill>
                <a:latin typeface="Calibri"/>
              </a:rPr>
              <a:t>Meta research, 2025</a:t>
            </a:r>
          </a:p>
          <a:p>
            <a:pPr algn="l">
              <a:spcAft>
                <a:spcPts val="0"/>
              </a:spcAft>
            </a:pPr>
            <a:r>
              <a:rPr sz="1300" b="0" i="0">
                <a:solidFill>
                  <a:srgbClr val="EEF3FA"/>
                </a:solidFill>
                <a:latin typeface="Calibri"/>
              </a:rPr>
              <a:t>An AI model that predicts brain activity from text, sound and video. It learned from brain scans of adult volunteers watching TV and films.</a:t>
            </a:r>
          </a:p>
        </p:txBody>
      </p:sp>
      <p:sp>
        <p:nvSpPr>
          <p:cNvPr id="8" name="Rounded Rectangle 7"/>
          <p:cNvSpPr/>
          <p:nvPr/>
        </p:nvSpPr>
        <p:spPr>
          <a:xfrm>
            <a:off x="4379976" y="1417320"/>
            <a:ext cx="3429000" cy="169164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1800" b="1" i="0">
                <a:solidFill>
                  <a:srgbClr val="7CC4FF"/>
                </a:solidFill>
                <a:latin typeface="Calibri"/>
              </a:rPr>
              <a:t>Text-to-speech</a:t>
            </a:r>
          </a:p>
          <a:p>
            <a:pPr algn="l">
              <a:spcAft>
                <a:spcPts val="600"/>
              </a:spcAft>
            </a:pPr>
            <a:r>
              <a:rPr sz="1200" b="0" i="0">
                <a:solidFill>
                  <a:srgbClr val="9AABC4"/>
                </a:solidFill>
                <a:latin typeface="Calibri"/>
              </a:rPr>
              <a:t>reads each article aloud</a:t>
            </a:r>
          </a:p>
          <a:p>
            <a:pPr algn="l">
              <a:spcAft>
                <a:spcPts val="0"/>
              </a:spcAft>
            </a:pPr>
            <a:r>
              <a:rPr sz="1300" b="0" i="0">
                <a:solidFill>
                  <a:srgbClr val="EEF3FA"/>
                </a:solidFill>
                <a:latin typeface="Calibri"/>
              </a:rPr>
              <a:t>The model was built on people listening, not reading, so every article is spoken first.</a:t>
            </a:r>
          </a:p>
        </p:txBody>
      </p:sp>
      <p:sp>
        <p:nvSpPr>
          <p:cNvPr id="9" name="Rounded Rectangle 8"/>
          <p:cNvSpPr/>
          <p:nvPr/>
        </p:nvSpPr>
        <p:spPr>
          <a:xfrm>
            <a:off x="8074152" y="1417320"/>
            <a:ext cx="3429000" cy="169164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1800" b="1" i="0">
                <a:solidFill>
                  <a:srgbClr val="7CC4FF"/>
                </a:solidFill>
                <a:latin typeface="Calibri"/>
              </a:rPr>
              <a:t>Word timing tool</a:t>
            </a:r>
          </a:p>
          <a:p>
            <a:pPr algn="l">
              <a:spcAft>
                <a:spcPts val="600"/>
              </a:spcAft>
            </a:pPr>
            <a:r>
              <a:rPr sz="1200" b="0" i="0">
                <a:solidFill>
                  <a:srgbClr val="9AABC4"/>
                </a:solidFill>
                <a:latin typeface="Calibri"/>
              </a:rPr>
              <a:t>forced alignment</a:t>
            </a:r>
          </a:p>
          <a:p>
            <a:pPr algn="l">
              <a:spcAft>
                <a:spcPts val="0"/>
              </a:spcAft>
            </a:pPr>
            <a:r>
              <a:rPr sz="1300" b="0" i="0">
                <a:solidFill>
                  <a:srgbClr val="EEF3FA"/>
                </a:solidFill>
                <a:latin typeface="Calibri"/>
              </a:rPr>
              <a:t>Marks the moment each word is spoken, so the words and the sound line up for the model.</a:t>
            </a:r>
          </a:p>
        </p:txBody>
      </p:sp>
      <p:sp>
        <p:nvSpPr>
          <p:cNvPr id="10" name="Rounded Rectangle 9"/>
          <p:cNvSpPr/>
          <p:nvPr/>
        </p:nvSpPr>
        <p:spPr>
          <a:xfrm>
            <a:off x="685800" y="3291840"/>
            <a:ext cx="3429000" cy="169164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1800" b="1" i="0">
                <a:solidFill>
                  <a:srgbClr val="7CC4FF"/>
                </a:solidFill>
                <a:latin typeface="Calibri"/>
              </a:rPr>
              <a:t>Brain area map</a:t>
            </a:r>
          </a:p>
          <a:p>
            <a:pPr algn="l">
              <a:spcAft>
                <a:spcPts val="600"/>
              </a:spcAft>
            </a:pPr>
            <a:r>
              <a:rPr sz="1200" b="0" i="0">
                <a:solidFill>
                  <a:srgbClr val="9AABC4"/>
                </a:solidFill>
                <a:latin typeface="Calibri"/>
              </a:rPr>
              <a:t>Glasser et al., 2016</a:t>
            </a:r>
          </a:p>
          <a:p>
            <a:pPr algn="l">
              <a:spcAft>
                <a:spcPts val="0"/>
              </a:spcAft>
            </a:pPr>
            <a:r>
              <a:rPr sz="1300" b="0" i="0">
                <a:solidFill>
                  <a:srgbClr val="EEF3FA"/>
                </a:solidFill>
                <a:latin typeface="Calibri"/>
              </a:rPr>
              <a:t>A standard map that names areas of the brain's surface. We used it to pick emotion and reasoning areas.</a:t>
            </a:r>
          </a:p>
        </p:txBody>
      </p:sp>
      <p:sp>
        <p:nvSpPr>
          <p:cNvPr id="11" name="Rounded Rectangle 10"/>
          <p:cNvSpPr/>
          <p:nvPr/>
        </p:nvSpPr>
        <p:spPr>
          <a:xfrm>
            <a:off x="4379976" y="3291840"/>
            <a:ext cx="3429000" cy="169164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1800" b="1" i="0">
                <a:solidFill>
                  <a:srgbClr val="7CC4FF"/>
                </a:solidFill>
                <a:latin typeface="Calibri"/>
              </a:rPr>
              <a:t>400 public articles</a:t>
            </a:r>
          </a:p>
          <a:p>
            <a:pPr algn="l">
              <a:spcAft>
                <a:spcPts val="600"/>
              </a:spcAft>
            </a:pPr>
            <a:r>
              <a:rPr sz="1200" b="0" i="0">
                <a:solidFill>
                  <a:srgbClr val="9AABC4"/>
                </a:solidFill>
                <a:latin typeface="Calibri"/>
              </a:rPr>
              <a:t>four published collections</a:t>
            </a:r>
          </a:p>
          <a:p>
            <a:pPr algn="l">
              <a:spcAft>
                <a:spcPts val="0"/>
              </a:spcAft>
            </a:pPr>
            <a:r>
              <a:rPr sz="1300" b="0" i="0">
                <a:solidFill>
                  <a:srgbClr val="EEF3FA"/>
                </a:solidFill>
                <a:latin typeface="Calibri"/>
              </a:rPr>
              <a:t>Anyone can download the same articles and check every number.</a:t>
            </a:r>
          </a:p>
        </p:txBody>
      </p:sp>
      <p:sp>
        <p:nvSpPr>
          <p:cNvPr id="12" name="Rounded Rectangle 11"/>
          <p:cNvSpPr/>
          <p:nvPr/>
        </p:nvSpPr>
        <p:spPr>
          <a:xfrm>
            <a:off x="8074152" y="3291840"/>
            <a:ext cx="3429000" cy="169164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1800" b="1" i="0">
                <a:solidFill>
                  <a:srgbClr val="7CC4FF"/>
                </a:solidFill>
                <a:latin typeface="Calibri"/>
              </a:rPr>
              <a:t>Cloud GPU + Python</a:t>
            </a:r>
          </a:p>
          <a:p>
            <a:pPr algn="l">
              <a:spcAft>
                <a:spcPts val="600"/>
              </a:spcAft>
            </a:pPr>
            <a:r>
              <a:rPr sz="1200" b="0" i="0">
                <a:solidFill>
                  <a:srgbClr val="9AABC4"/>
                </a:solidFill>
                <a:latin typeface="Calibri"/>
              </a:rPr>
              <a:t>free Kaggle Tesla P100</a:t>
            </a:r>
          </a:p>
          <a:p>
            <a:pPr algn="l">
              <a:spcAft>
                <a:spcPts val="0"/>
              </a:spcAft>
            </a:pPr>
            <a:r>
              <a:rPr sz="1300" b="0" i="0">
                <a:solidFill>
                  <a:srgbClr val="EEF3FA"/>
                </a:solidFill>
                <a:latin typeface="Calibri"/>
              </a:rPr>
              <a:t>About 70 seconds per article. All code and results are public on GitHub.</a:t>
            </a:r>
          </a:p>
        </p:txBody>
      </p:sp>
      <p:sp>
        <p:nvSpPr>
          <p:cNvPr id="13" name="Rounded Rectangle 12"/>
          <p:cNvSpPr/>
          <p:nvPr/>
        </p:nvSpPr>
        <p:spPr>
          <a:xfrm>
            <a:off x="685800" y="5166360"/>
            <a:ext cx="10820095" cy="5486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F7A59"/>
                </a:solidFill>
                <a:latin typeface="Calibri"/>
              </a:rPr>
              <a:t>No person was scanned. </a:t>
            </a:r>
            <a:r>
              <a:rPr sz="1600" b="0">
                <a:solidFill>
                  <a:srgbClr val="EEF3FA"/>
                </a:solidFill>
                <a:latin typeface="Calibri"/>
              </a:rPr>
              <a:t>Every brain value in this work is a prediction from the model.</a:t>
            </a:r>
          </a:p>
        </p:txBody>
      </p:sp>
      <p:sp>
        <p:nvSpPr>
          <p:cNvPr id="14" name="TextBox 13"/>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15" name="Rectangle 14"/>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04</a:t>
            </a:r>
          </a:p>
        </p:txBody>
      </p:sp>
      <p:sp>
        <p:nvSpPr>
          <p:cNvPr id="21" name="Rectangle 20"/>
          <p:cNvSpPr/>
          <p:nvPr/>
        </p:nvSpPr>
        <p:spPr>
          <a:xfrm>
            <a:off x="685800" y="6967728"/>
            <a:ext cx="10820095"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85800" y="7059168"/>
            <a:ext cx="10820095" cy="320040"/>
          </a:xfrm>
          <a:prstGeom prst="rect">
            <a:avLst/>
          </a:prstGeom>
          <a:noFill/>
        </p:spPr>
        <p:txBody>
          <a:bodyPr wrap="square" anchor="t">
            <a:spAutoFit/>
          </a:bodyPr>
          <a:lstStyle/>
          <a:p>
            <a:pPr algn="l">
              <a:spcAft>
                <a:spcPts val="0"/>
              </a:spcAft>
            </a:pPr>
            <a:r>
              <a:rPr sz="1200" b="1">
                <a:solidFill>
                  <a:srgbClr val="FF7A59"/>
                </a:solidFill>
                <a:latin typeface="Calibri"/>
              </a:rPr>
              <a:t>SCRIPT</a:t>
            </a:r>
            <a:r>
              <a:rPr sz="1200" b="0">
                <a:solidFill>
                  <a:srgbClr val="9AABC4"/>
                </a:solidFill>
                <a:latin typeface="Calibri"/>
              </a:rPr>
              <a:t>   ·   slide 04   ·   about 1 min</a:t>
            </a:r>
          </a:p>
        </p:txBody>
      </p:sp>
      <p:sp>
        <p:nvSpPr>
          <p:cNvPr id="23" name="Rounded Rectangle 22"/>
          <p:cNvSpPr/>
          <p:nvPr/>
        </p:nvSpPr>
        <p:spPr>
          <a:xfrm>
            <a:off x="685800" y="7406640"/>
            <a:ext cx="7818120" cy="219455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09728"/>
          <a:lstStyle/>
          <a:p>
            <a:pPr algn="l">
              <a:spcAft>
                <a:spcPts val="0"/>
              </a:spcAft>
            </a:pPr>
            <a:r>
              <a:rPr sz="1500" b="0" i="0">
                <a:solidFill>
                  <a:srgbClr val="EEF3FA"/>
                </a:solidFill>
                <a:latin typeface="Calibri"/>
              </a:rPr>
              <a:t>These are the tools. The main one is TRIBE v2, published by Meta's research lab. It learned from brain scans of adult volunteers watching TV and films, and it predicts how a typical brain would respond to new content. Because it was built on people listening, we read each article aloud first. Nobody was scanned in this project. Every brain value you'll see is a prediction.</a:t>
            </a:r>
          </a:p>
        </p:txBody>
      </p:sp>
      <p:sp>
        <p:nvSpPr>
          <p:cNvPr id="24" name="Rounded Rectangle 23"/>
          <p:cNvSpPr/>
          <p:nvPr/>
        </p:nvSpPr>
        <p:spPr>
          <a:xfrm>
            <a:off x="8641080" y="7406640"/>
            <a:ext cx="2864815" cy="2194559"/>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100" b="1" i="0">
                <a:solidFill>
                  <a:srgbClr val="F5B83D"/>
                </a:solidFill>
                <a:latin typeface="Calibri"/>
              </a:rPr>
              <a:t>NUMBERS TO SAY</a:t>
            </a:r>
          </a:p>
          <a:p>
            <a:pPr algn="l">
              <a:spcAft>
                <a:spcPts val="500"/>
              </a:spcAft>
            </a:pPr>
            <a:r>
              <a:rPr sz="1300" b="0" i="0">
                <a:solidFill>
                  <a:srgbClr val="EEF3FA"/>
                </a:solidFill>
                <a:latin typeface="Calibri"/>
              </a:rPr>
              <a:t>•  TRIBE v2: Meta, 2025</a:t>
            </a:r>
          </a:p>
          <a:p>
            <a:pPr algn="l">
              <a:spcAft>
                <a:spcPts val="500"/>
              </a:spcAft>
            </a:pPr>
            <a:r>
              <a:rPr sz="1300" b="0" i="0">
                <a:solidFill>
                  <a:srgbClr val="EEF3FA"/>
                </a:solidFill>
                <a:latin typeface="Calibri"/>
              </a:rPr>
              <a:t>•  About 70 seconds per article on a P100</a:t>
            </a:r>
          </a:p>
          <a:p>
            <a:pPr algn="l">
              <a:spcAft>
                <a:spcPts val="500"/>
              </a:spcAft>
            </a:pPr>
            <a:r>
              <a:rPr sz="1300" b="0" i="0">
                <a:solidFill>
                  <a:srgbClr val="EEF3FA"/>
                </a:solidFill>
                <a:latin typeface="Calibri"/>
              </a:rPr>
              <a:t>•  No person was scanned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rain.png"/>
          <p:cNvPicPr>
            <a:picLocks noChangeAspect="1"/>
          </p:cNvPicPr>
          <p:nvPr/>
        </p:nvPicPr>
        <p:blipFill>
          <a:blip r:embed="rId2"/>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How one article becomes one number</a:t>
            </a:r>
          </a:p>
        </p:txBody>
      </p:sp>
      <p:sp>
        <p:nvSpPr>
          <p:cNvPr id="7" name="Rounded Rectangle 6"/>
          <p:cNvSpPr/>
          <p:nvPr/>
        </p:nvSpPr>
        <p:spPr>
          <a:xfrm>
            <a:off x="685800" y="1371600"/>
            <a:ext cx="1938528" cy="9601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200"/>
              </a:spcAft>
            </a:pPr>
            <a:r>
              <a:rPr sz="1500" b="1">
                <a:solidFill>
                  <a:srgbClr val="FF7A59"/>
                </a:solidFill>
                <a:latin typeface="Calibri"/>
              </a:rPr>
              <a:t>1  </a:t>
            </a:r>
            <a:r>
              <a:rPr sz="1500" b="1">
                <a:solidFill>
                  <a:srgbClr val="EEF3FA"/>
                </a:solidFill>
                <a:latin typeface="Calibri"/>
              </a:rPr>
              <a:t>Article</a:t>
            </a:r>
          </a:p>
          <a:p>
            <a:pPr algn="ctr">
              <a:spcAft>
                <a:spcPts val="0"/>
              </a:spcAft>
            </a:pPr>
            <a:r>
              <a:rPr sz="1200" b="0" i="0">
                <a:solidFill>
                  <a:srgbClr val="9AABC4"/>
                </a:solidFill>
                <a:latin typeface="Calibri"/>
              </a:rPr>
              <a:t>about 164 words</a:t>
            </a:r>
          </a:p>
        </p:txBody>
      </p:sp>
      <p:sp>
        <p:nvSpPr>
          <p:cNvPr id="8" name="Right Arrow 7"/>
          <p:cNvSpPr/>
          <p:nvPr/>
        </p:nvSpPr>
        <p:spPr>
          <a:xfrm>
            <a:off x="2670048" y="1783080"/>
            <a:ext cx="192024" cy="137160"/>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2907792" y="1371600"/>
            <a:ext cx="1938528" cy="9601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200"/>
              </a:spcAft>
            </a:pPr>
            <a:r>
              <a:rPr sz="1500" b="1">
                <a:solidFill>
                  <a:srgbClr val="FF7A59"/>
                </a:solidFill>
                <a:latin typeface="Calibri"/>
              </a:rPr>
              <a:t>2  </a:t>
            </a:r>
            <a:r>
              <a:rPr sz="1500" b="1">
                <a:solidFill>
                  <a:srgbClr val="EEF3FA"/>
                </a:solidFill>
                <a:latin typeface="Calibri"/>
              </a:rPr>
              <a:t>Spoken aloud</a:t>
            </a:r>
          </a:p>
          <a:p>
            <a:pPr algn="ctr">
              <a:spcAft>
                <a:spcPts val="0"/>
              </a:spcAft>
            </a:pPr>
            <a:r>
              <a:rPr sz="1200" b="0" i="0">
                <a:solidFill>
                  <a:srgbClr val="9AABC4"/>
                </a:solidFill>
                <a:latin typeface="Calibri"/>
              </a:rPr>
              <a:t>text-to-speech</a:t>
            </a:r>
          </a:p>
        </p:txBody>
      </p:sp>
      <p:sp>
        <p:nvSpPr>
          <p:cNvPr id="10" name="Right Arrow 9"/>
          <p:cNvSpPr/>
          <p:nvPr/>
        </p:nvSpPr>
        <p:spPr>
          <a:xfrm>
            <a:off x="4892040" y="1783080"/>
            <a:ext cx="192024" cy="137160"/>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129784" y="1371600"/>
            <a:ext cx="1938528" cy="9601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200"/>
              </a:spcAft>
            </a:pPr>
            <a:r>
              <a:rPr sz="1500" b="1">
                <a:solidFill>
                  <a:srgbClr val="FF7A59"/>
                </a:solidFill>
                <a:latin typeface="Calibri"/>
              </a:rPr>
              <a:t>3  </a:t>
            </a:r>
            <a:r>
              <a:rPr sz="1500" b="1">
                <a:solidFill>
                  <a:srgbClr val="EEF3FA"/>
                </a:solidFill>
                <a:latin typeface="Calibri"/>
              </a:rPr>
              <a:t>Word timings</a:t>
            </a:r>
          </a:p>
          <a:p>
            <a:pPr algn="ctr">
              <a:spcAft>
                <a:spcPts val="0"/>
              </a:spcAft>
            </a:pPr>
            <a:r>
              <a:rPr sz="1200" b="0" i="0">
                <a:solidFill>
                  <a:srgbClr val="9AABC4"/>
                </a:solidFill>
                <a:latin typeface="Calibri"/>
              </a:rPr>
              <a:t>when each word is said</a:t>
            </a:r>
          </a:p>
        </p:txBody>
      </p:sp>
      <p:sp>
        <p:nvSpPr>
          <p:cNvPr id="12" name="Right Arrow 11"/>
          <p:cNvSpPr/>
          <p:nvPr/>
        </p:nvSpPr>
        <p:spPr>
          <a:xfrm>
            <a:off x="7114032" y="1783080"/>
            <a:ext cx="192024" cy="137160"/>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351776" y="1371600"/>
            <a:ext cx="1938528" cy="9601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200"/>
              </a:spcAft>
            </a:pPr>
            <a:r>
              <a:rPr sz="1500" b="1">
                <a:solidFill>
                  <a:srgbClr val="FF7A59"/>
                </a:solidFill>
                <a:latin typeface="Calibri"/>
              </a:rPr>
              <a:t>4  </a:t>
            </a:r>
            <a:r>
              <a:rPr sz="1500" b="1">
                <a:solidFill>
                  <a:srgbClr val="EEF3FA"/>
                </a:solidFill>
                <a:latin typeface="Calibri"/>
              </a:rPr>
              <a:t>Brain prediction</a:t>
            </a:r>
          </a:p>
          <a:p>
            <a:pPr algn="ctr">
              <a:spcAft>
                <a:spcPts val="0"/>
              </a:spcAft>
            </a:pPr>
            <a:r>
              <a:rPr sz="1200" b="0" i="0">
                <a:solidFill>
                  <a:srgbClr val="9AABC4"/>
                </a:solidFill>
                <a:latin typeface="Calibri"/>
              </a:rPr>
              <a:t>20,484 points</a:t>
            </a:r>
          </a:p>
        </p:txBody>
      </p:sp>
      <p:sp>
        <p:nvSpPr>
          <p:cNvPr id="14" name="Right Arrow 13"/>
          <p:cNvSpPr/>
          <p:nvPr/>
        </p:nvSpPr>
        <p:spPr>
          <a:xfrm>
            <a:off x="9336024" y="1783080"/>
            <a:ext cx="192024" cy="137160"/>
          </a:xfrm>
          <a:prstGeom prst="rightArrow">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573768" y="1371600"/>
            <a:ext cx="1938528" cy="9601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200"/>
              </a:spcAft>
            </a:pPr>
            <a:r>
              <a:rPr sz="1500" b="1">
                <a:solidFill>
                  <a:srgbClr val="FF7A59"/>
                </a:solidFill>
                <a:latin typeface="Calibri"/>
              </a:rPr>
              <a:t>5  </a:t>
            </a:r>
            <a:r>
              <a:rPr sz="1500" b="1">
                <a:solidFill>
                  <a:srgbClr val="EEF3FA"/>
                </a:solidFill>
                <a:latin typeface="Calibri"/>
              </a:rPr>
              <a:t>Two averages</a:t>
            </a:r>
          </a:p>
          <a:p>
            <a:pPr algn="ctr">
              <a:spcAft>
                <a:spcPts val="0"/>
              </a:spcAft>
            </a:pPr>
            <a:r>
              <a:rPr sz="1200" b="0" i="0">
                <a:solidFill>
                  <a:srgbClr val="9AABC4"/>
                </a:solidFill>
                <a:latin typeface="Calibri"/>
              </a:rPr>
              <a:t>emotion and reasoning</a:t>
            </a:r>
          </a:p>
        </p:txBody>
      </p:sp>
      <p:sp>
        <p:nvSpPr>
          <p:cNvPr id="16" name="Rounded Rectangle 15"/>
          <p:cNvSpPr/>
          <p:nvPr/>
        </p:nvSpPr>
        <p:spPr>
          <a:xfrm>
            <a:off x="685800" y="2633472"/>
            <a:ext cx="5614416" cy="2647187"/>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1_roi_definition.png"/>
          <p:cNvPicPr>
            <a:picLocks noChangeAspect="1"/>
          </p:cNvPicPr>
          <p:nvPr/>
        </p:nvPicPr>
        <p:blipFill>
          <a:blip r:embed="rId3"/>
          <a:stretch>
            <a:fillRect/>
          </a:stretch>
        </p:blipFill>
        <p:spPr>
          <a:xfrm>
            <a:off x="795528" y="2743200"/>
            <a:ext cx="5394960" cy="2427732"/>
          </a:xfrm>
          <a:prstGeom prst="rect">
            <a:avLst/>
          </a:prstGeom>
        </p:spPr>
      </p:pic>
      <p:sp>
        <p:nvSpPr>
          <p:cNvPr id="18" name="TextBox 17"/>
          <p:cNvSpPr txBox="1"/>
          <p:nvPr/>
        </p:nvSpPr>
        <p:spPr>
          <a:xfrm>
            <a:off x="685800" y="5303520"/>
            <a:ext cx="5669280" cy="457200"/>
          </a:xfrm>
          <a:prstGeom prst="rect">
            <a:avLst/>
          </a:prstGeom>
          <a:noFill/>
        </p:spPr>
        <p:txBody>
          <a:bodyPr wrap="square" anchor="t">
            <a:spAutoFit/>
          </a:bodyPr>
          <a:lstStyle/>
          <a:p>
            <a:pPr algn="l">
              <a:spcAft>
                <a:spcPts val="0"/>
              </a:spcAft>
            </a:pPr>
            <a:r>
              <a:rPr sz="1300" b="0" i="0">
                <a:solidFill>
                  <a:srgbClr val="9AABC4"/>
                </a:solidFill>
                <a:latin typeface="Calibri"/>
              </a:rPr>
              <a:t>Orange: 1,030 emotion-linked points. Blue: 851 reasoning-linked points.</a:t>
            </a:r>
          </a:p>
        </p:txBody>
      </p:sp>
      <p:sp>
        <p:nvSpPr>
          <p:cNvPr id="19" name="Rounded Rectangle 18"/>
          <p:cNvSpPr/>
          <p:nvPr/>
        </p:nvSpPr>
        <p:spPr>
          <a:xfrm>
            <a:off x="6720840" y="2697480"/>
            <a:ext cx="4782312" cy="29260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sp>
        <p:nvSpPr>
          <p:cNvPr id="20" name="TextBox 19"/>
          <p:cNvSpPr txBox="1"/>
          <p:nvPr/>
        </p:nvSpPr>
        <p:spPr>
          <a:xfrm>
            <a:off x="6922008" y="2807208"/>
            <a:ext cx="4389120" cy="320040"/>
          </a:xfrm>
          <a:prstGeom prst="rect">
            <a:avLst/>
          </a:prstGeom>
          <a:noFill/>
        </p:spPr>
        <p:txBody>
          <a:bodyPr wrap="square" anchor="t">
            <a:spAutoFit/>
          </a:bodyPr>
          <a:lstStyle/>
          <a:p>
            <a:pPr algn="l">
              <a:spcAft>
                <a:spcPts val="0"/>
              </a:spcAft>
            </a:pPr>
            <a:r>
              <a:rPr sz="1200" b="1" i="0">
                <a:solidFill>
                  <a:srgbClr val="9AABC4"/>
                </a:solidFill>
                <a:latin typeface="Calibri"/>
              </a:rPr>
              <a:t>THE SCORE, X</a:t>
            </a:r>
          </a:p>
        </p:txBody>
      </p:sp>
      <p:pic>
        <p:nvPicPr>
          <p:cNvPr id="21" name="Picture 20" descr="1a1708a62b82e21d.png"/>
          <p:cNvPicPr>
            <a:picLocks noChangeAspect="1"/>
          </p:cNvPicPr>
          <p:nvPr/>
        </p:nvPicPr>
        <p:blipFill>
          <a:blip r:embed="rId4"/>
          <a:stretch>
            <a:fillRect/>
          </a:stretch>
        </p:blipFill>
        <p:spPr>
          <a:xfrm>
            <a:off x="6922008" y="3127248"/>
            <a:ext cx="3091586" cy="395020"/>
          </a:xfrm>
          <a:prstGeom prst="rect">
            <a:avLst/>
          </a:prstGeom>
        </p:spPr>
      </p:pic>
      <p:sp>
        <p:nvSpPr>
          <p:cNvPr id="22" name="TextBox 21"/>
          <p:cNvSpPr txBox="1"/>
          <p:nvPr/>
        </p:nvSpPr>
        <p:spPr>
          <a:xfrm>
            <a:off x="6922008" y="3703320"/>
            <a:ext cx="4389120" cy="1828800"/>
          </a:xfrm>
          <a:prstGeom prst="rect">
            <a:avLst/>
          </a:prstGeom>
          <a:noFill/>
        </p:spPr>
        <p:txBody>
          <a:bodyPr wrap="square" anchor="t">
            <a:spAutoFit/>
          </a:bodyPr>
          <a:lstStyle/>
          <a:p>
            <a:pPr algn="l">
              <a:spcAft>
                <a:spcPts val="600"/>
              </a:spcAft>
            </a:pPr>
            <a:r>
              <a:rPr sz="1400" b="1">
                <a:solidFill>
                  <a:srgbClr val="7CC4FF"/>
                </a:solidFill>
                <a:latin typeface="Calibri"/>
              </a:rPr>
              <a:t>Ā </a:t>
            </a:r>
            <a:r>
              <a:rPr sz="1400" b="0">
                <a:solidFill>
                  <a:srgbClr val="EEF3FA"/>
                </a:solidFill>
                <a:latin typeface="Calibri"/>
              </a:rPr>
              <a:t>= average predicted activity over that set of points.</a:t>
            </a:r>
          </a:p>
          <a:p>
            <a:pPr algn="l">
              <a:spcAft>
                <a:spcPts val="400"/>
              </a:spcAft>
            </a:pPr>
            <a:r>
              <a:rPr sz="1500" b="1">
                <a:solidFill>
                  <a:srgbClr val="FF7A59"/>
                </a:solidFill>
                <a:latin typeface="Calibri"/>
              </a:rPr>
              <a:t>Above 0: </a:t>
            </a:r>
            <a:r>
              <a:rPr sz="1500" b="0">
                <a:solidFill>
                  <a:srgbClr val="EEF3FA"/>
                </a:solidFill>
                <a:latin typeface="Calibri"/>
              </a:rPr>
              <a:t>emotion areas predicted more active.</a:t>
            </a:r>
          </a:p>
          <a:p>
            <a:pPr algn="l">
              <a:spcAft>
                <a:spcPts val="1000"/>
              </a:spcAft>
            </a:pPr>
            <a:r>
              <a:rPr sz="1500" b="1">
                <a:solidFill>
                  <a:srgbClr val="7CC4FF"/>
                </a:solidFill>
                <a:latin typeface="Calibri"/>
              </a:rPr>
              <a:t>Below 0: </a:t>
            </a:r>
            <a:r>
              <a:rPr sz="1500" b="0">
                <a:solidFill>
                  <a:srgbClr val="EEF3FA"/>
                </a:solidFill>
                <a:latin typeface="Calibri"/>
              </a:rPr>
              <a:t>reasoning areas predicted more active.</a:t>
            </a:r>
          </a:p>
          <a:p>
            <a:pPr algn="l">
              <a:spcAft>
                <a:spcPts val="0"/>
              </a:spcAft>
            </a:pPr>
            <a:r>
              <a:rPr sz="1300" b="1">
                <a:solidFill>
                  <a:srgbClr val="7CC4FF"/>
                </a:solidFill>
                <a:latin typeface="Calibri"/>
              </a:rPr>
              <a:t>20,484 </a:t>
            </a:r>
            <a:r>
              <a:rPr sz="1300" b="0">
                <a:solidFill>
                  <a:srgbClr val="9AABC4"/>
                </a:solidFill>
                <a:latin typeface="Calibri"/>
              </a:rPr>
              <a:t>= points on a standard model of the brain's surface, where the prediction is made.</a:t>
            </a:r>
          </a:p>
        </p:txBody>
      </p:sp>
      <p:sp>
        <p:nvSpPr>
          <p:cNvPr id="23" name="TextBox 22"/>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24" name="Rectangle 23"/>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05</a:t>
            </a:r>
          </a:p>
        </p:txBody>
      </p:sp>
      <p:sp>
        <p:nvSpPr>
          <p:cNvPr id="30" name="Rectangle 29"/>
          <p:cNvSpPr/>
          <p:nvPr/>
        </p:nvSpPr>
        <p:spPr>
          <a:xfrm>
            <a:off x="685800" y="6967728"/>
            <a:ext cx="10820095"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7059168"/>
            <a:ext cx="10820095" cy="320040"/>
          </a:xfrm>
          <a:prstGeom prst="rect">
            <a:avLst/>
          </a:prstGeom>
          <a:noFill/>
        </p:spPr>
        <p:txBody>
          <a:bodyPr wrap="square" anchor="t">
            <a:spAutoFit/>
          </a:bodyPr>
          <a:lstStyle/>
          <a:p>
            <a:pPr algn="l">
              <a:spcAft>
                <a:spcPts val="0"/>
              </a:spcAft>
            </a:pPr>
            <a:r>
              <a:rPr sz="1200" b="1">
                <a:solidFill>
                  <a:srgbClr val="FF7A59"/>
                </a:solidFill>
                <a:latin typeface="Calibri"/>
              </a:rPr>
              <a:t>SCRIPT</a:t>
            </a:r>
            <a:r>
              <a:rPr sz="1200" b="0">
                <a:solidFill>
                  <a:srgbClr val="9AABC4"/>
                </a:solidFill>
                <a:latin typeface="Calibri"/>
              </a:rPr>
              <a:t>   ·   slide 05   ·   about 1 min</a:t>
            </a:r>
          </a:p>
        </p:txBody>
      </p:sp>
      <p:sp>
        <p:nvSpPr>
          <p:cNvPr id="32" name="Rounded Rectangle 31"/>
          <p:cNvSpPr/>
          <p:nvPr/>
        </p:nvSpPr>
        <p:spPr>
          <a:xfrm>
            <a:off x="685800" y="7406640"/>
            <a:ext cx="7818120" cy="219455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09728"/>
          <a:lstStyle/>
          <a:p>
            <a:pPr algn="l">
              <a:spcAft>
                <a:spcPts val="0"/>
              </a:spcAft>
            </a:pPr>
            <a:r>
              <a:rPr sz="1500" b="0" i="0">
                <a:solidFill>
                  <a:srgbClr val="EEF3FA"/>
                </a:solidFill>
                <a:latin typeface="Calibri"/>
              </a:rPr>
              <a:t>This is the whole process for one article. It's turned into speech, the timing of each word is marked, and the model predicts activity at 20,484 points across the brain's surface. We average 1,030 points in areas linked to emotion and 851 in areas linked to careful reasoning. The score is emotion minus reasoning. Above zero, emotion leads. Below zero, reasoning leads.</a:t>
            </a:r>
          </a:p>
        </p:txBody>
      </p:sp>
      <p:sp>
        <p:nvSpPr>
          <p:cNvPr id="33" name="Rounded Rectangle 32"/>
          <p:cNvSpPr/>
          <p:nvPr/>
        </p:nvSpPr>
        <p:spPr>
          <a:xfrm>
            <a:off x="8641080" y="7406640"/>
            <a:ext cx="2864815" cy="2194559"/>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100" b="1" i="0">
                <a:solidFill>
                  <a:srgbClr val="F5B83D"/>
                </a:solidFill>
                <a:latin typeface="Calibri"/>
              </a:rPr>
              <a:t>NUMBERS TO SAY</a:t>
            </a:r>
          </a:p>
          <a:p>
            <a:pPr algn="l">
              <a:spcAft>
                <a:spcPts val="500"/>
              </a:spcAft>
            </a:pPr>
            <a:r>
              <a:rPr sz="1300" b="0" i="0">
                <a:solidFill>
                  <a:srgbClr val="EEF3FA"/>
                </a:solidFill>
                <a:latin typeface="Calibri"/>
              </a:rPr>
              <a:t>•  20,484 points on the brain surface</a:t>
            </a:r>
          </a:p>
          <a:p>
            <a:pPr algn="l">
              <a:spcAft>
                <a:spcPts val="500"/>
              </a:spcAft>
            </a:pPr>
            <a:r>
              <a:rPr sz="1300" b="0" i="0">
                <a:solidFill>
                  <a:srgbClr val="EEF3FA"/>
                </a:solidFill>
                <a:latin typeface="Calibri"/>
              </a:rPr>
              <a:t>•  1,030 emotion, 851 reasoning</a:t>
            </a:r>
          </a:p>
          <a:p>
            <a:pPr algn="l">
              <a:spcAft>
                <a:spcPts val="500"/>
              </a:spcAft>
            </a:pPr>
            <a:r>
              <a:rPr sz="1300" b="0" i="0">
                <a:solidFill>
                  <a:srgbClr val="EEF3FA"/>
                </a:solidFill>
                <a:latin typeface="Calibri"/>
              </a:rPr>
              <a:t>•  Score = emotion minus reasoning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newspaper.png"/>
          <p:cNvPicPr>
            <a:picLocks noChangeAspect="1"/>
          </p:cNvPicPr>
          <p:nvPr/>
        </p:nvPicPr>
        <p:blipFill>
          <a:blip r:embed="rId2"/>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METHOD</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400 articles in four groups, matched in length</a:t>
            </a:r>
          </a:p>
        </p:txBody>
      </p:sp>
      <p:sp>
        <p:nvSpPr>
          <p:cNvPr id="7" name="Rounded Rectangle 6"/>
          <p:cNvSpPr/>
          <p:nvPr/>
        </p:nvSpPr>
        <p:spPr>
          <a:xfrm>
            <a:off x="685800" y="1417320"/>
            <a:ext cx="2487168" cy="14173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200" b="1" i="0">
                <a:solidFill>
                  <a:srgbClr val="FF7A59"/>
                </a:solidFill>
                <a:latin typeface="Calibri"/>
              </a:rPr>
              <a:t>100</a:t>
            </a:r>
          </a:p>
          <a:p>
            <a:pPr algn="ctr">
              <a:spcAft>
                <a:spcPts val="200"/>
              </a:spcAft>
            </a:pPr>
            <a:r>
              <a:rPr sz="1600" b="1" i="0">
                <a:solidFill>
                  <a:srgbClr val="EEF3FA"/>
                </a:solidFill>
                <a:latin typeface="Calibri"/>
              </a:rPr>
              <a:t>Fear-driven</a:t>
            </a:r>
          </a:p>
          <a:p>
            <a:pPr algn="ctr">
              <a:spcAft>
                <a:spcPts val="0"/>
              </a:spcAft>
            </a:pPr>
            <a:r>
              <a:rPr sz="1100" b="0" i="0">
                <a:solidFill>
                  <a:srgbClr val="9AABC4"/>
                </a:solidFill>
                <a:latin typeface="Calibri"/>
              </a:rPr>
              <a:t>fake news collection (ISOT)</a:t>
            </a:r>
          </a:p>
        </p:txBody>
      </p:sp>
      <p:sp>
        <p:nvSpPr>
          <p:cNvPr id="8" name="Rectangle 7"/>
          <p:cNvSpPr/>
          <p:nvPr/>
        </p:nvSpPr>
        <p:spPr>
          <a:xfrm>
            <a:off x="685800" y="1417320"/>
            <a:ext cx="54864" cy="14173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3462832" y="1417320"/>
            <a:ext cx="2487168" cy="14173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200" b="1" i="0">
                <a:solidFill>
                  <a:srgbClr val="F5B83D"/>
                </a:solidFill>
                <a:latin typeface="Calibri"/>
              </a:rPr>
              <a:t>100</a:t>
            </a:r>
          </a:p>
          <a:p>
            <a:pPr algn="ctr">
              <a:spcAft>
                <a:spcPts val="200"/>
              </a:spcAft>
            </a:pPr>
            <a:r>
              <a:rPr sz="1600" b="1" i="0">
                <a:solidFill>
                  <a:srgbClr val="EEF3FA"/>
                </a:solidFill>
                <a:latin typeface="Calibri"/>
              </a:rPr>
              <a:t>Outrage</a:t>
            </a:r>
          </a:p>
          <a:p>
            <a:pPr algn="ctr">
              <a:spcAft>
                <a:spcPts val="0"/>
              </a:spcAft>
            </a:pPr>
            <a:r>
              <a:rPr sz="1100" b="0" i="0">
                <a:solidFill>
                  <a:srgbClr val="9AABC4"/>
                </a:solidFill>
                <a:latin typeface="Calibri"/>
              </a:rPr>
              <a:t>hyperpartisan news (SemEval-2019)</a:t>
            </a:r>
          </a:p>
        </p:txBody>
      </p:sp>
      <p:sp>
        <p:nvSpPr>
          <p:cNvPr id="10" name="Rectangle 9"/>
          <p:cNvSpPr/>
          <p:nvPr/>
        </p:nvSpPr>
        <p:spPr>
          <a:xfrm>
            <a:off x="3462832" y="1417320"/>
            <a:ext cx="54864" cy="1417320"/>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39865" y="1417320"/>
            <a:ext cx="2487168" cy="14173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200" b="1" i="0">
                <a:solidFill>
                  <a:srgbClr val="3E8EDE"/>
                </a:solidFill>
                <a:latin typeface="Calibri"/>
              </a:rPr>
              <a:t>100</a:t>
            </a:r>
          </a:p>
          <a:p>
            <a:pPr algn="ctr">
              <a:spcAft>
                <a:spcPts val="200"/>
              </a:spcAft>
            </a:pPr>
            <a:r>
              <a:rPr sz="1600" b="1" i="0">
                <a:solidFill>
                  <a:srgbClr val="EEF3FA"/>
                </a:solidFill>
                <a:latin typeface="Calibri"/>
              </a:rPr>
              <a:t>Clickbait</a:t>
            </a:r>
          </a:p>
          <a:p>
            <a:pPr algn="ctr">
              <a:spcAft>
                <a:spcPts val="0"/>
              </a:spcAft>
            </a:pPr>
            <a:r>
              <a:rPr sz="1100" b="0" i="0">
                <a:solidFill>
                  <a:srgbClr val="9AABC4"/>
                </a:solidFill>
                <a:latin typeface="Calibri"/>
              </a:rPr>
              <a:t>clickbait headlines (Webis-17)</a:t>
            </a:r>
          </a:p>
        </p:txBody>
      </p:sp>
      <p:sp>
        <p:nvSpPr>
          <p:cNvPr id="12" name="Rectangle 11"/>
          <p:cNvSpPr/>
          <p:nvPr/>
        </p:nvSpPr>
        <p:spPr>
          <a:xfrm>
            <a:off x="6239865" y="1417320"/>
            <a:ext cx="54864" cy="1417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016898" y="1417320"/>
            <a:ext cx="2487168" cy="1417320"/>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ctr">
              <a:spcAft>
                <a:spcPts val="0"/>
              </a:spcAft>
            </a:pPr>
            <a:r>
              <a:rPr sz="3200" b="1" i="0">
                <a:solidFill>
                  <a:srgbClr val="9AABC4"/>
                </a:solidFill>
                <a:latin typeface="Calibri"/>
              </a:rPr>
              <a:t>100</a:t>
            </a:r>
          </a:p>
          <a:p>
            <a:pPr algn="ctr">
              <a:spcAft>
                <a:spcPts val="200"/>
              </a:spcAft>
            </a:pPr>
            <a:r>
              <a:rPr sz="1600" b="1" i="0">
                <a:solidFill>
                  <a:srgbClr val="EEF3FA"/>
                </a:solidFill>
                <a:latin typeface="Calibri"/>
              </a:rPr>
              <a:t>Neutral</a:t>
            </a:r>
          </a:p>
          <a:p>
            <a:pPr algn="ctr">
              <a:spcAft>
                <a:spcPts val="0"/>
              </a:spcAft>
            </a:pPr>
            <a:r>
              <a:rPr sz="1100" b="0" i="0">
                <a:solidFill>
                  <a:srgbClr val="9AABC4"/>
                </a:solidFill>
                <a:latin typeface="Calibri"/>
              </a:rPr>
              <a:t>medical abstracts + real news</a:t>
            </a:r>
          </a:p>
        </p:txBody>
      </p:sp>
      <p:sp>
        <p:nvSpPr>
          <p:cNvPr id="14" name="Rectangle 13"/>
          <p:cNvSpPr/>
          <p:nvPr/>
        </p:nvSpPr>
        <p:spPr>
          <a:xfrm>
            <a:off x="9016898" y="1417320"/>
            <a:ext cx="54864" cy="1417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85800" y="3108960"/>
            <a:ext cx="3429000" cy="25146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7CC4FF"/>
                </a:solidFill>
                <a:latin typeface="Calibri"/>
              </a:rPr>
              <a:t>≈ 164</a:t>
            </a:r>
          </a:p>
          <a:p>
            <a:pPr algn="l">
              <a:spcAft>
                <a:spcPts val="600"/>
              </a:spcAft>
            </a:pPr>
            <a:r>
              <a:rPr sz="1400" b="1" i="0">
                <a:solidFill>
                  <a:srgbClr val="EEF3FA"/>
                </a:solidFill>
                <a:latin typeface="Calibri"/>
              </a:rPr>
              <a:t>words per article, on average</a:t>
            </a:r>
          </a:p>
          <a:p>
            <a:pPr algn="l">
              <a:spcAft>
                <a:spcPts val="400"/>
              </a:spcAft>
            </a:pPr>
            <a:r>
              <a:rPr sz="1300" b="1">
                <a:solidFill>
                  <a:srgbClr val="9AABC4"/>
                </a:solidFill>
                <a:latin typeface="Calibri"/>
              </a:rPr>
              <a:t>What it means: </a:t>
            </a:r>
            <a:r>
              <a:rPr sz="1300" b="0">
                <a:solidFill>
                  <a:srgbClr val="EEF3FA"/>
                </a:solidFill>
                <a:latin typeface="Calibri"/>
              </a:rPr>
              <a:t>All four groups are within 5 words of each other.</a:t>
            </a:r>
          </a:p>
          <a:p>
            <a:pPr algn="l">
              <a:spcAft>
                <a:spcPts val="0"/>
              </a:spcAft>
            </a:pPr>
            <a:r>
              <a:rPr sz="1300" b="1">
                <a:solidFill>
                  <a:srgbClr val="9AABC4"/>
                </a:solidFill>
                <a:latin typeface="Calibri"/>
              </a:rPr>
              <a:t>Why this value: </a:t>
            </a:r>
            <a:r>
              <a:rPr sz="1300" b="0">
                <a:solidFill>
                  <a:srgbClr val="EEF3FA"/>
                </a:solidFill>
                <a:latin typeface="Calibri"/>
              </a:rPr>
              <a:t>So a longer article can't score differently just by being longer.</a:t>
            </a:r>
          </a:p>
        </p:txBody>
      </p:sp>
      <p:sp>
        <p:nvSpPr>
          <p:cNvPr id="16" name="Rounded Rectangle 15"/>
          <p:cNvSpPr/>
          <p:nvPr/>
        </p:nvSpPr>
        <p:spPr>
          <a:xfrm>
            <a:off x="4379976" y="3108960"/>
            <a:ext cx="3429000" cy="25146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7CC4FF"/>
                </a:solidFill>
                <a:latin typeface="Calibri"/>
              </a:rPr>
              <a:t>0.027</a:t>
            </a:r>
          </a:p>
          <a:p>
            <a:pPr algn="l">
              <a:spcAft>
                <a:spcPts val="600"/>
              </a:spcAft>
            </a:pPr>
            <a:r>
              <a:rPr sz="1400" b="1" i="0">
                <a:solidFill>
                  <a:srgbClr val="EEF3FA"/>
                </a:solidFill>
                <a:latin typeface="Calibri"/>
              </a:rPr>
              <a:t>smallest effect the study could see</a:t>
            </a:r>
          </a:p>
          <a:p>
            <a:pPr algn="l">
              <a:spcAft>
                <a:spcPts val="400"/>
              </a:spcAft>
            </a:pPr>
            <a:r>
              <a:rPr sz="1300" b="1">
                <a:solidFill>
                  <a:srgbClr val="9AABC4"/>
                </a:solidFill>
                <a:latin typeface="Calibri"/>
              </a:rPr>
              <a:t>What it means: </a:t>
            </a:r>
            <a:r>
              <a:rPr sz="1300" b="0">
                <a:solidFill>
                  <a:srgbClr val="EEF3FA"/>
                </a:solidFill>
                <a:latin typeface="Calibri"/>
              </a:rPr>
              <a:t>We sized the study before scanning a single article.</a:t>
            </a:r>
          </a:p>
          <a:p>
            <a:pPr algn="l">
              <a:spcAft>
                <a:spcPts val="0"/>
              </a:spcAft>
            </a:pPr>
            <a:r>
              <a:rPr sz="1300" b="1">
                <a:solidFill>
                  <a:srgbClr val="9AABC4"/>
                </a:solidFill>
                <a:latin typeface="Calibri"/>
              </a:rPr>
              <a:t>Why this value: </a:t>
            </a:r>
            <a:r>
              <a:rPr sz="1300" b="0">
                <a:solidFill>
                  <a:srgbClr val="EEF3FA"/>
                </a:solidFill>
                <a:latin typeface="Calibri"/>
              </a:rPr>
              <a:t>400 articles is enough to catch a difference as small as 2.7%.</a:t>
            </a:r>
          </a:p>
        </p:txBody>
      </p:sp>
      <p:sp>
        <p:nvSpPr>
          <p:cNvPr id="17" name="Rounded Rectangle 16"/>
          <p:cNvSpPr/>
          <p:nvPr/>
        </p:nvSpPr>
        <p:spPr>
          <a:xfrm>
            <a:off x="8074152" y="3108960"/>
            <a:ext cx="3429000" cy="251460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7CC4FF"/>
                </a:solidFill>
                <a:latin typeface="Calibri"/>
              </a:rPr>
              <a:t>× 2</a:t>
            </a:r>
          </a:p>
          <a:p>
            <a:pPr algn="l">
              <a:spcAft>
                <a:spcPts val="600"/>
              </a:spcAft>
            </a:pPr>
            <a:r>
              <a:rPr sz="1400" b="1" i="0">
                <a:solidFill>
                  <a:srgbClr val="EEF3FA"/>
                </a:solidFill>
                <a:latin typeface="Calibri"/>
              </a:rPr>
              <a:t>every article scanned twice</a:t>
            </a:r>
          </a:p>
          <a:p>
            <a:pPr algn="l">
              <a:spcAft>
                <a:spcPts val="400"/>
              </a:spcAft>
            </a:pPr>
            <a:r>
              <a:rPr sz="1300" b="1">
                <a:solidFill>
                  <a:srgbClr val="9AABC4"/>
                </a:solidFill>
                <a:latin typeface="Calibri"/>
              </a:rPr>
              <a:t>What it means: </a:t>
            </a:r>
            <a:r>
              <a:rPr sz="1300" b="0">
                <a:solidFill>
                  <a:srgbClr val="EEF3FA"/>
                </a:solidFill>
                <a:latin typeface="Calibri"/>
              </a:rPr>
              <a:t>Two separate runs on the GPU.</a:t>
            </a:r>
          </a:p>
          <a:p>
            <a:pPr algn="l">
              <a:spcAft>
                <a:spcPts val="0"/>
              </a:spcAft>
            </a:pPr>
            <a:r>
              <a:rPr sz="1300" b="1">
                <a:solidFill>
                  <a:srgbClr val="9AABC4"/>
                </a:solidFill>
                <a:latin typeface="Calibri"/>
              </a:rPr>
              <a:t>Why this value: </a:t>
            </a:r>
            <a:r>
              <a:rPr sz="1300" b="0">
                <a:solidFill>
                  <a:srgbClr val="EEF3FA"/>
                </a:solidFill>
                <a:latin typeface="Calibri"/>
              </a:rPr>
              <a:t>Lets us measure how repeatable the score is.</a:t>
            </a:r>
          </a:p>
        </p:txBody>
      </p:sp>
      <p:sp>
        <p:nvSpPr>
          <p:cNvPr id="18" name="TextBox 17"/>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METHOD</a:t>
            </a:r>
          </a:p>
        </p:txBody>
      </p:sp>
      <p:sp>
        <p:nvSpPr>
          <p:cNvPr id="19" name="Rectangle 18"/>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268315"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844387"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06</a:t>
            </a:r>
          </a:p>
        </p:txBody>
      </p:sp>
      <p:sp>
        <p:nvSpPr>
          <p:cNvPr id="25" name="Rectangle 24"/>
          <p:cNvSpPr/>
          <p:nvPr/>
        </p:nvSpPr>
        <p:spPr>
          <a:xfrm>
            <a:off x="685800" y="6967728"/>
            <a:ext cx="10820095"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7059168"/>
            <a:ext cx="10820095" cy="320040"/>
          </a:xfrm>
          <a:prstGeom prst="rect">
            <a:avLst/>
          </a:prstGeom>
          <a:noFill/>
        </p:spPr>
        <p:txBody>
          <a:bodyPr wrap="square" anchor="t">
            <a:spAutoFit/>
          </a:bodyPr>
          <a:lstStyle/>
          <a:p>
            <a:pPr algn="l">
              <a:spcAft>
                <a:spcPts val="0"/>
              </a:spcAft>
            </a:pPr>
            <a:r>
              <a:rPr sz="1200" b="1">
                <a:solidFill>
                  <a:srgbClr val="FF7A59"/>
                </a:solidFill>
                <a:latin typeface="Calibri"/>
              </a:rPr>
              <a:t>SCRIPT</a:t>
            </a:r>
            <a:r>
              <a:rPr sz="1200" b="0">
                <a:solidFill>
                  <a:srgbClr val="9AABC4"/>
                </a:solidFill>
                <a:latin typeface="Calibri"/>
              </a:rPr>
              <a:t>   ·   slide 06   ·   about 1 min</a:t>
            </a:r>
          </a:p>
        </p:txBody>
      </p:sp>
      <p:sp>
        <p:nvSpPr>
          <p:cNvPr id="27" name="Rounded Rectangle 26"/>
          <p:cNvSpPr/>
          <p:nvPr/>
        </p:nvSpPr>
        <p:spPr>
          <a:xfrm>
            <a:off x="685800" y="7406640"/>
            <a:ext cx="7818120" cy="219455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09728"/>
          <a:lstStyle/>
          <a:p>
            <a:pPr algn="l">
              <a:spcAft>
                <a:spcPts val="0"/>
              </a:spcAft>
            </a:pPr>
            <a:r>
              <a:rPr sz="1500" b="0" i="0">
                <a:solidFill>
                  <a:srgbClr val="EEF3FA"/>
                </a:solidFill>
                <a:latin typeface="Calibri"/>
              </a:rPr>
              <a:t>We scored 400 articles from four public collections, 100 each: fear-driven fake news, outrage-style partisan news, clickbait, and neutral writing. We matched their lengths so no group wins by being longer, and we worked out before scanning that 400 was enough to see a small effect. Then we ran every article twice.</a:t>
            </a:r>
          </a:p>
        </p:txBody>
      </p:sp>
      <p:sp>
        <p:nvSpPr>
          <p:cNvPr id="28" name="Rounded Rectangle 27"/>
          <p:cNvSpPr/>
          <p:nvPr/>
        </p:nvSpPr>
        <p:spPr>
          <a:xfrm>
            <a:off x="8641080" y="7406640"/>
            <a:ext cx="2864815" cy="2194559"/>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100" b="1" i="0">
                <a:solidFill>
                  <a:srgbClr val="F5B83D"/>
                </a:solidFill>
                <a:latin typeface="Calibri"/>
              </a:rPr>
              <a:t>NUMBERS TO SAY</a:t>
            </a:r>
          </a:p>
          <a:p>
            <a:pPr algn="l">
              <a:spcAft>
                <a:spcPts val="500"/>
              </a:spcAft>
            </a:pPr>
            <a:r>
              <a:rPr sz="1300" b="0" i="0">
                <a:solidFill>
                  <a:srgbClr val="EEF3FA"/>
                </a:solidFill>
                <a:latin typeface="Calibri"/>
              </a:rPr>
              <a:t>•  4 groups x 100 articles</a:t>
            </a:r>
          </a:p>
          <a:p>
            <a:pPr algn="l">
              <a:spcAft>
                <a:spcPts val="500"/>
              </a:spcAft>
            </a:pPr>
            <a:r>
              <a:rPr sz="1300" b="0" i="0">
                <a:solidFill>
                  <a:srgbClr val="EEF3FA"/>
                </a:solidFill>
                <a:latin typeface="Calibri"/>
              </a:rPr>
              <a:t>•  About 164 words each</a:t>
            </a:r>
          </a:p>
          <a:p>
            <a:pPr algn="l">
              <a:spcAft>
                <a:spcPts val="500"/>
              </a:spcAft>
            </a:pPr>
            <a:r>
              <a:rPr sz="1300" b="0" i="0">
                <a:solidFill>
                  <a:srgbClr val="EEF3FA"/>
                </a:solidFill>
                <a:latin typeface="Calibri"/>
              </a:rPr>
              <a:t>•  Smallest detectable effect 0.027</a:t>
            </a:r>
          </a:p>
          <a:p>
            <a:pPr algn="l">
              <a:spcAft>
                <a:spcPts val="500"/>
              </a:spcAft>
            </a:pPr>
            <a:r>
              <a:rPr sz="1300" b="0" i="0">
                <a:solidFill>
                  <a:srgbClr val="EEF3FA"/>
                </a:solidFill>
                <a:latin typeface="Calibri"/>
              </a:rPr>
              <a:t>•  Every article scanned twice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bar.png"/>
          <p:cNvPicPr>
            <a:picLocks noChangeAspect="1"/>
          </p:cNvPicPr>
          <p:nvPr/>
        </p:nvPicPr>
        <p:blipFill>
          <a:blip r:embed="rId2"/>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Result 1: the four groups really do differ</a:t>
            </a:r>
          </a:p>
        </p:txBody>
      </p:sp>
      <p:sp>
        <p:nvSpPr>
          <p:cNvPr id="7" name="Oval 6"/>
          <p:cNvSpPr/>
          <p:nvPr/>
        </p:nvSpPr>
        <p:spPr>
          <a:xfrm>
            <a:off x="1051560" y="228600"/>
            <a:ext cx="4114800" cy="4114800"/>
          </a:xfrm>
          <a:prstGeom prst="ellipse">
            <a:avLst/>
          </a:prstGeom>
          <a:gradFill rotWithShape="1">
            <a:gsLst>
              <a:gs pos="0">
                <a:srgbClr val="3E8EDE">
                  <a:alpha val="30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371600"/>
            <a:ext cx="5303520" cy="320040"/>
          </a:xfrm>
          <a:prstGeom prst="rect">
            <a:avLst/>
          </a:prstGeom>
          <a:noFill/>
        </p:spPr>
        <p:txBody>
          <a:bodyPr wrap="square" anchor="t">
            <a:spAutoFit/>
          </a:bodyPr>
          <a:lstStyle/>
          <a:p>
            <a:pPr algn="l">
              <a:spcAft>
                <a:spcPts val="0"/>
              </a:spcAft>
            </a:pPr>
            <a:r>
              <a:rPr sz="1200" b="1" i="0">
                <a:solidFill>
                  <a:srgbClr val="9AABC4"/>
                </a:solidFill>
                <a:latin typeface="Calibri"/>
              </a:rPr>
              <a:t>HOW MUCH THE GROUPS DIFFER (η²)</a:t>
            </a:r>
          </a:p>
        </p:txBody>
      </p:sp>
      <p:sp>
        <p:nvSpPr>
          <p:cNvPr id="9" name="TextBox 8"/>
          <p:cNvSpPr txBox="1"/>
          <p:nvPr/>
        </p:nvSpPr>
        <p:spPr>
          <a:xfrm>
            <a:off x="685800" y="1600200"/>
            <a:ext cx="5303520" cy="1188720"/>
          </a:xfrm>
          <a:prstGeom prst="rect">
            <a:avLst/>
          </a:prstGeom>
          <a:noFill/>
        </p:spPr>
        <p:txBody>
          <a:bodyPr wrap="square" anchor="t">
            <a:spAutoFit/>
          </a:bodyPr>
          <a:lstStyle/>
          <a:p>
            <a:pPr algn="l">
              <a:spcAft>
                <a:spcPts val="0"/>
              </a:spcAft>
            </a:pPr>
            <a:r>
              <a:rPr sz="7200" b="1" i="0">
                <a:solidFill>
                  <a:srgbClr val="EEF3FA"/>
                </a:solidFill>
                <a:latin typeface="Calibri"/>
              </a:rPr>
              <a:t>0.107</a:t>
            </a:r>
          </a:p>
        </p:txBody>
      </p:sp>
      <p:pic>
        <p:nvPicPr>
          <p:cNvPr id="10" name="Picture 9" descr="eb93d49365eddea1.png"/>
          <p:cNvPicPr>
            <a:picLocks noChangeAspect="1"/>
          </p:cNvPicPr>
          <p:nvPr/>
        </p:nvPicPr>
        <p:blipFill>
          <a:blip r:embed="rId3"/>
          <a:stretch>
            <a:fillRect/>
          </a:stretch>
        </p:blipFill>
        <p:spPr>
          <a:xfrm>
            <a:off x="685800" y="2788920"/>
            <a:ext cx="2125751" cy="334213"/>
          </a:xfrm>
          <a:prstGeom prst="rect">
            <a:avLst/>
          </a:prstGeom>
        </p:spPr>
      </p:pic>
      <p:sp>
        <p:nvSpPr>
          <p:cNvPr id="11" name="TextBox 10"/>
          <p:cNvSpPr txBox="1"/>
          <p:nvPr/>
        </p:nvSpPr>
        <p:spPr>
          <a:xfrm>
            <a:off x="548640" y="3593592"/>
            <a:ext cx="1920240" cy="411480"/>
          </a:xfrm>
          <a:prstGeom prst="rect">
            <a:avLst/>
          </a:prstGeom>
          <a:noFill/>
        </p:spPr>
        <p:txBody>
          <a:bodyPr wrap="square" anchor="t">
            <a:spAutoFit/>
          </a:bodyPr>
          <a:lstStyle/>
          <a:p>
            <a:pPr algn="r">
              <a:spcAft>
                <a:spcPts val="0"/>
              </a:spcAft>
            </a:pPr>
            <a:r>
              <a:rPr sz="1400" b="0" i="0">
                <a:solidFill>
                  <a:srgbClr val="9AABC4"/>
                </a:solidFill>
                <a:latin typeface="Calibri"/>
              </a:rPr>
              <a:t>first run</a:t>
            </a:r>
          </a:p>
        </p:txBody>
      </p:sp>
      <p:sp>
        <p:nvSpPr>
          <p:cNvPr id="12" name="Rectangle 11"/>
          <p:cNvSpPr/>
          <p:nvPr/>
        </p:nvSpPr>
        <p:spPr>
          <a:xfrm>
            <a:off x="2606040" y="3657600"/>
            <a:ext cx="265176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606040" y="3657600"/>
            <a:ext cx="2360066" cy="274320"/>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94960" y="3593592"/>
            <a:ext cx="2926080" cy="411480"/>
          </a:xfrm>
          <a:prstGeom prst="rect">
            <a:avLst/>
          </a:prstGeom>
          <a:noFill/>
        </p:spPr>
        <p:txBody>
          <a:bodyPr wrap="square" anchor="t">
            <a:spAutoFit/>
          </a:bodyPr>
          <a:lstStyle/>
          <a:p>
            <a:pPr algn="l">
              <a:spcAft>
                <a:spcPts val="0"/>
              </a:spcAft>
            </a:pPr>
            <a:r>
              <a:rPr sz="1400" b="1" i="0">
                <a:solidFill>
                  <a:srgbClr val="7CC4FF"/>
                </a:solidFill>
                <a:latin typeface="Calibri"/>
              </a:rPr>
              <a:t>0.107</a:t>
            </a:r>
          </a:p>
        </p:txBody>
      </p:sp>
      <p:sp>
        <p:nvSpPr>
          <p:cNvPr id="15" name="TextBox 14"/>
          <p:cNvSpPr txBox="1"/>
          <p:nvPr/>
        </p:nvSpPr>
        <p:spPr>
          <a:xfrm>
            <a:off x="548640" y="4096511"/>
            <a:ext cx="1920240" cy="411480"/>
          </a:xfrm>
          <a:prstGeom prst="rect">
            <a:avLst/>
          </a:prstGeom>
          <a:noFill/>
        </p:spPr>
        <p:txBody>
          <a:bodyPr wrap="square" anchor="t">
            <a:spAutoFit/>
          </a:bodyPr>
          <a:lstStyle/>
          <a:p>
            <a:pPr algn="r">
              <a:spcAft>
                <a:spcPts val="0"/>
              </a:spcAft>
            </a:pPr>
            <a:r>
              <a:rPr sz="1400" b="0" i="0">
                <a:solidFill>
                  <a:srgbClr val="9AABC4"/>
                </a:solidFill>
                <a:latin typeface="Calibri"/>
              </a:rPr>
              <a:t>second run</a:t>
            </a:r>
          </a:p>
        </p:txBody>
      </p:sp>
      <p:sp>
        <p:nvSpPr>
          <p:cNvPr id="16" name="Rectangle 15"/>
          <p:cNvSpPr/>
          <p:nvPr/>
        </p:nvSpPr>
        <p:spPr>
          <a:xfrm>
            <a:off x="2606040" y="4160520"/>
            <a:ext cx="265176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606040" y="4160520"/>
            <a:ext cx="1962302"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394960" y="4096511"/>
            <a:ext cx="2926080" cy="411480"/>
          </a:xfrm>
          <a:prstGeom prst="rect">
            <a:avLst/>
          </a:prstGeom>
          <a:noFill/>
        </p:spPr>
        <p:txBody>
          <a:bodyPr wrap="square" anchor="t">
            <a:spAutoFit/>
          </a:bodyPr>
          <a:lstStyle/>
          <a:p>
            <a:pPr algn="l">
              <a:spcAft>
                <a:spcPts val="0"/>
              </a:spcAft>
            </a:pPr>
            <a:r>
              <a:rPr sz="1400" b="1" i="0">
                <a:solidFill>
                  <a:srgbClr val="3E8EDE"/>
                </a:solidFill>
                <a:latin typeface="Calibri"/>
              </a:rPr>
              <a:t>0.089</a:t>
            </a:r>
          </a:p>
        </p:txBody>
      </p:sp>
      <p:sp>
        <p:nvSpPr>
          <p:cNvPr id="19" name="TextBox 18"/>
          <p:cNvSpPr txBox="1"/>
          <p:nvPr/>
        </p:nvSpPr>
        <p:spPr>
          <a:xfrm>
            <a:off x="548640" y="4599431"/>
            <a:ext cx="1920240" cy="411480"/>
          </a:xfrm>
          <a:prstGeom prst="rect">
            <a:avLst/>
          </a:prstGeom>
          <a:noFill/>
        </p:spPr>
        <p:txBody>
          <a:bodyPr wrap="square" anchor="t">
            <a:spAutoFit/>
          </a:bodyPr>
          <a:lstStyle/>
          <a:p>
            <a:pPr algn="r">
              <a:spcAft>
                <a:spcPts val="0"/>
              </a:spcAft>
            </a:pPr>
            <a:r>
              <a:rPr sz="1400" b="0" i="0">
                <a:solidFill>
                  <a:srgbClr val="9AABC4"/>
                </a:solidFill>
                <a:latin typeface="Calibri"/>
              </a:rPr>
              <a:t>smallest we could see</a:t>
            </a:r>
          </a:p>
        </p:txBody>
      </p:sp>
      <p:sp>
        <p:nvSpPr>
          <p:cNvPr id="20" name="Rectangle 19"/>
          <p:cNvSpPr/>
          <p:nvPr/>
        </p:nvSpPr>
        <p:spPr>
          <a:xfrm>
            <a:off x="2606040" y="4663440"/>
            <a:ext cx="265176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606040" y="4663440"/>
            <a:ext cx="592226" cy="274320"/>
          </a:xfrm>
          <a:prstGeom prst="rect">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94960" y="4599431"/>
            <a:ext cx="2926080" cy="411480"/>
          </a:xfrm>
          <a:prstGeom prst="rect">
            <a:avLst/>
          </a:prstGeom>
          <a:noFill/>
        </p:spPr>
        <p:txBody>
          <a:bodyPr wrap="square" anchor="t">
            <a:spAutoFit/>
          </a:bodyPr>
          <a:lstStyle/>
          <a:p>
            <a:pPr algn="l">
              <a:spcAft>
                <a:spcPts val="0"/>
              </a:spcAft>
            </a:pPr>
            <a:r>
              <a:rPr sz="1400" b="1" i="0">
                <a:solidFill>
                  <a:srgbClr val="9AABC4"/>
                </a:solidFill>
                <a:latin typeface="Calibri"/>
              </a:rPr>
              <a:t>0.027</a:t>
            </a:r>
          </a:p>
        </p:txBody>
      </p:sp>
      <p:sp>
        <p:nvSpPr>
          <p:cNvPr id="23" name="TextBox 22"/>
          <p:cNvSpPr txBox="1"/>
          <p:nvPr/>
        </p:nvSpPr>
        <p:spPr>
          <a:xfrm>
            <a:off x="685800" y="5166360"/>
            <a:ext cx="5486400" cy="457200"/>
          </a:xfrm>
          <a:prstGeom prst="rect">
            <a:avLst/>
          </a:prstGeom>
          <a:noFill/>
        </p:spPr>
        <p:txBody>
          <a:bodyPr wrap="square" anchor="t">
            <a:spAutoFit/>
          </a:bodyPr>
          <a:lstStyle/>
          <a:p>
            <a:pPr algn="l">
              <a:spcAft>
                <a:spcPts val="0"/>
              </a:spcAft>
            </a:pPr>
            <a:r>
              <a:rPr sz="1300" b="0" i="0">
                <a:solidFill>
                  <a:srgbClr val="9AABC4"/>
                </a:solidFill>
                <a:latin typeface="Calibri"/>
              </a:rPr>
              <a:t>The second run repeats the result. Both are far above what we could detect.</a:t>
            </a:r>
          </a:p>
        </p:txBody>
      </p:sp>
      <p:sp>
        <p:nvSpPr>
          <p:cNvPr id="24" name="Rounded Rectangle 23"/>
          <p:cNvSpPr/>
          <p:nvPr/>
        </p:nvSpPr>
        <p:spPr>
          <a:xfrm>
            <a:off x="6400800" y="1371600"/>
            <a:ext cx="5102352" cy="20116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7CC4FF"/>
                </a:solidFill>
                <a:latin typeface="Calibri"/>
              </a:rPr>
              <a:t>≈ 11%</a:t>
            </a:r>
          </a:p>
          <a:p>
            <a:pPr algn="l">
              <a:spcAft>
                <a:spcPts val="600"/>
              </a:spcAft>
            </a:pPr>
            <a:r>
              <a:rPr sz="1400" b="1" i="0">
                <a:solidFill>
                  <a:srgbClr val="EEF3FA"/>
                </a:solidFill>
                <a:latin typeface="Calibri"/>
              </a:rPr>
              <a:t>η² = 0.107: share of the differences explained by group</a:t>
            </a:r>
          </a:p>
          <a:p>
            <a:pPr algn="l">
              <a:spcAft>
                <a:spcPts val="400"/>
              </a:spcAft>
            </a:pPr>
            <a:r>
              <a:rPr sz="1300" b="1">
                <a:solidFill>
                  <a:srgbClr val="9AABC4"/>
                </a:solidFill>
                <a:latin typeface="Calibri"/>
              </a:rPr>
              <a:t>What it means: </a:t>
            </a:r>
            <a:r>
              <a:rPr sz="1300" b="0">
                <a:solidFill>
                  <a:srgbClr val="EEF3FA"/>
                </a:solidFill>
                <a:latin typeface="Calibri"/>
              </a:rPr>
              <a:t>Knowing an article's group explains about 11% of why its score differs from the others.</a:t>
            </a:r>
          </a:p>
          <a:p>
            <a:pPr algn="l">
              <a:spcAft>
                <a:spcPts val="0"/>
              </a:spcAft>
            </a:pPr>
            <a:r>
              <a:rPr sz="1300" b="1">
                <a:solidFill>
                  <a:srgbClr val="9AABC4"/>
                </a:solidFill>
                <a:latin typeface="Calibri"/>
              </a:rPr>
              <a:t>Why this value: </a:t>
            </a:r>
            <a:r>
              <a:rPr sz="1300" b="0">
                <a:solidFill>
                  <a:srgbClr val="EEF3FA"/>
                </a:solidFill>
                <a:latin typeface="Calibri"/>
              </a:rPr>
              <a:t>The groups overlap a lot; most variation is from one article to the next.</a:t>
            </a:r>
          </a:p>
        </p:txBody>
      </p:sp>
      <p:sp>
        <p:nvSpPr>
          <p:cNvPr id="25" name="Rounded Rectangle 24"/>
          <p:cNvSpPr/>
          <p:nvPr/>
        </p:nvSpPr>
        <p:spPr>
          <a:xfrm>
            <a:off x="6400800" y="3611880"/>
            <a:ext cx="5102352" cy="201168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5FD09A"/>
                </a:solidFill>
                <a:latin typeface="Calibri"/>
              </a:rPr>
              <a:t>1 in a billion</a:t>
            </a:r>
          </a:p>
          <a:p>
            <a:pPr algn="l">
              <a:spcAft>
                <a:spcPts val="600"/>
              </a:spcAft>
            </a:pPr>
            <a:r>
              <a:rPr sz="1400" b="1" i="0">
                <a:solidFill>
                  <a:srgbClr val="EEF3FA"/>
                </a:solidFill>
                <a:latin typeface="Calibri"/>
              </a:rPr>
              <a:t>p = 1.0 × 10⁻⁹: the chance this is luck</a:t>
            </a:r>
          </a:p>
          <a:p>
            <a:pPr algn="l">
              <a:spcAft>
                <a:spcPts val="400"/>
              </a:spcAft>
            </a:pPr>
            <a:r>
              <a:rPr sz="1300" b="1">
                <a:solidFill>
                  <a:srgbClr val="9AABC4"/>
                </a:solidFill>
                <a:latin typeface="Calibri"/>
              </a:rPr>
              <a:t>What it means: </a:t>
            </a:r>
            <a:r>
              <a:rPr sz="1300" b="0">
                <a:solidFill>
                  <a:srgbClr val="EEF3FA"/>
                </a:solidFill>
                <a:latin typeface="Calibri"/>
              </a:rPr>
              <a:t>If the groups were truly the same, a pattern this strong would appear by chance about once in a billion tries.</a:t>
            </a:r>
          </a:p>
          <a:p>
            <a:pPr algn="l">
              <a:spcAft>
                <a:spcPts val="0"/>
              </a:spcAft>
            </a:pPr>
            <a:r>
              <a:rPr sz="1300" b="1">
                <a:solidFill>
                  <a:srgbClr val="9AABC4"/>
                </a:solidFill>
                <a:latin typeface="Calibri"/>
              </a:rPr>
              <a:t>Why this value: </a:t>
            </a:r>
            <a:r>
              <a:rPr sz="1300" b="0">
                <a:solidFill>
                  <a:srgbClr val="EEF3FA"/>
                </a:solidFill>
                <a:latin typeface="Calibri"/>
              </a:rPr>
              <a:t>400 articles and a consistent difference between groups.</a:t>
            </a:r>
          </a:p>
        </p:txBody>
      </p:sp>
      <p:sp>
        <p:nvSpPr>
          <p:cNvPr id="26" name="TextBox 25"/>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7" name="Rectangle 26"/>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07</a:t>
            </a:r>
          </a:p>
        </p:txBody>
      </p:sp>
      <p:sp>
        <p:nvSpPr>
          <p:cNvPr id="33" name="Rectangle 32"/>
          <p:cNvSpPr/>
          <p:nvPr/>
        </p:nvSpPr>
        <p:spPr>
          <a:xfrm>
            <a:off x="685800" y="6967728"/>
            <a:ext cx="10820095"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5800" y="7059168"/>
            <a:ext cx="10820095" cy="320040"/>
          </a:xfrm>
          <a:prstGeom prst="rect">
            <a:avLst/>
          </a:prstGeom>
          <a:noFill/>
        </p:spPr>
        <p:txBody>
          <a:bodyPr wrap="square" anchor="t">
            <a:spAutoFit/>
          </a:bodyPr>
          <a:lstStyle/>
          <a:p>
            <a:pPr algn="l">
              <a:spcAft>
                <a:spcPts val="0"/>
              </a:spcAft>
            </a:pPr>
            <a:r>
              <a:rPr sz="1200" b="1">
                <a:solidFill>
                  <a:srgbClr val="FF7A59"/>
                </a:solidFill>
                <a:latin typeface="Calibri"/>
              </a:rPr>
              <a:t>SCRIPT</a:t>
            </a:r>
            <a:r>
              <a:rPr sz="1200" b="0">
                <a:solidFill>
                  <a:srgbClr val="9AABC4"/>
                </a:solidFill>
                <a:latin typeface="Calibri"/>
              </a:rPr>
              <a:t>   ·   slide 07   ·   about 1 min</a:t>
            </a:r>
          </a:p>
        </p:txBody>
      </p:sp>
      <p:sp>
        <p:nvSpPr>
          <p:cNvPr id="35" name="Rounded Rectangle 34"/>
          <p:cNvSpPr/>
          <p:nvPr/>
        </p:nvSpPr>
        <p:spPr>
          <a:xfrm>
            <a:off x="685800" y="7406640"/>
            <a:ext cx="7818120" cy="219455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09728"/>
          <a:lstStyle/>
          <a:p>
            <a:pPr algn="l">
              <a:spcAft>
                <a:spcPts val="0"/>
              </a:spcAft>
            </a:pPr>
            <a:r>
              <a:rPr sz="1500" b="0" i="0">
                <a:solidFill>
                  <a:srgbClr val="EEF3FA"/>
                </a:solidFill>
                <a:latin typeface="Calibri"/>
              </a:rPr>
              <a:t>First result: the four groups really do differ. The number is eta squared, 0.107. In plain terms, about 11 percent of the differences between articles line up with their group. The rest is article-to-article variation, because the groups overlap a lot. The chance of this being luck is about one in a billion, and the second run gave 0.089, so it held.</a:t>
            </a:r>
          </a:p>
        </p:txBody>
      </p:sp>
      <p:sp>
        <p:nvSpPr>
          <p:cNvPr id="36" name="Rounded Rectangle 35"/>
          <p:cNvSpPr/>
          <p:nvPr/>
        </p:nvSpPr>
        <p:spPr>
          <a:xfrm>
            <a:off x="8641080" y="7406640"/>
            <a:ext cx="2864815" cy="2194559"/>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100" b="1" i="0">
                <a:solidFill>
                  <a:srgbClr val="F5B83D"/>
                </a:solidFill>
                <a:latin typeface="Calibri"/>
              </a:rPr>
              <a:t>NUMBERS TO SAY</a:t>
            </a:r>
          </a:p>
          <a:p>
            <a:pPr algn="l">
              <a:spcAft>
                <a:spcPts val="500"/>
              </a:spcAft>
            </a:pPr>
            <a:r>
              <a:rPr sz="1300" b="0" i="0">
                <a:solidFill>
                  <a:srgbClr val="EEF3FA"/>
                </a:solidFill>
                <a:latin typeface="Calibri"/>
              </a:rPr>
              <a:t>•  0.107 = about 11% explained by group</a:t>
            </a:r>
          </a:p>
          <a:p>
            <a:pPr algn="l">
              <a:spcAft>
                <a:spcPts val="500"/>
              </a:spcAft>
            </a:pPr>
            <a:r>
              <a:rPr sz="1300" b="0" i="0">
                <a:solidFill>
                  <a:srgbClr val="EEF3FA"/>
                </a:solidFill>
                <a:latin typeface="Calibri"/>
              </a:rPr>
              <a:t>•  p = about 1 in a billion</a:t>
            </a:r>
          </a:p>
          <a:p>
            <a:pPr algn="l">
              <a:spcAft>
                <a:spcPts val="500"/>
              </a:spcAft>
            </a:pPr>
            <a:r>
              <a:rPr sz="1300" b="0" i="0">
                <a:solidFill>
                  <a:srgbClr val="EEF3FA"/>
                </a:solidFill>
                <a:latin typeface="Calibri"/>
              </a:rPr>
              <a:t>•  Second run 0.089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hart-bar.png"/>
          <p:cNvPicPr>
            <a:picLocks noChangeAspect="1"/>
          </p:cNvPicPr>
          <p:nvPr/>
        </p:nvPicPr>
        <p:blipFill>
          <a:blip r:embed="rId2"/>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Fear drives the difference; outrage barely moves the score</a:t>
            </a:r>
          </a:p>
        </p:txBody>
      </p:sp>
      <p:sp>
        <p:nvSpPr>
          <p:cNvPr id="7" name="TextBox 6"/>
          <p:cNvSpPr txBox="1"/>
          <p:nvPr/>
        </p:nvSpPr>
        <p:spPr>
          <a:xfrm>
            <a:off x="685800" y="1371600"/>
            <a:ext cx="7315200" cy="320040"/>
          </a:xfrm>
          <a:prstGeom prst="rect">
            <a:avLst/>
          </a:prstGeom>
          <a:noFill/>
        </p:spPr>
        <p:txBody>
          <a:bodyPr wrap="square" anchor="t">
            <a:spAutoFit/>
          </a:bodyPr>
          <a:lstStyle/>
          <a:p>
            <a:pPr algn="l">
              <a:spcAft>
                <a:spcPts val="0"/>
              </a:spcAft>
            </a:pPr>
            <a:r>
              <a:rPr sz="1200" b="1" i="0">
                <a:solidFill>
                  <a:srgbClr val="9AABC4"/>
                </a:solidFill>
                <a:latin typeface="Calibri"/>
              </a:rPr>
              <a:t>DIFFERENCE FROM NEUTRAL ARTICLES (COHEN'S d)</a:t>
            </a:r>
          </a:p>
        </p:txBody>
      </p:sp>
      <p:sp>
        <p:nvSpPr>
          <p:cNvPr id="8" name="Rectangle 7"/>
          <p:cNvSpPr/>
          <p:nvPr/>
        </p:nvSpPr>
        <p:spPr>
          <a:xfrm>
            <a:off x="4151376" y="1874519"/>
            <a:ext cx="13716" cy="160020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02736" y="1645920"/>
            <a:ext cx="1097280" cy="274320"/>
          </a:xfrm>
          <a:prstGeom prst="rect">
            <a:avLst/>
          </a:prstGeom>
          <a:noFill/>
        </p:spPr>
        <p:txBody>
          <a:bodyPr wrap="square" anchor="t">
            <a:spAutoFit/>
          </a:bodyPr>
          <a:lstStyle/>
          <a:p>
            <a:pPr algn="ctr">
              <a:spcAft>
                <a:spcPts val="0"/>
              </a:spcAft>
            </a:pPr>
            <a:r>
              <a:rPr sz="1100" b="0" i="0">
                <a:solidFill>
                  <a:srgbClr val="9AABC4"/>
                </a:solidFill>
                <a:latin typeface="Calibri"/>
              </a:rPr>
              <a:t>small 0.2</a:t>
            </a:r>
          </a:p>
        </p:txBody>
      </p:sp>
      <p:sp>
        <p:nvSpPr>
          <p:cNvPr id="10" name="Rectangle 9"/>
          <p:cNvSpPr/>
          <p:nvPr/>
        </p:nvSpPr>
        <p:spPr>
          <a:xfrm>
            <a:off x="5852160" y="1874519"/>
            <a:ext cx="13716" cy="160020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03520" y="1645920"/>
            <a:ext cx="1097280" cy="274320"/>
          </a:xfrm>
          <a:prstGeom prst="rect">
            <a:avLst/>
          </a:prstGeom>
          <a:noFill/>
        </p:spPr>
        <p:txBody>
          <a:bodyPr wrap="square" anchor="t">
            <a:spAutoFit/>
          </a:bodyPr>
          <a:lstStyle/>
          <a:p>
            <a:pPr algn="ctr">
              <a:spcAft>
                <a:spcPts val="0"/>
              </a:spcAft>
            </a:pPr>
            <a:r>
              <a:rPr sz="1100" b="0" i="0">
                <a:solidFill>
                  <a:srgbClr val="9AABC4"/>
                </a:solidFill>
                <a:latin typeface="Calibri"/>
              </a:rPr>
              <a:t>medium 0.5</a:t>
            </a:r>
          </a:p>
        </p:txBody>
      </p:sp>
      <p:sp>
        <p:nvSpPr>
          <p:cNvPr id="12" name="Rectangle 11"/>
          <p:cNvSpPr/>
          <p:nvPr/>
        </p:nvSpPr>
        <p:spPr>
          <a:xfrm>
            <a:off x="7552944" y="1874519"/>
            <a:ext cx="13716" cy="1600200"/>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04304" y="1645920"/>
            <a:ext cx="1097280" cy="274320"/>
          </a:xfrm>
          <a:prstGeom prst="rect">
            <a:avLst/>
          </a:prstGeom>
          <a:noFill/>
        </p:spPr>
        <p:txBody>
          <a:bodyPr wrap="square" anchor="t">
            <a:spAutoFit/>
          </a:bodyPr>
          <a:lstStyle/>
          <a:p>
            <a:pPr algn="ctr">
              <a:spcAft>
                <a:spcPts val="0"/>
              </a:spcAft>
            </a:pPr>
            <a:r>
              <a:rPr sz="1100" b="0" i="0">
                <a:solidFill>
                  <a:srgbClr val="9AABC4"/>
                </a:solidFill>
                <a:latin typeface="Calibri"/>
              </a:rPr>
              <a:t>large 0.8</a:t>
            </a:r>
          </a:p>
        </p:txBody>
      </p:sp>
      <p:sp>
        <p:nvSpPr>
          <p:cNvPr id="14" name="TextBox 13"/>
          <p:cNvSpPr txBox="1"/>
          <p:nvPr/>
        </p:nvSpPr>
        <p:spPr>
          <a:xfrm>
            <a:off x="777240" y="1947672"/>
            <a:ext cx="2103120" cy="411480"/>
          </a:xfrm>
          <a:prstGeom prst="rect">
            <a:avLst/>
          </a:prstGeom>
          <a:noFill/>
        </p:spPr>
        <p:txBody>
          <a:bodyPr wrap="square" anchor="t">
            <a:spAutoFit/>
          </a:bodyPr>
          <a:lstStyle/>
          <a:p>
            <a:pPr algn="r">
              <a:spcAft>
                <a:spcPts val="0"/>
              </a:spcAft>
            </a:pPr>
            <a:r>
              <a:rPr sz="1500" b="0" i="0">
                <a:solidFill>
                  <a:srgbClr val="9AABC4"/>
                </a:solidFill>
                <a:latin typeface="Calibri"/>
              </a:rPr>
              <a:t>fear-driven</a:t>
            </a:r>
          </a:p>
        </p:txBody>
      </p:sp>
      <p:sp>
        <p:nvSpPr>
          <p:cNvPr id="15" name="Rectangle 14"/>
          <p:cNvSpPr/>
          <p:nvPr/>
        </p:nvSpPr>
        <p:spPr>
          <a:xfrm>
            <a:off x="3017520" y="2011680"/>
            <a:ext cx="566928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17520" y="2011680"/>
            <a:ext cx="5323453" cy="274320"/>
          </a:xfrm>
          <a:prstGeom prst="rect">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823960" y="1947672"/>
            <a:ext cx="2926080" cy="411480"/>
          </a:xfrm>
          <a:prstGeom prst="rect">
            <a:avLst/>
          </a:prstGeom>
          <a:noFill/>
        </p:spPr>
        <p:txBody>
          <a:bodyPr wrap="square" anchor="t">
            <a:spAutoFit/>
          </a:bodyPr>
          <a:lstStyle/>
          <a:p>
            <a:pPr algn="l">
              <a:spcAft>
                <a:spcPts val="0"/>
              </a:spcAft>
            </a:pPr>
            <a:r>
              <a:rPr sz="1500" b="1" i="0">
                <a:solidFill>
                  <a:srgbClr val="FF7A59"/>
                </a:solidFill>
                <a:latin typeface="Calibri"/>
              </a:rPr>
              <a:t>0.94  large</a:t>
            </a:r>
          </a:p>
        </p:txBody>
      </p:sp>
      <p:sp>
        <p:nvSpPr>
          <p:cNvPr id="18" name="TextBox 17"/>
          <p:cNvSpPr txBox="1"/>
          <p:nvPr/>
        </p:nvSpPr>
        <p:spPr>
          <a:xfrm>
            <a:off x="777240" y="2514600"/>
            <a:ext cx="2103120" cy="411480"/>
          </a:xfrm>
          <a:prstGeom prst="rect">
            <a:avLst/>
          </a:prstGeom>
          <a:noFill/>
        </p:spPr>
        <p:txBody>
          <a:bodyPr wrap="square" anchor="t">
            <a:spAutoFit/>
          </a:bodyPr>
          <a:lstStyle/>
          <a:p>
            <a:pPr algn="r">
              <a:spcAft>
                <a:spcPts val="0"/>
              </a:spcAft>
            </a:pPr>
            <a:r>
              <a:rPr sz="1500" b="0" i="0">
                <a:solidFill>
                  <a:srgbClr val="9AABC4"/>
                </a:solidFill>
                <a:latin typeface="Calibri"/>
              </a:rPr>
              <a:t>clickbait</a:t>
            </a:r>
          </a:p>
        </p:txBody>
      </p:sp>
      <p:sp>
        <p:nvSpPr>
          <p:cNvPr id="19" name="Rectangle 18"/>
          <p:cNvSpPr/>
          <p:nvPr/>
        </p:nvSpPr>
        <p:spPr>
          <a:xfrm>
            <a:off x="3017520" y="2578608"/>
            <a:ext cx="566928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017520" y="2578608"/>
            <a:ext cx="1808500" cy="274320"/>
          </a:xfrm>
          <a:prstGeom prst="rect">
            <a:avLst/>
          </a:prstGeom>
          <a:solidFill>
            <a:srgbClr val="3E8E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23960" y="2514600"/>
            <a:ext cx="2926080" cy="411480"/>
          </a:xfrm>
          <a:prstGeom prst="rect">
            <a:avLst/>
          </a:prstGeom>
          <a:noFill/>
        </p:spPr>
        <p:txBody>
          <a:bodyPr wrap="square" anchor="t">
            <a:spAutoFit/>
          </a:bodyPr>
          <a:lstStyle/>
          <a:p>
            <a:pPr algn="l">
              <a:spcAft>
                <a:spcPts val="0"/>
              </a:spcAft>
            </a:pPr>
            <a:r>
              <a:rPr sz="1500" b="1" i="0">
                <a:solidFill>
                  <a:srgbClr val="3E8EDE"/>
                </a:solidFill>
                <a:latin typeface="Calibri"/>
              </a:rPr>
              <a:t>0.32  small</a:t>
            </a:r>
          </a:p>
        </p:txBody>
      </p:sp>
      <p:sp>
        <p:nvSpPr>
          <p:cNvPr id="22" name="TextBox 21"/>
          <p:cNvSpPr txBox="1"/>
          <p:nvPr/>
        </p:nvSpPr>
        <p:spPr>
          <a:xfrm>
            <a:off x="777240" y="3081528"/>
            <a:ext cx="2103120" cy="411480"/>
          </a:xfrm>
          <a:prstGeom prst="rect">
            <a:avLst/>
          </a:prstGeom>
          <a:noFill/>
        </p:spPr>
        <p:txBody>
          <a:bodyPr wrap="square" anchor="t">
            <a:spAutoFit/>
          </a:bodyPr>
          <a:lstStyle/>
          <a:p>
            <a:pPr algn="r">
              <a:spcAft>
                <a:spcPts val="0"/>
              </a:spcAft>
            </a:pPr>
            <a:r>
              <a:rPr sz="1500" b="0" i="0">
                <a:solidFill>
                  <a:srgbClr val="9AABC4"/>
                </a:solidFill>
                <a:latin typeface="Calibri"/>
              </a:rPr>
              <a:t>outrage</a:t>
            </a:r>
          </a:p>
        </p:txBody>
      </p:sp>
      <p:sp>
        <p:nvSpPr>
          <p:cNvPr id="23" name="Rectangle 22"/>
          <p:cNvSpPr/>
          <p:nvPr/>
        </p:nvSpPr>
        <p:spPr>
          <a:xfrm>
            <a:off x="3017520" y="3145536"/>
            <a:ext cx="5669280" cy="274320"/>
          </a:xfrm>
          <a:prstGeom prst="rect">
            <a:avLst/>
          </a:prstGeom>
          <a:solidFill>
            <a:srgbClr val="2A3D5E">
              <a:alpha val="5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017520" y="3145536"/>
            <a:ext cx="170078" cy="274320"/>
          </a:xfrm>
          <a:prstGeom prst="rect">
            <a:avLst/>
          </a:prstGeom>
          <a:solidFill>
            <a:srgbClr val="F5B8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823960" y="3081528"/>
            <a:ext cx="2926080" cy="411480"/>
          </a:xfrm>
          <a:prstGeom prst="rect">
            <a:avLst/>
          </a:prstGeom>
          <a:noFill/>
        </p:spPr>
        <p:txBody>
          <a:bodyPr wrap="square" anchor="t">
            <a:spAutoFit/>
          </a:bodyPr>
          <a:lstStyle/>
          <a:p>
            <a:pPr algn="l">
              <a:spcAft>
                <a:spcPts val="0"/>
              </a:spcAft>
            </a:pPr>
            <a:r>
              <a:rPr sz="1500" b="1" i="0">
                <a:solidFill>
                  <a:srgbClr val="F5B83D"/>
                </a:solidFill>
                <a:latin typeface="Calibri"/>
              </a:rPr>
              <a:t>0.03  none</a:t>
            </a:r>
          </a:p>
        </p:txBody>
      </p:sp>
      <p:sp>
        <p:nvSpPr>
          <p:cNvPr id="26" name="Rounded Rectangle 25"/>
          <p:cNvSpPr/>
          <p:nvPr/>
        </p:nvSpPr>
        <p:spPr>
          <a:xfrm>
            <a:off x="685800" y="3749039"/>
            <a:ext cx="5257800" cy="19202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27" name="Picture 26" descr="75fb8530cacd19fd.png"/>
          <p:cNvPicPr>
            <a:picLocks noChangeAspect="1"/>
          </p:cNvPicPr>
          <p:nvPr/>
        </p:nvPicPr>
        <p:blipFill>
          <a:blip r:embed="rId3"/>
          <a:stretch>
            <a:fillRect/>
          </a:stretch>
        </p:blipFill>
        <p:spPr>
          <a:xfrm>
            <a:off x="886968" y="3858768"/>
            <a:ext cx="1589684" cy="373532"/>
          </a:xfrm>
          <a:prstGeom prst="rect">
            <a:avLst/>
          </a:prstGeom>
        </p:spPr>
      </p:pic>
      <p:sp>
        <p:nvSpPr>
          <p:cNvPr id="28" name="TextBox 27"/>
          <p:cNvSpPr txBox="1"/>
          <p:nvPr/>
        </p:nvSpPr>
        <p:spPr>
          <a:xfrm>
            <a:off x="795528" y="4526280"/>
            <a:ext cx="5029200" cy="1143000"/>
          </a:xfrm>
          <a:prstGeom prst="rect">
            <a:avLst/>
          </a:prstGeom>
          <a:noFill/>
        </p:spPr>
        <p:txBody>
          <a:bodyPr wrap="square" anchor="t">
            <a:spAutoFit/>
          </a:bodyPr>
          <a:lstStyle/>
          <a:p>
            <a:pPr algn="l">
              <a:spcAft>
                <a:spcPts val="400"/>
              </a:spcAft>
            </a:pPr>
            <a:r>
              <a:rPr sz="1300" b="1">
                <a:solidFill>
                  <a:srgbClr val="7CC4FF"/>
                </a:solidFill>
                <a:latin typeface="Calibri"/>
              </a:rPr>
              <a:t>X̄ </a:t>
            </a:r>
            <a:r>
              <a:rPr sz="1300" b="0">
                <a:solidFill>
                  <a:srgbClr val="EEF3FA"/>
                </a:solidFill>
                <a:latin typeface="Calibri"/>
              </a:rPr>
              <a:t>= average score of a group.  </a:t>
            </a:r>
            <a:r>
              <a:rPr sz="1300" b="1">
                <a:solidFill>
                  <a:srgbClr val="7CC4FF"/>
                </a:solidFill>
                <a:latin typeface="Calibri"/>
              </a:rPr>
              <a:t>s </a:t>
            </a:r>
            <a:r>
              <a:rPr sz="1300" b="0">
                <a:solidFill>
                  <a:srgbClr val="EEF3FA"/>
                </a:solidFill>
                <a:latin typeface="Calibri"/>
              </a:rPr>
              <a:t>= normal spread of scores.</a:t>
            </a:r>
          </a:p>
          <a:p>
            <a:pPr algn="l">
              <a:spcAft>
                <a:spcPts val="0"/>
              </a:spcAft>
            </a:pPr>
            <a:r>
              <a:rPr sz="1300" b="1">
                <a:solidFill>
                  <a:srgbClr val="9AABC4"/>
                </a:solidFill>
                <a:latin typeface="Calibri"/>
              </a:rPr>
              <a:t>What it means: </a:t>
            </a:r>
            <a:r>
              <a:rPr sz="1300" b="0">
                <a:solidFill>
                  <a:srgbClr val="EEF3FA"/>
                </a:solidFill>
                <a:latin typeface="Calibri"/>
              </a:rPr>
              <a:t>0.2 is small, 0.5 medium, 0.8 large. Fear articles sit almost one full spread away from neutral.</a:t>
            </a:r>
          </a:p>
        </p:txBody>
      </p:sp>
      <p:sp>
        <p:nvSpPr>
          <p:cNvPr id="29" name="Rounded Rectangle 28"/>
          <p:cNvSpPr/>
          <p:nvPr/>
        </p:nvSpPr>
        <p:spPr>
          <a:xfrm>
            <a:off x="6245352" y="3749039"/>
            <a:ext cx="5257800" cy="192024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600"/>
              </a:spcAft>
            </a:pPr>
            <a:r>
              <a:rPr sz="1200" b="1" i="0">
                <a:solidFill>
                  <a:srgbClr val="F5B83D"/>
                </a:solidFill>
                <a:latin typeface="Calibri"/>
              </a:rPr>
              <a:t>WHY OUTRAGE STAYS FLAT</a:t>
            </a:r>
          </a:p>
          <a:p>
            <a:pPr algn="l">
              <a:spcAft>
                <a:spcPts val="0"/>
              </a:spcAft>
            </a:pPr>
            <a:r>
              <a:rPr sz="1400" b="1">
                <a:solidFill>
                  <a:srgbClr val="EEF3FA"/>
                </a:solidFill>
                <a:latin typeface="Calibri"/>
              </a:rPr>
              <a:t>Outrage raised emotion areas by 0.51 and reasoning areas by 0.49. </a:t>
            </a:r>
            <a:r>
              <a:rPr sz="1400" b="0">
                <a:solidFill>
                  <a:srgbClr val="EEF3FA"/>
                </a:solidFill>
                <a:latin typeface="Calibri"/>
              </a:rPr>
              <a:t>The score is the gap between them, so it barely moves. Fear raised emotion areas only (0.61 vs −0.10).</a:t>
            </a:r>
          </a:p>
        </p:txBody>
      </p:sp>
      <p:sp>
        <p:nvSpPr>
          <p:cNvPr id="30" name="TextBox 29"/>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31" name="Rectangle 30"/>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08</a:t>
            </a:r>
          </a:p>
        </p:txBody>
      </p:sp>
      <p:sp>
        <p:nvSpPr>
          <p:cNvPr id="37" name="Rectangle 36"/>
          <p:cNvSpPr/>
          <p:nvPr/>
        </p:nvSpPr>
        <p:spPr>
          <a:xfrm>
            <a:off x="685800" y="6967728"/>
            <a:ext cx="10820095"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5800" y="7059168"/>
            <a:ext cx="10820095" cy="320040"/>
          </a:xfrm>
          <a:prstGeom prst="rect">
            <a:avLst/>
          </a:prstGeom>
          <a:noFill/>
        </p:spPr>
        <p:txBody>
          <a:bodyPr wrap="square" anchor="t">
            <a:spAutoFit/>
          </a:bodyPr>
          <a:lstStyle/>
          <a:p>
            <a:pPr algn="l">
              <a:spcAft>
                <a:spcPts val="0"/>
              </a:spcAft>
            </a:pPr>
            <a:r>
              <a:rPr sz="1200" b="1">
                <a:solidFill>
                  <a:srgbClr val="FF7A59"/>
                </a:solidFill>
                <a:latin typeface="Calibri"/>
              </a:rPr>
              <a:t>SCRIPT</a:t>
            </a:r>
            <a:r>
              <a:rPr sz="1200" b="0">
                <a:solidFill>
                  <a:srgbClr val="9AABC4"/>
                </a:solidFill>
                <a:latin typeface="Calibri"/>
              </a:rPr>
              <a:t>   ·   slide 08   ·   about 1 min</a:t>
            </a:r>
          </a:p>
        </p:txBody>
      </p:sp>
      <p:sp>
        <p:nvSpPr>
          <p:cNvPr id="39" name="Rounded Rectangle 38"/>
          <p:cNvSpPr/>
          <p:nvPr/>
        </p:nvSpPr>
        <p:spPr>
          <a:xfrm>
            <a:off x="685800" y="7406640"/>
            <a:ext cx="7818120" cy="219455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09728"/>
          <a:lstStyle/>
          <a:p>
            <a:pPr algn="l">
              <a:spcAft>
                <a:spcPts val="0"/>
              </a:spcAft>
            </a:pPr>
            <a:r>
              <a:rPr sz="1500" b="0" i="0">
                <a:solidFill>
                  <a:srgbClr val="EEF3FA"/>
                </a:solidFill>
                <a:latin typeface="Calibri"/>
              </a:rPr>
              <a:t>Which group drives it? Fear. Compared with neutral articles, fear-driven ones differ by 0.94, which counts as large. Clickbait is small. Outrage barely moves, which surprised us, because the proposal expected it to be strongest. Looking closer, outrage raises both the emotion and the reasoning areas by about the same amount, so the gap between them stays flat.</a:t>
            </a:r>
          </a:p>
        </p:txBody>
      </p:sp>
      <p:sp>
        <p:nvSpPr>
          <p:cNvPr id="40" name="Rounded Rectangle 39"/>
          <p:cNvSpPr/>
          <p:nvPr/>
        </p:nvSpPr>
        <p:spPr>
          <a:xfrm>
            <a:off x="8641080" y="7406640"/>
            <a:ext cx="2864815" cy="2194559"/>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100" b="1" i="0">
                <a:solidFill>
                  <a:srgbClr val="F5B83D"/>
                </a:solidFill>
                <a:latin typeface="Calibri"/>
              </a:rPr>
              <a:t>NUMBERS TO SAY</a:t>
            </a:r>
          </a:p>
          <a:p>
            <a:pPr algn="l">
              <a:spcAft>
                <a:spcPts val="500"/>
              </a:spcAft>
            </a:pPr>
            <a:r>
              <a:rPr sz="1300" b="0" i="0">
                <a:solidFill>
                  <a:srgbClr val="EEF3FA"/>
                </a:solidFill>
                <a:latin typeface="Calibri"/>
              </a:rPr>
              <a:t>•  Fear 0.94 (large)</a:t>
            </a:r>
          </a:p>
          <a:p>
            <a:pPr algn="l">
              <a:spcAft>
                <a:spcPts val="500"/>
              </a:spcAft>
            </a:pPr>
            <a:r>
              <a:rPr sz="1300" b="0" i="0">
                <a:solidFill>
                  <a:srgbClr val="EEF3FA"/>
                </a:solidFill>
                <a:latin typeface="Calibri"/>
              </a:rPr>
              <a:t>•  Clickbait 0.32 (small)</a:t>
            </a:r>
          </a:p>
          <a:p>
            <a:pPr algn="l">
              <a:spcAft>
                <a:spcPts val="500"/>
              </a:spcAft>
            </a:pPr>
            <a:r>
              <a:rPr sz="1300" b="0" i="0">
                <a:solidFill>
                  <a:srgbClr val="EEF3FA"/>
                </a:solidFill>
                <a:latin typeface="Calibri"/>
              </a:rPr>
              <a:t>•  Outrage 0.03: both areas rise, 0.51 and 0.49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arrows-clockwise.png"/>
          <p:cNvPicPr>
            <a:picLocks noChangeAspect="1"/>
          </p:cNvPicPr>
          <p:nvPr/>
        </p:nvPicPr>
        <p:blipFill>
          <a:blip r:embed="rId2"/>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The score repeats well for groups, not for single articles</a:t>
            </a:r>
          </a:p>
        </p:txBody>
      </p:sp>
      <p:sp>
        <p:nvSpPr>
          <p:cNvPr id="7" name="Rounded Rectangle 6"/>
          <p:cNvSpPr/>
          <p:nvPr/>
        </p:nvSpPr>
        <p:spPr>
          <a:xfrm>
            <a:off x="685800" y="1371600"/>
            <a:ext cx="5257800" cy="214884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4000" b="1" i="0">
                <a:solidFill>
                  <a:srgbClr val="7CC4FF"/>
                </a:solidFill>
                <a:latin typeface="Calibri"/>
              </a:rPr>
              <a:t>0.87</a:t>
            </a:r>
          </a:p>
          <a:p>
            <a:pPr algn="l">
              <a:spcAft>
                <a:spcPts val="600"/>
              </a:spcAft>
            </a:pPr>
            <a:r>
              <a:rPr sz="1400" b="1" i="0">
                <a:solidFill>
                  <a:srgbClr val="EEF3FA"/>
                </a:solidFill>
                <a:latin typeface="Calibri"/>
              </a:rPr>
              <a:t>Agreement between the two runs (ICC = 0.8725)</a:t>
            </a:r>
          </a:p>
          <a:p>
            <a:pPr algn="l">
              <a:spcAft>
                <a:spcPts val="400"/>
              </a:spcAft>
            </a:pPr>
            <a:r>
              <a:rPr sz="1300" b="1">
                <a:solidFill>
                  <a:srgbClr val="9AABC4"/>
                </a:solidFill>
                <a:latin typeface="Calibri"/>
              </a:rPr>
              <a:t>What it means: </a:t>
            </a:r>
            <a:r>
              <a:rPr sz="1300" b="0">
                <a:solidFill>
                  <a:srgbClr val="EEF3FA"/>
                </a:solidFill>
                <a:latin typeface="Calibri"/>
              </a:rPr>
              <a:t>1 means identical, 0 means no agreement. 0.87 is high.</a:t>
            </a:r>
          </a:p>
          <a:p>
            <a:pPr algn="l">
              <a:spcAft>
                <a:spcPts val="0"/>
              </a:spcAft>
            </a:pPr>
            <a:r>
              <a:rPr sz="1300" b="1">
                <a:solidFill>
                  <a:srgbClr val="9AABC4"/>
                </a:solidFill>
                <a:latin typeface="Calibri"/>
              </a:rPr>
              <a:t>Why this value: </a:t>
            </a:r>
            <a:r>
              <a:rPr sz="1300" b="0">
                <a:solidFill>
                  <a:srgbClr val="EEF3FA"/>
                </a:solidFill>
                <a:latin typeface="Calibri"/>
              </a:rPr>
              <a:t>The speech voice and the computer's arithmetic vary a little between runs.</a:t>
            </a:r>
          </a:p>
        </p:txBody>
      </p:sp>
      <p:sp>
        <p:nvSpPr>
          <p:cNvPr id="8" name="Rounded Rectangle 7"/>
          <p:cNvSpPr/>
          <p:nvPr/>
        </p:nvSpPr>
        <p:spPr>
          <a:xfrm>
            <a:off x="6245352" y="1371600"/>
            <a:ext cx="5257800" cy="214884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4000" b="1" i="0">
                <a:solidFill>
                  <a:srgbClr val="FF7A59"/>
                </a:solidFill>
                <a:latin typeface="Calibri"/>
              </a:rPr>
              <a:t>51 of 400</a:t>
            </a:r>
          </a:p>
          <a:p>
            <a:pPr algn="l">
              <a:spcAft>
                <a:spcPts val="600"/>
              </a:spcAft>
            </a:pPr>
            <a:r>
              <a:rPr sz="1400" b="1" i="0">
                <a:solidFill>
                  <a:srgbClr val="EEF3FA"/>
                </a:solidFill>
                <a:latin typeface="Calibri"/>
              </a:rPr>
              <a:t>Articles whose score flipped sign (12.8%)</a:t>
            </a:r>
          </a:p>
          <a:p>
            <a:pPr algn="l">
              <a:spcAft>
                <a:spcPts val="400"/>
              </a:spcAft>
            </a:pPr>
            <a:r>
              <a:rPr sz="1300" b="1">
                <a:solidFill>
                  <a:srgbClr val="9AABC4"/>
                </a:solidFill>
                <a:latin typeface="Calibri"/>
              </a:rPr>
              <a:t>What it means: </a:t>
            </a:r>
            <a:r>
              <a:rPr sz="1300" b="0">
                <a:solidFill>
                  <a:srgbClr val="EEF3FA"/>
                </a:solidFill>
                <a:latin typeface="Calibri"/>
              </a:rPr>
              <a:t>Noise alone predicts about 55. The ones that flipped all sit near zero.</a:t>
            </a:r>
          </a:p>
          <a:p>
            <a:pPr algn="l">
              <a:spcAft>
                <a:spcPts val="0"/>
              </a:spcAft>
            </a:pPr>
            <a:r>
              <a:rPr sz="1300" b="1">
                <a:solidFill>
                  <a:srgbClr val="9AABC4"/>
                </a:solidFill>
                <a:latin typeface="Calibri"/>
              </a:rPr>
              <a:t>Why this value: </a:t>
            </a:r>
            <a:r>
              <a:rPr sz="1300" b="0">
                <a:solidFill>
                  <a:srgbClr val="EEF3FA"/>
                </a:solidFill>
                <a:latin typeface="Calibri"/>
              </a:rPr>
              <a:t>A score near zero tips either way with a tiny wobble, so we never judge one article.</a:t>
            </a:r>
          </a:p>
        </p:txBody>
      </p:sp>
      <p:sp>
        <p:nvSpPr>
          <p:cNvPr id="9" name="TextBox 8"/>
          <p:cNvSpPr txBox="1"/>
          <p:nvPr/>
        </p:nvSpPr>
        <p:spPr>
          <a:xfrm>
            <a:off x="685800" y="3794760"/>
            <a:ext cx="10820095" cy="320040"/>
          </a:xfrm>
          <a:prstGeom prst="rect">
            <a:avLst/>
          </a:prstGeom>
          <a:noFill/>
        </p:spPr>
        <p:txBody>
          <a:bodyPr wrap="square" anchor="t">
            <a:spAutoFit/>
          </a:bodyPr>
          <a:lstStyle/>
          <a:p>
            <a:pPr algn="l">
              <a:spcAft>
                <a:spcPts val="0"/>
              </a:spcAft>
            </a:pPr>
            <a:r>
              <a:rPr sz="1200" b="1" i="0">
                <a:solidFill>
                  <a:srgbClr val="9AABC4"/>
                </a:solidFill>
                <a:latin typeface="Calibri"/>
              </a:rPr>
              <a:t>FLIPPED ARTICLES: WHAT WE SAW AGAINST WHAT NOISE ALONE PREDICTS</a:t>
            </a:r>
          </a:p>
        </p:txBody>
      </p:sp>
      <p:sp>
        <p:nvSpPr>
          <p:cNvPr id="10" name="Rectangle 9"/>
          <p:cNvSpPr/>
          <p:nvPr/>
        </p:nvSpPr>
        <p:spPr>
          <a:xfrm>
            <a:off x="2011680" y="4754880"/>
            <a:ext cx="8138160"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096768" y="4608576"/>
            <a:ext cx="6239256" cy="310896"/>
          </a:xfrm>
          <a:prstGeom prst="rect">
            <a:avLst/>
          </a:prstGeom>
          <a:solidFill>
            <a:srgbClr val="3E8EDE">
              <a:alpha val="3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143853" y="4480560"/>
            <a:ext cx="36576" cy="566928"/>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876800" y="4645152"/>
            <a:ext cx="237744" cy="237744"/>
          </a:xfrm>
          <a:prstGeom prst="ellipse">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45920" y="5029200"/>
            <a:ext cx="731520" cy="274320"/>
          </a:xfrm>
          <a:prstGeom prst="rect">
            <a:avLst/>
          </a:prstGeom>
          <a:noFill/>
        </p:spPr>
        <p:txBody>
          <a:bodyPr wrap="square" anchor="t">
            <a:spAutoFit/>
          </a:bodyPr>
          <a:lstStyle/>
          <a:p>
            <a:pPr algn="ctr">
              <a:spcAft>
                <a:spcPts val="0"/>
              </a:spcAft>
            </a:pPr>
            <a:r>
              <a:rPr sz="1100" b="0" i="0">
                <a:solidFill>
                  <a:srgbClr val="9AABC4"/>
                </a:solidFill>
                <a:latin typeface="Calibri"/>
              </a:rPr>
              <a:t>40</a:t>
            </a:r>
          </a:p>
        </p:txBody>
      </p:sp>
      <p:sp>
        <p:nvSpPr>
          <p:cNvPr id="15" name="TextBox 14"/>
          <p:cNvSpPr txBox="1"/>
          <p:nvPr/>
        </p:nvSpPr>
        <p:spPr>
          <a:xfrm>
            <a:off x="4358640" y="5029200"/>
            <a:ext cx="731520" cy="274320"/>
          </a:xfrm>
          <a:prstGeom prst="rect">
            <a:avLst/>
          </a:prstGeom>
          <a:noFill/>
        </p:spPr>
        <p:txBody>
          <a:bodyPr wrap="square" anchor="t">
            <a:spAutoFit/>
          </a:bodyPr>
          <a:lstStyle/>
          <a:p>
            <a:pPr algn="ctr">
              <a:spcAft>
                <a:spcPts val="0"/>
              </a:spcAft>
            </a:pPr>
            <a:r>
              <a:rPr sz="1100" b="0" i="0">
                <a:solidFill>
                  <a:srgbClr val="9AABC4"/>
                </a:solidFill>
                <a:latin typeface="Calibri"/>
              </a:rPr>
              <a:t>50</a:t>
            </a:r>
          </a:p>
        </p:txBody>
      </p:sp>
      <p:sp>
        <p:nvSpPr>
          <p:cNvPr id="16" name="TextBox 15"/>
          <p:cNvSpPr txBox="1"/>
          <p:nvPr/>
        </p:nvSpPr>
        <p:spPr>
          <a:xfrm>
            <a:off x="7071359" y="5029200"/>
            <a:ext cx="731520" cy="274320"/>
          </a:xfrm>
          <a:prstGeom prst="rect">
            <a:avLst/>
          </a:prstGeom>
          <a:noFill/>
        </p:spPr>
        <p:txBody>
          <a:bodyPr wrap="square" anchor="t">
            <a:spAutoFit/>
          </a:bodyPr>
          <a:lstStyle/>
          <a:p>
            <a:pPr algn="ctr">
              <a:spcAft>
                <a:spcPts val="0"/>
              </a:spcAft>
            </a:pPr>
            <a:r>
              <a:rPr sz="1100" b="0" i="0">
                <a:solidFill>
                  <a:srgbClr val="9AABC4"/>
                </a:solidFill>
                <a:latin typeface="Calibri"/>
              </a:rPr>
              <a:t>60</a:t>
            </a:r>
          </a:p>
        </p:txBody>
      </p:sp>
      <p:sp>
        <p:nvSpPr>
          <p:cNvPr id="17" name="TextBox 16"/>
          <p:cNvSpPr txBox="1"/>
          <p:nvPr/>
        </p:nvSpPr>
        <p:spPr>
          <a:xfrm>
            <a:off x="9784080" y="5029200"/>
            <a:ext cx="731520" cy="274320"/>
          </a:xfrm>
          <a:prstGeom prst="rect">
            <a:avLst/>
          </a:prstGeom>
          <a:noFill/>
        </p:spPr>
        <p:txBody>
          <a:bodyPr wrap="square" anchor="t">
            <a:spAutoFit/>
          </a:bodyPr>
          <a:lstStyle/>
          <a:p>
            <a:pPr algn="ctr">
              <a:spcAft>
                <a:spcPts val="0"/>
              </a:spcAft>
            </a:pPr>
            <a:r>
              <a:rPr sz="1100" b="0" i="0">
                <a:solidFill>
                  <a:srgbClr val="9AABC4"/>
                </a:solidFill>
                <a:latin typeface="Calibri"/>
              </a:rPr>
              <a:t>70</a:t>
            </a:r>
          </a:p>
        </p:txBody>
      </p:sp>
      <p:sp>
        <p:nvSpPr>
          <p:cNvPr id="18" name="TextBox 17"/>
          <p:cNvSpPr txBox="1"/>
          <p:nvPr/>
        </p:nvSpPr>
        <p:spPr>
          <a:xfrm>
            <a:off x="4333341" y="4096512"/>
            <a:ext cx="3657600" cy="365760"/>
          </a:xfrm>
          <a:prstGeom prst="rect">
            <a:avLst/>
          </a:prstGeom>
          <a:noFill/>
        </p:spPr>
        <p:txBody>
          <a:bodyPr wrap="square" anchor="t">
            <a:spAutoFit/>
          </a:bodyPr>
          <a:lstStyle/>
          <a:p>
            <a:pPr algn="ctr">
              <a:spcAft>
                <a:spcPts val="0"/>
              </a:spcAft>
            </a:pPr>
            <a:r>
              <a:rPr sz="1300" b="1" i="0">
                <a:solidFill>
                  <a:srgbClr val="7CC4FF"/>
                </a:solidFill>
                <a:latin typeface="Calibri"/>
              </a:rPr>
              <a:t>noise predicts about 55 (shaded: 44 to 67)</a:t>
            </a:r>
          </a:p>
        </p:txBody>
      </p:sp>
      <p:sp>
        <p:nvSpPr>
          <p:cNvPr id="19" name="TextBox 18"/>
          <p:cNvSpPr txBox="1"/>
          <p:nvPr/>
        </p:nvSpPr>
        <p:spPr>
          <a:xfrm>
            <a:off x="3898391" y="5257800"/>
            <a:ext cx="2194560" cy="365760"/>
          </a:xfrm>
          <a:prstGeom prst="rect">
            <a:avLst/>
          </a:prstGeom>
          <a:noFill/>
        </p:spPr>
        <p:txBody>
          <a:bodyPr wrap="square" anchor="t">
            <a:spAutoFit/>
          </a:bodyPr>
          <a:lstStyle/>
          <a:p>
            <a:pPr algn="ctr">
              <a:spcAft>
                <a:spcPts val="0"/>
              </a:spcAft>
            </a:pPr>
            <a:r>
              <a:rPr sz="1300" b="1" i="0">
                <a:solidFill>
                  <a:srgbClr val="FF7A59"/>
                </a:solidFill>
                <a:latin typeface="Calibri"/>
              </a:rPr>
              <a:t>we saw 51</a:t>
            </a:r>
          </a:p>
        </p:txBody>
      </p:sp>
      <p:sp>
        <p:nvSpPr>
          <p:cNvPr id="20" name="TextBox 19"/>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1" name="Rectangle 20"/>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09</a:t>
            </a:r>
          </a:p>
        </p:txBody>
      </p:sp>
      <p:sp>
        <p:nvSpPr>
          <p:cNvPr id="27" name="Rectangle 26"/>
          <p:cNvSpPr/>
          <p:nvPr/>
        </p:nvSpPr>
        <p:spPr>
          <a:xfrm>
            <a:off x="685800" y="6967728"/>
            <a:ext cx="10820095"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7059168"/>
            <a:ext cx="10820095" cy="320040"/>
          </a:xfrm>
          <a:prstGeom prst="rect">
            <a:avLst/>
          </a:prstGeom>
          <a:noFill/>
        </p:spPr>
        <p:txBody>
          <a:bodyPr wrap="square" anchor="t">
            <a:spAutoFit/>
          </a:bodyPr>
          <a:lstStyle/>
          <a:p>
            <a:pPr algn="l">
              <a:spcAft>
                <a:spcPts val="0"/>
              </a:spcAft>
            </a:pPr>
            <a:r>
              <a:rPr sz="1200" b="1">
                <a:solidFill>
                  <a:srgbClr val="FF7A59"/>
                </a:solidFill>
                <a:latin typeface="Calibri"/>
              </a:rPr>
              <a:t>SCRIPT</a:t>
            </a:r>
            <a:r>
              <a:rPr sz="1200" b="0">
                <a:solidFill>
                  <a:srgbClr val="9AABC4"/>
                </a:solidFill>
                <a:latin typeface="Calibri"/>
              </a:rPr>
              <a:t>   ·   slide 09   ·   about 1 min</a:t>
            </a:r>
          </a:p>
        </p:txBody>
      </p:sp>
      <p:sp>
        <p:nvSpPr>
          <p:cNvPr id="29" name="Rounded Rectangle 28"/>
          <p:cNvSpPr/>
          <p:nvPr/>
        </p:nvSpPr>
        <p:spPr>
          <a:xfrm>
            <a:off x="685800" y="7406640"/>
            <a:ext cx="7818120" cy="219455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09728"/>
          <a:lstStyle/>
          <a:p>
            <a:pPr algn="l">
              <a:spcAft>
                <a:spcPts val="0"/>
              </a:spcAft>
            </a:pPr>
            <a:r>
              <a:rPr sz="1500" b="0" i="0">
                <a:solidFill>
                  <a:srgbClr val="EEF3FA"/>
                </a:solidFill>
                <a:latin typeface="Calibri"/>
              </a:rPr>
              <a:t>Can we trust the score? We ran all 400 articles twice. Agreement between runs is 0.87, where 1 means identical, so it's high. It isn't perfect because the speech voice and the computer's arithmetic vary slightly. 51 articles flipped sign. Noise alone predicts about 55, and those articles all sit near zero. So we only make claims about groups, never one article.</a:t>
            </a:r>
          </a:p>
        </p:txBody>
      </p:sp>
      <p:sp>
        <p:nvSpPr>
          <p:cNvPr id="30" name="Rounded Rectangle 29"/>
          <p:cNvSpPr/>
          <p:nvPr/>
        </p:nvSpPr>
        <p:spPr>
          <a:xfrm>
            <a:off x="8641080" y="7406640"/>
            <a:ext cx="2864815" cy="2194559"/>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100" b="1" i="0">
                <a:solidFill>
                  <a:srgbClr val="F5B83D"/>
                </a:solidFill>
                <a:latin typeface="Calibri"/>
              </a:rPr>
              <a:t>NUMBERS TO SAY</a:t>
            </a:r>
          </a:p>
          <a:p>
            <a:pPr algn="l">
              <a:spcAft>
                <a:spcPts val="500"/>
              </a:spcAft>
            </a:pPr>
            <a:r>
              <a:rPr sz="1300" b="0" i="0">
                <a:solidFill>
                  <a:srgbClr val="EEF3FA"/>
                </a:solidFill>
                <a:latin typeface="Calibri"/>
              </a:rPr>
              <a:t>•  Agreement 0.87 (1 = identical)</a:t>
            </a:r>
          </a:p>
          <a:p>
            <a:pPr algn="l">
              <a:spcAft>
                <a:spcPts val="500"/>
              </a:spcAft>
            </a:pPr>
            <a:r>
              <a:rPr sz="1300" b="0" i="0">
                <a:solidFill>
                  <a:srgbClr val="EEF3FA"/>
                </a:solidFill>
                <a:latin typeface="Calibri"/>
              </a:rPr>
              <a:t>•  51 flipped, about 55 expected (44 to 67)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warning.png"/>
          <p:cNvPicPr>
            <a:picLocks noChangeAspect="1"/>
          </p:cNvPicPr>
          <p:nvPr/>
        </p:nvPicPr>
        <p:blipFill>
          <a:blip r:embed="rId2"/>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Honest check: simple word counting sorts articles better than our score</a:t>
            </a:r>
          </a:p>
        </p:txBody>
      </p:sp>
      <p:sp>
        <p:nvSpPr>
          <p:cNvPr id="7" name="TextBox 6"/>
          <p:cNvSpPr txBox="1"/>
          <p:nvPr/>
        </p:nvSpPr>
        <p:spPr>
          <a:xfrm>
            <a:off x="685800" y="1325880"/>
            <a:ext cx="10820095" cy="457200"/>
          </a:xfrm>
          <a:prstGeom prst="rect">
            <a:avLst/>
          </a:prstGeom>
          <a:noFill/>
        </p:spPr>
        <p:txBody>
          <a:bodyPr wrap="square" anchor="t">
            <a:spAutoFit/>
          </a:bodyPr>
          <a:lstStyle/>
          <a:p>
            <a:pPr algn="l">
              <a:spcAft>
                <a:spcPts val="0"/>
              </a:spcAft>
            </a:pPr>
            <a:r>
              <a:rPr sz="1500" b="1">
                <a:solidFill>
                  <a:srgbClr val="7CC4FF"/>
                </a:solidFill>
                <a:latin typeface="Calibri"/>
              </a:rPr>
              <a:t>AUC </a:t>
            </a:r>
            <a:r>
              <a:rPr sz="1500" b="0">
                <a:solidFill>
                  <a:srgbClr val="EEF3FA"/>
                </a:solidFill>
                <a:latin typeface="Calibri"/>
              </a:rPr>
              <a:t>= how well a score sorts manipulative from neutral articles. 0.5 is a coin toss, 1.0 is perfect.</a:t>
            </a:r>
          </a:p>
        </p:txBody>
      </p:sp>
      <p:sp>
        <p:nvSpPr>
          <p:cNvPr id="8" name="Rectangle 7"/>
          <p:cNvSpPr/>
          <p:nvPr/>
        </p:nvSpPr>
        <p:spPr>
          <a:xfrm>
            <a:off x="1280160" y="2743200"/>
            <a:ext cx="9601200" cy="54864"/>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199" y="2926080"/>
            <a:ext cx="1645920" cy="274320"/>
          </a:xfrm>
          <a:prstGeom prst="rect">
            <a:avLst/>
          </a:prstGeom>
          <a:noFill/>
        </p:spPr>
        <p:txBody>
          <a:bodyPr wrap="square" anchor="t">
            <a:spAutoFit/>
          </a:bodyPr>
          <a:lstStyle/>
          <a:p>
            <a:pPr algn="ctr">
              <a:spcAft>
                <a:spcPts val="0"/>
              </a:spcAft>
            </a:pPr>
            <a:r>
              <a:rPr sz="1100" b="0" i="0">
                <a:solidFill>
                  <a:srgbClr val="9AABC4"/>
                </a:solidFill>
                <a:latin typeface="Calibri"/>
              </a:rPr>
              <a:t>0.5 coin toss</a:t>
            </a:r>
          </a:p>
        </p:txBody>
      </p:sp>
      <p:sp>
        <p:nvSpPr>
          <p:cNvPr id="10" name="TextBox 9"/>
          <p:cNvSpPr txBox="1"/>
          <p:nvPr/>
        </p:nvSpPr>
        <p:spPr>
          <a:xfrm>
            <a:off x="5257800" y="2926080"/>
            <a:ext cx="1645920" cy="274320"/>
          </a:xfrm>
          <a:prstGeom prst="rect">
            <a:avLst/>
          </a:prstGeom>
          <a:noFill/>
        </p:spPr>
        <p:txBody>
          <a:bodyPr wrap="square" anchor="t">
            <a:spAutoFit/>
          </a:bodyPr>
          <a:lstStyle/>
          <a:p>
            <a:pPr algn="ctr">
              <a:spcAft>
                <a:spcPts val="0"/>
              </a:spcAft>
            </a:pPr>
            <a:r>
              <a:rPr sz="1100" b="0" i="0">
                <a:solidFill>
                  <a:srgbClr val="9AABC4"/>
                </a:solidFill>
                <a:latin typeface="Calibri"/>
              </a:rPr>
              <a:t>0.75</a:t>
            </a:r>
          </a:p>
        </p:txBody>
      </p:sp>
      <p:sp>
        <p:nvSpPr>
          <p:cNvPr id="11" name="TextBox 10"/>
          <p:cNvSpPr txBox="1"/>
          <p:nvPr/>
        </p:nvSpPr>
        <p:spPr>
          <a:xfrm>
            <a:off x="10058400" y="2926080"/>
            <a:ext cx="1645920" cy="274320"/>
          </a:xfrm>
          <a:prstGeom prst="rect">
            <a:avLst/>
          </a:prstGeom>
          <a:noFill/>
        </p:spPr>
        <p:txBody>
          <a:bodyPr wrap="square" anchor="t">
            <a:spAutoFit/>
          </a:bodyPr>
          <a:lstStyle/>
          <a:p>
            <a:pPr algn="ctr">
              <a:spcAft>
                <a:spcPts val="0"/>
              </a:spcAft>
            </a:pPr>
            <a:r>
              <a:rPr sz="1100" b="0" i="0">
                <a:solidFill>
                  <a:srgbClr val="9AABC4"/>
                </a:solidFill>
                <a:latin typeface="Calibri"/>
              </a:rPr>
              <a:t>1.0 perfect</a:t>
            </a:r>
          </a:p>
        </p:txBody>
      </p:sp>
      <p:sp>
        <p:nvSpPr>
          <p:cNvPr id="12" name="Oval 11"/>
          <p:cNvSpPr/>
          <p:nvPr/>
        </p:nvSpPr>
        <p:spPr>
          <a:xfrm>
            <a:off x="1895734" y="2633472"/>
            <a:ext cx="274320" cy="274320"/>
          </a:xfrm>
          <a:prstGeom prst="ellipse">
            <a:avLst/>
          </a:prstGeom>
          <a:solidFill>
            <a:srgbClr val="9AAB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4174" y="3200400"/>
            <a:ext cx="2377440" cy="365760"/>
          </a:xfrm>
          <a:prstGeom prst="rect">
            <a:avLst/>
          </a:prstGeom>
          <a:noFill/>
        </p:spPr>
        <p:txBody>
          <a:bodyPr wrap="square" anchor="t">
            <a:spAutoFit/>
          </a:bodyPr>
          <a:lstStyle/>
          <a:p>
            <a:pPr algn="ctr">
              <a:spcAft>
                <a:spcPts val="0"/>
              </a:spcAft>
            </a:pPr>
            <a:r>
              <a:rPr sz="1500" b="1" i="0">
                <a:solidFill>
                  <a:srgbClr val="9AABC4"/>
                </a:solidFill>
                <a:latin typeface="Calibri"/>
              </a:rPr>
              <a:t>sentiment tool 0.54</a:t>
            </a:r>
          </a:p>
        </p:txBody>
      </p:sp>
      <p:sp>
        <p:nvSpPr>
          <p:cNvPr id="14" name="Oval 13"/>
          <p:cNvSpPr/>
          <p:nvPr/>
        </p:nvSpPr>
        <p:spPr>
          <a:xfrm>
            <a:off x="3589385" y="2633472"/>
            <a:ext cx="274320" cy="274320"/>
          </a:xfrm>
          <a:prstGeom prst="ellipse">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37825" y="2176272"/>
            <a:ext cx="2377440" cy="365760"/>
          </a:xfrm>
          <a:prstGeom prst="rect">
            <a:avLst/>
          </a:prstGeom>
          <a:noFill/>
        </p:spPr>
        <p:txBody>
          <a:bodyPr wrap="square" anchor="t">
            <a:spAutoFit/>
          </a:bodyPr>
          <a:lstStyle/>
          <a:p>
            <a:pPr algn="ctr">
              <a:spcAft>
                <a:spcPts val="0"/>
              </a:spcAft>
            </a:pPr>
            <a:r>
              <a:rPr sz="1500" b="1" i="0">
                <a:solidFill>
                  <a:srgbClr val="7CC4FF"/>
                </a:solidFill>
                <a:latin typeface="Calibri"/>
              </a:rPr>
              <a:t>our score 0.63</a:t>
            </a:r>
          </a:p>
        </p:txBody>
      </p:sp>
      <p:sp>
        <p:nvSpPr>
          <p:cNvPr id="16" name="Oval 15"/>
          <p:cNvSpPr/>
          <p:nvPr/>
        </p:nvSpPr>
        <p:spPr>
          <a:xfrm>
            <a:off x="10279501" y="2633472"/>
            <a:ext cx="274320" cy="274320"/>
          </a:xfrm>
          <a:prstGeom prst="ellipse">
            <a:avLst/>
          </a:prstGeom>
          <a:solidFill>
            <a:srgbClr val="FF7A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227941" y="2176272"/>
            <a:ext cx="2377440" cy="365760"/>
          </a:xfrm>
          <a:prstGeom prst="rect">
            <a:avLst/>
          </a:prstGeom>
          <a:noFill/>
        </p:spPr>
        <p:txBody>
          <a:bodyPr wrap="square" anchor="t">
            <a:spAutoFit/>
          </a:bodyPr>
          <a:lstStyle/>
          <a:p>
            <a:pPr algn="ctr">
              <a:spcAft>
                <a:spcPts val="0"/>
              </a:spcAft>
            </a:pPr>
            <a:r>
              <a:rPr sz="1500" b="1" i="0">
                <a:solidFill>
                  <a:srgbClr val="FF7A59"/>
                </a:solidFill>
                <a:latin typeface="Calibri"/>
              </a:rPr>
              <a:t>word counting 0.98</a:t>
            </a:r>
          </a:p>
        </p:txBody>
      </p:sp>
      <p:sp>
        <p:nvSpPr>
          <p:cNvPr id="18" name="Rounded Rectangle 17"/>
          <p:cNvSpPr/>
          <p:nvPr/>
        </p:nvSpPr>
        <p:spPr>
          <a:xfrm>
            <a:off x="685800" y="3749039"/>
            <a:ext cx="5257800" cy="1874519"/>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600"/>
              </a:spcAft>
            </a:pPr>
            <a:r>
              <a:rPr sz="1200" b="1" i="0">
                <a:solidFill>
                  <a:srgbClr val="FF7A59"/>
                </a:solidFill>
                <a:latin typeface="Calibri"/>
              </a:rPr>
              <a:t>WHY WORD COUNTING WINS</a:t>
            </a:r>
          </a:p>
          <a:p>
            <a:pPr algn="l">
              <a:spcAft>
                <a:spcPts val="0"/>
              </a:spcAft>
            </a:pPr>
            <a:r>
              <a:rPr sz="1500" b="0" i="0">
                <a:solidFill>
                  <a:srgbClr val="EEF3FA"/>
                </a:solidFill>
                <a:latin typeface="Calibri"/>
              </a:rPr>
              <a:t>Each group came from a different source. From the words alone, a computer guesses the source 66% of the time, against 25% by chance. So it is partly spotting the source, not the style.</a:t>
            </a:r>
          </a:p>
        </p:txBody>
      </p:sp>
      <p:sp>
        <p:nvSpPr>
          <p:cNvPr id="19" name="Rounded Rectangle 18"/>
          <p:cNvSpPr/>
          <p:nvPr/>
        </p:nvSpPr>
        <p:spPr>
          <a:xfrm>
            <a:off x="6245352" y="3749039"/>
            <a:ext cx="5257800" cy="187451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600"/>
              </a:spcAft>
            </a:pPr>
            <a:r>
              <a:rPr sz="1200" b="1" i="0">
                <a:solidFill>
                  <a:srgbClr val="7CC4FF"/>
                </a:solidFill>
                <a:latin typeface="Calibri"/>
              </a:rPr>
              <a:t>WHAT THIS MEANS FOR US</a:t>
            </a:r>
          </a:p>
          <a:p>
            <a:pPr algn="l">
              <a:spcAft>
                <a:spcPts val="0"/>
              </a:spcAft>
            </a:pPr>
            <a:r>
              <a:rPr sz="1500" b="0" i="0">
                <a:solidFill>
                  <a:srgbClr val="EEF3FA"/>
                </a:solidFill>
                <a:latin typeface="Calibri"/>
              </a:rPr>
              <a:t>We cannot say the group differences come from writing style alone. Our score is offered as a measurement for the physics model, not as a manipulation detector.</a:t>
            </a:r>
          </a:p>
        </p:txBody>
      </p:sp>
      <p:sp>
        <p:nvSpPr>
          <p:cNvPr id="20" name="TextBox 19"/>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21" name="Rectangle 20"/>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10</a:t>
            </a:r>
          </a:p>
        </p:txBody>
      </p:sp>
      <p:sp>
        <p:nvSpPr>
          <p:cNvPr id="27" name="Rectangle 26"/>
          <p:cNvSpPr/>
          <p:nvPr/>
        </p:nvSpPr>
        <p:spPr>
          <a:xfrm>
            <a:off x="685800" y="6967728"/>
            <a:ext cx="10820095"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7059168"/>
            <a:ext cx="10820095" cy="320040"/>
          </a:xfrm>
          <a:prstGeom prst="rect">
            <a:avLst/>
          </a:prstGeom>
          <a:noFill/>
        </p:spPr>
        <p:txBody>
          <a:bodyPr wrap="square" anchor="t">
            <a:spAutoFit/>
          </a:bodyPr>
          <a:lstStyle/>
          <a:p>
            <a:pPr algn="l">
              <a:spcAft>
                <a:spcPts val="0"/>
              </a:spcAft>
            </a:pPr>
            <a:r>
              <a:rPr sz="1200" b="1">
                <a:solidFill>
                  <a:srgbClr val="FF7A59"/>
                </a:solidFill>
                <a:latin typeface="Calibri"/>
              </a:rPr>
              <a:t>SCRIPT</a:t>
            </a:r>
            <a:r>
              <a:rPr sz="1200" b="0">
                <a:solidFill>
                  <a:srgbClr val="9AABC4"/>
                </a:solidFill>
                <a:latin typeface="Calibri"/>
              </a:rPr>
              <a:t>   ·   slide 10   ·   about 1.5 min</a:t>
            </a:r>
          </a:p>
        </p:txBody>
      </p:sp>
      <p:sp>
        <p:nvSpPr>
          <p:cNvPr id="29" name="Rounded Rectangle 28"/>
          <p:cNvSpPr/>
          <p:nvPr/>
        </p:nvSpPr>
        <p:spPr>
          <a:xfrm>
            <a:off x="685800" y="7406640"/>
            <a:ext cx="7818120" cy="219455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09728"/>
          <a:lstStyle/>
          <a:p>
            <a:pPr algn="l">
              <a:spcAft>
                <a:spcPts val="0"/>
              </a:spcAft>
            </a:pPr>
            <a:r>
              <a:rPr sz="1500" b="0" i="0">
                <a:solidFill>
                  <a:srgbClr val="EEF3FA"/>
                </a:solidFill>
                <a:latin typeface="Calibri"/>
              </a:rPr>
              <a:t>Now the most important honest check. Simple word counting sorted manipulative from neutral articles far better than our score: 0.98 against 0.63, where 0.5 is a coin toss. The reason is that each group came from a different source, and the words give the source away. So we can't say the differences come from writing style alone. Our score is a measurement for the physics, not a manipulation detector.</a:t>
            </a:r>
          </a:p>
        </p:txBody>
      </p:sp>
      <p:sp>
        <p:nvSpPr>
          <p:cNvPr id="30" name="Rounded Rectangle 29"/>
          <p:cNvSpPr/>
          <p:nvPr/>
        </p:nvSpPr>
        <p:spPr>
          <a:xfrm>
            <a:off x="8641080" y="7406640"/>
            <a:ext cx="2864815" cy="2194559"/>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100" b="1" i="0">
                <a:solidFill>
                  <a:srgbClr val="F5B83D"/>
                </a:solidFill>
                <a:latin typeface="Calibri"/>
              </a:rPr>
              <a:t>NUMBERS TO SAY</a:t>
            </a:r>
          </a:p>
          <a:p>
            <a:pPr algn="l">
              <a:spcAft>
                <a:spcPts val="500"/>
              </a:spcAft>
            </a:pPr>
            <a:r>
              <a:rPr sz="1300" b="0" i="0">
                <a:solidFill>
                  <a:srgbClr val="EEF3FA"/>
                </a:solidFill>
                <a:latin typeface="Calibri"/>
              </a:rPr>
              <a:t>•  Word counting 0.98, ours 0.63, sentiment 0.54</a:t>
            </a:r>
          </a:p>
          <a:p>
            <a:pPr algn="l">
              <a:spcAft>
                <a:spcPts val="500"/>
              </a:spcAft>
            </a:pPr>
            <a:r>
              <a:rPr sz="1300" b="0" i="0">
                <a:solidFill>
                  <a:srgbClr val="EEF3FA"/>
                </a:solidFill>
                <a:latin typeface="Calibri"/>
              </a:rPr>
              <a:t>•  0.5 = coin toss</a:t>
            </a:r>
          </a:p>
          <a:p>
            <a:pPr algn="l">
              <a:spcAft>
                <a:spcPts val="500"/>
              </a:spcAft>
            </a:pPr>
            <a:r>
              <a:rPr sz="1300" b="0" i="0">
                <a:solidFill>
                  <a:srgbClr val="EEF3FA"/>
                </a:solidFill>
                <a:latin typeface="Calibri"/>
              </a:rPr>
              <a:t>•  Source guessed 66% of the time vs 25% by chance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png"/>
          <p:cNvPicPr>
            <a:picLocks noChangeAspect="1"/>
          </p:cNvPicPr>
          <p:nvPr/>
        </p:nvPicPr>
        <p:blipFill>
          <a:blip r:embed="rId2"/>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RESULTS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Does the brain model match real brains? Weakly, but yes</a:t>
            </a:r>
          </a:p>
        </p:txBody>
      </p:sp>
      <p:sp>
        <p:nvSpPr>
          <p:cNvPr id="7" name="TextBox 6"/>
          <p:cNvSpPr txBox="1"/>
          <p:nvPr/>
        </p:nvSpPr>
        <p:spPr>
          <a:xfrm>
            <a:off x="685800" y="1325880"/>
            <a:ext cx="10820095" cy="457200"/>
          </a:xfrm>
          <a:prstGeom prst="rect">
            <a:avLst/>
          </a:prstGeom>
          <a:noFill/>
        </p:spPr>
        <p:txBody>
          <a:bodyPr wrap="square" anchor="t">
            <a:spAutoFit/>
          </a:bodyPr>
          <a:lstStyle/>
          <a:p>
            <a:pPr algn="l">
              <a:spcAft>
                <a:spcPts val="0"/>
              </a:spcAft>
            </a:pPr>
            <a:r>
              <a:rPr sz="1500" b="0" i="0">
                <a:solidFill>
                  <a:srgbClr val="9AABC4"/>
                </a:solidFill>
                <a:latin typeface="Calibri"/>
              </a:rPr>
              <a:t>A company audit claimed this model is the opposite of real brains. We tested it on public brain scans of people watching the TV show Friends.</a:t>
            </a:r>
          </a:p>
        </p:txBody>
      </p:sp>
      <p:sp>
        <p:nvSpPr>
          <p:cNvPr id="8" name="Rounded Rectangle 7"/>
          <p:cNvSpPr/>
          <p:nvPr/>
        </p:nvSpPr>
        <p:spPr>
          <a:xfrm>
            <a:off x="685800" y="1965960"/>
            <a:ext cx="3429000" cy="27889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7CC4FF"/>
                </a:solidFill>
                <a:latin typeface="Calibri"/>
              </a:rPr>
              <a:t>0.152</a:t>
            </a:r>
          </a:p>
          <a:p>
            <a:pPr algn="l">
              <a:spcAft>
                <a:spcPts val="600"/>
              </a:spcAft>
            </a:pPr>
            <a:r>
              <a:rPr sz="1400" b="1" i="0">
                <a:solidFill>
                  <a:srgbClr val="EEF3FA"/>
                </a:solidFill>
                <a:latin typeface="Calibri"/>
              </a:rPr>
              <a:t>Best possible score (noise ceiling)</a:t>
            </a:r>
          </a:p>
          <a:p>
            <a:pPr algn="l">
              <a:spcAft>
                <a:spcPts val="400"/>
              </a:spcAft>
            </a:pPr>
            <a:r>
              <a:rPr sz="1300" b="1">
                <a:solidFill>
                  <a:srgbClr val="9AABC4"/>
                </a:solidFill>
                <a:latin typeface="Calibri"/>
              </a:rPr>
              <a:t>What it means: </a:t>
            </a:r>
            <a:r>
              <a:rPr sz="1300" b="0">
                <a:solidFill>
                  <a:srgbClr val="EEF3FA"/>
                </a:solidFill>
                <a:latin typeface="Calibri"/>
              </a:rPr>
              <a:t>How closely real people's brains agree with each other watching the same episode.</a:t>
            </a:r>
          </a:p>
          <a:p>
            <a:pPr algn="l">
              <a:spcAft>
                <a:spcPts val="0"/>
              </a:spcAft>
            </a:pPr>
            <a:r>
              <a:rPr sz="1300" b="1">
                <a:solidFill>
                  <a:srgbClr val="9AABC4"/>
                </a:solidFill>
                <a:latin typeface="Calibri"/>
              </a:rPr>
              <a:t>Why this value: </a:t>
            </a:r>
            <a:r>
              <a:rPr sz="1300" b="0">
                <a:solidFill>
                  <a:srgbClr val="EEF3FA"/>
                </a:solidFill>
                <a:latin typeface="Calibri"/>
              </a:rPr>
              <a:t>Brains differ and scanners are noisy, so even a perfect model can't score higher.</a:t>
            </a:r>
          </a:p>
        </p:txBody>
      </p:sp>
      <p:sp>
        <p:nvSpPr>
          <p:cNvPr id="9" name="Rounded Rectangle 8"/>
          <p:cNvSpPr/>
          <p:nvPr/>
        </p:nvSpPr>
        <p:spPr>
          <a:xfrm>
            <a:off x="4379976" y="1965960"/>
            <a:ext cx="3429000" cy="278892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5FD09A"/>
                </a:solidFill>
                <a:latin typeface="Calibri"/>
              </a:rPr>
              <a:t>0.028</a:t>
            </a:r>
          </a:p>
          <a:p>
            <a:pPr algn="l">
              <a:spcAft>
                <a:spcPts val="600"/>
              </a:spcAft>
            </a:pPr>
            <a:r>
              <a:rPr sz="1400" b="1" i="0">
                <a:solidFill>
                  <a:srgbClr val="EEF3FA"/>
                </a:solidFill>
                <a:latin typeface="Calibri"/>
              </a:rPr>
              <a:t>Model vs real brains (r), 2-minute clip</a:t>
            </a:r>
          </a:p>
          <a:p>
            <a:pPr algn="l">
              <a:spcAft>
                <a:spcPts val="400"/>
              </a:spcAft>
            </a:pPr>
            <a:r>
              <a:rPr sz="1300" b="1">
                <a:solidFill>
                  <a:srgbClr val="9AABC4"/>
                </a:solidFill>
                <a:latin typeface="Calibri"/>
              </a:rPr>
              <a:t>What it means: </a:t>
            </a:r>
            <a:r>
              <a:rPr sz="1300" b="0">
                <a:solidFill>
                  <a:srgbClr val="EEF3FA"/>
                </a:solidFill>
                <a:latin typeface="Calibri"/>
              </a:rPr>
              <a:t>The model's predictions rise and fall with real brain activity, weakly.</a:t>
            </a:r>
          </a:p>
          <a:p>
            <a:pPr algn="l">
              <a:spcAft>
                <a:spcPts val="0"/>
              </a:spcAft>
            </a:pPr>
            <a:r>
              <a:rPr sz="1300" b="1">
                <a:solidFill>
                  <a:srgbClr val="9AABC4"/>
                </a:solidFill>
                <a:latin typeface="Calibri"/>
              </a:rPr>
              <a:t>Why this value: </a:t>
            </a:r>
            <a:r>
              <a:rPr sz="1300" b="0">
                <a:solidFill>
                  <a:srgbClr val="EEF3FA"/>
                </a:solidFill>
                <a:latin typeface="Calibri"/>
              </a:rPr>
              <a:t>The best possible on that same clip is 0.096, so the model gets under a third of the way.</a:t>
            </a:r>
          </a:p>
        </p:txBody>
      </p:sp>
      <p:sp>
        <p:nvSpPr>
          <p:cNvPr id="10" name="Rounded Rectangle 9"/>
          <p:cNvSpPr/>
          <p:nvPr/>
        </p:nvSpPr>
        <p:spPr>
          <a:xfrm>
            <a:off x="8074152" y="1965960"/>
            <a:ext cx="3429000" cy="278892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3400" b="1" i="0">
                <a:solidFill>
                  <a:srgbClr val="F5B83D"/>
                </a:solidFill>
                <a:latin typeface="Calibri"/>
              </a:rPr>
              <a:t>p = 0.048</a:t>
            </a:r>
          </a:p>
          <a:p>
            <a:pPr algn="l">
              <a:spcAft>
                <a:spcPts val="600"/>
              </a:spcAft>
            </a:pPr>
            <a:r>
              <a:rPr sz="1400" b="1" i="0">
                <a:solidFill>
                  <a:srgbClr val="EEF3FA"/>
                </a:solidFill>
                <a:latin typeface="Calibri"/>
              </a:rPr>
              <a:t>Chance the match is luck</a:t>
            </a:r>
          </a:p>
          <a:p>
            <a:pPr algn="l">
              <a:spcAft>
                <a:spcPts val="400"/>
              </a:spcAft>
            </a:pPr>
            <a:r>
              <a:rPr sz="1300" b="1">
                <a:solidFill>
                  <a:srgbClr val="9AABC4"/>
                </a:solidFill>
                <a:latin typeface="Calibri"/>
              </a:rPr>
              <a:t>What it means: </a:t>
            </a:r>
            <a:r>
              <a:rPr sz="1300" b="0">
                <a:solidFill>
                  <a:srgbClr val="EEF3FA"/>
                </a:solidFill>
                <a:latin typeface="Calibri"/>
              </a:rPr>
              <a:t>Just under the usual 5% cut-off.</a:t>
            </a:r>
          </a:p>
          <a:p>
            <a:pPr algn="l">
              <a:spcAft>
                <a:spcPts val="0"/>
              </a:spcAft>
            </a:pPr>
            <a:r>
              <a:rPr sz="1300" b="1">
                <a:solidFill>
                  <a:srgbClr val="9AABC4"/>
                </a:solidFill>
                <a:latin typeface="Calibri"/>
              </a:rPr>
              <a:t>Why this value: </a:t>
            </a:r>
            <a:r>
              <a:rPr sz="1300" b="0">
                <a:solidFill>
                  <a:srgbClr val="EEF3FA"/>
                </a:solidFill>
                <a:latin typeface="Calibri"/>
              </a:rPr>
              <a:t>Two minutes of video is short. A longer run is needed to settle it.</a:t>
            </a:r>
          </a:p>
        </p:txBody>
      </p:sp>
      <p:sp>
        <p:nvSpPr>
          <p:cNvPr id="11" name="Rounded Rectangle 10"/>
          <p:cNvSpPr/>
          <p:nvPr/>
        </p:nvSpPr>
        <p:spPr>
          <a:xfrm>
            <a:off x="685800" y="4983480"/>
            <a:ext cx="10820095" cy="6400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a:solidFill>
                  <a:srgbClr val="FF7A59"/>
                </a:solidFill>
                <a:latin typeface="Calibri"/>
              </a:rPr>
              <a:t>Along the way we found and fixed three hidden bugs: </a:t>
            </a:r>
            <a:r>
              <a:rPr sz="1500" b="0">
                <a:solidFill>
                  <a:srgbClr val="EEF3FA"/>
                </a:solidFill>
                <a:latin typeface="Calibri"/>
              </a:rPr>
              <a:t>the wrong episode loaded, a table read sideways, and two clocks out of step.</a:t>
            </a:r>
          </a:p>
        </p:txBody>
      </p:sp>
      <p:sp>
        <p:nvSpPr>
          <p:cNvPr id="12" name="TextBox 11"/>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RESULTS</a:t>
            </a:r>
          </a:p>
        </p:txBody>
      </p:sp>
      <p:sp>
        <p:nvSpPr>
          <p:cNvPr id="13" name="Rectangle 12"/>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844387"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20459"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11</a:t>
            </a:r>
          </a:p>
        </p:txBody>
      </p:sp>
      <p:sp>
        <p:nvSpPr>
          <p:cNvPr id="19" name="Rectangle 18"/>
          <p:cNvSpPr/>
          <p:nvPr/>
        </p:nvSpPr>
        <p:spPr>
          <a:xfrm>
            <a:off x="685800" y="6967728"/>
            <a:ext cx="10820095"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5800" y="7059168"/>
            <a:ext cx="10820095" cy="320040"/>
          </a:xfrm>
          <a:prstGeom prst="rect">
            <a:avLst/>
          </a:prstGeom>
          <a:noFill/>
        </p:spPr>
        <p:txBody>
          <a:bodyPr wrap="square" anchor="t">
            <a:spAutoFit/>
          </a:bodyPr>
          <a:lstStyle/>
          <a:p>
            <a:pPr algn="l">
              <a:spcAft>
                <a:spcPts val="0"/>
              </a:spcAft>
            </a:pPr>
            <a:r>
              <a:rPr sz="1200" b="1">
                <a:solidFill>
                  <a:srgbClr val="FF7A59"/>
                </a:solidFill>
                <a:latin typeface="Calibri"/>
              </a:rPr>
              <a:t>SCRIPT</a:t>
            </a:r>
            <a:r>
              <a:rPr sz="1200" b="0">
                <a:solidFill>
                  <a:srgbClr val="9AABC4"/>
                </a:solidFill>
                <a:latin typeface="Calibri"/>
              </a:rPr>
              <a:t>   ·   slide 11   ·   about 1 min</a:t>
            </a:r>
          </a:p>
        </p:txBody>
      </p:sp>
      <p:sp>
        <p:nvSpPr>
          <p:cNvPr id="21" name="Rounded Rectangle 20"/>
          <p:cNvSpPr/>
          <p:nvPr/>
        </p:nvSpPr>
        <p:spPr>
          <a:xfrm>
            <a:off x="685800" y="7406640"/>
            <a:ext cx="7818120" cy="219455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09728"/>
          <a:lstStyle/>
          <a:p>
            <a:pPr algn="l">
              <a:spcAft>
                <a:spcPts val="0"/>
              </a:spcAft>
            </a:pPr>
            <a:r>
              <a:rPr sz="1500" b="0" i="0">
                <a:solidFill>
                  <a:srgbClr val="EEF3FA"/>
                </a:solidFill>
                <a:latin typeface="Calibri"/>
              </a:rPr>
              <a:t>Does the brain model match real brains at all? A company audit claimed it was the opposite of real brain data, so we tested it on public scans of people watching the show Friends. Real people's brains agree with each other at 0.152, the best any model can reach. On a two-minute clip the model scored 0.028, against a best possible of 0.096 on that clip. Weak, but positive. We also found and fixed three hidden bugs. This is Paper 3.</a:t>
            </a:r>
          </a:p>
        </p:txBody>
      </p:sp>
      <p:sp>
        <p:nvSpPr>
          <p:cNvPr id="22" name="Rounded Rectangle 21"/>
          <p:cNvSpPr/>
          <p:nvPr/>
        </p:nvSpPr>
        <p:spPr>
          <a:xfrm>
            <a:off x="8641080" y="7406640"/>
            <a:ext cx="2864815" cy="2194559"/>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100" b="1" i="0">
                <a:solidFill>
                  <a:srgbClr val="F5B83D"/>
                </a:solidFill>
                <a:latin typeface="Calibri"/>
              </a:rPr>
              <a:t>NUMBERS TO SAY</a:t>
            </a:r>
          </a:p>
          <a:p>
            <a:pPr algn="l">
              <a:spcAft>
                <a:spcPts val="500"/>
              </a:spcAft>
            </a:pPr>
            <a:r>
              <a:rPr sz="1300" b="0" i="0">
                <a:solidFill>
                  <a:srgbClr val="EEF3FA"/>
                </a:solidFill>
                <a:latin typeface="Calibri"/>
              </a:rPr>
              <a:t>•  Best possible 0.152 (full episode)</a:t>
            </a:r>
          </a:p>
          <a:p>
            <a:pPr algn="l">
              <a:spcAft>
                <a:spcPts val="500"/>
              </a:spcAft>
            </a:pPr>
            <a:r>
              <a:rPr sz="1300" b="0" i="0">
                <a:solidFill>
                  <a:srgbClr val="EEF3FA"/>
                </a:solidFill>
                <a:latin typeface="Calibri"/>
              </a:rPr>
              <a:t>•  Model 0.028 vs 0.096 on the 2-minute clip</a:t>
            </a:r>
          </a:p>
          <a:p>
            <a:pPr algn="l">
              <a:spcAft>
                <a:spcPts val="500"/>
              </a:spcAft>
            </a:pPr>
            <a:r>
              <a:rPr sz="1300" b="0" i="0">
                <a:solidFill>
                  <a:srgbClr val="EEF3FA"/>
                </a:solidFill>
                <a:latin typeface="Calibri"/>
              </a:rPr>
              <a:t>•  p = 0.048</a:t>
            </a:r>
          </a:p>
          <a:p>
            <a:pPr algn="l">
              <a:spcAft>
                <a:spcPts val="500"/>
              </a:spcAft>
            </a:pPr>
            <a:r>
              <a:rPr sz="1300" b="0" i="0">
                <a:solidFill>
                  <a:srgbClr val="EEF3FA"/>
                </a:solidFill>
                <a:latin typeface="Calibri"/>
              </a:rPr>
              <a:t>•  3 bugs found and fixed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uler.png"/>
          <p:cNvPicPr>
            <a:picLocks noChangeAspect="1"/>
          </p:cNvPicPr>
          <p:nvPr/>
        </p:nvPicPr>
        <p:blipFill>
          <a:blip r:embed="rId2"/>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THE PHYSICS</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The physics result: the minimum push media would need</a:t>
            </a:r>
          </a:p>
        </p:txBody>
      </p:sp>
      <p:sp>
        <p:nvSpPr>
          <p:cNvPr id="7" name="Rounded Rectangle 6"/>
          <p:cNvSpPr/>
          <p:nvPr/>
        </p:nvSpPr>
        <p:spPr>
          <a:xfrm>
            <a:off x="685800" y="1371600"/>
            <a:ext cx="5486400" cy="42976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8e0d813349e08253.png"/>
          <p:cNvPicPr>
            <a:picLocks noChangeAspect="1"/>
          </p:cNvPicPr>
          <p:nvPr/>
        </p:nvPicPr>
        <p:blipFill>
          <a:blip r:embed="rId3"/>
          <a:stretch>
            <a:fillRect/>
          </a:stretch>
        </p:blipFill>
        <p:spPr>
          <a:xfrm>
            <a:off x="1758848" y="1536192"/>
            <a:ext cx="3340303" cy="537895"/>
          </a:xfrm>
          <a:prstGeom prst="rect">
            <a:avLst/>
          </a:prstGeom>
        </p:spPr>
      </p:pic>
      <p:pic>
        <p:nvPicPr>
          <p:cNvPr id="9" name="Picture 8" descr="20c93cf97540e448.png"/>
          <p:cNvPicPr>
            <a:picLocks noChangeAspect="1"/>
          </p:cNvPicPr>
          <p:nvPr/>
        </p:nvPicPr>
        <p:blipFill>
          <a:blip r:embed="rId4"/>
          <a:stretch>
            <a:fillRect/>
          </a:stretch>
        </p:blipFill>
        <p:spPr>
          <a:xfrm>
            <a:off x="1372171" y="2505456"/>
            <a:ext cx="136017" cy="221513"/>
          </a:xfrm>
          <a:prstGeom prst="rect">
            <a:avLst/>
          </a:prstGeom>
        </p:spPr>
      </p:pic>
      <p:sp>
        <p:nvSpPr>
          <p:cNvPr id="10" name="TextBox 9"/>
          <p:cNvSpPr txBox="1"/>
          <p:nvPr/>
        </p:nvSpPr>
        <p:spPr>
          <a:xfrm>
            <a:off x="2148840" y="2487168"/>
            <a:ext cx="3931920" cy="502920"/>
          </a:xfrm>
          <a:prstGeom prst="rect">
            <a:avLst/>
          </a:prstGeom>
          <a:noFill/>
        </p:spPr>
        <p:txBody>
          <a:bodyPr wrap="square" anchor="t">
            <a:spAutoFit/>
          </a:bodyPr>
          <a:lstStyle/>
          <a:p>
            <a:pPr algn="l">
              <a:spcAft>
                <a:spcPts val="0"/>
              </a:spcAft>
            </a:pPr>
            <a:r>
              <a:rPr sz="1300" b="0" i="0">
                <a:solidFill>
                  <a:srgbClr val="EEF3FA"/>
                </a:solidFill>
                <a:latin typeface="Calibri"/>
              </a:rPr>
              <a:t>the push from media on everyone (the field).</a:t>
            </a:r>
          </a:p>
        </p:txBody>
      </p:sp>
      <p:pic>
        <p:nvPicPr>
          <p:cNvPr id="11" name="Picture 10" descr="a2dd4f017e3f8d43.png"/>
          <p:cNvPicPr>
            <a:picLocks noChangeAspect="1"/>
          </p:cNvPicPr>
          <p:nvPr/>
        </p:nvPicPr>
        <p:blipFill>
          <a:blip r:embed="rId5"/>
          <a:stretch>
            <a:fillRect/>
          </a:stretch>
        </p:blipFill>
        <p:spPr>
          <a:xfrm>
            <a:off x="1339138" y="3026664"/>
            <a:ext cx="202082" cy="221513"/>
          </a:xfrm>
          <a:prstGeom prst="rect">
            <a:avLst/>
          </a:prstGeom>
        </p:spPr>
      </p:pic>
      <p:sp>
        <p:nvSpPr>
          <p:cNvPr id="12" name="TextBox 11"/>
          <p:cNvSpPr txBox="1"/>
          <p:nvPr/>
        </p:nvSpPr>
        <p:spPr>
          <a:xfrm>
            <a:off x="2148840" y="3008376"/>
            <a:ext cx="3931920" cy="502920"/>
          </a:xfrm>
          <a:prstGeom prst="rect">
            <a:avLst/>
          </a:prstGeom>
          <a:noFill/>
        </p:spPr>
        <p:txBody>
          <a:bodyPr wrap="square" anchor="t">
            <a:spAutoFit/>
          </a:bodyPr>
          <a:lstStyle/>
          <a:p>
            <a:pPr algn="l">
              <a:spcAft>
                <a:spcPts val="0"/>
              </a:spcAft>
            </a:pPr>
            <a:r>
              <a:rPr sz="1300" b="0" i="0">
                <a:solidFill>
                  <a:srgbClr val="EEF3FA"/>
                </a:solidFill>
                <a:latin typeface="Calibri"/>
              </a:rPr>
              <a:t>our score for an article, emotion minus reasoning.</a:t>
            </a:r>
          </a:p>
        </p:txBody>
      </p:sp>
      <p:pic>
        <p:nvPicPr>
          <p:cNvPr id="13" name="Picture 12" descr="5272f2755a3e4bf7.png"/>
          <p:cNvPicPr>
            <a:picLocks noChangeAspect="1"/>
          </p:cNvPicPr>
          <p:nvPr/>
        </p:nvPicPr>
        <p:blipFill>
          <a:blip r:embed="rId6"/>
          <a:stretch>
            <a:fillRect/>
          </a:stretch>
        </p:blipFill>
        <p:spPr>
          <a:xfrm>
            <a:off x="1366342" y="3547872"/>
            <a:ext cx="147675" cy="221513"/>
          </a:xfrm>
          <a:prstGeom prst="rect">
            <a:avLst/>
          </a:prstGeom>
        </p:spPr>
      </p:pic>
      <p:sp>
        <p:nvSpPr>
          <p:cNvPr id="14" name="TextBox 13"/>
          <p:cNvSpPr txBox="1"/>
          <p:nvPr/>
        </p:nvSpPr>
        <p:spPr>
          <a:xfrm>
            <a:off x="2148840" y="3529584"/>
            <a:ext cx="3931920" cy="502920"/>
          </a:xfrm>
          <a:prstGeom prst="rect">
            <a:avLst/>
          </a:prstGeom>
          <a:noFill/>
        </p:spPr>
        <p:txBody>
          <a:bodyPr wrap="square" anchor="t">
            <a:spAutoFit/>
          </a:bodyPr>
          <a:lstStyle/>
          <a:p>
            <a:pPr algn="l">
              <a:spcAft>
                <a:spcPts val="0"/>
              </a:spcAft>
            </a:pPr>
            <a:r>
              <a:rPr sz="1300" b="0" i="0">
                <a:solidFill>
                  <a:srgbClr val="EEF3FA"/>
                </a:solidFill>
                <a:latin typeface="Calibri"/>
              </a:rPr>
              <a:t>strength: how hard one unit of score pushes. Not measured, so no value is quoted.</a:t>
            </a:r>
          </a:p>
        </p:txBody>
      </p:sp>
      <p:pic>
        <p:nvPicPr>
          <p:cNvPr id="15" name="Picture 14" descr="fc09c3c898db603e.png"/>
          <p:cNvPicPr>
            <a:picLocks noChangeAspect="1"/>
          </p:cNvPicPr>
          <p:nvPr/>
        </p:nvPicPr>
        <p:blipFill>
          <a:blip r:embed="rId7"/>
          <a:stretch>
            <a:fillRect/>
          </a:stretch>
        </p:blipFill>
        <p:spPr>
          <a:xfrm>
            <a:off x="1135113" y="4069079"/>
            <a:ext cx="610133" cy="240944"/>
          </a:xfrm>
          <a:prstGeom prst="rect">
            <a:avLst/>
          </a:prstGeom>
        </p:spPr>
      </p:pic>
      <p:sp>
        <p:nvSpPr>
          <p:cNvPr id="16" name="TextBox 15"/>
          <p:cNvSpPr txBox="1"/>
          <p:nvPr/>
        </p:nvSpPr>
        <p:spPr>
          <a:xfrm>
            <a:off x="2148840" y="4050791"/>
            <a:ext cx="3931920" cy="502920"/>
          </a:xfrm>
          <a:prstGeom prst="rect">
            <a:avLst/>
          </a:prstGeom>
          <a:noFill/>
        </p:spPr>
        <p:txBody>
          <a:bodyPr wrap="square" anchor="t">
            <a:spAutoFit/>
          </a:bodyPr>
          <a:lstStyle/>
          <a:p>
            <a:pPr algn="l">
              <a:spcAft>
                <a:spcPts val="0"/>
              </a:spcAft>
            </a:pPr>
            <a:r>
              <a:rPr sz="1300" b="0" i="0">
                <a:solidFill>
                  <a:srgbClr val="EEF3FA"/>
                </a:solidFill>
                <a:latin typeface="Calibri"/>
              </a:rPr>
              <a:t>critical field: the smallest push that flips the majority. It grows with copying strength.</a:t>
            </a:r>
          </a:p>
        </p:txBody>
      </p:sp>
      <p:pic>
        <p:nvPicPr>
          <p:cNvPr id="17" name="Picture 16" descr="92db4915de0152da.png"/>
          <p:cNvPicPr>
            <a:picLocks noChangeAspect="1"/>
          </p:cNvPicPr>
          <p:nvPr/>
        </p:nvPicPr>
        <p:blipFill>
          <a:blip r:embed="rId8"/>
          <a:stretch>
            <a:fillRect/>
          </a:stretch>
        </p:blipFill>
        <p:spPr>
          <a:xfrm>
            <a:off x="1301248" y="4590288"/>
            <a:ext cx="277863" cy="223456"/>
          </a:xfrm>
          <a:prstGeom prst="rect">
            <a:avLst/>
          </a:prstGeom>
        </p:spPr>
      </p:pic>
      <p:sp>
        <p:nvSpPr>
          <p:cNvPr id="18" name="TextBox 17"/>
          <p:cNvSpPr txBox="1"/>
          <p:nvPr/>
        </p:nvSpPr>
        <p:spPr>
          <a:xfrm>
            <a:off x="2148840" y="4572000"/>
            <a:ext cx="3931920" cy="502920"/>
          </a:xfrm>
          <a:prstGeom prst="rect">
            <a:avLst/>
          </a:prstGeom>
          <a:noFill/>
        </p:spPr>
        <p:txBody>
          <a:bodyPr wrap="square" anchor="t">
            <a:spAutoFit/>
          </a:bodyPr>
          <a:lstStyle/>
          <a:p>
            <a:pPr algn="l">
              <a:spcAft>
                <a:spcPts val="0"/>
              </a:spcAft>
            </a:pPr>
            <a:r>
              <a:rPr sz="1300" b="0" i="0">
                <a:solidFill>
                  <a:srgbClr val="EEF3FA"/>
                </a:solidFill>
                <a:latin typeface="Calibri"/>
              </a:rPr>
              <a:t>copying strength. Above 1 a group settles on a majority by itself; 2 means strongly connected.</a:t>
            </a:r>
          </a:p>
        </p:txBody>
      </p:sp>
      <p:pic>
        <p:nvPicPr>
          <p:cNvPr id="19" name="Picture 18" descr="4b880f26890debb7.png"/>
          <p:cNvPicPr>
            <a:picLocks noChangeAspect="1"/>
          </p:cNvPicPr>
          <p:nvPr/>
        </p:nvPicPr>
        <p:blipFill>
          <a:blip r:embed="rId9"/>
          <a:stretch>
            <a:fillRect/>
          </a:stretch>
        </p:blipFill>
        <p:spPr>
          <a:xfrm>
            <a:off x="1248784" y="5111496"/>
            <a:ext cx="382790" cy="221513"/>
          </a:xfrm>
          <a:prstGeom prst="rect">
            <a:avLst/>
          </a:prstGeom>
        </p:spPr>
      </p:pic>
      <p:sp>
        <p:nvSpPr>
          <p:cNvPr id="20" name="TextBox 19"/>
          <p:cNvSpPr txBox="1"/>
          <p:nvPr/>
        </p:nvSpPr>
        <p:spPr>
          <a:xfrm>
            <a:off x="2148840" y="5093208"/>
            <a:ext cx="3931920" cy="502920"/>
          </a:xfrm>
          <a:prstGeom prst="rect">
            <a:avLst/>
          </a:prstGeom>
          <a:noFill/>
        </p:spPr>
        <p:txBody>
          <a:bodyPr wrap="square" anchor="t">
            <a:spAutoFit/>
          </a:bodyPr>
          <a:lstStyle/>
          <a:p>
            <a:pPr algn="l">
              <a:spcAft>
                <a:spcPts val="0"/>
              </a:spcAft>
            </a:pPr>
            <a:r>
              <a:rPr sz="1300" b="0" i="0">
                <a:solidFill>
                  <a:srgbClr val="EEF3FA"/>
                </a:solidFill>
                <a:latin typeface="Calibri"/>
              </a:rPr>
              <a:t>spread of our scores: from −0.070 to +0.054, so 0.124.</a:t>
            </a:r>
          </a:p>
        </p:txBody>
      </p:sp>
      <p:sp>
        <p:nvSpPr>
          <p:cNvPr id="21" name="Rounded Rectangle 20"/>
          <p:cNvSpPr/>
          <p:nvPr/>
        </p:nvSpPr>
        <p:spPr>
          <a:xfrm>
            <a:off x="6400800" y="1371600"/>
            <a:ext cx="5102352" cy="233172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0"/>
              </a:spcAft>
            </a:pPr>
            <a:r>
              <a:rPr sz="4000" b="1" i="0">
                <a:solidFill>
                  <a:srgbClr val="FF7A59"/>
                </a:solidFill>
                <a:latin typeface="Calibri"/>
              </a:rPr>
              <a:t>α ≥ 4.29</a:t>
            </a:r>
          </a:p>
          <a:p>
            <a:pPr algn="l">
              <a:spcAft>
                <a:spcPts val="600"/>
              </a:spcAft>
            </a:pPr>
            <a:r>
              <a:rPr sz="1400" b="1" i="0">
                <a:solidFill>
                  <a:srgbClr val="EEF3FA"/>
                </a:solidFill>
                <a:latin typeface="Calibri"/>
              </a:rPr>
              <a:t>Minimum strength when copying is strong (βJ = 2)</a:t>
            </a:r>
          </a:p>
          <a:p>
            <a:pPr algn="l">
              <a:spcAft>
                <a:spcPts val="400"/>
              </a:spcAft>
            </a:pPr>
            <a:r>
              <a:rPr sz="1300" b="1">
                <a:solidFill>
                  <a:srgbClr val="9AABC4"/>
                </a:solidFill>
                <a:latin typeface="Calibri"/>
              </a:rPr>
              <a:t>What it means: </a:t>
            </a:r>
            <a:r>
              <a:rPr sz="1300" b="0">
                <a:solidFill>
                  <a:srgbClr val="EEF3FA"/>
                </a:solidFill>
                <a:latin typeface="Calibri"/>
              </a:rPr>
              <a:t>Any study saying content like this flips opinion must use an α of at least 4.29, or the maths says it can't happen.</a:t>
            </a:r>
          </a:p>
          <a:p>
            <a:pPr algn="l">
              <a:spcAft>
                <a:spcPts val="0"/>
              </a:spcAft>
            </a:pPr>
            <a:r>
              <a:rPr sz="1300" b="1">
                <a:solidFill>
                  <a:srgbClr val="9AABC4"/>
                </a:solidFill>
                <a:latin typeface="Calibri"/>
              </a:rPr>
              <a:t>Why this value: </a:t>
            </a:r>
            <a:r>
              <a:rPr sz="1300" b="0">
                <a:solidFill>
                  <a:srgbClr val="EEF3FA"/>
                </a:solidFill>
                <a:latin typeface="Calibri"/>
              </a:rPr>
              <a:t>Our scores cover a narrow range (0.124), so each unit of score must push hard.</a:t>
            </a:r>
          </a:p>
        </p:txBody>
      </p:sp>
      <p:sp>
        <p:nvSpPr>
          <p:cNvPr id="22" name="Rounded Rectangle 21"/>
          <p:cNvSpPr/>
          <p:nvPr/>
        </p:nvSpPr>
        <p:spPr>
          <a:xfrm>
            <a:off x="6400800" y="3931920"/>
            <a:ext cx="5102352" cy="169164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600"/>
              </a:spcAft>
            </a:pPr>
            <a:r>
              <a:rPr sz="1200" b="1" i="0">
                <a:solidFill>
                  <a:srgbClr val="F5B83D"/>
                </a:solidFill>
                <a:latin typeface="Calibri"/>
              </a:rPr>
              <a:t>WHAT IT DOES NOT SAY</a:t>
            </a:r>
          </a:p>
          <a:p>
            <a:pPr algn="l">
              <a:spcAft>
                <a:spcPts val="0"/>
              </a:spcAft>
            </a:pPr>
            <a:r>
              <a:rPr sz="1400" b="0" i="0">
                <a:solidFill>
                  <a:srgbClr val="EEF3FA"/>
                </a:solidFill>
                <a:latin typeface="Calibri"/>
              </a:rPr>
              <a:t>It does not claim that media flips opinion. It is a bar any such claim has to clear. The more strongly people copy each other, the higher the bar.</a:t>
            </a:r>
          </a:p>
        </p:txBody>
      </p:sp>
      <p:sp>
        <p:nvSpPr>
          <p:cNvPr id="23" name="TextBox 22"/>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THE PHYSICS</a:t>
            </a:r>
          </a:p>
        </p:txBody>
      </p:sp>
      <p:sp>
        <p:nvSpPr>
          <p:cNvPr id="24" name="Rectangle 23"/>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420459"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996531" y="6473952"/>
            <a:ext cx="502920" cy="36576"/>
          </a:xfrm>
          <a:prstGeom prst="rect">
            <a:avLst/>
          </a:prstGeom>
          <a:solidFill>
            <a:srgbClr val="2A3D5E">
              <a:alpha val="80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12</a:t>
            </a:r>
          </a:p>
        </p:txBody>
      </p:sp>
      <p:sp>
        <p:nvSpPr>
          <p:cNvPr id="30" name="Rectangle 29"/>
          <p:cNvSpPr/>
          <p:nvPr/>
        </p:nvSpPr>
        <p:spPr>
          <a:xfrm>
            <a:off x="685800" y="6967728"/>
            <a:ext cx="10820095"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7059168"/>
            <a:ext cx="10820095" cy="320040"/>
          </a:xfrm>
          <a:prstGeom prst="rect">
            <a:avLst/>
          </a:prstGeom>
          <a:noFill/>
        </p:spPr>
        <p:txBody>
          <a:bodyPr wrap="square" anchor="t">
            <a:spAutoFit/>
          </a:bodyPr>
          <a:lstStyle/>
          <a:p>
            <a:pPr algn="l">
              <a:spcAft>
                <a:spcPts val="0"/>
              </a:spcAft>
            </a:pPr>
            <a:r>
              <a:rPr sz="1200" b="1">
                <a:solidFill>
                  <a:srgbClr val="FF7A59"/>
                </a:solidFill>
                <a:latin typeface="Calibri"/>
              </a:rPr>
              <a:t>SCRIPT</a:t>
            </a:r>
            <a:r>
              <a:rPr sz="1200" b="0">
                <a:solidFill>
                  <a:srgbClr val="9AABC4"/>
                </a:solidFill>
                <a:latin typeface="Calibri"/>
              </a:rPr>
              <a:t>   ·   slide 12   ·   about 1 min</a:t>
            </a:r>
          </a:p>
        </p:txBody>
      </p:sp>
      <p:sp>
        <p:nvSpPr>
          <p:cNvPr id="32" name="Rounded Rectangle 31"/>
          <p:cNvSpPr/>
          <p:nvPr/>
        </p:nvSpPr>
        <p:spPr>
          <a:xfrm>
            <a:off x="685800" y="7406640"/>
            <a:ext cx="7818120" cy="219455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09728"/>
          <a:lstStyle/>
          <a:p>
            <a:pPr algn="l">
              <a:spcAft>
                <a:spcPts val="0"/>
              </a:spcAft>
            </a:pPr>
            <a:r>
              <a:rPr sz="1500" b="0" i="0">
                <a:solidFill>
                  <a:srgbClr val="EEF3FA"/>
                </a:solidFill>
                <a:latin typeface="Calibri"/>
              </a:rPr>
              <a:t>Here is the physics result. We link our score to the model by h equals alpha X: the media push h is our score X times a strength, alpha. We couldn't measure alpha from the data, so we don't quote one. Instead we asked how big alpha must be to flip a majority. The model gives h c, the critical field: the smallest push that flips the majority, which grows with the copying strength beta J. Our scores spread over delta X, 0.124. Dividing gives alpha at least 4.29 when beta J is 2. Any future claim that content like this flips opinion has to clear that bar.</a:t>
            </a:r>
          </a:p>
        </p:txBody>
      </p:sp>
      <p:sp>
        <p:nvSpPr>
          <p:cNvPr id="33" name="Rounded Rectangle 32"/>
          <p:cNvSpPr/>
          <p:nvPr/>
        </p:nvSpPr>
        <p:spPr>
          <a:xfrm>
            <a:off x="8641080" y="7406640"/>
            <a:ext cx="2864815" cy="2194559"/>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100" b="1" i="0">
                <a:solidFill>
                  <a:srgbClr val="F5B83D"/>
                </a:solidFill>
                <a:latin typeface="Calibri"/>
              </a:rPr>
              <a:t>NUMBERS TO SAY</a:t>
            </a:r>
          </a:p>
          <a:p>
            <a:pPr algn="l">
              <a:spcAft>
                <a:spcPts val="500"/>
              </a:spcAft>
            </a:pPr>
            <a:r>
              <a:rPr sz="1300" b="0" i="0">
                <a:solidFill>
                  <a:srgbClr val="EEF3FA"/>
                </a:solidFill>
                <a:latin typeface="Calibri"/>
              </a:rPr>
              <a:t>•  h = αX: push = strength × score</a:t>
            </a:r>
          </a:p>
          <a:p>
            <a:pPr algn="l">
              <a:spcAft>
                <a:spcPts val="500"/>
              </a:spcAft>
            </a:pPr>
            <a:r>
              <a:rPr sz="1300" b="0" i="0">
                <a:solidFill>
                  <a:srgbClr val="EEF3FA"/>
                </a:solidFill>
                <a:latin typeface="Calibri"/>
              </a:rPr>
              <a:t>•  h_c: smallest push that flips it</a:t>
            </a:r>
          </a:p>
          <a:p>
            <a:pPr algn="l">
              <a:spcAft>
                <a:spcPts val="500"/>
              </a:spcAft>
            </a:pPr>
            <a:r>
              <a:rPr sz="1300" b="0" i="0">
                <a:solidFill>
                  <a:srgbClr val="EEF3FA"/>
                </a:solidFill>
                <a:latin typeface="Calibri"/>
              </a:rPr>
              <a:t>•  ΔX = 0.124 (−0.070 to +0.054)</a:t>
            </a:r>
          </a:p>
          <a:p>
            <a:pPr algn="l">
              <a:spcAft>
                <a:spcPts val="500"/>
              </a:spcAft>
            </a:pPr>
            <a:r>
              <a:rPr sz="1300" b="0" i="0">
                <a:solidFill>
                  <a:srgbClr val="EEF3FA"/>
                </a:solidFill>
                <a:latin typeface="Calibri"/>
              </a:rPr>
              <a:t>•  α ≥ 4.29 at βJ = 2</a:t>
            </a:r>
          </a:p>
          <a:p>
            <a:pPr algn="l">
              <a:spcAft>
                <a:spcPts val="500"/>
              </a:spcAft>
            </a:pPr>
            <a:r>
              <a:rPr sz="1300" b="0" i="0">
                <a:solidFill>
                  <a:srgbClr val="EEF3FA"/>
                </a:solidFill>
                <a:latin typeface="Calibri"/>
              </a:rPr>
              <a:t>•  No value of α is claimed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target.png"/>
          <p:cNvPicPr>
            <a:picLocks noChangeAspect="1"/>
          </p:cNvPicPr>
          <p:nvPr/>
        </p:nvPicPr>
        <p:blipFill>
          <a:blip r:embed="rId2"/>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Can it analyse any content, even what children watch?</a:t>
            </a:r>
          </a:p>
        </p:txBody>
      </p:sp>
      <p:sp>
        <p:nvSpPr>
          <p:cNvPr id="7" name="Rounded Rectangle 6"/>
          <p:cNvSpPr/>
          <p:nvPr/>
        </p:nvSpPr>
        <p:spPr>
          <a:xfrm>
            <a:off x="685800" y="1417320"/>
            <a:ext cx="3429000" cy="3840480"/>
          </a:xfrm>
          <a:prstGeom prst="roundRect">
            <a:avLst>
              <a:gd name="adj" fmla="val 6000"/>
            </a:avLst>
          </a:prstGeom>
          <a:solidFill>
            <a:srgbClr val="12223C"/>
          </a:solidFill>
          <a:ln w="25400">
            <a:solidFill>
              <a:srgbClr val="5FD09A"/>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8" name="Picture 7" descr="check-circle.png"/>
          <p:cNvPicPr>
            <a:picLocks noChangeAspect="1"/>
          </p:cNvPicPr>
          <p:nvPr/>
        </p:nvPicPr>
        <p:blipFill>
          <a:blip r:embed="rId3"/>
          <a:stretch>
            <a:fillRect/>
          </a:stretch>
        </p:blipFill>
        <p:spPr>
          <a:xfrm>
            <a:off x="886968" y="1572768"/>
            <a:ext cx="310896" cy="310896"/>
          </a:xfrm>
          <a:prstGeom prst="rect">
            <a:avLst/>
          </a:prstGeom>
        </p:spPr>
      </p:pic>
      <p:sp>
        <p:nvSpPr>
          <p:cNvPr id="9" name="TextBox 8"/>
          <p:cNvSpPr txBox="1"/>
          <p:nvPr/>
        </p:nvSpPr>
        <p:spPr>
          <a:xfrm>
            <a:off x="1280160" y="1554480"/>
            <a:ext cx="2697480" cy="365760"/>
          </a:xfrm>
          <a:prstGeom prst="rect">
            <a:avLst/>
          </a:prstGeom>
          <a:noFill/>
        </p:spPr>
        <p:txBody>
          <a:bodyPr wrap="square" anchor="t">
            <a:spAutoFit/>
          </a:bodyPr>
          <a:lstStyle/>
          <a:p>
            <a:pPr algn="l">
              <a:spcAft>
                <a:spcPts val="0"/>
              </a:spcAft>
            </a:pPr>
            <a:r>
              <a:rPr sz="1300" b="1" i="0">
                <a:solidFill>
                  <a:srgbClr val="5FD09A"/>
                </a:solidFill>
                <a:latin typeface="Calibri"/>
              </a:rPr>
              <a:t>WHAT IT CAN DO</a:t>
            </a:r>
          </a:p>
        </p:txBody>
      </p:sp>
      <p:sp>
        <p:nvSpPr>
          <p:cNvPr id="10" name="TextBox 9"/>
          <p:cNvSpPr txBox="1"/>
          <p:nvPr/>
        </p:nvSpPr>
        <p:spPr>
          <a:xfrm>
            <a:off x="886968" y="2057400"/>
            <a:ext cx="3063240" cy="3108960"/>
          </a:xfrm>
          <a:prstGeom prst="rect">
            <a:avLst/>
          </a:prstGeom>
          <a:noFill/>
        </p:spPr>
        <p:txBody>
          <a:bodyPr wrap="square" anchor="t">
            <a:spAutoFit/>
          </a:bodyPr>
          <a:lstStyle/>
          <a:p>
            <a:pPr algn="l">
              <a:spcAft>
                <a:spcPts val="1000"/>
              </a:spcAft>
            </a:pPr>
            <a:r>
              <a:rPr sz="1400" b="0" i="0">
                <a:solidFill>
                  <a:srgbClr val="EEF3FA"/>
                </a:solidFill>
                <a:latin typeface="Calibri"/>
              </a:rPr>
              <a:t>•  Take video and sound as well as text, so a cartoon or an advert can be scored.</a:t>
            </a:r>
          </a:p>
          <a:p>
            <a:pPr algn="l">
              <a:spcAft>
                <a:spcPts val="1000"/>
              </a:spcAft>
            </a:pPr>
            <a:r>
              <a:rPr sz="1400" b="0" i="0">
                <a:solidFill>
                  <a:srgbClr val="EEF3FA"/>
                </a:solidFill>
                <a:latin typeface="Calibri"/>
              </a:rPr>
              <a:t>•  Compare groups of content, like two channels or two kinds of programme.</a:t>
            </a:r>
          </a:p>
          <a:p>
            <a:pPr algn="l">
              <a:spcAft>
                <a:spcPts val="1000"/>
              </a:spcAft>
            </a:pPr>
            <a:r>
              <a:rPr sz="1400" b="0" i="0">
                <a:solidFill>
                  <a:srgbClr val="EEF3FA"/>
                </a:solidFill>
                <a:latin typeface="Calibri"/>
              </a:rPr>
              <a:t>•  Score the content, never the viewer. Nobody is scanned.</a:t>
            </a:r>
          </a:p>
        </p:txBody>
      </p:sp>
      <p:sp>
        <p:nvSpPr>
          <p:cNvPr id="11" name="Rounded Rectangle 10"/>
          <p:cNvSpPr/>
          <p:nvPr/>
        </p:nvSpPr>
        <p:spPr>
          <a:xfrm>
            <a:off x="4379976" y="1417320"/>
            <a:ext cx="3429000" cy="38404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2" name="Picture 11" descr="x-circle.png"/>
          <p:cNvPicPr>
            <a:picLocks noChangeAspect="1"/>
          </p:cNvPicPr>
          <p:nvPr/>
        </p:nvPicPr>
        <p:blipFill>
          <a:blip r:embed="rId4"/>
          <a:stretch>
            <a:fillRect/>
          </a:stretch>
        </p:blipFill>
        <p:spPr>
          <a:xfrm>
            <a:off x="4581144" y="1572768"/>
            <a:ext cx="310896" cy="310896"/>
          </a:xfrm>
          <a:prstGeom prst="rect">
            <a:avLst/>
          </a:prstGeom>
        </p:spPr>
      </p:pic>
      <p:sp>
        <p:nvSpPr>
          <p:cNvPr id="13" name="TextBox 12"/>
          <p:cNvSpPr txBox="1"/>
          <p:nvPr/>
        </p:nvSpPr>
        <p:spPr>
          <a:xfrm>
            <a:off x="4974336" y="1554480"/>
            <a:ext cx="2697480" cy="365760"/>
          </a:xfrm>
          <a:prstGeom prst="rect">
            <a:avLst/>
          </a:prstGeom>
          <a:noFill/>
        </p:spPr>
        <p:txBody>
          <a:bodyPr wrap="square" anchor="t">
            <a:spAutoFit/>
          </a:bodyPr>
          <a:lstStyle/>
          <a:p>
            <a:pPr algn="l">
              <a:spcAft>
                <a:spcPts val="0"/>
              </a:spcAft>
            </a:pPr>
            <a:r>
              <a:rPr sz="1300" b="1" i="0">
                <a:solidFill>
                  <a:srgbClr val="FF7A59"/>
                </a:solidFill>
                <a:latin typeface="Calibri"/>
              </a:rPr>
              <a:t>WHAT IT CANNOT DO YET</a:t>
            </a:r>
          </a:p>
        </p:txBody>
      </p:sp>
      <p:sp>
        <p:nvSpPr>
          <p:cNvPr id="14" name="TextBox 13"/>
          <p:cNvSpPr txBox="1"/>
          <p:nvPr/>
        </p:nvSpPr>
        <p:spPr>
          <a:xfrm>
            <a:off x="4581144" y="2057400"/>
            <a:ext cx="3063240" cy="3108960"/>
          </a:xfrm>
          <a:prstGeom prst="rect">
            <a:avLst/>
          </a:prstGeom>
          <a:noFill/>
        </p:spPr>
        <p:txBody>
          <a:bodyPr wrap="square" anchor="t">
            <a:spAutoFit/>
          </a:bodyPr>
          <a:lstStyle/>
          <a:p>
            <a:pPr algn="l">
              <a:spcAft>
                <a:spcPts val="1000"/>
              </a:spcAft>
            </a:pPr>
            <a:r>
              <a:rPr sz="1400" b="0" i="0">
                <a:solidFill>
                  <a:srgbClr val="EEF3FA"/>
                </a:solidFill>
                <a:latin typeface="Calibri"/>
              </a:rPr>
              <a:t>•  Say how a child reacts. The model learned from adult brains, and children's brains are still developing.</a:t>
            </a:r>
          </a:p>
          <a:p>
            <a:pPr algn="l">
              <a:spcAft>
                <a:spcPts val="1000"/>
              </a:spcAft>
            </a:pPr>
            <a:r>
              <a:rPr sz="1400" b="0" i="0">
                <a:solidFill>
                  <a:srgbClr val="EEF3FA"/>
                </a:solidFill>
                <a:latin typeface="Calibri"/>
              </a:rPr>
              <a:t>•  Speak for video: only news text read aloud was tested here.</a:t>
            </a:r>
          </a:p>
          <a:p>
            <a:pPr algn="l">
              <a:spcAft>
                <a:spcPts val="1000"/>
              </a:spcAft>
            </a:pPr>
            <a:r>
              <a:rPr sz="1400" b="0" i="0">
                <a:solidFill>
                  <a:srgbClr val="EEF3FA"/>
                </a:solidFill>
                <a:latin typeface="Calibri"/>
              </a:rPr>
              <a:t>•  Rate one show: about 1 in 8 items flip between runs.</a:t>
            </a:r>
          </a:p>
        </p:txBody>
      </p:sp>
      <p:sp>
        <p:nvSpPr>
          <p:cNvPr id="15" name="Rounded Rectangle 14"/>
          <p:cNvSpPr/>
          <p:nvPr/>
        </p:nvSpPr>
        <p:spPr>
          <a:xfrm>
            <a:off x="8074152" y="1417320"/>
            <a:ext cx="3429000" cy="38404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09728" bIns="109728"/>
          <a:lstStyle/>
          <a:p>
            <a:pPr algn="l"/>
          </a:p>
        </p:txBody>
      </p:sp>
      <p:pic>
        <p:nvPicPr>
          <p:cNvPr id="16" name="Picture 15" descr="flag-banner.png"/>
          <p:cNvPicPr>
            <a:picLocks noChangeAspect="1"/>
          </p:cNvPicPr>
          <p:nvPr/>
        </p:nvPicPr>
        <p:blipFill>
          <a:blip r:embed="rId5"/>
          <a:stretch>
            <a:fillRect/>
          </a:stretch>
        </p:blipFill>
        <p:spPr>
          <a:xfrm>
            <a:off x="8275320" y="1572768"/>
            <a:ext cx="310896" cy="310896"/>
          </a:xfrm>
          <a:prstGeom prst="rect">
            <a:avLst/>
          </a:prstGeom>
        </p:spPr>
      </p:pic>
      <p:sp>
        <p:nvSpPr>
          <p:cNvPr id="17" name="TextBox 16"/>
          <p:cNvSpPr txBox="1"/>
          <p:nvPr/>
        </p:nvSpPr>
        <p:spPr>
          <a:xfrm>
            <a:off x="8668512" y="1554480"/>
            <a:ext cx="2697480" cy="365760"/>
          </a:xfrm>
          <a:prstGeom prst="rect">
            <a:avLst/>
          </a:prstGeom>
          <a:noFill/>
        </p:spPr>
        <p:txBody>
          <a:bodyPr wrap="square" anchor="t">
            <a:spAutoFit/>
          </a:bodyPr>
          <a:lstStyle/>
          <a:p>
            <a:pPr algn="l">
              <a:spcAft>
                <a:spcPts val="0"/>
              </a:spcAft>
            </a:pPr>
            <a:r>
              <a:rPr sz="1300" b="1" i="0">
                <a:solidFill>
                  <a:srgbClr val="7CC4FF"/>
                </a:solidFill>
                <a:latin typeface="Calibri"/>
              </a:rPr>
              <a:t>WHAT IT WOULD TAKE</a:t>
            </a:r>
          </a:p>
        </p:txBody>
      </p:sp>
      <p:sp>
        <p:nvSpPr>
          <p:cNvPr id="18" name="TextBox 17"/>
          <p:cNvSpPr txBox="1"/>
          <p:nvPr/>
        </p:nvSpPr>
        <p:spPr>
          <a:xfrm>
            <a:off x="8275320" y="2057400"/>
            <a:ext cx="3063240" cy="3108960"/>
          </a:xfrm>
          <a:prstGeom prst="rect">
            <a:avLst/>
          </a:prstGeom>
          <a:noFill/>
        </p:spPr>
        <p:txBody>
          <a:bodyPr wrap="square" anchor="t">
            <a:spAutoFit/>
          </a:bodyPr>
          <a:lstStyle/>
          <a:p>
            <a:pPr algn="l">
              <a:spcAft>
                <a:spcPts val="1000"/>
              </a:spcAft>
            </a:pPr>
            <a:r>
              <a:rPr sz="1400" b="0" i="0">
                <a:solidFill>
                  <a:srgbClr val="EEF3FA"/>
                </a:solidFill>
                <a:latin typeface="Calibri"/>
              </a:rPr>
              <a:t>•  Brain scans from children, collected with ethics approval and consent.</a:t>
            </a:r>
          </a:p>
          <a:p>
            <a:pPr algn="l">
              <a:spcAft>
                <a:spcPts val="1000"/>
              </a:spcAft>
            </a:pPr>
            <a:r>
              <a:rPr sz="1400" b="0" i="0">
                <a:solidFill>
                  <a:srgbClr val="EEF3FA"/>
                </a:solidFill>
                <a:latin typeface="Calibri"/>
              </a:rPr>
              <a:t>•  A test set of children's videos.</a:t>
            </a:r>
          </a:p>
          <a:p>
            <a:pPr algn="l">
              <a:spcAft>
                <a:spcPts val="1000"/>
              </a:spcAft>
            </a:pPr>
            <a:r>
              <a:rPr sz="1400" b="0" i="0">
                <a:solidFill>
                  <a:srgbClr val="EEF3FA"/>
                </a:solidFill>
                <a:latin typeface="Calibri"/>
              </a:rPr>
              <a:t>•  Content where source and type are mixed.</a:t>
            </a:r>
          </a:p>
          <a:p>
            <a:pPr algn="l">
              <a:spcAft>
                <a:spcPts val="1000"/>
              </a:spcAft>
            </a:pPr>
            <a:r>
              <a:rPr sz="1400" b="0" i="0">
                <a:solidFill>
                  <a:srgbClr val="EEF3FA"/>
                </a:solidFill>
                <a:latin typeface="Calibri"/>
              </a:rPr>
              <a:t>•  Safeguards so it is never used to target children.</a:t>
            </a:r>
          </a:p>
        </p:txBody>
      </p:sp>
      <p:sp>
        <p:nvSpPr>
          <p:cNvPr id="19" name="Rounded Rectangle 18"/>
          <p:cNvSpPr/>
          <p:nvPr/>
        </p:nvSpPr>
        <p:spPr>
          <a:xfrm>
            <a:off x="685800" y="5394960"/>
            <a:ext cx="10820095" cy="45720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500" b="1">
                <a:solidFill>
                  <a:srgbClr val="F5B83D"/>
                </a:solidFill>
                <a:latin typeface="Calibri"/>
              </a:rPr>
              <a:t>Short answer: </a:t>
            </a:r>
            <a:r>
              <a:rPr sz="1500" b="0">
                <a:solidFill>
                  <a:srgbClr val="EEF3FA"/>
                </a:solidFill>
                <a:latin typeface="Calibri"/>
              </a:rPr>
              <a:t>technically possible, but not yet valid for children.</a:t>
            </a:r>
          </a:p>
        </p:txBody>
      </p:sp>
      <p:sp>
        <p:nvSpPr>
          <p:cNvPr id="20" name="TextBox 19"/>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1" name="Rectangle 20"/>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13</a:t>
            </a:r>
          </a:p>
        </p:txBody>
      </p:sp>
      <p:sp>
        <p:nvSpPr>
          <p:cNvPr id="27" name="Rectangle 26"/>
          <p:cNvSpPr/>
          <p:nvPr/>
        </p:nvSpPr>
        <p:spPr>
          <a:xfrm>
            <a:off x="685800" y="6967728"/>
            <a:ext cx="10820095"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85800" y="7059168"/>
            <a:ext cx="10820095" cy="320040"/>
          </a:xfrm>
          <a:prstGeom prst="rect">
            <a:avLst/>
          </a:prstGeom>
          <a:noFill/>
        </p:spPr>
        <p:txBody>
          <a:bodyPr wrap="square" anchor="t">
            <a:spAutoFit/>
          </a:bodyPr>
          <a:lstStyle/>
          <a:p>
            <a:pPr algn="l">
              <a:spcAft>
                <a:spcPts val="0"/>
              </a:spcAft>
            </a:pPr>
            <a:r>
              <a:rPr sz="1200" b="1">
                <a:solidFill>
                  <a:srgbClr val="FF7A59"/>
                </a:solidFill>
                <a:latin typeface="Calibri"/>
              </a:rPr>
              <a:t>SCRIPT</a:t>
            </a:r>
            <a:r>
              <a:rPr sz="1200" b="0">
                <a:solidFill>
                  <a:srgbClr val="9AABC4"/>
                </a:solidFill>
                <a:latin typeface="Calibri"/>
              </a:rPr>
              <a:t>   ·   slide 13   ·   about 1 min</a:t>
            </a:r>
          </a:p>
        </p:txBody>
      </p:sp>
      <p:sp>
        <p:nvSpPr>
          <p:cNvPr id="29" name="Rounded Rectangle 28"/>
          <p:cNvSpPr/>
          <p:nvPr/>
        </p:nvSpPr>
        <p:spPr>
          <a:xfrm>
            <a:off x="685800" y="7406640"/>
            <a:ext cx="7818120" cy="219455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09728"/>
          <a:lstStyle/>
          <a:p>
            <a:pPr algn="l">
              <a:spcAft>
                <a:spcPts val="0"/>
              </a:spcAft>
            </a:pPr>
            <a:r>
              <a:rPr sz="1500" b="0" i="0">
                <a:solidFill>
                  <a:srgbClr val="EEF3FA"/>
                </a:solidFill>
                <a:latin typeface="Calibri"/>
              </a:rPr>
              <a:t>At my first presentation I was asked whether this could analyse any content, even what children watch. Technically, yes: the pipeline takes video and audio, so it could score a cartoon or an advert. But the model learned from adult brains, and children's brains are still developing, so it can't say how a child reacts. We also only tested news text. For children, we'd need child brain data and ethics approval first.</a:t>
            </a:r>
          </a:p>
        </p:txBody>
      </p:sp>
      <p:sp>
        <p:nvSpPr>
          <p:cNvPr id="30" name="Rounded Rectangle 29"/>
          <p:cNvSpPr/>
          <p:nvPr/>
        </p:nvSpPr>
        <p:spPr>
          <a:xfrm>
            <a:off x="8641080" y="7406640"/>
            <a:ext cx="2864815" cy="2194559"/>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100" b="1" i="0">
                <a:solidFill>
                  <a:srgbClr val="F5B83D"/>
                </a:solidFill>
                <a:latin typeface="Calibri"/>
              </a:rPr>
              <a:t>NUMBERS TO SAY</a:t>
            </a:r>
          </a:p>
          <a:p>
            <a:pPr algn="l">
              <a:spcAft>
                <a:spcPts val="500"/>
              </a:spcAft>
            </a:pPr>
            <a:r>
              <a:rPr sz="1300" b="0" i="0">
                <a:solidFill>
                  <a:srgbClr val="EEF3FA"/>
                </a:solidFill>
                <a:latin typeface="Calibri"/>
              </a:rPr>
              <a:t>•  Can: video and audio, groups of content</a:t>
            </a:r>
          </a:p>
          <a:p>
            <a:pPr algn="l">
              <a:spcAft>
                <a:spcPts val="500"/>
              </a:spcAft>
            </a:pPr>
            <a:r>
              <a:rPr sz="1300" b="0" i="0">
                <a:solidFill>
                  <a:srgbClr val="EEF3FA"/>
                </a:solidFill>
                <a:latin typeface="Calibri"/>
              </a:rPr>
              <a:t>•  Cannot: adult-trained model, 1 in 8 items flip</a:t>
            </a:r>
          </a:p>
          <a:p>
            <a:pPr algn="l">
              <a:spcAft>
                <a:spcPts val="500"/>
              </a:spcAft>
            </a:pPr>
            <a:r>
              <a:rPr sz="1300" b="0" i="0">
                <a:solidFill>
                  <a:srgbClr val="EEF3FA"/>
                </a:solidFill>
                <a:latin typeface="Calibri"/>
              </a:rPr>
              <a:t>•  Needs: child data and ethics approval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x-circle.png"/>
          <p:cNvPicPr>
            <a:picLocks noChangeAspect="1"/>
          </p:cNvPicPr>
          <p:nvPr/>
        </p:nvPicPr>
        <p:blipFill>
          <a:blip r:embed="rId2"/>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What this work cannot claim yet</a:t>
            </a:r>
          </a:p>
        </p:txBody>
      </p:sp>
      <p:sp>
        <p:nvSpPr>
          <p:cNvPr id="7" name="TextBox 6"/>
          <p:cNvSpPr txBox="1"/>
          <p:nvPr/>
        </p:nvSpPr>
        <p:spPr>
          <a:xfrm>
            <a:off x="685800" y="1325880"/>
            <a:ext cx="3749039" cy="320040"/>
          </a:xfrm>
          <a:prstGeom prst="rect">
            <a:avLst/>
          </a:prstGeom>
          <a:noFill/>
        </p:spPr>
        <p:txBody>
          <a:bodyPr wrap="square" anchor="t">
            <a:spAutoFit/>
          </a:bodyPr>
          <a:lstStyle/>
          <a:p>
            <a:pPr algn="l">
              <a:spcAft>
                <a:spcPts val="0"/>
              </a:spcAft>
            </a:pPr>
            <a:r>
              <a:rPr sz="1100" b="1" i="0">
                <a:solidFill>
                  <a:srgbClr val="FF7A59"/>
                </a:solidFill>
                <a:latin typeface="Calibri"/>
              </a:rPr>
              <a:t>LIMIT</a:t>
            </a:r>
          </a:p>
        </p:txBody>
      </p:sp>
      <p:sp>
        <p:nvSpPr>
          <p:cNvPr id="8" name="TextBox 7"/>
          <p:cNvSpPr txBox="1"/>
          <p:nvPr/>
        </p:nvSpPr>
        <p:spPr>
          <a:xfrm>
            <a:off x="4572000" y="1325880"/>
            <a:ext cx="3657600" cy="320040"/>
          </a:xfrm>
          <a:prstGeom prst="rect">
            <a:avLst/>
          </a:prstGeom>
          <a:noFill/>
        </p:spPr>
        <p:txBody>
          <a:bodyPr wrap="square" anchor="t">
            <a:spAutoFit/>
          </a:bodyPr>
          <a:lstStyle/>
          <a:p>
            <a:pPr algn="l">
              <a:spcAft>
                <a:spcPts val="0"/>
              </a:spcAft>
            </a:pPr>
            <a:r>
              <a:rPr sz="1100" b="1" i="0">
                <a:solidFill>
                  <a:srgbClr val="9AABC4"/>
                </a:solidFill>
                <a:latin typeface="Calibri"/>
              </a:rPr>
              <a:t>WHY IT MATTERS</a:t>
            </a:r>
          </a:p>
        </p:txBody>
      </p:sp>
      <p:sp>
        <p:nvSpPr>
          <p:cNvPr id="9" name="TextBox 8"/>
          <p:cNvSpPr txBox="1"/>
          <p:nvPr/>
        </p:nvSpPr>
        <p:spPr>
          <a:xfrm>
            <a:off x="8366760" y="1325880"/>
            <a:ext cx="3136392" cy="320040"/>
          </a:xfrm>
          <a:prstGeom prst="rect">
            <a:avLst/>
          </a:prstGeom>
          <a:noFill/>
        </p:spPr>
        <p:txBody>
          <a:bodyPr wrap="square" anchor="t">
            <a:spAutoFit/>
          </a:bodyPr>
          <a:lstStyle/>
          <a:p>
            <a:pPr algn="l">
              <a:spcAft>
                <a:spcPts val="0"/>
              </a:spcAft>
            </a:pPr>
            <a:r>
              <a:rPr sz="1100" b="1" i="0">
                <a:solidFill>
                  <a:srgbClr val="7CC4FF"/>
                </a:solidFill>
                <a:latin typeface="Calibri"/>
              </a:rPr>
              <a:t>NEXT STEP</a:t>
            </a:r>
          </a:p>
        </p:txBody>
      </p:sp>
      <p:sp>
        <p:nvSpPr>
          <p:cNvPr id="10" name="Rounded Rectangle 9"/>
          <p:cNvSpPr/>
          <p:nvPr/>
        </p:nvSpPr>
        <p:spPr>
          <a:xfrm>
            <a:off x="685800" y="1691640"/>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1" i="0">
                <a:solidFill>
                  <a:srgbClr val="EEF3FA"/>
                </a:solidFill>
                <a:latin typeface="Calibri"/>
              </a:rPr>
              <a:t>Predictions, not brain scans</a:t>
            </a:r>
          </a:p>
        </p:txBody>
      </p:sp>
      <p:sp>
        <p:nvSpPr>
          <p:cNvPr id="11" name="Rounded Rectangle 10"/>
          <p:cNvSpPr/>
          <p:nvPr/>
        </p:nvSpPr>
        <p:spPr>
          <a:xfrm>
            <a:off x="4572000" y="1691640"/>
            <a:ext cx="3657600"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9AABC4"/>
                </a:solidFill>
                <a:latin typeface="Calibri"/>
              </a:rPr>
              <a:t>Nobody was scanned; the model could be wrong.</a:t>
            </a:r>
          </a:p>
        </p:txBody>
      </p:sp>
      <p:sp>
        <p:nvSpPr>
          <p:cNvPr id="12" name="Rounded Rectangle 11"/>
          <p:cNvSpPr/>
          <p:nvPr/>
        </p:nvSpPr>
        <p:spPr>
          <a:xfrm>
            <a:off x="8366760" y="1691640"/>
            <a:ext cx="3136392"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The real-brain check (Paper 3).</a:t>
            </a:r>
          </a:p>
        </p:txBody>
      </p:sp>
      <p:sp>
        <p:nvSpPr>
          <p:cNvPr id="13" name="Rounded Rectangle 12"/>
          <p:cNvSpPr/>
          <p:nvPr/>
        </p:nvSpPr>
        <p:spPr>
          <a:xfrm>
            <a:off x="685800" y="2450592"/>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1" i="0">
                <a:solidFill>
                  <a:srgbClr val="EEF3FA"/>
                </a:solidFill>
                <a:latin typeface="Calibri"/>
              </a:rPr>
              <a:t>Group is mixed up with source</a:t>
            </a:r>
          </a:p>
        </p:txBody>
      </p:sp>
      <p:sp>
        <p:nvSpPr>
          <p:cNvPr id="14" name="Rounded Rectangle 13"/>
          <p:cNvSpPr/>
          <p:nvPr/>
        </p:nvSpPr>
        <p:spPr>
          <a:xfrm>
            <a:off x="4572000" y="2450592"/>
            <a:ext cx="3657600"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9AABC4"/>
                </a:solidFill>
                <a:latin typeface="Calibri"/>
              </a:rPr>
              <a:t>Each group came from one collection.</a:t>
            </a:r>
          </a:p>
        </p:txBody>
      </p:sp>
      <p:sp>
        <p:nvSpPr>
          <p:cNvPr id="15" name="Rounded Rectangle 14"/>
          <p:cNvSpPr/>
          <p:nvPr/>
        </p:nvSpPr>
        <p:spPr>
          <a:xfrm>
            <a:off x="8366760" y="2450592"/>
            <a:ext cx="3136392"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A new set where every source has every type.</a:t>
            </a:r>
          </a:p>
        </p:txBody>
      </p:sp>
      <p:sp>
        <p:nvSpPr>
          <p:cNvPr id="16" name="Rounded Rectangle 15"/>
          <p:cNvSpPr/>
          <p:nvPr/>
        </p:nvSpPr>
        <p:spPr>
          <a:xfrm>
            <a:off x="685800" y="3209544"/>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1" i="0">
                <a:solidFill>
                  <a:srgbClr val="EEF3FA"/>
                </a:solidFill>
                <a:latin typeface="Calibri"/>
              </a:rPr>
              <a:t>Brain surface only</a:t>
            </a:r>
          </a:p>
        </p:txBody>
      </p:sp>
      <p:sp>
        <p:nvSpPr>
          <p:cNvPr id="17" name="Rounded Rectangle 16"/>
          <p:cNvSpPr/>
          <p:nvPr/>
        </p:nvSpPr>
        <p:spPr>
          <a:xfrm>
            <a:off x="4572000" y="3209544"/>
            <a:ext cx="3657600"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9AABC4"/>
                </a:solidFill>
                <a:latin typeface="Calibri"/>
              </a:rPr>
              <a:t>No amygdala or other deep areas.</a:t>
            </a:r>
          </a:p>
        </p:txBody>
      </p:sp>
      <p:sp>
        <p:nvSpPr>
          <p:cNvPr id="18" name="Rounded Rectangle 17"/>
          <p:cNvSpPr/>
          <p:nvPr/>
        </p:nvSpPr>
        <p:spPr>
          <a:xfrm>
            <a:off x="8366760" y="3209544"/>
            <a:ext cx="3136392"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A model that predicts deep areas.</a:t>
            </a:r>
          </a:p>
        </p:txBody>
      </p:sp>
      <p:sp>
        <p:nvSpPr>
          <p:cNvPr id="19" name="Rounded Rectangle 18"/>
          <p:cNvSpPr/>
          <p:nvPr/>
        </p:nvSpPr>
        <p:spPr>
          <a:xfrm>
            <a:off x="685800" y="3968496"/>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1" i="0">
                <a:solidFill>
                  <a:srgbClr val="EEF3FA"/>
                </a:solidFill>
                <a:latin typeface="Calibri"/>
              </a:rPr>
              <a:t>Strength of the push (α) unknown</a:t>
            </a:r>
          </a:p>
        </p:txBody>
      </p:sp>
      <p:sp>
        <p:nvSpPr>
          <p:cNvPr id="20" name="Rounded Rectangle 19"/>
          <p:cNvSpPr/>
          <p:nvPr/>
        </p:nvSpPr>
        <p:spPr>
          <a:xfrm>
            <a:off x="4572000" y="3968496"/>
            <a:ext cx="3657600"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9AABC4"/>
                </a:solidFill>
                <a:latin typeface="Calibri"/>
              </a:rPr>
              <a:t>The data can't pin it down.</a:t>
            </a:r>
          </a:p>
        </p:txBody>
      </p:sp>
      <p:sp>
        <p:nvSpPr>
          <p:cNvPr id="21" name="Rounded Rectangle 20"/>
          <p:cNvSpPr/>
          <p:nvPr/>
        </p:nvSpPr>
        <p:spPr>
          <a:xfrm>
            <a:off x="8366760" y="3968496"/>
            <a:ext cx="3136392"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Use the minimum rule instead.</a:t>
            </a:r>
          </a:p>
        </p:txBody>
      </p:sp>
      <p:sp>
        <p:nvSpPr>
          <p:cNvPr id="22" name="Rounded Rectangle 21"/>
          <p:cNvSpPr/>
          <p:nvPr/>
        </p:nvSpPr>
        <p:spPr>
          <a:xfrm>
            <a:off x="685800" y="4727448"/>
            <a:ext cx="3749039"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1" i="0">
                <a:solidFill>
                  <a:srgbClr val="EEF3FA"/>
                </a:solidFill>
                <a:latin typeface="Calibri"/>
              </a:rPr>
              <a:t>The real-brain check is short</a:t>
            </a:r>
          </a:p>
        </p:txBody>
      </p:sp>
      <p:sp>
        <p:nvSpPr>
          <p:cNvPr id="23" name="Rounded Rectangle 22"/>
          <p:cNvSpPr/>
          <p:nvPr/>
        </p:nvSpPr>
        <p:spPr>
          <a:xfrm>
            <a:off x="4572000" y="4727448"/>
            <a:ext cx="3657600"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9AABC4"/>
                </a:solidFill>
                <a:latin typeface="Calibri"/>
              </a:rPr>
              <a:t>Only 2 minutes of video so far.</a:t>
            </a:r>
          </a:p>
        </p:txBody>
      </p:sp>
      <p:sp>
        <p:nvSpPr>
          <p:cNvPr id="24" name="Rounded Rectangle 23"/>
          <p:cNvSpPr/>
          <p:nvPr/>
        </p:nvSpPr>
        <p:spPr>
          <a:xfrm>
            <a:off x="8366760" y="4727448"/>
            <a:ext cx="3136392" cy="65836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400" b="0" i="0">
                <a:solidFill>
                  <a:srgbClr val="EEF3FA"/>
                </a:solidFill>
                <a:latin typeface="Calibri"/>
              </a:rPr>
              <a:t>Longer clips, run one at a time.</a:t>
            </a:r>
          </a:p>
        </p:txBody>
      </p:sp>
      <p:sp>
        <p:nvSpPr>
          <p:cNvPr id="25" name="TextBox 24"/>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26" name="Rectangle 25"/>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14</a:t>
            </a:r>
          </a:p>
        </p:txBody>
      </p:sp>
      <p:sp>
        <p:nvSpPr>
          <p:cNvPr id="32" name="Rectangle 31"/>
          <p:cNvSpPr/>
          <p:nvPr/>
        </p:nvSpPr>
        <p:spPr>
          <a:xfrm>
            <a:off x="685800" y="6967728"/>
            <a:ext cx="10820095"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85800" y="7059168"/>
            <a:ext cx="10820095" cy="320040"/>
          </a:xfrm>
          <a:prstGeom prst="rect">
            <a:avLst/>
          </a:prstGeom>
          <a:noFill/>
        </p:spPr>
        <p:txBody>
          <a:bodyPr wrap="square" anchor="t">
            <a:spAutoFit/>
          </a:bodyPr>
          <a:lstStyle/>
          <a:p>
            <a:pPr algn="l">
              <a:spcAft>
                <a:spcPts val="0"/>
              </a:spcAft>
            </a:pPr>
            <a:r>
              <a:rPr sz="1200" b="1">
                <a:solidFill>
                  <a:srgbClr val="FF7A59"/>
                </a:solidFill>
                <a:latin typeface="Calibri"/>
              </a:rPr>
              <a:t>SCRIPT</a:t>
            </a:r>
            <a:r>
              <a:rPr sz="1200" b="0">
                <a:solidFill>
                  <a:srgbClr val="9AABC4"/>
                </a:solidFill>
                <a:latin typeface="Calibri"/>
              </a:rPr>
              <a:t>   ·   slide 14   ·   about 0.5 min</a:t>
            </a:r>
          </a:p>
        </p:txBody>
      </p:sp>
      <p:sp>
        <p:nvSpPr>
          <p:cNvPr id="34" name="Rounded Rectangle 33"/>
          <p:cNvSpPr/>
          <p:nvPr/>
        </p:nvSpPr>
        <p:spPr>
          <a:xfrm>
            <a:off x="685800" y="7406640"/>
            <a:ext cx="7818120" cy="219455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09728"/>
          <a:lstStyle/>
          <a:p>
            <a:pPr algn="l">
              <a:spcAft>
                <a:spcPts val="0"/>
              </a:spcAft>
            </a:pPr>
            <a:r>
              <a:rPr sz="1500" b="0" i="0">
                <a:solidFill>
                  <a:srgbClr val="EEF3FA"/>
                </a:solidFill>
                <a:latin typeface="Calibri"/>
              </a:rPr>
              <a:t>To be clear about the limits: every brain value is a prediction, not a scan. Group and source are mixed together in this dataset. The model can't see deep areas like the amygdala. We couldn't measure alpha. And the check against real brains used only two minutes of video. Each is stated in the thesis, and each points to the next piece of work.</a:t>
            </a:r>
          </a:p>
        </p:txBody>
      </p:sp>
      <p:sp>
        <p:nvSpPr>
          <p:cNvPr id="35" name="Rounded Rectangle 34"/>
          <p:cNvSpPr/>
          <p:nvPr/>
        </p:nvSpPr>
        <p:spPr>
          <a:xfrm>
            <a:off x="8641080" y="7406640"/>
            <a:ext cx="2864815" cy="2194559"/>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100" b="1" i="0">
                <a:solidFill>
                  <a:srgbClr val="F5B83D"/>
                </a:solidFill>
                <a:latin typeface="Calibri"/>
              </a:rPr>
              <a:t>NUMBERS TO SAY</a:t>
            </a:r>
          </a:p>
          <a:p>
            <a:pPr algn="l">
              <a:spcAft>
                <a:spcPts val="500"/>
              </a:spcAft>
            </a:pPr>
            <a:r>
              <a:rPr sz="1300" b="0" i="0">
                <a:solidFill>
                  <a:srgbClr val="EEF3FA"/>
                </a:solidFill>
                <a:latin typeface="Calibri"/>
              </a:rPr>
              <a:t>•  5 limits, each stated in the thesis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ooks.png"/>
          <p:cNvPicPr>
            <a:picLocks noChangeAspect="1"/>
          </p:cNvPicPr>
          <p:nvPr/>
        </p:nvPicPr>
        <p:blipFill>
          <a:blip r:embed="rId2"/>
          <a:stretch>
            <a:fillRect/>
          </a:stretch>
        </p:blipFill>
        <p:spPr>
          <a:xfrm>
            <a:off x="685800" y="457200"/>
            <a:ext cx="420624" cy="420624"/>
          </a:xfrm>
          <a:prstGeom prst="rect">
            <a:avLst/>
          </a:prstGeom>
        </p:spPr>
      </p:pic>
      <p:sp>
        <p:nvSpPr>
          <p:cNvPr id="5" name="TextBox 4"/>
          <p:cNvSpPr txBox="1"/>
          <p:nvPr/>
        </p:nvSpPr>
        <p:spPr>
          <a:xfrm>
            <a:off x="1289304" y="201168"/>
            <a:ext cx="10216591" cy="320040"/>
          </a:xfrm>
          <a:prstGeom prst="rect">
            <a:avLst/>
          </a:prstGeom>
          <a:noFill/>
        </p:spPr>
        <p:txBody>
          <a:bodyPr wrap="square" anchor="t">
            <a:spAutoFit/>
          </a:bodyPr>
          <a:lstStyle/>
          <a:p>
            <a:pPr algn="l">
              <a:spcAft>
                <a:spcPts val="0"/>
              </a:spcAft>
            </a:pPr>
            <a:r>
              <a:rPr sz="1200" b="1" i="0">
                <a:solidFill>
                  <a:srgbClr val="FF7A59"/>
                </a:solidFill>
                <a:latin typeface="Calibri"/>
              </a:rPr>
              <a:t>WHAT'S NEXT</a:t>
            </a:r>
          </a:p>
        </p:txBody>
      </p:sp>
      <p:sp>
        <p:nvSpPr>
          <p:cNvPr id="6" name="TextBox 5"/>
          <p:cNvSpPr txBox="1"/>
          <p:nvPr/>
        </p:nvSpPr>
        <p:spPr>
          <a:xfrm>
            <a:off x="1289304" y="420624"/>
            <a:ext cx="10216591" cy="822960"/>
          </a:xfrm>
          <a:prstGeom prst="rect">
            <a:avLst/>
          </a:prstGeom>
          <a:noFill/>
        </p:spPr>
        <p:txBody>
          <a:bodyPr wrap="square" anchor="t">
            <a:spAutoFit/>
          </a:bodyPr>
          <a:lstStyle/>
          <a:p>
            <a:pPr algn="l">
              <a:spcAft>
                <a:spcPts val="0"/>
              </a:spcAft>
            </a:pPr>
            <a:r>
              <a:rPr sz="2600" b="1" i="0">
                <a:solidFill>
                  <a:srgbClr val="7CC4FF"/>
                </a:solidFill>
                <a:latin typeface="Calibri"/>
              </a:rPr>
              <a:t>Three papers, and what I need from you today</a:t>
            </a:r>
          </a:p>
        </p:txBody>
      </p:sp>
      <p:sp>
        <p:nvSpPr>
          <p:cNvPr id="7" name="Rounded Rectangle 6"/>
          <p:cNvSpPr/>
          <p:nvPr/>
        </p:nvSpPr>
        <p:spPr>
          <a:xfrm>
            <a:off x="685800" y="1371600"/>
            <a:ext cx="3429000" cy="22402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400"/>
              </a:spcAft>
            </a:pPr>
            <a:r>
              <a:rPr sz="1100" b="1" i="0">
                <a:solidFill>
                  <a:srgbClr val="7CC4FF"/>
                </a:solidFill>
                <a:latin typeface="Calibri"/>
              </a:rPr>
              <a:t>PAPER 1 · Physica A</a:t>
            </a:r>
          </a:p>
          <a:p>
            <a:pPr algn="l">
              <a:spcAft>
                <a:spcPts val="600"/>
              </a:spcAft>
            </a:pPr>
            <a:r>
              <a:rPr sz="1800" b="1" i="0">
                <a:solidFill>
                  <a:srgbClr val="EEF3FA"/>
                </a:solidFill>
                <a:latin typeface="Calibri"/>
              </a:rPr>
              <a:t>The minimum push</a:t>
            </a:r>
          </a:p>
          <a:p>
            <a:pPr algn="l">
              <a:spcAft>
                <a:spcPts val="600"/>
              </a:spcAft>
            </a:pPr>
            <a:r>
              <a:rPr sz="1300" b="0" i="0">
                <a:solidFill>
                  <a:srgbClr val="9AABC4"/>
                </a:solidFill>
                <a:latin typeface="Calibri"/>
              </a:rPr>
              <a:t>How strong media would have to be to flip a majority. Pure physics; needs no brain data.</a:t>
            </a:r>
          </a:p>
          <a:p>
            <a:pPr algn="l">
              <a:spcAft>
                <a:spcPts val="0"/>
              </a:spcAft>
            </a:pPr>
            <a:r>
              <a:rPr sz="1300" b="1" i="0">
                <a:solidFill>
                  <a:srgbClr val="7CC4FF"/>
                </a:solidFill>
                <a:latin typeface="Calibri"/>
              </a:rPr>
              <a:t>12 pages, ready</a:t>
            </a:r>
          </a:p>
        </p:txBody>
      </p:sp>
      <p:sp>
        <p:nvSpPr>
          <p:cNvPr id="8" name="Rounded Rectangle 7"/>
          <p:cNvSpPr/>
          <p:nvPr/>
        </p:nvSpPr>
        <p:spPr>
          <a:xfrm>
            <a:off x="4379976" y="1371600"/>
            <a:ext cx="3429000" cy="224028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400"/>
              </a:spcAft>
            </a:pPr>
            <a:r>
              <a:rPr sz="1100" b="1" i="0">
                <a:solidFill>
                  <a:srgbClr val="7CC4FF"/>
                </a:solidFill>
                <a:latin typeface="Calibri"/>
              </a:rPr>
              <a:t>PAPER 2 · Physica A</a:t>
            </a:r>
          </a:p>
          <a:p>
            <a:pPr algn="l">
              <a:spcAft>
                <a:spcPts val="600"/>
              </a:spcAft>
            </a:pPr>
            <a:r>
              <a:rPr sz="1800" b="1" i="0">
                <a:solidFill>
                  <a:srgbClr val="EEF3FA"/>
                </a:solidFill>
                <a:latin typeface="Calibri"/>
              </a:rPr>
              <a:t>The measuring tool</a:t>
            </a:r>
          </a:p>
          <a:p>
            <a:pPr algn="l">
              <a:spcAft>
                <a:spcPts val="600"/>
              </a:spcAft>
            </a:pPr>
            <a:r>
              <a:rPr sz="1300" b="0" i="0">
                <a:solidFill>
                  <a:srgbClr val="9AABC4"/>
                </a:solidFill>
                <a:latin typeface="Calibri"/>
              </a:rPr>
              <a:t>The process, the 400 articles, the results, and the word-counting comparison.</a:t>
            </a:r>
          </a:p>
          <a:p>
            <a:pPr algn="l">
              <a:spcAft>
                <a:spcPts val="0"/>
              </a:spcAft>
            </a:pPr>
            <a:r>
              <a:rPr sz="1300" b="1" i="0">
                <a:solidFill>
                  <a:srgbClr val="7CC4FF"/>
                </a:solidFill>
                <a:latin typeface="Calibri"/>
              </a:rPr>
              <a:t>16 pages, ready</a:t>
            </a:r>
          </a:p>
        </p:txBody>
      </p:sp>
      <p:sp>
        <p:nvSpPr>
          <p:cNvPr id="9" name="Rounded Rectangle 8"/>
          <p:cNvSpPr/>
          <p:nvPr/>
        </p:nvSpPr>
        <p:spPr>
          <a:xfrm>
            <a:off x="8074152" y="1371600"/>
            <a:ext cx="3429000" cy="224028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400"/>
              </a:spcAft>
            </a:pPr>
            <a:r>
              <a:rPr sz="1100" b="1" i="0">
                <a:solidFill>
                  <a:srgbClr val="F5B83D"/>
                </a:solidFill>
                <a:latin typeface="Calibri"/>
              </a:rPr>
              <a:t>PAPER 3 · Imaging Neuroscience</a:t>
            </a:r>
          </a:p>
          <a:p>
            <a:pPr algn="l">
              <a:spcAft>
                <a:spcPts val="600"/>
              </a:spcAft>
            </a:pPr>
            <a:r>
              <a:rPr sz="1800" b="1" i="0">
                <a:solidFill>
                  <a:srgbClr val="EEF3FA"/>
                </a:solidFill>
                <a:latin typeface="Calibri"/>
              </a:rPr>
              <a:t>Does the model match real brains?</a:t>
            </a:r>
          </a:p>
          <a:p>
            <a:pPr algn="l">
              <a:spcAft>
                <a:spcPts val="600"/>
              </a:spcAft>
            </a:pPr>
            <a:r>
              <a:rPr sz="1300" b="0" i="0">
                <a:solidFill>
                  <a:srgbClr val="9AABC4"/>
                </a:solidFill>
                <a:latin typeface="Calibri"/>
              </a:rPr>
              <a:t>The best-possible score, the three bugs, and the first check.</a:t>
            </a:r>
          </a:p>
          <a:p>
            <a:pPr algn="l">
              <a:spcAft>
                <a:spcPts val="0"/>
              </a:spcAft>
            </a:pPr>
            <a:r>
              <a:rPr sz="1300" b="1" i="0">
                <a:solidFill>
                  <a:srgbClr val="F5B83D"/>
                </a:solidFill>
                <a:latin typeface="Calibri"/>
              </a:rPr>
              <a:t>8 pages, one longer run to go</a:t>
            </a:r>
          </a:p>
        </p:txBody>
      </p:sp>
      <p:sp>
        <p:nvSpPr>
          <p:cNvPr id="10" name="Rounded Rectangle 9"/>
          <p:cNvSpPr/>
          <p:nvPr/>
        </p:nvSpPr>
        <p:spPr>
          <a:xfrm>
            <a:off x="685800" y="3840480"/>
            <a:ext cx="10820095" cy="1783080"/>
          </a:xfrm>
          <a:prstGeom prst="roundRect">
            <a:avLst>
              <a:gd name="adj" fmla="val 6000"/>
            </a:avLst>
          </a:prstGeom>
          <a:solidFill>
            <a:srgbClr val="12223C"/>
          </a:solidFill>
          <a:ln w="25400">
            <a:solidFill>
              <a:srgbClr val="FF7A59"/>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46304" bIns="109728"/>
          <a:lstStyle/>
          <a:p>
            <a:pPr algn="l">
              <a:spcAft>
                <a:spcPts val="800"/>
              </a:spcAft>
            </a:pPr>
            <a:r>
              <a:rPr sz="1200" b="1" i="0">
                <a:solidFill>
                  <a:srgbClr val="FF7A59"/>
                </a:solidFill>
                <a:latin typeface="Calibri"/>
              </a:rPr>
              <a:t>TODAY I AM ASKING FOR</a:t>
            </a:r>
          </a:p>
          <a:p>
            <a:pPr algn="l">
              <a:spcAft>
                <a:spcPts val="300"/>
              </a:spcAft>
            </a:pPr>
            <a:r>
              <a:rPr sz="1500" b="1">
                <a:solidFill>
                  <a:srgbClr val="FF7A59"/>
                </a:solidFill>
                <a:latin typeface="Calibri"/>
              </a:rPr>
              <a:t>1   </a:t>
            </a:r>
            <a:r>
              <a:rPr sz="1500" b="0">
                <a:solidFill>
                  <a:srgbClr val="EEF3FA"/>
                </a:solidFill>
                <a:latin typeface="Calibri"/>
              </a:rPr>
              <a:t>Any corrections you need before the thesis is final.</a:t>
            </a:r>
          </a:p>
          <a:p>
            <a:pPr algn="l">
              <a:spcAft>
                <a:spcPts val="300"/>
              </a:spcAft>
            </a:pPr>
            <a:r>
              <a:rPr sz="1500" b="1">
                <a:solidFill>
                  <a:srgbClr val="FF7A59"/>
                </a:solidFill>
                <a:latin typeface="Calibri"/>
              </a:rPr>
              <a:t>2   </a:t>
            </a:r>
            <a:r>
              <a:rPr sz="1500" b="0">
                <a:solidFill>
                  <a:srgbClr val="EEF3FA"/>
                </a:solidFill>
                <a:latin typeface="Calibri"/>
              </a:rPr>
              <a:t>Your signature on the declaration page (page iii).</a:t>
            </a:r>
          </a:p>
          <a:p>
            <a:pPr algn="l">
              <a:spcAft>
                <a:spcPts val="300"/>
              </a:spcAft>
            </a:pPr>
            <a:r>
              <a:rPr sz="1500" b="1">
                <a:solidFill>
                  <a:srgbClr val="FF7A59"/>
                </a:solidFill>
                <a:latin typeface="Calibri"/>
              </a:rPr>
              <a:t>3   </a:t>
            </a:r>
            <a:r>
              <a:rPr sz="1500" b="0">
                <a:solidFill>
                  <a:srgbClr val="EEF3FA"/>
                </a:solidFill>
                <a:latin typeface="Calibri"/>
              </a:rPr>
              <a:t>Clearance to deposit with the library (bound copy by Thursday 24 September).</a:t>
            </a:r>
          </a:p>
          <a:p>
            <a:pPr algn="l">
              <a:spcAft>
                <a:spcPts val="300"/>
              </a:spcAft>
            </a:pPr>
            <a:r>
              <a:rPr sz="1500" b="1">
                <a:solidFill>
                  <a:srgbClr val="FF7A59"/>
                </a:solidFill>
                <a:latin typeface="Calibri"/>
              </a:rPr>
              <a:t>4   </a:t>
            </a:r>
            <a:r>
              <a:rPr sz="1500" b="0">
                <a:solidFill>
                  <a:srgbClr val="EEF3FA"/>
                </a:solidFill>
                <a:latin typeface="Calibri"/>
              </a:rPr>
              <a:t>Your view on co-authorship of the three papers.</a:t>
            </a:r>
          </a:p>
        </p:txBody>
      </p:sp>
      <p:sp>
        <p:nvSpPr>
          <p:cNvPr id="11" name="TextBox 10"/>
          <p:cNvSpPr txBox="1"/>
          <p:nvPr/>
        </p:nvSpPr>
        <p:spPr>
          <a:xfrm>
            <a:off x="685800" y="6355080"/>
            <a:ext cx="4572000" cy="320040"/>
          </a:xfrm>
          <a:prstGeom prst="rect">
            <a:avLst/>
          </a:prstGeom>
          <a:noFill/>
        </p:spPr>
        <p:txBody>
          <a:bodyPr wrap="square" anchor="t">
            <a:spAutoFit/>
          </a:bodyPr>
          <a:lstStyle/>
          <a:p>
            <a:pPr algn="l">
              <a:spcAft>
                <a:spcPts val="0"/>
              </a:spcAft>
            </a:pPr>
            <a:r>
              <a:rPr sz="1000" b="1" i="0">
                <a:solidFill>
                  <a:srgbClr val="9AABC4"/>
                </a:solidFill>
                <a:latin typeface="Calibri"/>
              </a:rPr>
              <a:t>WHAT'S NEXT</a:t>
            </a:r>
          </a:p>
        </p:txBody>
      </p:sp>
      <p:sp>
        <p:nvSpPr>
          <p:cNvPr id="12" name="Rectangle 11"/>
          <p:cNvSpPr/>
          <p:nvPr/>
        </p:nvSpPr>
        <p:spPr>
          <a:xfrm>
            <a:off x="4692243"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268315"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844387"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20459" y="6473952"/>
            <a:ext cx="502920" cy="36576"/>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996531" y="6473952"/>
            <a:ext cx="502920" cy="36576"/>
          </a:xfrm>
          <a:prstGeom prst="rect">
            <a:avLst/>
          </a:prstGeom>
          <a:solidFill>
            <a:srgbClr val="7CC4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91495" y="6355080"/>
            <a:ext cx="914400" cy="320040"/>
          </a:xfrm>
          <a:prstGeom prst="rect">
            <a:avLst/>
          </a:prstGeom>
          <a:noFill/>
        </p:spPr>
        <p:txBody>
          <a:bodyPr wrap="square" anchor="t">
            <a:spAutoFit/>
          </a:bodyPr>
          <a:lstStyle/>
          <a:p>
            <a:pPr algn="r">
              <a:spcAft>
                <a:spcPts val="0"/>
              </a:spcAft>
            </a:pPr>
            <a:r>
              <a:rPr sz="1100" b="1" i="0">
                <a:solidFill>
                  <a:srgbClr val="9AABC4"/>
                </a:solidFill>
                <a:latin typeface="Calibri"/>
              </a:rPr>
              <a:t>15</a:t>
            </a:r>
          </a:p>
        </p:txBody>
      </p:sp>
      <p:sp>
        <p:nvSpPr>
          <p:cNvPr id="18" name="Rectangle 17"/>
          <p:cNvSpPr/>
          <p:nvPr/>
        </p:nvSpPr>
        <p:spPr>
          <a:xfrm>
            <a:off x="685800" y="6967728"/>
            <a:ext cx="10820095" cy="18288"/>
          </a:xfrm>
          <a:prstGeom prst="rect">
            <a:avLst/>
          </a:prstGeom>
          <a:solidFill>
            <a:srgbClr val="2A3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 y="7059168"/>
            <a:ext cx="10820095" cy="320040"/>
          </a:xfrm>
          <a:prstGeom prst="rect">
            <a:avLst/>
          </a:prstGeom>
          <a:noFill/>
        </p:spPr>
        <p:txBody>
          <a:bodyPr wrap="square" anchor="t">
            <a:spAutoFit/>
          </a:bodyPr>
          <a:lstStyle/>
          <a:p>
            <a:pPr algn="l">
              <a:spcAft>
                <a:spcPts val="0"/>
              </a:spcAft>
            </a:pPr>
            <a:r>
              <a:rPr sz="1200" b="1">
                <a:solidFill>
                  <a:srgbClr val="FF7A59"/>
                </a:solidFill>
                <a:latin typeface="Calibri"/>
              </a:rPr>
              <a:t>SCRIPT</a:t>
            </a:r>
            <a:r>
              <a:rPr sz="1200" b="0">
                <a:solidFill>
                  <a:srgbClr val="9AABC4"/>
                </a:solidFill>
                <a:latin typeface="Calibri"/>
              </a:rPr>
              <a:t>   ·   slide 15   ·   about 1.5 min</a:t>
            </a:r>
          </a:p>
        </p:txBody>
      </p:sp>
      <p:sp>
        <p:nvSpPr>
          <p:cNvPr id="20" name="Rounded Rectangle 19"/>
          <p:cNvSpPr/>
          <p:nvPr/>
        </p:nvSpPr>
        <p:spPr>
          <a:xfrm>
            <a:off x="685800" y="7406640"/>
            <a:ext cx="7818120" cy="2194559"/>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274320" rIns="274320" tIns="164592" bIns="109728"/>
          <a:lstStyle/>
          <a:p>
            <a:pPr algn="l">
              <a:spcAft>
                <a:spcPts val="0"/>
              </a:spcAft>
            </a:pPr>
            <a:r>
              <a:rPr sz="1500" b="0" i="0">
                <a:solidFill>
                  <a:srgbClr val="EEF3FA"/>
                </a:solidFill>
                <a:latin typeface="Calibri"/>
              </a:rPr>
              <a:t>Three papers come out of this. Paper 1 is pure physics: the minimum-push rule, no brain data needed. Paper 2 is the measuring tool and the 400 articles, including the word-counting comparison. Paper 3 is the check against real brains. The dissertation comes first. I'd like any corrections you need, your signature on the declaration page, and clearance for the library by Thursday. And I'd like to ask about co-authorship on the papers.</a:t>
            </a:r>
          </a:p>
        </p:txBody>
      </p:sp>
      <p:sp>
        <p:nvSpPr>
          <p:cNvPr id="21" name="Rounded Rectangle 20"/>
          <p:cNvSpPr/>
          <p:nvPr/>
        </p:nvSpPr>
        <p:spPr>
          <a:xfrm>
            <a:off x="8641080" y="7406640"/>
            <a:ext cx="2864815" cy="2194559"/>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bIns="109728"/>
          <a:lstStyle/>
          <a:p>
            <a:pPr algn="l">
              <a:spcAft>
                <a:spcPts val="600"/>
              </a:spcAft>
            </a:pPr>
            <a:r>
              <a:rPr sz="1100" b="1" i="0">
                <a:solidFill>
                  <a:srgbClr val="F5B83D"/>
                </a:solidFill>
                <a:latin typeface="Calibri"/>
              </a:rPr>
              <a:t>NUMBERS TO SAY</a:t>
            </a:r>
          </a:p>
          <a:p>
            <a:pPr algn="l">
              <a:spcAft>
                <a:spcPts val="500"/>
              </a:spcAft>
            </a:pPr>
            <a:r>
              <a:rPr sz="1300" b="0" i="0">
                <a:solidFill>
                  <a:srgbClr val="EEF3FA"/>
                </a:solidFill>
                <a:latin typeface="Calibri"/>
              </a:rPr>
              <a:t>•  Bound copy to the library by Thu 24 Sep</a:t>
            </a:r>
          </a:p>
          <a:p>
            <a:pPr algn="l">
              <a:spcAft>
                <a:spcPts val="500"/>
              </a:spcAft>
            </a:pPr>
            <a:r>
              <a:rPr sz="1300" b="0" i="0">
                <a:solidFill>
                  <a:srgbClr val="EEF3FA"/>
                </a:solidFill>
                <a:latin typeface="Calibri"/>
              </a:rPr>
              <a:t>•  Graduation clearance by Mon 28 Sep</a:t>
            </a:r>
          </a:p>
          <a:p>
            <a:pPr algn="l">
              <a:spcAft>
                <a:spcPts val="500"/>
              </a:spcAft>
            </a:pPr>
            <a:r>
              <a:rPr sz="1300" b="0" i="0">
                <a:solidFill>
                  <a:srgbClr val="EEF3FA"/>
                </a:solidFill>
                <a:latin typeface="Calibri"/>
              </a:rPr>
              <a:t>•  Ask about co-authorship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820095" cy="320040"/>
          </a:xfrm>
          <a:prstGeom prst="rect">
            <a:avLst/>
          </a:prstGeom>
          <a:noFill/>
        </p:spPr>
        <p:txBody>
          <a:bodyPr wrap="square" anchor="t">
            <a:spAutoFit/>
          </a:bodyPr>
          <a:lstStyle/>
          <a:p>
            <a:pPr algn="l">
              <a:spcAft>
                <a:spcPts val="0"/>
              </a:spcAft>
            </a:pPr>
            <a:r>
              <a:rPr sz="1200" b="1" i="0">
                <a:solidFill>
                  <a:srgbClr val="FF7A59"/>
                </a:solidFill>
                <a:latin typeface="Calibri"/>
              </a:rPr>
              <a:t>LIKELY QUESTIONS  1 of 4</a:t>
            </a:r>
          </a:p>
        </p:txBody>
      </p:sp>
      <p:sp>
        <p:nvSpPr>
          <p:cNvPr id="5" name="TextBox 4"/>
          <p:cNvSpPr txBox="1"/>
          <p:nvPr/>
        </p:nvSpPr>
        <p:spPr>
          <a:xfrm>
            <a:off x="685800" y="566928"/>
            <a:ext cx="10820095" cy="640080"/>
          </a:xfrm>
          <a:prstGeom prst="rect">
            <a:avLst/>
          </a:prstGeom>
          <a:noFill/>
        </p:spPr>
        <p:txBody>
          <a:bodyPr wrap="square" anchor="t">
            <a:spAutoFit/>
          </a:bodyPr>
          <a:lstStyle/>
          <a:p>
            <a:pPr algn="l">
              <a:spcAft>
                <a:spcPts val="0"/>
              </a:spcAft>
            </a:pPr>
            <a:r>
              <a:rPr sz="2200" b="1" i="0">
                <a:solidFill>
                  <a:srgbClr val="7CC4FF"/>
                </a:solidFill>
                <a:latin typeface="Calibri"/>
              </a:rPr>
              <a:t>Many of these grow out of the first presentation's question about children's content</a:t>
            </a:r>
          </a:p>
        </p:txBody>
      </p:sp>
      <p:sp>
        <p:nvSpPr>
          <p:cNvPr id="6" name="Rounded Rectangle 5"/>
          <p:cNvSpPr/>
          <p:nvPr/>
        </p:nvSpPr>
        <p:spPr>
          <a:xfrm>
            <a:off x="685800" y="1417320"/>
            <a:ext cx="10820095" cy="256032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228600" bIns="109728"/>
          <a:lstStyle/>
          <a:p>
            <a:pPr algn="l">
              <a:spcAft>
                <a:spcPts val="1200"/>
              </a:spcAft>
            </a:pPr>
            <a:r>
              <a:rPr sz="2100" b="1">
                <a:solidFill>
                  <a:srgbClr val="FF7A59"/>
                </a:solidFill>
                <a:latin typeface="Calibri"/>
              </a:rPr>
              <a:t>Q1   </a:t>
            </a:r>
            <a:r>
              <a:rPr sz="2100" b="1">
                <a:solidFill>
                  <a:srgbClr val="EEF3FA"/>
                </a:solidFill>
                <a:latin typeface="Calibri"/>
              </a:rPr>
              <a:t>Can this analyse any content, even what children watch?</a:t>
            </a:r>
          </a:p>
          <a:p>
            <a:pPr algn="l">
              <a:spcAft>
                <a:spcPts val="0"/>
              </a:spcAft>
            </a:pPr>
            <a:r>
              <a:rPr sz="1800" b="1">
                <a:solidFill>
                  <a:srgbClr val="5FD09A"/>
                </a:solidFill>
                <a:latin typeface="Calibri"/>
              </a:rPr>
              <a:t>A   </a:t>
            </a:r>
            <a:r>
              <a:rPr sz="1800" b="0">
                <a:solidFill>
                  <a:srgbClr val="EEF3FA"/>
                </a:solidFill>
                <a:latin typeface="Calibri"/>
              </a:rPr>
              <a:t>Technically it can score video and audio, not only text. But the model learned from adult brains, so it can't tell us how a child reacts, and we only tested news text. It would need child brain data and ethics approval first.</a:t>
            </a:r>
          </a:p>
        </p:txBody>
      </p:sp>
      <p:sp>
        <p:nvSpPr>
          <p:cNvPr id="7" name="Rounded Rectangle 6"/>
          <p:cNvSpPr/>
          <p:nvPr/>
        </p:nvSpPr>
        <p:spPr>
          <a:xfrm>
            <a:off x="685800" y="4160520"/>
            <a:ext cx="10820095" cy="25603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228600" bIns="109728"/>
          <a:lstStyle/>
          <a:p>
            <a:pPr algn="l">
              <a:spcAft>
                <a:spcPts val="1200"/>
              </a:spcAft>
            </a:pPr>
            <a:r>
              <a:rPr sz="2100" b="1">
                <a:solidFill>
                  <a:srgbClr val="FF7A59"/>
                </a:solidFill>
                <a:latin typeface="Calibri"/>
              </a:rPr>
              <a:t>Q2   </a:t>
            </a:r>
            <a:r>
              <a:rPr sz="2100" b="1">
                <a:solidFill>
                  <a:srgbClr val="EEF3FA"/>
                </a:solidFill>
                <a:latin typeface="Calibri"/>
              </a:rPr>
              <a:t>Could a parent or a regulator use it to rate one show?</a:t>
            </a:r>
          </a:p>
          <a:p>
            <a:pPr algn="l">
              <a:spcAft>
                <a:spcPts val="0"/>
              </a:spcAft>
            </a:pPr>
            <a:r>
              <a:rPr sz="1800" b="1">
                <a:solidFill>
                  <a:srgbClr val="5FD09A"/>
                </a:solidFill>
                <a:latin typeface="Calibri"/>
              </a:rPr>
              <a:t>A   </a:t>
            </a:r>
            <a:r>
              <a:rPr sz="1800" b="0">
                <a:solidFill>
                  <a:srgbClr val="EEF3FA"/>
                </a:solidFill>
                <a:latin typeface="Calibri"/>
              </a:rPr>
              <a:t>Not yet. About 1 in 8 items flip between runs, so a single score isn't reliable. It's only trustworthy for comparing groups of content, and not for children until it has been tested on them.</a:t>
            </a:r>
          </a:p>
        </p:txBody>
      </p:sp>
      <p:sp>
        <p:nvSpPr>
          <p:cNvPr id="8" name="Rounded Rectangle 7"/>
          <p:cNvSpPr/>
          <p:nvPr/>
        </p:nvSpPr>
        <p:spPr>
          <a:xfrm>
            <a:off x="685800" y="6903720"/>
            <a:ext cx="10820095" cy="25603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228600" bIns="109728"/>
          <a:lstStyle/>
          <a:p>
            <a:pPr algn="l">
              <a:spcAft>
                <a:spcPts val="1200"/>
              </a:spcAft>
            </a:pPr>
            <a:r>
              <a:rPr sz="2100" b="1">
                <a:solidFill>
                  <a:srgbClr val="FF7A59"/>
                </a:solidFill>
                <a:latin typeface="Calibri"/>
              </a:rPr>
              <a:t>Q3   </a:t>
            </a:r>
            <a:r>
              <a:rPr sz="2100" b="1">
                <a:solidFill>
                  <a:srgbClr val="EEF3FA"/>
                </a:solidFill>
                <a:latin typeface="Calibri"/>
              </a:rPr>
              <a:t>Was anyone scanned? Is it reading people's minds?</a:t>
            </a:r>
          </a:p>
          <a:p>
            <a:pPr algn="l">
              <a:spcAft>
                <a:spcPts val="0"/>
              </a:spcAft>
            </a:pPr>
            <a:r>
              <a:rPr sz="1800" b="1">
                <a:solidFill>
                  <a:srgbClr val="5FD09A"/>
                </a:solidFill>
                <a:latin typeface="Calibri"/>
              </a:rPr>
              <a:t>A   </a:t>
            </a:r>
            <a:r>
              <a:rPr sz="1800" b="0">
                <a:solidFill>
                  <a:srgbClr val="EEF3FA"/>
                </a:solidFill>
                <a:latin typeface="Calibri"/>
              </a:rPr>
              <a:t>No. Nobody was scanned. The scores are predictions from a published model of a typical adult brain. The tool rates content, not people, and knows nothing about any individual.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820095" cy="320040"/>
          </a:xfrm>
          <a:prstGeom prst="rect">
            <a:avLst/>
          </a:prstGeom>
          <a:noFill/>
        </p:spPr>
        <p:txBody>
          <a:bodyPr wrap="square" anchor="t">
            <a:spAutoFit/>
          </a:bodyPr>
          <a:lstStyle/>
          <a:p>
            <a:pPr algn="l">
              <a:spcAft>
                <a:spcPts val="0"/>
              </a:spcAft>
            </a:pPr>
            <a:r>
              <a:rPr sz="1200" b="1" i="0">
                <a:solidFill>
                  <a:srgbClr val="FF7A59"/>
                </a:solidFill>
                <a:latin typeface="Calibri"/>
              </a:rPr>
              <a:t>LIKELY QUESTIONS  2 of 4</a:t>
            </a:r>
          </a:p>
        </p:txBody>
      </p:sp>
      <p:sp>
        <p:nvSpPr>
          <p:cNvPr id="5" name="TextBox 4"/>
          <p:cNvSpPr txBox="1"/>
          <p:nvPr/>
        </p:nvSpPr>
        <p:spPr>
          <a:xfrm>
            <a:off x="685800" y="566928"/>
            <a:ext cx="10820095" cy="640080"/>
          </a:xfrm>
          <a:prstGeom prst="rect">
            <a:avLst/>
          </a:prstGeom>
          <a:noFill/>
        </p:spPr>
        <p:txBody>
          <a:bodyPr wrap="square" anchor="t">
            <a:spAutoFit/>
          </a:bodyPr>
          <a:lstStyle/>
          <a:p>
            <a:pPr algn="l">
              <a:spcAft>
                <a:spcPts val="0"/>
              </a:spcAft>
            </a:pPr>
            <a:r>
              <a:rPr sz="2200" b="1" i="0">
                <a:solidFill>
                  <a:srgbClr val="7CC4FF"/>
                </a:solidFill>
                <a:latin typeface="Calibri"/>
              </a:rPr>
              <a:t>Many of these grow out of the first presentation's question about children's content</a:t>
            </a:r>
          </a:p>
        </p:txBody>
      </p:sp>
      <p:sp>
        <p:nvSpPr>
          <p:cNvPr id="6" name="Rounded Rectangle 5"/>
          <p:cNvSpPr/>
          <p:nvPr/>
        </p:nvSpPr>
        <p:spPr>
          <a:xfrm>
            <a:off x="685800" y="1417320"/>
            <a:ext cx="10820095" cy="256032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228600" bIns="109728"/>
          <a:lstStyle/>
          <a:p>
            <a:pPr algn="l">
              <a:spcAft>
                <a:spcPts val="1200"/>
              </a:spcAft>
            </a:pPr>
            <a:r>
              <a:rPr sz="2100" b="1">
                <a:solidFill>
                  <a:srgbClr val="FF7A59"/>
                </a:solidFill>
                <a:latin typeface="Calibri"/>
              </a:rPr>
              <a:t>Q4   </a:t>
            </a:r>
            <a:r>
              <a:rPr sz="2100" b="1">
                <a:solidFill>
                  <a:srgbClr val="EEF3FA"/>
                </a:solidFill>
                <a:latin typeface="Calibri"/>
              </a:rPr>
              <a:t>Could someone use it to make content more manipulative?</a:t>
            </a:r>
          </a:p>
          <a:p>
            <a:pPr algn="l">
              <a:spcAft>
                <a:spcPts val="0"/>
              </a:spcAft>
            </a:pPr>
            <a:r>
              <a:rPr sz="1800" b="1">
                <a:solidFill>
                  <a:srgbClr val="5FD09A"/>
                </a:solidFill>
                <a:latin typeface="Calibri"/>
              </a:rPr>
              <a:t>A   </a:t>
            </a:r>
            <a:r>
              <a:rPr sz="1800" b="0">
                <a:solidFill>
                  <a:srgbClr val="EEF3FA"/>
                </a:solidFill>
                <a:latin typeface="Calibri"/>
              </a:rPr>
              <a:t>That's a real risk with any measurement of content. That's why it's framed as a research measurement, reports only group results, and the model's licence allows non-commercial research only.</a:t>
            </a:r>
          </a:p>
        </p:txBody>
      </p:sp>
      <p:sp>
        <p:nvSpPr>
          <p:cNvPr id="7" name="Rounded Rectangle 6"/>
          <p:cNvSpPr/>
          <p:nvPr/>
        </p:nvSpPr>
        <p:spPr>
          <a:xfrm>
            <a:off x="685800" y="4160520"/>
            <a:ext cx="10820095" cy="25603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228600" bIns="109728"/>
          <a:lstStyle/>
          <a:p>
            <a:pPr algn="l">
              <a:spcAft>
                <a:spcPts val="1200"/>
              </a:spcAft>
            </a:pPr>
            <a:r>
              <a:rPr sz="2100" b="1">
                <a:solidFill>
                  <a:srgbClr val="FF7A59"/>
                </a:solidFill>
                <a:latin typeface="Calibri"/>
              </a:rPr>
              <a:t>Q5   </a:t>
            </a:r>
            <a:r>
              <a:rPr sz="2100" b="1">
                <a:solidFill>
                  <a:srgbClr val="EEF3FA"/>
                </a:solidFill>
                <a:latin typeface="Calibri"/>
              </a:rPr>
              <a:t>If word counting does better, why not use that?</a:t>
            </a:r>
          </a:p>
          <a:p>
            <a:pPr algn="l">
              <a:spcAft>
                <a:spcPts val="0"/>
              </a:spcAft>
            </a:pPr>
            <a:r>
              <a:rPr sz="1800" b="1">
                <a:solidFill>
                  <a:srgbClr val="5FD09A"/>
                </a:solidFill>
                <a:latin typeface="Calibri"/>
              </a:rPr>
              <a:t>A   </a:t>
            </a:r>
            <a:r>
              <a:rPr sz="1800" b="0">
                <a:solidFill>
                  <a:srgbClr val="EEF3FA"/>
                </a:solidFill>
                <a:latin typeface="Calibri"/>
              </a:rPr>
              <a:t>Word counting answers a different question: it mostly learns which source an article came from. Our score is meant to be the push in the opinion model. The comparison is there to be honest about what the score is not.</a:t>
            </a:r>
          </a:p>
        </p:txBody>
      </p:sp>
      <p:sp>
        <p:nvSpPr>
          <p:cNvPr id="8" name="Rounded Rectangle 7"/>
          <p:cNvSpPr/>
          <p:nvPr/>
        </p:nvSpPr>
        <p:spPr>
          <a:xfrm>
            <a:off x="685800" y="6903720"/>
            <a:ext cx="10820095" cy="25603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228600" bIns="109728"/>
          <a:lstStyle/>
          <a:p>
            <a:pPr algn="l">
              <a:spcAft>
                <a:spcPts val="1200"/>
              </a:spcAft>
            </a:pPr>
            <a:r>
              <a:rPr sz="2100" b="1">
                <a:solidFill>
                  <a:srgbClr val="FF7A59"/>
                </a:solidFill>
                <a:latin typeface="Calibri"/>
              </a:rPr>
              <a:t>Q6   </a:t>
            </a:r>
            <a:r>
              <a:rPr sz="2100" b="1">
                <a:solidFill>
                  <a:srgbClr val="EEF3FA"/>
                </a:solidFill>
                <a:latin typeface="Calibri"/>
              </a:rPr>
              <a:t>Why read the articles aloud?</a:t>
            </a:r>
          </a:p>
          <a:p>
            <a:pPr algn="l">
              <a:spcAft>
                <a:spcPts val="0"/>
              </a:spcAft>
            </a:pPr>
            <a:r>
              <a:rPr sz="1800" b="1">
                <a:solidFill>
                  <a:srgbClr val="5FD09A"/>
                </a:solidFill>
                <a:latin typeface="Calibri"/>
              </a:rPr>
              <a:t>A   </a:t>
            </a:r>
            <a:r>
              <a:rPr sz="1800" b="0">
                <a:solidFill>
                  <a:srgbClr val="EEF3FA"/>
                </a:solidFill>
                <a:latin typeface="Calibri"/>
              </a:rPr>
              <a:t>The model was trained on people watching and listening, so it expects speech with word timings. Reading aloud puts the article in the form the model understands.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820095" cy="320040"/>
          </a:xfrm>
          <a:prstGeom prst="rect">
            <a:avLst/>
          </a:prstGeom>
          <a:noFill/>
        </p:spPr>
        <p:txBody>
          <a:bodyPr wrap="square" anchor="t">
            <a:spAutoFit/>
          </a:bodyPr>
          <a:lstStyle/>
          <a:p>
            <a:pPr algn="l">
              <a:spcAft>
                <a:spcPts val="0"/>
              </a:spcAft>
            </a:pPr>
            <a:r>
              <a:rPr sz="1200" b="1" i="0">
                <a:solidFill>
                  <a:srgbClr val="FF7A59"/>
                </a:solidFill>
                <a:latin typeface="Calibri"/>
              </a:rPr>
              <a:t>LIKELY QUESTIONS  3 of 4</a:t>
            </a:r>
          </a:p>
        </p:txBody>
      </p:sp>
      <p:sp>
        <p:nvSpPr>
          <p:cNvPr id="5" name="TextBox 4"/>
          <p:cNvSpPr txBox="1"/>
          <p:nvPr/>
        </p:nvSpPr>
        <p:spPr>
          <a:xfrm>
            <a:off x="685800" y="566928"/>
            <a:ext cx="10820095" cy="640080"/>
          </a:xfrm>
          <a:prstGeom prst="rect">
            <a:avLst/>
          </a:prstGeom>
          <a:noFill/>
        </p:spPr>
        <p:txBody>
          <a:bodyPr wrap="square" anchor="t">
            <a:spAutoFit/>
          </a:bodyPr>
          <a:lstStyle/>
          <a:p>
            <a:pPr algn="l">
              <a:spcAft>
                <a:spcPts val="0"/>
              </a:spcAft>
            </a:pPr>
            <a:r>
              <a:rPr sz="2200" b="1" i="0">
                <a:solidFill>
                  <a:srgbClr val="7CC4FF"/>
                </a:solidFill>
                <a:latin typeface="Calibri"/>
              </a:rPr>
              <a:t>Many of these grow out of the first presentation's question about children's content</a:t>
            </a:r>
          </a:p>
        </p:txBody>
      </p:sp>
      <p:sp>
        <p:nvSpPr>
          <p:cNvPr id="6" name="Rounded Rectangle 5"/>
          <p:cNvSpPr/>
          <p:nvPr/>
        </p:nvSpPr>
        <p:spPr>
          <a:xfrm>
            <a:off x="685800" y="1417320"/>
            <a:ext cx="10820095" cy="256032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228600" bIns="109728"/>
          <a:lstStyle/>
          <a:p>
            <a:pPr algn="l">
              <a:spcAft>
                <a:spcPts val="1200"/>
              </a:spcAft>
            </a:pPr>
            <a:r>
              <a:rPr sz="2100" b="1">
                <a:solidFill>
                  <a:srgbClr val="FF7A59"/>
                </a:solidFill>
                <a:latin typeface="Calibri"/>
              </a:rPr>
              <a:t>Q7   </a:t>
            </a:r>
            <a:r>
              <a:rPr sz="2100" b="1">
                <a:solidFill>
                  <a:srgbClr val="EEF3FA"/>
                </a:solidFill>
                <a:latin typeface="Calibri"/>
              </a:rPr>
              <a:t>Why no amygdala, when the proposal named it?</a:t>
            </a:r>
          </a:p>
          <a:p>
            <a:pPr algn="l">
              <a:spcAft>
                <a:spcPts val="0"/>
              </a:spcAft>
            </a:pPr>
            <a:r>
              <a:rPr sz="1800" b="1">
                <a:solidFill>
                  <a:srgbClr val="5FD09A"/>
                </a:solidFill>
                <a:latin typeface="Calibri"/>
              </a:rPr>
              <a:t>A   </a:t>
            </a:r>
            <a:r>
              <a:rPr sz="1800" b="0">
                <a:solidFill>
                  <a:srgbClr val="EEF3FA"/>
                </a:solidFill>
                <a:latin typeface="Calibri"/>
              </a:rPr>
              <a:t>The released model only predicts the brain's outer surface. The amygdala sits deep inside, so we can't measure it and make no claim about it. We used surface areas linked to emotion instead.</a:t>
            </a:r>
          </a:p>
        </p:txBody>
      </p:sp>
      <p:sp>
        <p:nvSpPr>
          <p:cNvPr id="7" name="Rounded Rectangle 6"/>
          <p:cNvSpPr/>
          <p:nvPr/>
        </p:nvSpPr>
        <p:spPr>
          <a:xfrm>
            <a:off x="685800" y="4160520"/>
            <a:ext cx="10820095" cy="25603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228600" bIns="109728"/>
          <a:lstStyle/>
          <a:p>
            <a:pPr algn="l">
              <a:spcAft>
                <a:spcPts val="1200"/>
              </a:spcAft>
            </a:pPr>
            <a:r>
              <a:rPr sz="2100" b="1">
                <a:solidFill>
                  <a:srgbClr val="FF7A59"/>
                </a:solidFill>
                <a:latin typeface="Calibri"/>
              </a:rPr>
              <a:t>Q8   </a:t>
            </a:r>
            <a:r>
              <a:rPr sz="2100" b="1">
                <a:solidFill>
                  <a:srgbClr val="EEF3FA"/>
                </a:solidFill>
                <a:latin typeface="Calibri"/>
              </a:rPr>
              <a:t>What would it take to work for children's media?</a:t>
            </a:r>
          </a:p>
          <a:p>
            <a:pPr algn="l">
              <a:spcAft>
                <a:spcPts val="0"/>
              </a:spcAft>
            </a:pPr>
            <a:r>
              <a:rPr sz="1800" b="1">
                <a:solidFill>
                  <a:srgbClr val="5FD09A"/>
                </a:solidFill>
                <a:latin typeface="Calibri"/>
              </a:rPr>
              <a:t>A   </a:t>
            </a:r>
            <a:r>
              <a:rPr sz="1800" b="0">
                <a:solidFill>
                  <a:srgbClr val="EEF3FA"/>
                </a:solidFill>
                <a:latin typeface="Calibri"/>
              </a:rPr>
              <a:t>Brain scans from children collected with ethics approval and consent, a test set of children's videos, content where source and type are mixed, and a longer check against real brains.</a:t>
            </a:r>
          </a:p>
        </p:txBody>
      </p:sp>
      <p:sp>
        <p:nvSpPr>
          <p:cNvPr id="8" name="Rounded Rectangle 7"/>
          <p:cNvSpPr/>
          <p:nvPr/>
        </p:nvSpPr>
        <p:spPr>
          <a:xfrm>
            <a:off x="685800" y="6903720"/>
            <a:ext cx="10820095" cy="25603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228600" bIns="109728"/>
          <a:lstStyle/>
          <a:p>
            <a:pPr algn="l">
              <a:spcAft>
                <a:spcPts val="1200"/>
              </a:spcAft>
            </a:pPr>
            <a:r>
              <a:rPr sz="2100" b="1">
                <a:solidFill>
                  <a:srgbClr val="FF7A59"/>
                </a:solidFill>
                <a:latin typeface="Calibri"/>
              </a:rPr>
              <a:t>Q9   </a:t>
            </a:r>
            <a:r>
              <a:rPr sz="2100" b="1">
                <a:solidFill>
                  <a:srgbClr val="EEF3FA"/>
                </a:solidFill>
                <a:latin typeface="Calibri"/>
              </a:rPr>
              <a:t>Why is this a physics project?</a:t>
            </a:r>
          </a:p>
          <a:p>
            <a:pPr algn="l">
              <a:spcAft>
                <a:spcPts val="0"/>
              </a:spcAft>
            </a:pPr>
            <a:r>
              <a:rPr sz="1800" b="1">
                <a:solidFill>
                  <a:srgbClr val="5FD09A"/>
                </a:solidFill>
                <a:latin typeface="Calibri"/>
              </a:rPr>
              <a:t>A   </a:t>
            </a:r>
            <a:r>
              <a:rPr sz="1800" b="0">
                <a:solidFill>
                  <a:srgbClr val="EEF3FA"/>
                </a:solidFill>
                <a:latin typeface="Calibri"/>
              </a:rPr>
              <a:t>The opinion model is statistical physics, the same maths as magnets lining up. The contribution is measuring the push in that model and working out the minimum strength it needs. The brain model is the measuring tool.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820095" cy="320040"/>
          </a:xfrm>
          <a:prstGeom prst="rect">
            <a:avLst/>
          </a:prstGeom>
          <a:noFill/>
        </p:spPr>
        <p:txBody>
          <a:bodyPr wrap="square" anchor="t">
            <a:spAutoFit/>
          </a:bodyPr>
          <a:lstStyle/>
          <a:p>
            <a:pPr algn="l">
              <a:spcAft>
                <a:spcPts val="0"/>
              </a:spcAft>
            </a:pPr>
            <a:r>
              <a:rPr sz="1200" b="1" i="0">
                <a:solidFill>
                  <a:srgbClr val="FF7A59"/>
                </a:solidFill>
                <a:latin typeface="Calibri"/>
              </a:rPr>
              <a:t>LIKELY QUESTIONS  4 of 4</a:t>
            </a:r>
          </a:p>
        </p:txBody>
      </p:sp>
      <p:sp>
        <p:nvSpPr>
          <p:cNvPr id="5" name="TextBox 4"/>
          <p:cNvSpPr txBox="1"/>
          <p:nvPr/>
        </p:nvSpPr>
        <p:spPr>
          <a:xfrm>
            <a:off x="685800" y="566928"/>
            <a:ext cx="10820095" cy="640080"/>
          </a:xfrm>
          <a:prstGeom prst="rect">
            <a:avLst/>
          </a:prstGeom>
          <a:noFill/>
        </p:spPr>
        <p:txBody>
          <a:bodyPr wrap="square" anchor="t">
            <a:spAutoFit/>
          </a:bodyPr>
          <a:lstStyle/>
          <a:p>
            <a:pPr algn="l">
              <a:spcAft>
                <a:spcPts val="0"/>
              </a:spcAft>
            </a:pPr>
            <a:r>
              <a:rPr sz="2200" b="1" i="0">
                <a:solidFill>
                  <a:srgbClr val="7CC4FF"/>
                </a:solidFill>
                <a:latin typeface="Calibri"/>
              </a:rPr>
              <a:t>Many of these grow out of the first presentation's question about children's content</a:t>
            </a:r>
          </a:p>
        </p:txBody>
      </p:sp>
      <p:sp>
        <p:nvSpPr>
          <p:cNvPr id="6" name="Rounded Rectangle 5"/>
          <p:cNvSpPr/>
          <p:nvPr/>
        </p:nvSpPr>
        <p:spPr>
          <a:xfrm>
            <a:off x="685800" y="1417320"/>
            <a:ext cx="10820095" cy="2560320"/>
          </a:xfrm>
          <a:prstGeom prst="roundRect">
            <a:avLst>
              <a:gd name="adj" fmla="val 6000"/>
            </a:avLst>
          </a:prstGeom>
          <a:solidFill>
            <a:srgbClr val="12223C"/>
          </a:solidFill>
          <a:ln w="25400">
            <a:solidFill>
              <a:srgbClr val="F5B83D"/>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228600" bIns="109728"/>
          <a:lstStyle/>
          <a:p>
            <a:pPr algn="l">
              <a:spcAft>
                <a:spcPts val="1200"/>
              </a:spcAft>
            </a:pPr>
            <a:r>
              <a:rPr sz="2100" b="1">
                <a:solidFill>
                  <a:srgbClr val="FF7A59"/>
                </a:solidFill>
                <a:latin typeface="Calibri"/>
              </a:rPr>
              <a:t>Q10   </a:t>
            </a:r>
            <a:r>
              <a:rPr sz="2100" b="1">
                <a:solidFill>
                  <a:srgbClr val="EEF3FA"/>
                </a:solidFill>
                <a:latin typeface="Calibri"/>
              </a:rPr>
              <a:t>What does 'alpha at least 4.29' mean in practice?</a:t>
            </a:r>
          </a:p>
          <a:p>
            <a:pPr algn="l">
              <a:spcAft>
                <a:spcPts val="0"/>
              </a:spcAft>
            </a:pPr>
            <a:r>
              <a:rPr sz="1800" b="1">
                <a:solidFill>
                  <a:srgbClr val="5FD09A"/>
                </a:solidFill>
                <a:latin typeface="Calibri"/>
              </a:rPr>
              <a:t>A   </a:t>
            </a:r>
            <a:r>
              <a:rPr sz="1800" b="0">
                <a:solidFill>
                  <a:srgbClr val="EEF3FA"/>
                </a:solidFill>
                <a:latin typeface="Calibri"/>
              </a:rPr>
              <a:t>It's a bar to clear. If someone claims content like this flips a strongly connected group's opinion, their alpha must be at least 4.29, or the model says it can't happen. It does not say media does flip opinion.</a:t>
            </a:r>
          </a:p>
        </p:txBody>
      </p:sp>
      <p:sp>
        <p:nvSpPr>
          <p:cNvPr id="7" name="Rounded Rectangle 6"/>
          <p:cNvSpPr/>
          <p:nvPr/>
        </p:nvSpPr>
        <p:spPr>
          <a:xfrm>
            <a:off x="685800" y="4160520"/>
            <a:ext cx="10820095" cy="25603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228600" bIns="109728"/>
          <a:lstStyle/>
          <a:p>
            <a:pPr algn="l">
              <a:spcAft>
                <a:spcPts val="1200"/>
              </a:spcAft>
            </a:pPr>
            <a:r>
              <a:rPr sz="2100" b="1">
                <a:solidFill>
                  <a:srgbClr val="FF7A59"/>
                </a:solidFill>
                <a:latin typeface="Calibri"/>
              </a:rPr>
              <a:t>Q11   </a:t>
            </a:r>
            <a:r>
              <a:rPr sz="2100" b="1">
                <a:solidFill>
                  <a:srgbClr val="EEF3FA"/>
                </a:solidFill>
                <a:latin typeface="Calibri"/>
              </a:rPr>
              <a:t>Why only 400 articles?</a:t>
            </a:r>
          </a:p>
          <a:p>
            <a:pPr algn="l">
              <a:spcAft>
                <a:spcPts val="0"/>
              </a:spcAft>
            </a:pPr>
            <a:r>
              <a:rPr sz="1800" b="1">
                <a:solidFill>
                  <a:srgbClr val="5FD09A"/>
                </a:solidFill>
                <a:latin typeface="Calibri"/>
              </a:rPr>
              <a:t>A   </a:t>
            </a:r>
            <a:r>
              <a:rPr sz="1800" b="0">
                <a:solidFill>
                  <a:srgbClr val="EEF3FA"/>
                </a:solidFill>
                <a:latin typeface="Calibri"/>
              </a:rPr>
              <a:t>We calculated before scanning that 400 was enough to see an effect as small as 2.7%. Each article takes about a minute of GPU time, and we ran all of them twice.</a:t>
            </a:r>
          </a:p>
        </p:txBody>
      </p:sp>
      <p:sp>
        <p:nvSpPr>
          <p:cNvPr id="8" name="Rounded Rectangle 7"/>
          <p:cNvSpPr/>
          <p:nvPr/>
        </p:nvSpPr>
        <p:spPr>
          <a:xfrm>
            <a:off x="685800" y="6903720"/>
            <a:ext cx="10820095" cy="2560320"/>
          </a:xfrm>
          <a:prstGeom prst="roundRect">
            <a:avLst>
              <a:gd name="adj" fmla="val 6000"/>
            </a:avLst>
          </a:prstGeom>
          <a:solidFill>
            <a:srgbClr val="12223C"/>
          </a:solidFill>
          <a:ln w="25400">
            <a:solidFill>
              <a:srgbClr val="7CC4FF"/>
            </a:solidFill>
          </a:ln>
          <a:effectLst/>
        </p:spPr>
        <p:style>
          <a:lnRef idx="1">
            <a:schemeClr val="accent1"/>
          </a:lnRef>
          <a:fillRef idx="3">
            <a:schemeClr val="accent1"/>
          </a:fillRef>
          <a:effectRef idx="2">
            <a:schemeClr val="accent1"/>
          </a:effectRef>
          <a:fontRef idx="minor">
            <a:schemeClr val="lt1"/>
          </a:fontRef>
        </p:style>
        <p:txBody>
          <a:bodyPr rtlCol="0" anchor="t" wrap="square" lIns="320040" rIns="320040" tIns="228600" bIns="109728"/>
          <a:lstStyle/>
          <a:p>
            <a:pPr algn="l">
              <a:spcAft>
                <a:spcPts val="1200"/>
              </a:spcAft>
            </a:pPr>
            <a:r>
              <a:rPr sz="2100" b="1">
                <a:solidFill>
                  <a:srgbClr val="FF7A59"/>
                </a:solidFill>
                <a:latin typeface="Calibri"/>
              </a:rPr>
              <a:t>Q12   </a:t>
            </a:r>
            <a:r>
              <a:rPr sz="2100" b="1">
                <a:solidFill>
                  <a:srgbClr val="EEF3FA"/>
                </a:solidFill>
                <a:latin typeface="Calibri"/>
              </a:rPr>
              <a:t>Is it okay to use Meta's model?</a:t>
            </a:r>
          </a:p>
          <a:p>
            <a:pPr algn="l">
              <a:spcAft>
                <a:spcPts val="0"/>
              </a:spcAft>
            </a:pPr>
            <a:r>
              <a:rPr sz="1800" b="1">
                <a:solidFill>
                  <a:srgbClr val="5FD09A"/>
                </a:solidFill>
                <a:latin typeface="Calibri"/>
              </a:rPr>
              <a:t>A   </a:t>
            </a:r>
            <a:r>
              <a:rPr sz="1800" b="0">
                <a:solidFill>
                  <a:srgbClr val="EEF3FA"/>
                </a:solidFill>
                <a:latin typeface="Calibri"/>
              </a:rPr>
              <a:t>Yes, for research. It's released under a non-commercial licence, it's cited throughout, and this project makes no money from it.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1628"/>
        </a:solidFill>
        <a:effectLst/>
      </p:bgPr>
    </p:bg>
    <p:spTree>
      <p:nvGrpSpPr>
        <p:cNvPr id="1" name=""/>
        <p:cNvGrpSpPr/>
        <p:nvPr/>
      </p:nvGrpSpPr>
      <p:grpSpPr/>
      <p:sp>
        <p:nvSpPr>
          <p:cNvPr id="2" name="Oval 1"/>
          <p:cNvSpPr/>
          <p:nvPr/>
        </p:nvSpPr>
        <p:spPr>
          <a:xfrm>
            <a:off x="8214055" y="-3794760"/>
            <a:ext cx="6858000" cy="6858000"/>
          </a:xfrm>
          <a:prstGeom prst="ellipse">
            <a:avLst/>
          </a:prstGeom>
          <a:gradFill rotWithShape="1">
            <a:gsLst>
              <a:gs pos="0">
                <a:srgbClr val="3E8EDE">
                  <a:alpha val="28000"/>
                </a:srgbClr>
              </a:gs>
              <a:gs pos="100000">
                <a:srgbClr val="3E8EDE">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3474720" y="7589519"/>
            <a:ext cx="5486400" cy="5486400"/>
          </a:xfrm>
          <a:prstGeom prst="ellipse">
            <a:avLst/>
          </a:prstGeom>
          <a:gradFill rotWithShape="1">
            <a:gsLst>
              <a:gs pos="0">
                <a:srgbClr val="FF7A59">
                  <a:alpha val="10000"/>
                </a:srgbClr>
              </a:gs>
              <a:gs pos="100000">
                <a:srgbClr val="FF7A59">
                  <a:alpha val="0"/>
                </a:srgbClr>
              </a:gs>
            </a:gsLst>
            <a:path path="circle">
              <a:fillToRect l="50000" t="50000" r="50000" b="50000"/>
            </a:path>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274320"/>
            <a:ext cx="10820095" cy="320040"/>
          </a:xfrm>
          <a:prstGeom prst="rect">
            <a:avLst/>
          </a:prstGeom>
          <a:noFill/>
        </p:spPr>
        <p:txBody>
          <a:bodyPr wrap="square" anchor="t">
            <a:spAutoFit/>
          </a:bodyPr>
          <a:lstStyle/>
          <a:p>
            <a:pPr algn="l">
              <a:spcAft>
                <a:spcPts val="0"/>
              </a:spcAft>
            </a:pPr>
            <a:r>
              <a:rPr sz="1200" b="1" i="0">
                <a:solidFill>
                  <a:srgbClr val="FF7A59"/>
                </a:solidFill>
                <a:latin typeface="Calibri"/>
              </a:rPr>
              <a:t>PLAIN WORDS FOR EVERY NUMBER</a:t>
            </a:r>
          </a:p>
        </p:txBody>
      </p:sp>
      <p:sp>
        <p:nvSpPr>
          <p:cNvPr id="5" name="TextBox 4"/>
          <p:cNvSpPr txBox="1"/>
          <p:nvPr/>
        </p:nvSpPr>
        <p:spPr>
          <a:xfrm>
            <a:off x="685800" y="566928"/>
            <a:ext cx="10820095" cy="640080"/>
          </a:xfrm>
          <a:prstGeom prst="rect">
            <a:avLst/>
          </a:prstGeom>
          <a:noFill/>
        </p:spPr>
        <p:txBody>
          <a:bodyPr wrap="square" anchor="t">
            <a:spAutoFit/>
          </a:bodyPr>
          <a:lstStyle/>
          <a:p>
            <a:pPr algn="l">
              <a:spcAft>
                <a:spcPts val="0"/>
              </a:spcAft>
            </a:pPr>
            <a:r>
              <a:rPr sz="2600" b="1" i="0">
                <a:solidFill>
                  <a:srgbClr val="7CC4FF"/>
                </a:solidFill>
                <a:latin typeface="Calibri"/>
              </a:rPr>
              <a:t>If a symbol comes up, say it like this</a:t>
            </a:r>
          </a:p>
        </p:txBody>
      </p:sp>
      <p:sp>
        <p:nvSpPr>
          <p:cNvPr id="6" name="Rounded Rectangle 5"/>
          <p:cNvSpPr/>
          <p:nvPr/>
        </p:nvSpPr>
        <p:spPr>
          <a:xfrm>
            <a:off x="685800" y="137160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m   </a:t>
            </a:r>
            <a:r>
              <a:rPr sz="1600" b="0">
                <a:solidFill>
                  <a:srgbClr val="EEF3FA"/>
                </a:solidFill>
                <a:latin typeface="Calibri"/>
              </a:rPr>
              <a:t>Average opinion of the group, from −1 (all against) to +1 (all for).</a:t>
            </a:r>
          </a:p>
        </p:txBody>
      </p:sp>
      <p:sp>
        <p:nvSpPr>
          <p:cNvPr id="7" name="Rounded Rectangle 6"/>
          <p:cNvSpPr/>
          <p:nvPr/>
        </p:nvSpPr>
        <p:spPr>
          <a:xfrm>
            <a:off x="685800" y="233172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J, coupling   </a:t>
            </a:r>
            <a:r>
              <a:rPr sz="1600" b="0">
                <a:solidFill>
                  <a:srgbClr val="EEF3FA"/>
                </a:solidFill>
                <a:latin typeface="Calibri"/>
              </a:rPr>
              <a:t>How strongly each person is pulled toward those around them.</a:t>
            </a:r>
          </a:p>
        </p:txBody>
      </p:sp>
      <p:sp>
        <p:nvSpPr>
          <p:cNvPr id="8" name="Rounded Rectangle 7"/>
          <p:cNvSpPr/>
          <p:nvPr/>
        </p:nvSpPr>
        <p:spPr>
          <a:xfrm>
            <a:off x="685800" y="329184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β, beta   </a:t>
            </a:r>
            <a:r>
              <a:rPr sz="1600" b="0">
                <a:solidFill>
                  <a:srgbClr val="EEF3FA"/>
                </a:solidFill>
                <a:latin typeface="Calibri"/>
              </a:rPr>
              <a:t>How firmly people follow that pull instead of acting at random.</a:t>
            </a:r>
          </a:p>
        </p:txBody>
      </p:sp>
      <p:sp>
        <p:nvSpPr>
          <p:cNvPr id="9" name="Rounded Rectangle 8"/>
          <p:cNvSpPr/>
          <p:nvPr/>
        </p:nvSpPr>
        <p:spPr>
          <a:xfrm>
            <a:off x="685800" y="425196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h, field   </a:t>
            </a:r>
            <a:r>
              <a:rPr sz="1600" b="0">
                <a:solidFill>
                  <a:srgbClr val="EEF3FA"/>
                </a:solidFill>
                <a:latin typeface="Calibri"/>
              </a:rPr>
              <a:t>The push from media, the same on everyone. h = αX.</a:t>
            </a:r>
          </a:p>
        </p:txBody>
      </p:sp>
      <p:sp>
        <p:nvSpPr>
          <p:cNvPr id="10" name="Rounded Rectangle 9"/>
          <p:cNvSpPr/>
          <p:nvPr/>
        </p:nvSpPr>
        <p:spPr>
          <a:xfrm>
            <a:off x="685800" y="521208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X, our score   </a:t>
            </a:r>
            <a:r>
              <a:rPr sz="1600" b="0">
                <a:solidFill>
                  <a:srgbClr val="EEF3FA"/>
                </a:solidFill>
                <a:latin typeface="Calibri"/>
              </a:rPr>
              <a:t>Emotion-area activity minus reasoning-area activity, predicted.</a:t>
            </a:r>
          </a:p>
        </p:txBody>
      </p:sp>
      <p:sp>
        <p:nvSpPr>
          <p:cNvPr id="11" name="Rounded Rectangle 10"/>
          <p:cNvSpPr/>
          <p:nvPr/>
        </p:nvSpPr>
        <p:spPr>
          <a:xfrm>
            <a:off x="685800" y="617220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η², eta squared   </a:t>
            </a:r>
            <a:r>
              <a:rPr sz="1600" b="0">
                <a:solidFill>
                  <a:srgbClr val="EEF3FA"/>
                </a:solidFill>
                <a:latin typeface="Calibri"/>
              </a:rPr>
              <a:t>Share of the differences explained by group. 0.107 is about 11%.</a:t>
            </a:r>
          </a:p>
        </p:txBody>
      </p:sp>
      <p:sp>
        <p:nvSpPr>
          <p:cNvPr id="12" name="Rounded Rectangle 11"/>
          <p:cNvSpPr/>
          <p:nvPr/>
        </p:nvSpPr>
        <p:spPr>
          <a:xfrm>
            <a:off x="685800" y="713232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p-value   </a:t>
            </a:r>
            <a:r>
              <a:rPr sz="1600" b="0">
                <a:solidFill>
                  <a:srgbClr val="EEF3FA"/>
                </a:solidFill>
                <a:latin typeface="Calibri"/>
              </a:rPr>
              <a:t>Chance a result this strong appears by luck. 1 × 10⁻⁹ is about one in a billion.</a:t>
            </a:r>
          </a:p>
        </p:txBody>
      </p:sp>
      <p:sp>
        <p:nvSpPr>
          <p:cNvPr id="13" name="Rounded Rectangle 12"/>
          <p:cNvSpPr/>
          <p:nvPr/>
        </p:nvSpPr>
        <p:spPr>
          <a:xfrm>
            <a:off x="685800" y="809244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d, Cohen's d   </a:t>
            </a:r>
            <a:r>
              <a:rPr sz="1600" b="0">
                <a:solidFill>
                  <a:srgbClr val="EEF3FA"/>
                </a:solidFill>
                <a:latin typeface="Calibri"/>
              </a:rPr>
              <a:t>Size of a difference in units of normal spread. 0.2 small, 0.5 medium, 0.8 large.</a:t>
            </a:r>
          </a:p>
        </p:txBody>
      </p:sp>
      <p:sp>
        <p:nvSpPr>
          <p:cNvPr id="14" name="Rounded Rectangle 13"/>
          <p:cNvSpPr/>
          <p:nvPr/>
        </p:nvSpPr>
        <p:spPr>
          <a:xfrm>
            <a:off x="6172200" y="137160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ICC   </a:t>
            </a:r>
            <a:r>
              <a:rPr sz="1600" b="0">
                <a:solidFill>
                  <a:srgbClr val="EEF3FA"/>
                </a:solidFill>
                <a:latin typeface="Calibri"/>
              </a:rPr>
              <a:t>Agreement between two runs. 1 identical, 0 none. Ours 0.87.</a:t>
            </a:r>
          </a:p>
        </p:txBody>
      </p:sp>
      <p:sp>
        <p:nvSpPr>
          <p:cNvPr id="15" name="Rounded Rectangle 14"/>
          <p:cNvSpPr/>
          <p:nvPr/>
        </p:nvSpPr>
        <p:spPr>
          <a:xfrm>
            <a:off x="6172200" y="233172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AUC   </a:t>
            </a:r>
            <a:r>
              <a:rPr sz="1600" b="0">
                <a:solidFill>
                  <a:srgbClr val="EEF3FA"/>
                </a:solidFill>
                <a:latin typeface="Calibri"/>
              </a:rPr>
              <a:t>How well a score sorts two kinds of article. 0.5 coin toss, 1 perfect.</a:t>
            </a:r>
          </a:p>
        </p:txBody>
      </p:sp>
      <p:sp>
        <p:nvSpPr>
          <p:cNvPr id="16" name="Rounded Rectangle 15"/>
          <p:cNvSpPr/>
          <p:nvPr/>
        </p:nvSpPr>
        <p:spPr>
          <a:xfrm>
            <a:off x="6172200" y="329184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r, correlation   </a:t>
            </a:r>
            <a:r>
              <a:rPr sz="1600" b="0">
                <a:solidFill>
                  <a:srgbClr val="EEF3FA"/>
                </a:solidFill>
                <a:latin typeface="Calibri"/>
              </a:rPr>
              <a:t>How closely two things rise and fall together. 0 none, 1 perfect.</a:t>
            </a:r>
          </a:p>
        </p:txBody>
      </p:sp>
      <p:sp>
        <p:nvSpPr>
          <p:cNvPr id="17" name="Rounded Rectangle 16"/>
          <p:cNvSpPr/>
          <p:nvPr/>
        </p:nvSpPr>
        <p:spPr>
          <a:xfrm>
            <a:off x="6172200" y="425196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Noise ceiling   </a:t>
            </a:r>
            <a:r>
              <a:rPr sz="1600" b="0">
                <a:solidFill>
                  <a:srgbClr val="EEF3FA"/>
                </a:solidFill>
                <a:latin typeface="Calibri"/>
              </a:rPr>
              <a:t>Best score any model can reach, given how much real brains differ. Ours 0.152.</a:t>
            </a:r>
          </a:p>
        </p:txBody>
      </p:sp>
      <p:sp>
        <p:nvSpPr>
          <p:cNvPr id="18" name="Rounded Rectangle 17"/>
          <p:cNvSpPr/>
          <p:nvPr/>
        </p:nvSpPr>
        <p:spPr>
          <a:xfrm>
            <a:off x="6172200" y="521208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α, alpha   </a:t>
            </a:r>
            <a:r>
              <a:rPr sz="1600" b="0">
                <a:solidFill>
                  <a:srgbClr val="EEF3FA"/>
                </a:solidFill>
                <a:latin typeface="Calibri"/>
              </a:rPr>
              <a:t>Strength of media's push per unit of our score. Not measured.</a:t>
            </a:r>
          </a:p>
        </p:txBody>
      </p:sp>
      <p:sp>
        <p:nvSpPr>
          <p:cNvPr id="19" name="Rounded Rectangle 18"/>
          <p:cNvSpPr/>
          <p:nvPr/>
        </p:nvSpPr>
        <p:spPr>
          <a:xfrm>
            <a:off x="6172200" y="617220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βJ   </a:t>
            </a:r>
            <a:r>
              <a:rPr sz="1600" b="0">
                <a:solidFill>
                  <a:srgbClr val="EEF3FA"/>
                </a:solidFill>
                <a:latin typeface="Calibri"/>
              </a:rPr>
              <a:t>How strongly people copy each other. Above 1, a group settles on a majority by itself.</a:t>
            </a:r>
          </a:p>
        </p:txBody>
      </p:sp>
      <p:sp>
        <p:nvSpPr>
          <p:cNvPr id="20" name="Rounded Rectangle 19"/>
          <p:cNvSpPr/>
          <p:nvPr/>
        </p:nvSpPr>
        <p:spPr>
          <a:xfrm>
            <a:off x="6172200" y="713232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ΔX   </a:t>
            </a:r>
            <a:r>
              <a:rPr sz="1600" b="0">
                <a:solidFill>
                  <a:srgbClr val="EEF3FA"/>
                </a:solidFill>
                <a:latin typeface="Calibri"/>
              </a:rPr>
              <a:t>Spread of our scores, lowest to highest: 0.124.</a:t>
            </a:r>
          </a:p>
        </p:txBody>
      </p:sp>
      <p:sp>
        <p:nvSpPr>
          <p:cNvPr id="21" name="Rounded Rectangle 20"/>
          <p:cNvSpPr/>
          <p:nvPr/>
        </p:nvSpPr>
        <p:spPr>
          <a:xfrm>
            <a:off x="6172200" y="8092440"/>
            <a:ext cx="5330952" cy="841248"/>
          </a:xfrm>
          <a:prstGeom prst="roundRect">
            <a:avLst>
              <a:gd name="adj" fmla="val 6000"/>
            </a:avLst>
          </a:prstGeom>
          <a:solidFill>
            <a:srgbClr val="12223C"/>
          </a:solidFill>
          <a:ln w="15875">
            <a:solidFill>
              <a:srgbClr val="2A3D5E"/>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tIns="109728" bIns="109728"/>
          <a:lstStyle/>
          <a:p>
            <a:pPr algn="l">
              <a:spcAft>
                <a:spcPts val="0"/>
              </a:spcAft>
            </a:pPr>
            <a:r>
              <a:rPr sz="1600" b="1">
                <a:solidFill>
                  <a:srgbClr val="F5B83D"/>
                </a:solidFill>
                <a:latin typeface="Calibri"/>
              </a:rPr>
              <a:t>h with small c   </a:t>
            </a:r>
            <a:r>
              <a:rPr sz="1600" b="0">
                <a:solidFill>
                  <a:srgbClr val="EEF3FA"/>
                </a:solidFill>
                <a:latin typeface="Calibri"/>
              </a:rPr>
              <a:t>The critical push: what it takes to flip a majority.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